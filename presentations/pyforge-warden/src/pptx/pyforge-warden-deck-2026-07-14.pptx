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Warden. The thesis in three words: never false-green. A green check must mean something — that the dependencies were actually assessed and found safe. Warden is a CI gate for BOTH Python ecosystems: pip/PyPI apps and the conda/conda-forge scientific and ML/AI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 frames the problem. A CI gate's whole job is to answer one question honestly: is this safe to merge? The danger isn't a red X — it's a green check that never actually looked.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CI gate reduces to an exit code. 0 merges, non-zero blocks. But exit 0 conflates two very different states: 'I checked and it's clean' and 'I didn't really check.' A scanner that finds nothing returns 0 whether it looked hard or not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false-green mode: the empty or corrupt vulnerability database. If the OSV database failed to download, is empty, or is stale, a naive scanner queries it, gets zero hits, and reports clean. You get a green check that means the opposite of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false-green mode: the unassessable dependency. deptry and osv-scanner don't parse conda meta.yaml, recipe.yaml, environment.yml, or pixi.toml. A naive pipeline silently skips what it can't read — so a conda-heavy ML repo scans 'clean' while most of its dependencies were never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blind spot has structure. Python is really two ecosystems: PyPI — 850K packages, open upload, any license — and conda-forge — 30K curated, FOSS-only feedstocks. Applications are 20% of the enterprise footprint; the ML/AI/data stack is a tiny slice of apps but 80% of the distinct libraries. Warden covers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II: the contract. Warden's answer to false-green is a single, frozen, machine-readable contract — one report schema, one verdict lattice, one exit enum. Nothing downstream has to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flows into one artifact: the ComplianceReport, validated against a committed JSON Schema. Both engines, all axes, coverage, and provenance merge here. It's producer-agnostic and the single source of truth — the human summary is just a rendering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verdict lattice — seven rungs, highest wins. error and policy-violation and indeterminate all block; warn, bypassed, clean, not-applicable all pass. The key design move: indeterminate sits ABOVE the pass line. An unproven result blocks, it never slides to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exit enum is frozen: 0 success, 1 policy violation or indeterminate, 2 operational error, 130 interrupted. Four values, no drift. CI wires against these forever. And every operational failure is a typed error with a named owner — unparsable-manifest, engine-unavailable, engine-crash, internal-error — so a failure routes to whoever can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III: the engines and how they run. Warden orchestrates deptry and osv-scanner behind one report, reads six manifest formats natively, isolates each engine behind a hardened subprocess seam, and scans at three concentric rings of the supply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1, hygiene, ships in v1 with deptry. It does AST import analysis and cross-checks against declared dependencies, emitting DEP001 through DEP005: missing, unused, transitive, misplaced-dev, and duplicate. It honors existing tool.deptry ignore config so teams keep their 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2, security, ships in v1 with Google's osv-scanner checked against the OSV database. Crucially the database is provisioned as a declared conda/pixi dependency — never a runtime curl — and Warden pre-flights it for freshness and integrity before trusting a result. That's the fix for false-green #1.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engines are external binaries, so Warden isolates each behind a hardened subprocess seam: no shell, explicit argv, timeouts and resource caps, captured stdout/stderr, and a distinction between an engine that's unavailable versus one that crashed. A misbehaving engine becomes a typed error and exit 2 — never a silent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manifest engine is the wedge: neither stock engine parses conda or pixi. Warden reads all six formats — pyproject.toml and pixi.toml via tomllib, requirements.txt by line-parse, environment.yml, meta.yaml v0 with jinja/selector neutralization, and recipe.yaml v1 — all via yaml.safe_load. No untrusted input is ever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runs at three depths, and the further out it scans, the more it prevents rather than reports. Consumption edge — repos, desktops, CI — is today. Registry perimeter — block/allow lists on Artifactory/JFrog — is v1.x and the star: a census of everything that enters. Public upstream — scanning PyPI and conda-forge for malicious and typosquat packages — is the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IV: offline and air-gap trust. Enterprise Python often runs where the internet doesn't reach. Warden is built for that: deny-by-default egress, deterministic runs, and a database it verifies before it trusts.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makes no network calls during a scan by default. The database and engines are provisioned ahead of time as declared dependencies. Any online behavior is opt-in and explicit, never silent. That's what makes runs safe in regulated and air-gapped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properties make Warden auditable. Determinism: pinned engines and a pinned database mean the same inputs give the same verdict, every time, on any machine. And the pre-flight: Warden verifies the database's record count, freshness, and integrity before trusting it. Together these turn a scan into evidence you can defend in 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Adoption starts at a terminal, not a pipeline. warden scan . --warn-only runs locally, shows real findings, and exits 0 so nobody is blocked on day one. This is the on-ramp — see it work on your own machine before you ever touch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V: from a gate to a governance platform. The same contract extends across six axes of dependency trust — and the engines are pluggable, so new signals slot in behind the same report and the same lattice.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axes, each a different question. Hygiene: is it used? Security: is it vulnerable? These ship in v1. License: is it allowed? Currency: is it patchable / supported? These complete the v1.x gate. Provenance: is it authentic? Maintenance: is it maintained? These are the vision. All behind one report, one lattice.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v1.x enriches the security axis to prioritize by real-world exploitability. Not every CVE matters equally. CISA KEV tells you it's being exploited in the wild right now. FIRST EPSS gives a probability it will be. Together they let the gate block on what's actually dangerous — critical, KEV-listed, or high-EPSS — instead of drowning teams in theoretical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axes complete the v1.x gate. License: read SPDX expressions from PyPI metadata and conda recipe about-license via license-expression, and gate on allow/deny lists — an unreadable license is indeterminate, not clean. Currency: use endoflife.date plus version-lag to flag EOL and out-of-date dependencies, and the Python runtime itself against LTS / N / N-1. Only current things get patched.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VI: the payoff. Everything reduces to one command with one trustworthy exit code. Wire it into CI and the same honest verdict runs fleet-wide.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same command as a CI check. It blocks the merge with exit 1 on a KEV-listed critical, and the check surfaces the exact finding and the report artifact. Green is earned — by locking, waiving with an expiring reason, or fixing — never faked.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close. A bare recipe.yaml scan exits non-zero by design until you lock, waive, or run warn-only. That's the lock-nudge working, not a bug. Warden's promise is simple: a green check means it was actually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Appendix: who Warden serves at the executive level. The CISO gets exploitability-prioritized risk and audit evidence. The Chief Developer Experience Officer gets a gate that runs locally first and doesn't cry wolf. The CIO gets fleet-wide standardization and offline compliance. The Chief Data &amp; Analytics Officer gets coverage of the conda/ML footprint that stock tools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239463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DEPENDENCY-TRUST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931424" y="914400"/>
            <a:ext cx="353493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BMAD TECH SPEC · PYFORGE-WARDEN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2582228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61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3102927"/>
            <a:ext cx="1648206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16"/>
              </a:lnSpc>
              <a:buNone/>
            </a:pPr>
            <a:r>
              <a:rPr lang="en-US" sz="11250" b="1" spc="-337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never false-green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143000" y="5998527"/>
            <a:ext cx="11969115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CI dependency-trust gate for </a:t>
            </a:r>
            <a:pPr algn="l" indent="0" marL="0">
              <a:lnSpc>
                <a:spcPct val="122946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both Python ecosystems </a:t>
            </a:r>
            <a:pPr algn="l" indent="0" marL="0">
              <a:lnSpc>
                <a:spcPct val="122946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PyPI applications and the conda / conda-forge world of scientific, analytics &amp; ML/AI computing.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833755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8" name="Shape 6"/>
          <p:cNvSpPr/>
          <p:nvPr/>
        </p:nvSpPr>
        <p:spPr>
          <a:xfrm>
            <a:off x="5124450" y="8362950"/>
            <a:ext cx="19050" cy="10096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8591550"/>
            <a:ext cx="412813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8845550"/>
            <a:ext cx="41281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24950" y="8362950"/>
            <a:ext cx="19050" cy="10096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2" name="Text 10"/>
          <p:cNvSpPr/>
          <p:nvPr/>
        </p:nvSpPr>
        <p:spPr>
          <a:xfrm>
            <a:off x="5372100" y="8591550"/>
            <a:ext cx="38766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72100" y="8845550"/>
            <a:ext cx="38766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pyforge-warden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125450" y="8362950"/>
            <a:ext cx="19050" cy="10096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8591550"/>
            <a:ext cx="38766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72600" y="8845550"/>
            <a:ext cx="38766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pyforge.warden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73100" y="8591550"/>
            <a:ext cx="414909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373100" y="8845550"/>
            <a:ext cx="414909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76366" y="-1333500"/>
            <a:ext cx="2783697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85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5504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44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green check that lies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6451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exit-code gate can pass while your dependencies are unassessed, unparsed, or unsafe. That's the failure Warden exists to end.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78900"/>
            <a:ext cx="16002000" cy="19050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8450"/>
            <a:ext cx="63341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68799" y="9188450"/>
            <a:ext cx="173664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216313" y="9188450"/>
            <a:ext cx="100488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02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497227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0 is not a promise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3624263"/>
            <a:ext cx="792708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gate reduces to one number.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 merges, non-zero blocks.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But exit 0 quietly conflates two very different states —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4833938"/>
            <a:ext cx="7696200" cy="10731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8750" y="5081588"/>
            <a:ext cx="783717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 — assessed &amp; clean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28750" y="5430838"/>
            <a:ext cx="78371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tool looked hard and found nothing.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6097588"/>
            <a:ext cx="7696200" cy="1073150"/>
          </a:xfrm>
          <a:prstGeom prst="rect">
            <a:avLst/>
          </a:prstGeom>
          <a:solidFill>
            <a:srgbClr val="FCE4DE"/>
          </a:solidFill>
          <a:ln w="19050">
            <a:solidFill>
              <a:srgbClr val="EC30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8750" y="6345238"/>
            <a:ext cx="783717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 — never looked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28750" y="6694487"/>
            <a:ext cx="78371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tool found nothing because it couldn't check.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448800" y="4120674"/>
            <a:ext cx="846582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53"/>
              </a:lnSpc>
              <a:buNone/>
            </a:pPr>
            <a:r>
              <a:rPr lang="en-US" sz="11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</a:t>
            </a:r>
            <a:endParaRPr lang="en-US" sz="11250" dirty="0"/>
          </a:p>
        </p:txBody>
      </p:sp>
      <p:sp>
        <p:nvSpPr>
          <p:cNvPr id="13" name="Text 11"/>
          <p:cNvSpPr/>
          <p:nvPr/>
        </p:nvSpPr>
        <p:spPr>
          <a:xfrm>
            <a:off x="9448800" y="5597049"/>
            <a:ext cx="5101590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Traditional gates can't tell these apart. Warden refuses to collapse them — an unproven result is </a:t>
            </a:r>
            <a:pPr algn="l" indent="0" marL="0">
              <a:lnSpc>
                <a:spcPct val="134643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never 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reported as clean.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18388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6230600" y="9455150"/>
            <a:ext cx="990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03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863276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False-green #1 — the empty database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3580447"/>
            <a:ext cx="14716125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846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vulnerability scanner is only as honest as its database. If the OSV feed is </a:t>
            </a:r>
            <a:pPr algn="l" indent="0" marL="0">
              <a:lnSpc>
                <a:spcPct val="133846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missing, empty, corrupt, or stale </a:t>
            </a:r>
            <a:pPr algn="l" indent="0" marL="0">
              <a:lnSpc>
                <a:spcPct val="133846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a naïve scanner queries it, gets zero hits, and reports </a:t>
            </a:r>
            <a:pPr algn="l" indent="0" marL="0">
              <a:lnSpc>
                <a:spcPct val="133846"/>
              </a:lnSpc>
              <a:buNone/>
            </a:pPr>
            <a:r>
              <a:rPr lang="en-US" sz="2400" b="1" dirty="0">
                <a:solidFill>
                  <a:srgbClr val="1A7A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clean</a:t>
            </a:r>
            <a:pPr algn="l" indent="0" marL="0">
              <a:lnSpc>
                <a:spcPct val="133846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4883468"/>
            <a:ext cx="4891564" cy="119380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7800" y="5169218"/>
            <a:ext cx="471016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47800" y="5467667"/>
            <a:ext cx="47101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db.records = 0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263164" y="4883468"/>
            <a:ext cx="282575" cy="12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30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698139" y="4883468"/>
            <a:ext cx="4891722" cy="119380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2939" y="5169218"/>
            <a:ext cx="471033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NAÏVE SCANNER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02939" y="5467667"/>
            <a:ext cx="47103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verdict: clean ✓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818461" y="4883468"/>
            <a:ext cx="282575" cy="12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30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2253436" y="4883468"/>
            <a:ext cx="4891564" cy="1193800"/>
          </a:xfrm>
          <a:prstGeom prst="rect">
            <a:avLst/>
          </a:prstGeom>
          <a:solidFill>
            <a:srgbClr val="EC3013"/>
          </a:solidFill>
          <a:ln w="19050">
            <a:solidFill>
              <a:srgbClr val="EC30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58236" y="5169218"/>
            <a:ext cx="471016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F3F2F2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558236" y="5467667"/>
            <a:ext cx="47101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verdict: indeterminate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6496367"/>
            <a:ext cx="14716125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Warden </a:t>
            </a:r>
            <a:pPr algn="l" indent="0" marL="0">
              <a:lnSpc>
                <a:spcPct val="134643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content-pre-flights the database 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record count, freshness, and integrity — before it trusts a single result. No proof of assessment, no green.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18388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6230600" y="9455150"/>
            <a:ext cx="990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04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1110999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False-green #2 — the unassessable dependency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099243"/>
            <a:ext cx="8304636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stock engines don't parse conda &amp; pixi manifests. A naïve pipeline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silently skips what it can't read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and silence scores as clean.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5608955"/>
            <a:ext cx="8304636" cy="1124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conda-heavy ML repo passes while most of its dependency graph was </a:t>
            </a:r>
            <a:pPr algn="l" indent="0" marL="0">
              <a:lnSpc>
                <a:spcPct val="134643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never seen 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Warden's manifest engine reads all six formats — and marks anything it genuinely can't resolve 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indeterminate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not clean.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815354" y="3641725"/>
            <a:ext cx="7329646" cy="35115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34404" y="4340225"/>
            <a:ext cx="7291546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9" name="Text 7"/>
          <p:cNvSpPr/>
          <p:nvPr/>
        </p:nvSpPr>
        <p:spPr>
          <a:xfrm>
            <a:off x="10082054" y="3851275"/>
            <a:ext cx="211226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pyproject.toml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329660" y="3851275"/>
            <a:ext cx="6248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seen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34404" y="5038725"/>
            <a:ext cx="7291546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82054" y="4549775"/>
            <a:ext cx="241401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requirements.txt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329660" y="4549775"/>
            <a:ext cx="6248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seen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834404" y="5057775"/>
            <a:ext cx="7291546" cy="698500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9834404" y="5737225"/>
            <a:ext cx="7291546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82054" y="5248275"/>
            <a:ext cx="22631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environment.yml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918180" y="5248275"/>
            <a:ext cx="10363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skipped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34404" y="5756275"/>
            <a:ext cx="7291546" cy="698500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9834404" y="6435725"/>
            <a:ext cx="7291546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82054" y="5946775"/>
            <a:ext cx="13578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meta.yaml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918180" y="5946775"/>
            <a:ext cx="10363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skipped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34404" y="6454775"/>
            <a:ext cx="7291546" cy="679450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82054" y="6645275"/>
            <a:ext cx="13578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pixi.toml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918180" y="6645275"/>
            <a:ext cx="10363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skipped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18388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6230600" y="9455150"/>
            <a:ext cx="990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70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9105" y="838200"/>
            <a:ext cx="738244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 ecosystems, one blind spot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87500"/>
            <a:ext cx="7810500" cy="762000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150" y="1987550"/>
            <a:ext cx="76276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ECOSYSTEM 1 · PYPI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81150" y="2343150"/>
            <a:ext cx="76276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Application Python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81150" y="2876550"/>
            <a:ext cx="762762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~850K packages · open upload · any license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581150" y="7620000"/>
            <a:ext cx="762762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20"/>
              </a:lnSpc>
              <a:buNone/>
            </a:pPr>
            <a:r>
              <a:rPr lang="en-US" sz="7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581150" y="8534400"/>
            <a:ext cx="76276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footprint — ~400 shipped apps ≈ 2–3K libraries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34500" y="1587500"/>
            <a:ext cx="7810500" cy="7620000"/>
          </a:xfrm>
          <a:prstGeom prst="rect">
            <a:avLst/>
          </a:prstGeom>
          <a:solidFill>
            <a:srgbClr val="FCE4DE"/>
          </a:solidFill>
          <a:ln w="19050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72650" y="1987550"/>
            <a:ext cx="76276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ECOSYSTEM 2 · CONDA-FORGE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772650" y="2343150"/>
            <a:ext cx="76276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Scientific &amp; Data Python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772650" y="2876550"/>
            <a:ext cx="762762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~30K feedstocks · curated · FOSS-only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9772650" y="7620000"/>
            <a:ext cx="762762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20"/>
              </a:lnSpc>
              <a:buNone/>
            </a:pPr>
            <a:r>
              <a:rPr lang="en-US" sz="7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80%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772650" y="8534400"/>
            <a:ext cx="76276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footprint — ~1% of apps ≈ 7–8K libraries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18388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6230600" y="9455150"/>
            <a:ext cx="990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06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45732" y="-1333500"/>
            <a:ext cx="5567395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85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5504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44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frozen contract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6451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report schema. One verdict lattice. One exit enum. Honesty encoded as a data structure.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78900"/>
            <a:ext cx="16002000" cy="19050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8450"/>
            <a:ext cx="63341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22444" y="9188450"/>
            <a:ext cx="173664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123444" y="9188450"/>
            <a:ext cx="109775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07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552129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report, one schema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004469"/>
            <a:ext cx="741055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engine and axis merges into one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ComplianceReport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schema-validated against a committed contract.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5590381"/>
            <a:ext cx="2757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94949" y="5609431"/>
            <a:ext cx="5938472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Producer-agnostic — the source of truth, not the log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43000" y="6047581"/>
            <a:ext cx="2757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494949" y="6066631"/>
            <a:ext cx="4796599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Carries </a:t>
            </a:r>
            <a:pPr algn="l" indent="0" marL="0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coverage </a:t>
            </a:r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&amp; </a:t>
            </a:r>
            <a:pPr algn="l" indent="0" marL="0"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provenance </a:t>
            </a:r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 axis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6504781"/>
            <a:ext cx="2757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494949" y="6523831"/>
            <a:ext cx="5876132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Versioned schema — the contract can't silently drift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8871109" y="3034189"/>
            <a:ext cx="8273891" cy="4726464"/>
          </a:xfrm>
          <a:prstGeom prst="rect">
            <a:avLst/>
          </a:prstGeom>
          <a:solidFill>
            <a:srgbClr val="1A1918"/>
          </a:solidFill>
          <a:ln w="19050">
            <a:solidFill>
              <a:srgbClr val="201E1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90159" y="3609499"/>
            <a:ext cx="8235791" cy="9525"/>
          </a:xfrm>
          <a:prstGeom prst="rect">
            <a:avLst/>
          </a:prstGeom>
          <a:solidFill>
            <a:srgbClr val="3A3836"/>
          </a:solidFill>
          <a:ln/>
        </p:spPr>
      </p:sp>
      <p:sp>
        <p:nvSpPr>
          <p:cNvPr id="14" name="Shape 12"/>
          <p:cNvSpPr/>
          <p:nvPr/>
        </p:nvSpPr>
        <p:spPr>
          <a:xfrm>
            <a:off x="9099709" y="3269456"/>
            <a:ext cx="123825" cy="123825"/>
          </a:xfrm>
          <a:prstGeom prst="ellipse">
            <a:avLst/>
          </a:prstGeom>
          <a:solidFill>
            <a:srgbClr val="EC3013"/>
          </a:solidFill>
          <a:ln/>
        </p:spPr>
      </p:sp>
      <p:sp>
        <p:nvSpPr>
          <p:cNvPr id="15" name="Shape 13"/>
          <p:cNvSpPr/>
          <p:nvPr/>
        </p:nvSpPr>
        <p:spPr>
          <a:xfrm>
            <a:off x="9309259" y="3269456"/>
            <a:ext cx="123825" cy="123825"/>
          </a:xfrm>
          <a:prstGeom prst="ellipse">
            <a:avLst/>
          </a:prstGeom>
          <a:solidFill>
            <a:srgbClr val="4A4846"/>
          </a:solidFill>
          <a:ln/>
        </p:spPr>
      </p:sp>
      <p:sp>
        <p:nvSpPr>
          <p:cNvPr id="16" name="Shape 14"/>
          <p:cNvSpPr/>
          <p:nvPr/>
        </p:nvSpPr>
        <p:spPr>
          <a:xfrm>
            <a:off x="9518809" y="3269456"/>
            <a:ext cx="123825" cy="123825"/>
          </a:xfrm>
          <a:prstGeom prst="ellipse">
            <a:avLst/>
          </a:prstGeom>
          <a:solidFill>
            <a:srgbClr val="4A4846"/>
          </a:solidFill>
          <a:ln/>
        </p:spPr>
      </p:sp>
      <p:sp>
        <p:nvSpPr>
          <p:cNvPr id="17" name="Text 15"/>
          <p:cNvSpPr/>
          <p:nvPr/>
        </p:nvSpPr>
        <p:spPr>
          <a:xfrm>
            <a:off x="9842659" y="3205639"/>
            <a:ext cx="208788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0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compliance-report.json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75909" y="3863499"/>
            <a:ext cx="7911365" cy="366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"schema_version":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"1.0.0"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"verdict":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FF7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"policy-violation"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"exit_code":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FF7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"axes": { "hygiene":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"clean"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"security":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FF7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"policy-violation"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"license":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"indeterminate"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}, "coverage": { "manifests":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"resolved":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 </a:t>
            </a:r>
            <a:pPr algn="l" indent="0" marL="0">
              <a:lnSpc>
                <a:spcPct val="126768"/>
              </a:lnSpc>
              <a:buNone/>
            </a:pPr>
            <a:r>
              <a:rPr lang="en-US" sz="1575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13816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139160" y="9455150"/>
            <a:ext cx="10820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08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71528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verdict lattice — highest wins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3117850"/>
            <a:ext cx="9023350" cy="455930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050" y="3136900"/>
            <a:ext cx="8985250" cy="6286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409700" y="3289300"/>
            <a:ext cx="819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13650" y="3327400"/>
            <a:ext cx="2514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2 · operational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62050" y="3765550"/>
            <a:ext cx="8985250" cy="647700"/>
          </a:xfrm>
          <a:prstGeom prst="rect">
            <a:avLst/>
          </a:prstGeom>
          <a:solidFill>
            <a:srgbClr val="F8CABF"/>
          </a:solidFill>
          <a:ln/>
        </p:spPr>
      </p:sp>
      <p:sp>
        <p:nvSpPr>
          <p:cNvPr id="10" name="Shape 8"/>
          <p:cNvSpPr/>
          <p:nvPr/>
        </p:nvSpPr>
        <p:spPr>
          <a:xfrm>
            <a:off x="1162050" y="3765550"/>
            <a:ext cx="898525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3937000"/>
            <a:ext cx="261518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policy-violation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185150" y="3975100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1 · blocks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62050" y="4413250"/>
            <a:ext cx="8985250" cy="647700"/>
          </a:xfrm>
          <a:prstGeom prst="rect">
            <a:avLst/>
          </a:prstGeom>
          <a:solidFill>
            <a:srgbClr val="F8CAB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2050" y="4413250"/>
            <a:ext cx="89852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409700" y="4584700"/>
            <a:ext cx="21248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indeterminate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56550" y="4622800"/>
            <a:ext cx="21374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1 · unproven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62050" y="5060950"/>
            <a:ext cx="8985250" cy="254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8" name="Text 16"/>
          <p:cNvSpPr/>
          <p:nvPr/>
        </p:nvSpPr>
        <p:spPr>
          <a:xfrm>
            <a:off x="1409700" y="5238750"/>
            <a:ext cx="6705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213850" y="5276850"/>
            <a:ext cx="762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62050" y="5715000"/>
            <a:ext cx="89852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1" name="Text 19"/>
          <p:cNvSpPr/>
          <p:nvPr/>
        </p:nvSpPr>
        <p:spPr>
          <a:xfrm>
            <a:off x="1409700" y="5886450"/>
            <a:ext cx="12649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bypassed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185150" y="5924550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 · waiver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62050" y="6362700"/>
            <a:ext cx="89852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4" name="Text 22"/>
          <p:cNvSpPr/>
          <p:nvPr/>
        </p:nvSpPr>
        <p:spPr>
          <a:xfrm>
            <a:off x="1409700" y="6534150"/>
            <a:ext cx="819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213850" y="6572250"/>
            <a:ext cx="762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62050" y="7010400"/>
            <a:ext cx="89852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7" name="Text 25"/>
          <p:cNvSpPr/>
          <p:nvPr/>
        </p:nvSpPr>
        <p:spPr>
          <a:xfrm>
            <a:off x="1409700" y="7181850"/>
            <a:ext cx="22882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not-applicable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213850" y="7219950"/>
            <a:ext cx="762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699750" y="4046855"/>
            <a:ext cx="70897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DASHED LINE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699750" y="4465955"/>
            <a:ext cx="6638608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02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Everything above it </a:t>
            </a:r>
            <a:pPr algn="l" indent="0" marL="0">
              <a:lnSpc>
                <a:spcPct val="134202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blocks the merge </a:t>
            </a:r>
            <a:pPr algn="l" indent="0" marL="0">
              <a:lnSpc>
                <a:spcPct val="134202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The whole design turns on one placement: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0699750" y="5533708"/>
            <a:ext cx="6638608" cy="125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02"/>
              </a:lnSpc>
              <a:buNone/>
            </a:pPr>
            <a:r>
              <a:rPr lang="en-US" sz="21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indeterminate </a:t>
            </a:r>
            <a:pPr algn="l" indent="0" marL="0">
              <a:lnSpc>
                <a:spcPct val="134202"/>
              </a:lnSpc>
              <a:buNone/>
            </a:pPr>
            <a:r>
              <a:rPr lang="en-US" sz="21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sits </a:t>
            </a:r>
            <a:pPr algn="l" indent="0" marL="0">
              <a:lnSpc>
                <a:spcPct val="134202"/>
              </a:lnSpc>
              <a:buNone/>
            </a:pPr>
            <a:r>
              <a:rPr lang="en-US" sz="2175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above </a:t>
            </a:r>
            <a:pPr algn="l" indent="0" marL="0">
              <a:lnSpc>
                <a:spcPct val="134202"/>
              </a:lnSpc>
              <a:buNone/>
            </a:pPr>
            <a:r>
              <a:rPr lang="en-US" sz="21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pass line. An unproven axis fails the gate — it never slides down to clean.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813816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6139160" y="9455150"/>
            <a:ext cx="10820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09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59898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frozen exit enum &amp; typed errors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3933825"/>
            <a:ext cx="19050" cy="14795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6" name="Shape 4"/>
          <p:cNvSpPr/>
          <p:nvPr/>
        </p:nvSpPr>
        <p:spPr>
          <a:xfrm>
            <a:off x="5138738" y="3933825"/>
            <a:ext cx="19050" cy="14795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3933825"/>
            <a:ext cx="378761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6600" b="1" dirty="0">
                <a:solidFill>
                  <a:srgbClr val="1A7A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1428750" y="4867275"/>
            <a:ext cx="378761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success · clean / warn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34475" y="3933825"/>
            <a:ext cx="19050" cy="14795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0" name="Text 8"/>
          <p:cNvSpPr/>
          <p:nvPr/>
        </p:nvSpPr>
        <p:spPr>
          <a:xfrm>
            <a:off x="5424488" y="3933825"/>
            <a:ext cx="378761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66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5424488" y="4867275"/>
            <a:ext cx="3546586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policy-violation / indeterminate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130213" y="3933825"/>
            <a:ext cx="19050" cy="14795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3" name="Text 11"/>
          <p:cNvSpPr/>
          <p:nvPr/>
        </p:nvSpPr>
        <p:spPr>
          <a:xfrm>
            <a:off x="9420225" y="3933825"/>
            <a:ext cx="378761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66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9420225" y="4867275"/>
            <a:ext cx="378761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 error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415963" y="3933825"/>
            <a:ext cx="380857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6600" b="1" dirty="0">
                <a:solidFill>
                  <a:srgbClr val="201E1D">
                    <a:alpha val="5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130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13415963" y="4867275"/>
            <a:ext cx="380857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interrupted (SIGINT)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43000" y="5870575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operational failure is a </a:t>
            </a:r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typed error with a named owner </a:t>
            </a:r>
            <a:pPr algn="l" indent="0" marL="0">
              <a:buNone/>
            </a:pPr>
            <a:r>
              <a:rPr lang="en-US" sz="1800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6296025"/>
            <a:ext cx="3025140" cy="5651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2550" y="6429375"/>
            <a:ext cx="269679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unparsable-manifest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01490" y="6296025"/>
            <a:ext cx="2887980" cy="5651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1040" y="6429375"/>
            <a:ext cx="25555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engine-unavailable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22820" y="6296025"/>
            <a:ext cx="2065020" cy="5651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2370" y="6429375"/>
            <a:ext cx="17221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engine-crash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1190" y="6296025"/>
            <a:ext cx="2339340" cy="5651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0740" y="6429375"/>
            <a:ext cx="19964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internal-error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813816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6139160" y="9455150"/>
            <a:ext cx="10820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10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5098" y="-1333500"/>
            <a:ext cx="8351091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85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III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5504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44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engines, orchestrated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6451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Pluggable engines behind one report — six manifests read natively, isolated behind a hardened seam, across three supply-chain rings.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78900"/>
            <a:ext cx="16002000" cy="19050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8450"/>
            <a:ext cx="63341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075930" y="9188450"/>
            <a:ext cx="173664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030575" y="9188450"/>
            <a:ext cx="119062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11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655018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deptry — the hygiene axis </a:t>
            </a:r>
            <a:pPr algn="l" indent="0" marL="0">
              <a:buNone/>
            </a:pPr>
            <a:r>
              <a:rPr lang="en-US" sz="1800" b="1" spc="-69" kern="0" dirty="0">
                <a:solidFill>
                  <a:srgbClr val="F3F2F2"/>
                </a:solidFill>
                <a:highlight>
                  <a:srgbClr val="EC3013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771231"/>
            <a:ext cx="7586980" cy="1290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AST import analysis over the source tree, cross-checked against declared dependencies. Honors your existing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[tool.deptry]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config.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042400" y="3736975"/>
            <a:ext cx="8102600" cy="33210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61450" y="4397375"/>
            <a:ext cx="80645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Text 6"/>
          <p:cNvSpPr/>
          <p:nvPr/>
        </p:nvSpPr>
        <p:spPr>
          <a:xfrm>
            <a:off x="9309100" y="3927475"/>
            <a:ext cx="11239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66400" y="3927475"/>
            <a:ext cx="482803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missing — imported, not declared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61450" y="5057775"/>
            <a:ext cx="80645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1" name="Text 9"/>
          <p:cNvSpPr/>
          <p:nvPr/>
        </p:nvSpPr>
        <p:spPr>
          <a:xfrm>
            <a:off x="9309100" y="4587875"/>
            <a:ext cx="11239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66400" y="4587875"/>
            <a:ext cx="467715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unused — declared, not imported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61450" y="5718175"/>
            <a:ext cx="80645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4" name="Text 12"/>
          <p:cNvSpPr/>
          <p:nvPr/>
        </p:nvSpPr>
        <p:spPr>
          <a:xfrm>
            <a:off x="9309100" y="5248275"/>
            <a:ext cx="11239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66400" y="5248275"/>
            <a:ext cx="467715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transitive — used, not declared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061450" y="6378575"/>
            <a:ext cx="80645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7" name="Text 15"/>
          <p:cNvSpPr/>
          <p:nvPr/>
        </p:nvSpPr>
        <p:spPr>
          <a:xfrm>
            <a:off x="9309100" y="5908675"/>
            <a:ext cx="11239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66400" y="5908675"/>
            <a:ext cx="36210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misplaced dev dependency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09100" y="6569075"/>
            <a:ext cx="11239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DEP005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66400" y="6569075"/>
            <a:ext cx="316839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duplicate declaration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09244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6047720" y="9455150"/>
            <a:ext cx="117348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12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96936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osv-scanner — the security axis </a:t>
            </a:r>
            <a:pPr algn="l" indent="0" marL="0">
              <a:buNone/>
            </a:pPr>
            <a:r>
              <a:rPr lang="en-US" sz="1800" b="1" spc="-69" kern="0" dirty="0">
                <a:solidFill>
                  <a:srgbClr val="F3F2F2"/>
                </a:solidFill>
                <a:highlight>
                  <a:srgbClr val="EC3013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242753"/>
            <a:ext cx="14912340" cy="93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846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Google's OSV database checked against the resolved dependency set. The database is a </a:t>
            </a:r>
            <a:pPr algn="l" indent="0" marL="0">
              <a:lnSpc>
                <a:spcPct val="133846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declared conda / pixi dependency </a:t>
            </a:r>
            <a:pPr algn="l" indent="0" marL="0">
              <a:lnSpc>
                <a:spcPct val="133846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never a runtime </a:t>
            </a:r>
            <a:pPr algn="l" indent="0" marL="0">
              <a:lnSpc>
                <a:spcPct val="133846"/>
              </a:lnSpc>
              <a:buNone/>
            </a:pPr>
            <a:r>
              <a:rPr lang="en-US" sz="240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curl</a:t>
            </a:r>
            <a:pPr algn="l" indent="0" marL="0">
              <a:lnSpc>
                <a:spcPct val="133846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520372"/>
            <a:ext cx="19050" cy="1031875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7" name="Shape 5"/>
          <p:cNvSpPr/>
          <p:nvPr/>
        </p:nvSpPr>
        <p:spPr>
          <a:xfrm>
            <a:off x="6470650" y="5520372"/>
            <a:ext cx="19050" cy="1031875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Text 6"/>
          <p:cNvSpPr/>
          <p:nvPr/>
        </p:nvSpPr>
        <p:spPr>
          <a:xfrm>
            <a:off x="1466850" y="5520372"/>
            <a:ext cx="51689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PROVISIONED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6850" y="5875973"/>
            <a:ext cx="48399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DB ships as a pinned, declared dependency — reproducible &amp; offline.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798300" y="5520372"/>
            <a:ext cx="19050" cy="1031875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1" name="Text 9"/>
          <p:cNvSpPr/>
          <p:nvPr/>
        </p:nvSpPr>
        <p:spPr>
          <a:xfrm>
            <a:off x="6794500" y="5520372"/>
            <a:ext cx="51689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PRE-FLIGHTED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94500" y="5875973"/>
            <a:ext cx="48399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Record count, freshness &amp; integrity verified </a:t>
            </a:r>
            <a:pPr algn="l" indent="0" marL="0">
              <a:lnSpc>
                <a:spcPct val="12804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before </a:t>
            </a:r>
            <a:pPr algn="l" indent="0" marL="0">
              <a:lnSpc>
                <a:spcPct val="1280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any result is trusted.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122150" y="5520372"/>
            <a:ext cx="51898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FAILS HONEST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122150" y="5875973"/>
            <a:ext cx="4859591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bad DB yields </a:t>
            </a:r>
            <a:pPr algn="l" indent="0" marL="0">
              <a:lnSpc>
                <a:spcPct val="1280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indeterminate </a:t>
            </a:r>
            <a:pPr algn="l" indent="0" marL="0">
              <a:lnSpc>
                <a:spcPct val="12804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not a false clean.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09244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047720" y="9455150"/>
            <a:ext cx="117348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13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39938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hardened subprocess seam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485958"/>
            <a:ext cx="79663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Engines are external binaries. Warden runs each behind a strict seam so a misbehaving engine can't corrupt a verdict.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5581333"/>
            <a:ext cx="7966329" cy="765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Unavailable ≠ crashed ≠ clean. Each maps to a distinct typed error and 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2 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never a silent pass.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10700" y="3733800"/>
            <a:ext cx="7734300" cy="7175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77400" y="3943350"/>
            <a:ext cx="743292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shell — explicit </a:t>
            </a:r>
            <a:pPr algn="l" indent="0" marL="0">
              <a:buNone/>
            </a:pPr>
            <a:r>
              <a:rPr lang="en-US" sz="180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argv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10700" y="4603750"/>
            <a:ext cx="7734300" cy="7175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7400" y="4813300"/>
            <a:ext cx="743292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timeouts + resource caps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10700" y="5473700"/>
            <a:ext cx="7734300" cy="7175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77400" y="5683250"/>
            <a:ext cx="743292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captured stdout / stderr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10700" y="6343650"/>
            <a:ext cx="7734300" cy="717550"/>
          </a:xfrm>
          <a:prstGeom prst="rect">
            <a:avLst/>
          </a:prstGeom>
          <a:solidFill>
            <a:srgbClr val="FCE4DE"/>
          </a:solidFill>
          <a:ln w="19050">
            <a:solidFill>
              <a:srgbClr val="EC30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7400" y="6553200"/>
            <a:ext cx="743292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unavailable ≠ crash ≠ clean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09244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047720" y="9455150"/>
            <a:ext cx="117348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14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837134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manifest formats — read natively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3539807"/>
            <a:ext cx="15716250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manifest engine is the wedge — no engine parses conda / pixi. No untrusted input is executed: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yaml.safe_load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only.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4162742"/>
            <a:ext cx="160020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162742"/>
            <a:ext cx="19050" cy="30924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Shape 6"/>
          <p:cNvSpPr/>
          <p:nvPr/>
        </p:nvSpPr>
        <p:spPr>
          <a:xfrm>
            <a:off x="1162050" y="5699442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9" name="Shape 7"/>
          <p:cNvSpPr/>
          <p:nvPr/>
        </p:nvSpPr>
        <p:spPr>
          <a:xfrm>
            <a:off x="6470650" y="4181792"/>
            <a:ext cx="19050" cy="15367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4429442"/>
            <a:ext cx="52108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pyproject.toml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47800" y="4848542"/>
            <a:ext cx="5210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PEP 621 · Poetry · PDM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7800" y="5229542"/>
            <a:ext cx="52108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tomllib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89700" y="5699442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98300" y="4181792"/>
            <a:ext cx="19050" cy="15367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6775450" y="4429442"/>
            <a:ext cx="52108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pixi.toml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775450" y="4848542"/>
            <a:ext cx="5210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deps · pypi-deps · features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75450" y="5229542"/>
            <a:ext cx="52108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tomllib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817350" y="5699442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7125949" y="4181792"/>
            <a:ext cx="19050" cy="15367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03100" y="4429442"/>
            <a:ext cx="52108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requirements.txt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103100" y="4848542"/>
            <a:ext cx="5210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requirement per line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103100" y="5229542"/>
            <a:ext cx="52108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line-parse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162050" y="7236143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0650" y="5718493"/>
            <a:ext cx="19050" cy="15367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5" name="Text 23"/>
          <p:cNvSpPr/>
          <p:nvPr/>
        </p:nvSpPr>
        <p:spPr>
          <a:xfrm>
            <a:off x="1447800" y="5966143"/>
            <a:ext cx="52108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environment.yml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47800" y="6385243"/>
            <a:ext cx="5210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deps + nested pip: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47800" y="6766243"/>
            <a:ext cx="52108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safe_load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89700" y="5718493"/>
            <a:ext cx="5327650" cy="1536700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29" name="Shape 27"/>
          <p:cNvSpPr/>
          <p:nvPr/>
        </p:nvSpPr>
        <p:spPr>
          <a:xfrm>
            <a:off x="6489700" y="7236143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98300" y="5718493"/>
            <a:ext cx="19050" cy="15367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450" y="5966143"/>
            <a:ext cx="52108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meta.yaml </a:t>
            </a:r>
            <a:pPr algn="l" indent="0" marL="0">
              <a:buNone/>
            </a:pPr>
            <a:r>
              <a:rPr lang="en-US" sz="195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775450" y="6385243"/>
            <a:ext cx="5210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jinja + # [selector]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75450" y="6766243"/>
            <a:ext cx="52108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neutralize → safe_load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1817350" y="7236143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125949" y="5718493"/>
            <a:ext cx="19050" cy="15367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6" name="Text 34"/>
          <p:cNvSpPr/>
          <p:nvPr/>
        </p:nvSpPr>
        <p:spPr>
          <a:xfrm>
            <a:off x="12103100" y="5966143"/>
            <a:ext cx="52108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recipe.yaml </a:t>
            </a:r>
            <a:pPr algn="l" indent="0" marL="0">
              <a:buNone/>
            </a:pPr>
            <a:r>
              <a:rPr lang="en-US" sz="195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103100" y="6385243"/>
            <a:ext cx="5210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requirements: run: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103100" y="6766243"/>
            <a:ext cx="52108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safe_load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40" name="Text 38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809244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6047720" y="9455150"/>
            <a:ext cx="117348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15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97304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rings — scan the whole supply chain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012565"/>
            <a:ext cx="15925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826"/>
              </a:lnSpc>
              <a:buNone/>
            </a:pPr>
            <a:r>
              <a:rPr lang="en-US" sz="21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further out Warden scans, the more it </a:t>
            </a:r>
            <a:pPr algn="l" indent="0" marL="0">
              <a:lnSpc>
                <a:spcPct val="127826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prevents </a:t>
            </a:r>
            <a:pPr algn="l" indent="0" marL="0">
              <a:lnSpc>
                <a:spcPct val="127826"/>
              </a:lnSpc>
              <a:buNone/>
            </a:pPr>
            <a:r>
              <a:rPr lang="en-US" sz="21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rather than reports.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43000" y="4690745"/>
            <a:ext cx="4570730" cy="2091690"/>
          </a:xfrm>
          <a:prstGeom prst="rect">
            <a:avLst/>
          </a:prstGeom>
          <a:ln w="19050">
            <a:solidFill>
              <a:srgbClr val="B6B3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2050" y="4709795"/>
            <a:ext cx="4532630" cy="990600"/>
          </a:xfrm>
          <a:prstGeom prst="rect">
            <a:avLst/>
          </a:prstGeom>
          <a:solidFill>
            <a:srgbClr val="DEDBDA"/>
          </a:solidFill>
          <a:ln/>
        </p:spPr>
      </p:sp>
      <p:sp>
        <p:nvSpPr>
          <p:cNvPr id="8" name="Text 6"/>
          <p:cNvSpPr/>
          <p:nvPr/>
        </p:nvSpPr>
        <p:spPr>
          <a:xfrm>
            <a:off x="1409700" y="4919345"/>
            <a:ext cx="163449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OUTSIDE FIREWALL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889818" y="4919345"/>
            <a:ext cx="63341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VISION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409700" y="5179695"/>
            <a:ext cx="444106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Public upstream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09700" y="5928995"/>
            <a:ext cx="4173309" cy="643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</a:t>
            </a:r>
            <a:pPr algn="l" indent="0" marL="0">
              <a:lnSpc>
                <a:spcPct val="128333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PyPI &amp; conda-forge </a:t>
            </a:r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malicious, typosquat, name-squat &amp; stale feedstocks.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130449" y="5425440"/>
            <a:ext cx="34750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866130" y="5869940"/>
            <a:ext cx="8763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BLOCKLISTS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8630" y="4690745"/>
            <a:ext cx="4570730" cy="2091690"/>
          </a:xfrm>
          <a:prstGeom prst="rect">
            <a:avLst/>
          </a:prstGeom>
          <a:ln w="19050">
            <a:solidFill>
              <a:srgbClr val="EC30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7680" y="4709795"/>
            <a:ext cx="4532630" cy="10096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6" name="Text 14"/>
          <p:cNvSpPr/>
          <p:nvPr/>
        </p:nvSpPr>
        <p:spPr>
          <a:xfrm>
            <a:off x="7085330" y="4919345"/>
            <a:ext cx="11906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FIREWALL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598786" y="4919345"/>
            <a:ext cx="523875" cy="2032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10674986" y="4928870"/>
            <a:ext cx="42386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EC30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085330" y="5198745"/>
            <a:ext cx="444106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Registry perimeter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6837680" y="5719445"/>
            <a:ext cx="4532630" cy="1043940"/>
          </a:xfrm>
          <a:prstGeom prst="rect">
            <a:avLst/>
          </a:prstGeom>
          <a:solidFill>
            <a:srgbClr val="FCE4DE"/>
          </a:solidFill>
          <a:ln/>
        </p:spPr>
      </p:sp>
      <p:sp>
        <p:nvSpPr>
          <p:cNvPr id="21" name="Text 19"/>
          <p:cNvSpPr/>
          <p:nvPr/>
        </p:nvSpPr>
        <p:spPr>
          <a:xfrm>
            <a:off x="7085330" y="5948045"/>
            <a:ext cx="4173309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201E1D"/>
                </a:solidFill>
                <a:highlight>
                  <a:srgbClr val="FCE4DE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Block / allow lists on </a:t>
            </a:r>
            <a:pPr algn="l" indent="0" marL="0">
              <a:lnSpc>
                <a:spcPct val="128333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Artifactory / JFrog </a:t>
            </a:r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201E1D"/>
                </a:solidFill>
                <a:highlight>
                  <a:srgbClr val="FCE4DE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a census of everything that enters.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846084" y="5425440"/>
            <a:ext cx="34750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1541761" y="5869940"/>
            <a:ext cx="9563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 PULLS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574270" y="4690745"/>
            <a:ext cx="4570730" cy="209169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93320" y="4709795"/>
            <a:ext cx="4532630" cy="10096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6" name="Text 24"/>
          <p:cNvSpPr/>
          <p:nvPr/>
        </p:nvSpPr>
        <p:spPr>
          <a:xfrm>
            <a:off x="12840970" y="4919345"/>
            <a:ext cx="63341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INSIDE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16261556" y="4919345"/>
            <a:ext cx="616744" cy="2032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8" name="Text 26"/>
          <p:cNvSpPr/>
          <p:nvPr/>
        </p:nvSpPr>
        <p:spPr>
          <a:xfrm>
            <a:off x="16337756" y="4928870"/>
            <a:ext cx="52601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2840970" y="5198745"/>
            <a:ext cx="444106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Consumption edge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840970" y="5948045"/>
            <a:ext cx="4173309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</a:t>
            </a:r>
            <a:pPr algn="l" indent="0" marL="0">
              <a:lnSpc>
                <a:spcPct val="128333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repos, desktops &amp; CI </a:t>
            </a:r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the axes on what apps actually pull.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809244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6047720" y="9455150"/>
            <a:ext cx="117348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16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779" y="-1333500"/>
            <a:ext cx="8652843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85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IV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5504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44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Offline by default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6451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Deny-by-default egress, deterministic runs, a pre-flighted database. Trust that survives the air gap.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78900"/>
            <a:ext cx="16002000" cy="19050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8450"/>
            <a:ext cx="63341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22444" y="9188450"/>
            <a:ext cx="173664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123444" y="9188450"/>
            <a:ext cx="109775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17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537006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Deny-by-default egress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4490720"/>
            <a:ext cx="79663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scan makes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network calls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Database and engines are provisioned ahead of time as declared dependencies.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5586095"/>
            <a:ext cx="7966329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Any online behavior is </a:t>
            </a:r>
            <a:pPr algn="l" indent="0" marL="0">
              <a:lnSpc>
                <a:spcPct val="134643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opt-in and explicit 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never silent. Safe by construction in regulated and air-gapped estates.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10700" y="3527425"/>
            <a:ext cx="7734300" cy="8064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6450" y="3775075"/>
            <a:ext cx="22002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network egress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6287750" y="3775075"/>
            <a:ext cx="64770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DENY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410700" y="4505325"/>
            <a:ext cx="7734300" cy="8064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6450" y="4752975"/>
            <a:ext cx="188595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OSV database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6144875" y="4752975"/>
            <a:ext cx="7905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410700" y="5483225"/>
            <a:ext cx="7734300" cy="80645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6450" y="5730875"/>
            <a:ext cx="107632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716250" y="5730875"/>
            <a:ext cx="121920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DECLARED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410700" y="6461125"/>
            <a:ext cx="7734300" cy="806450"/>
          </a:xfrm>
          <a:prstGeom prst="rect">
            <a:avLst/>
          </a:prstGeom>
          <a:solidFill>
            <a:srgbClr val="FCE4DE"/>
          </a:solidFill>
          <a:ln w="19050">
            <a:solidFill>
              <a:srgbClr val="EC30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6450" y="6708775"/>
            <a:ext cx="267176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online enrichment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6002000" y="6708775"/>
            <a:ext cx="93345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OPT-IN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13816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139160" y="9455150"/>
            <a:ext cx="10820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18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70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9105" y="838200"/>
            <a:ext cx="637887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Deterministic &amp; pre-flighted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87500"/>
            <a:ext cx="7810500" cy="762000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9250" y="2025650"/>
            <a:ext cx="75438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DETERMINISM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19250" y="2381250"/>
            <a:ext cx="7063740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29"/>
              </a:lnSpc>
              <a:buNone/>
            </a:pPr>
            <a:r>
              <a:rPr lang="en-US" sz="28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Same inputs, same verdict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619250" y="3406140"/>
            <a:ext cx="706374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22"/>
              </a:lnSpc>
              <a:buNone/>
            </a:pPr>
            <a:r>
              <a:rPr lang="en-US" sz="18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Pinned engines + pinned database. Reproducible on any machine, on any day — including one with no internet.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34500" y="1587500"/>
            <a:ext cx="7810500" cy="7620000"/>
          </a:xfrm>
          <a:prstGeom prst="rect">
            <a:avLst/>
          </a:prstGeom>
          <a:solidFill>
            <a:srgbClr val="FCE4DE"/>
          </a:solidFill>
          <a:ln w="19050">
            <a:solidFill>
              <a:srgbClr val="EC30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10750" y="2025650"/>
            <a:ext cx="75438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PRE-FLIGHT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10750" y="2381250"/>
            <a:ext cx="7063740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29"/>
              </a:lnSpc>
              <a:buNone/>
            </a:pPr>
            <a:r>
              <a:rPr lang="en-US" sz="28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Verify before you trust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10750" y="3406140"/>
            <a:ext cx="706374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22"/>
              </a:lnSpc>
              <a:buNone/>
            </a:pPr>
            <a:r>
              <a:rPr lang="en-US" sz="18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Record count, freshness &amp; integrity checked first. A scan becomes </a:t>
            </a:r>
            <a:pPr algn="l" indent="0" marL="0">
              <a:lnSpc>
                <a:spcPct val="132622"/>
              </a:lnSpc>
              <a:buNone/>
            </a:pPr>
            <a:r>
              <a:rPr lang="en-US" sz="1875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evidence you can defend </a:t>
            </a:r>
            <a:pPr algn="l" indent="0" marL="0">
              <a:lnSpc>
                <a:spcPct val="132622"/>
              </a:lnSpc>
              <a:buNone/>
            </a:pPr>
            <a:r>
              <a:rPr lang="en-US" sz="187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 an audit.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13816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6139160" y="9455150"/>
            <a:ext cx="10820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19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717988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 contact — at your terminal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2865437"/>
            <a:ext cx="16002000" cy="5064125"/>
          </a:xfrm>
          <a:prstGeom prst="rect">
            <a:avLst/>
          </a:prstGeom>
          <a:solidFill>
            <a:srgbClr val="1A1918"/>
          </a:solidFill>
          <a:ln w="19050">
            <a:solidFill>
              <a:srgbClr val="201E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050" y="3518852"/>
            <a:ext cx="15963900" cy="9525"/>
          </a:xfrm>
          <a:prstGeom prst="rect">
            <a:avLst/>
          </a:prstGeom>
          <a:solidFill>
            <a:srgbClr val="3A3836"/>
          </a:solidFill>
          <a:ln/>
        </p:spPr>
      </p:sp>
      <p:sp>
        <p:nvSpPr>
          <p:cNvPr id="7" name="Shape 5"/>
          <p:cNvSpPr/>
          <p:nvPr/>
        </p:nvSpPr>
        <p:spPr>
          <a:xfrm>
            <a:off x="1390650" y="3134995"/>
            <a:ext cx="133350" cy="133350"/>
          </a:xfrm>
          <a:prstGeom prst="ellipse">
            <a:avLst/>
          </a:prstGeom>
          <a:solidFill>
            <a:srgbClr val="EC3013"/>
          </a:solidFill>
          <a:ln/>
        </p:spPr>
      </p:sp>
      <p:sp>
        <p:nvSpPr>
          <p:cNvPr id="8" name="Shape 6"/>
          <p:cNvSpPr/>
          <p:nvPr/>
        </p:nvSpPr>
        <p:spPr>
          <a:xfrm>
            <a:off x="1609725" y="3134995"/>
            <a:ext cx="133350" cy="133350"/>
          </a:xfrm>
          <a:prstGeom prst="ellipse">
            <a:avLst/>
          </a:prstGeom>
          <a:solidFill>
            <a:srgbClr val="4A4846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3134995"/>
            <a:ext cx="133350" cy="133350"/>
          </a:xfrm>
          <a:prstGeom prst="ellipse">
            <a:avLst/>
          </a:prstGeom>
          <a:solidFill>
            <a:srgbClr val="4A4846"/>
          </a:solidFill>
          <a:ln/>
        </p:spPr>
      </p:sp>
      <p:sp>
        <p:nvSpPr>
          <p:cNvPr id="10" name="Text 8"/>
          <p:cNvSpPr/>
          <p:nvPr/>
        </p:nvSpPr>
        <p:spPr>
          <a:xfrm>
            <a:off x="2181225" y="3055937"/>
            <a:ext cx="1413510" cy="32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43"/>
              </a:lnSpc>
              <a:buNone/>
            </a:pPr>
            <a:r>
              <a:rPr lang="en-US" sz="135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 — warden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04950" y="3810953"/>
            <a:ext cx="157364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 scan . --warn-only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4950" y="4351972"/>
            <a:ext cx="157364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 1.0 · offline · OSV db 2026-07-10 (312,004 records ✓)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4950" y="4892993"/>
            <a:ext cx="157364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discovered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manifests · resolved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312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packages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4950" y="5434013"/>
            <a:ext cx="157364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hygiene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4950" y="5822632"/>
            <a:ext cx="157364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FF7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 security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critical — numpy 1.22.0 · GHSA-xxxx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4950" y="6211252"/>
            <a:ext cx="157364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 license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unknown — indeterminate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4950" y="6790373"/>
            <a:ext cx="157364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FFD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policy-violation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8A8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reported, not enforced (--warn-only)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4950" y="7236143"/>
            <a:ext cx="157364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E8E6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</a:t>
            </a:r>
            <a:pPr algn="l" indent="0" marL="0">
              <a:lnSpc>
                <a:spcPct val="130213"/>
              </a:lnSpc>
              <a:buNone/>
            </a:pPr>
            <a:r>
              <a:rPr lang="en-US" sz="1800" dirty="0">
                <a:solidFill>
                  <a:srgbClr val="7FD6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13816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139160" y="9455150"/>
            <a:ext cx="10820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20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1413" y="-1333500"/>
            <a:ext cx="5869146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85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5504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44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From a gate to governance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6451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axes of dependency trust, pluggable behind one report — hygiene &amp; security today, four more on the roadmap.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78900"/>
            <a:ext cx="16002000" cy="19050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8450"/>
            <a:ext cx="63341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68799" y="9188450"/>
            <a:ext cx="173664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216313" y="9188450"/>
            <a:ext cx="100488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21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66319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axes of dependency trust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11300"/>
            <a:ext cx="160020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511300"/>
            <a:ext cx="19050" cy="77724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7" name="Shape 5"/>
          <p:cNvSpPr/>
          <p:nvPr/>
        </p:nvSpPr>
        <p:spPr>
          <a:xfrm>
            <a:off x="1162050" y="5387975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70650" y="1530350"/>
            <a:ext cx="19050" cy="3876675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1828800"/>
            <a:ext cx="188036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1 · HYGIENE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5773420" y="1816100"/>
            <a:ext cx="373380" cy="2413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1" name="Text 9"/>
          <p:cNvSpPr/>
          <p:nvPr/>
        </p:nvSpPr>
        <p:spPr>
          <a:xfrm>
            <a:off x="5868670" y="1835150"/>
            <a:ext cx="22021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5900" y="2171700"/>
            <a:ext cx="51269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used?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85900" y="4879975"/>
            <a:ext cx="512699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deptry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6489700" y="5387975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98300" y="1530350"/>
            <a:ext cx="19050" cy="3876675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6813550" y="1828800"/>
            <a:ext cx="1997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2 · SECURITY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1101070" y="1816100"/>
            <a:ext cx="373380" cy="2413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8" name="Text 16"/>
          <p:cNvSpPr/>
          <p:nvPr/>
        </p:nvSpPr>
        <p:spPr>
          <a:xfrm>
            <a:off x="11196320" y="1835150"/>
            <a:ext cx="22021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3550" y="2171700"/>
            <a:ext cx="51269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vulnerable?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13550" y="4879975"/>
            <a:ext cx="512699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osv-scanner + KEV/EPSS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1817350" y="5387975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2" name="Shape 20"/>
          <p:cNvSpPr/>
          <p:nvPr/>
        </p:nvSpPr>
        <p:spPr>
          <a:xfrm>
            <a:off x="17125949" y="1530350"/>
            <a:ext cx="19050" cy="3876675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3" name="Text 21"/>
          <p:cNvSpPr/>
          <p:nvPr/>
        </p:nvSpPr>
        <p:spPr>
          <a:xfrm>
            <a:off x="12141200" y="1828800"/>
            <a:ext cx="188036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3 · LICENSE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16245840" y="1816100"/>
            <a:ext cx="556260" cy="2413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25" name="Text 23"/>
          <p:cNvSpPr/>
          <p:nvPr/>
        </p:nvSpPr>
        <p:spPr>
          <a:xfrm>
            <a:off x="16341090" y="1835150"/>
            <a:ext cx="421386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141200" y="2171700"/>
            <a:ext cx="51269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allowed?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141200" y="4879975"/>
            <a:ext cx="512699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license-expression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162050" y="9264650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0650" y="5407025"/>
            <a:ext cx="19050" cy="3876675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0" name="Text 28"/>
          <p:cNvSpPr/>
          <p:nvPr/>
        </p:nvSpPr>
        <p:spPr>
          <a:xfrm>
            <a:off x="1485900" y="5705475"/>
            <a:ext cx="1997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4 · CURRENCY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5590540" y="5692775"/>
            <a:ext cx="556260" cy="2413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2" name="Text 30"/>
          <p:cNvSpPr/>
          <p:nvPr/>
        </p:nvSpPr>
        <p:spPr>
          <a:xfrm>
            <a:off x="5685790" y="5711825"/>
            <a:ext cx="421386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85900" y="6048375"/>
            <a:ext cx="51269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patchable?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85900" y="8756650"/>
            <a:ext cx="512699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endoflife.date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6489700" y="9264650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6" name="Shape 34"/>
          <p:cNvSpPr/>
          <p:nvPr/>
        </p:nvSpPr>
        <p:spPr>
          <a:xfrm>
            <a:off x="11798300" y="5407025"/>
            <a:ext cx="19050" cy="3876675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37" name="Text 35"/>
          <p:cNvSpPr/>
          <p:nvPr/>
        </p:nvSpPr>
        <p:spPr>
          <a:xfrm>
            <a:off x="6813550" y="5718175"/>
            <a:ext cx="22329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201E1D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5 · PROVENANCE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10709910" y="5692775"/>
            <a:ext cx="764540" cy="266700"/>
          </a:xfrm>
          <a:prstGeom prst="rect">
            <a:avLst/>
          </a:prstGeom>
          <a:ln w="12700">
            <a:solidFill>
              <a:srgbClr val="B6B3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17860" y="5724525"/>
            <a:ext cx="62484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1E1D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13550" y="6073775"/>
            <a:ext cx="51269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authentic?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813550" y="8756650"/>
            <a:ext cx="512699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5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Sigstore / SLSA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11817350" y="9264650"/>
            <a:ext cx="532765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43" name="Shape 41"/>
          <p:cNvSpPr/>
          <p:nvPr/>
        </p:nvSpPr>
        <p:spPr>
          <a:xfrm>
            <a:off x="17125949" y="5407025"/>
            <a:ext cx="19050" cy="3876675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44" name="Text 42"/>
          <p:cNvSpPr/>
          <p:nvPr/>
        </p:nvSpPr>
        <p:spPr>
          <a:xfrm>
            <a:off x="12141200" y="5718175"/>
            <a:ext cx="23504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7" kern="0" dirty="0">
                <a:solidFill>
                  <a:srgbClr val="201E1D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6 · MAINTENANCE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16037561" y="5692775"/>
            <a:ext cx="764540" cy="266700"/>
          </a:xfrm>
          <a:prstGeom prst="rect">
            <a:avLst/>
          </a:prstGeom>
          <a:ln w="12700">
            <a:solidFill>
              <a:srgbClr val="B6B3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145511" y="5724525"/>
            <a:ext cx="62484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1E1D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141200" y="6073775"/>
            <a:ext cx="51269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maintained?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12141200" y="8756650"/>
            <a:ext cx="512699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01E1D">
                    <a:alpha val="5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OpenSSF Scorecard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50" name="Text 48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818388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6230600" y="9455150"/>
            <a:ext cx="990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22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1017190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KEV + EPSS — prioritize by exploitability </a:t>
            </a:r>
            <a:pPr algn="l" indent="0" marL="0">
              <a:buNone/>
            </a:pPr>
            <a:r>
              <a:rPr lang="en-US" sz="1800" b="1" spc="-69" kern="0" dirty="0">
                <a:solidFill>
                  <a:srgbClr val="F3F2F2"/>
                </a:solidFill>
                <a:highlight>
                  <a:srgbClr val="201E1D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143000" y="3122612"/>
            <a:ext cx="1491234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 every CVE matters equally. Warden enriches each finding so the gate blocks on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what's actually dangerous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not theoretical noise.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4332287"/>
            <a:ext cx="7810500" cy="218186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3050" y="4694237"/>
            <a:ext cx="77114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CISA KEV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43050" y="5056187"/>
            <a:ext cx="77114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Exploited in the wild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43050" y="5538788"/>
            <a:ext cx="7220712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105"/>
              </a:lnSpc>
              <a:buNone/>
            </a:pPr>
            <a:r>
              <a:rPr lang="en-US" sz="172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known-exploited catalog — a boolean that outranks a raw severity score.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334500" y="4332287"/>
            <a:ext cx="7810500" cy="218186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34550" y="4694237"/>
            <a:ext cx="77114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EPSS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34550" y="5056187"/>
            <a:ext cx="77114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Probability it will be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734550" y="5538788"/>
            <a:ext cx="771144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105"/>
              </a:lnSpc>
              <a:buNone/>
            </a:pPr>
            <a:r>
              <a:rPr lang="en-US" sz="172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0–1 exploit-prediction score for triage — gate with </a:t>
            </a:r>
            <a:pPr algn="l" indent="0" marL="0">
              <a:lnSpc>
                <a:spcPct val="127105"/>
              </a:lnSpc>
              <a:buNone/>
            </a:pPr>
            <a:r>
              <a:rPr lang="en-US" sz="1725" dirty="0">
                <a:solidFill>
                  <a:srgbClr val="201E1D">
                    <a:alpha val="7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--min-epss</a:t>
            </a:r>
            <a:pPr algn="l" indent="0" marL="0">
              <a:lnSpc>
                <a:spcPct val="127105"/>
              </a:lnSpc>
              <a:buNone/>
            </a:pPr>
            <a:r>
              <a:rPr lang="en-US" sz="1725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143000" y="6895148"/>
            <a:ext cx="16002000" cy="777240"/>
          </a:xfrm>
          <a:prstGeom prst="rect">
            <a:avLst/>
          </a:prstGeom>
          <a:solidFill>
            <a:srgbClr val="FCE4DE"/>
          </a:solidFill>
          <a:ln w="19050">
            <a:solidFill>
              <a:srgbClr val="EC30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7800" y="7123748"/>
            <a:ext cx="158724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34"/>
              </a:lnSpc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--fail-on-kev </a:t>
            </a:r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FCE4DE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</a:t>
            </a:r>
            <a:pPr algn="l" indent="0" marL="0">
              <a:lnSpc>
                <a:spcPct val="107234"/>
              </a:lnSpc>
              <a:buNone/>
            </a:pPr>
            <a:r>
              <a:rPr lang="en-US" sz="18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--min-epss 0.5 </a:t>
            </a:r>
            <a:pPr algn="l" indent="0" marL="0">
              <a:lnSpc>
                <a:spcPct val="107234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FCE4DE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block on real-world risk, warn on the rest.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18388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6230600" y="9455150"/>
            <a:ext cx="990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23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966549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 &amp; currency complete the gate </a:t>
            </a:r>
            <a:pPr algn="l" indent="0" marL="0">
              <a:buNone/>
            </a:pPr>
            <a:r>
              <a:rPr lang="en-US" sz="1800" b="1" spc="-69" kern="0" dirty="0">
                <a:solidFill>
                  <a:srgbClr val="F3F2F2"/>
                </a:solidFill>
                <a:highlight>
                  <a:srgbClr val="201E1D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v1.x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87500"/>
            <a:ext cx="7810500" cy="762000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150" y="1987550"/>
            <a:ext cx="76276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3 · LICENSE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81150" y="2343150"/>
            <a:ext cx="762762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allowed?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81150" y="2912745"/>
            <a:ext cx="7142226" cy="710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SPDX from PyPI metadata + conda </a:t>
            </a:r>
            <a:pPr algn="l" indent="0" marL="0">
              <a:lnSpc>
                <a:spcPct val="130500"/>
              </a:lnSpc>
              <a:buNone/>
            </a:pPr>
            <a:r>
              <a:rPr lang="en-US" sz="180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about: license </a:t>
            </a:r>
            <a:pPr algn="l" indent="0" marL="0">
              <a:lnSpc>
                <a:spcPct val="130500"/>
              </a:lnSpc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normalized via </a:t>
            </a:r>
            <a:pPr algn="l" indent="0" marL="0">
              <a:lnSpc>
                <a:spcPct val="130500"/>
              </a:lnSpc>
              <a:buNone/>
            </a:pPr>
            <a:r>
              <a:rPr lang="en-US" sz="180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license-expression</a:t>
            </a:r>
            <a:pPr algn="l" indent="0" marL="0">
              <a:lnSpc>
                <a:spcPct val="130500"/>
              </a:lnSpc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Gate on allow / deny lists.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81150" y="8547100"/>
            <a:ext cx="714222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--allow-licenses · --deny-licenses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9334500" y="1587500"/>
            <a:ext cx="7810500" cy="7620000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72650" y="1987550"/>
            <a:ext cx="76276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4 · CURRENCY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72650" y="2343150"/>
            <a:ext cx="762762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02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it patchable?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72650" y="2912745"/>
            <a:ext cx="714222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180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endoflife.date </a:t>
            </a:r>
            <a:pPr algn="l" indent="0" marL="0">
              <a:lnSpc>
                <a:spcPct val="130500"/>
              </a:lnSpc>
              <a:buNone/>
            </a:pPr>
            <a:r>
              <a:rPr lang="en-US" sz="180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 version-lag flag EOL &amp; stale deps — and the Python runtime against LTS / N / N-1. Only current things get patched.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72650" y="8547100"/>
            <a:ext cx="714222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--max-lag · --require-lts · --fail-on-eol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18388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230600" y="9455150"/>
            <a:ext cx="990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24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779" y="-1333500"/>
            <a:ext cx="8652843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85"/>
              </a:lnSpc>
              <a:buNone/>
            </a:pPr>
            <a:r>
              <a:rPr lang="en-US" sz="40000" b="1" dirty="0">
                <a:solidFill>
                  <a:srgbClr val="F3F2F2">
                    <a:alpha val="13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95504"/>
            <a:ext cx="16482060" cy="2196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44"/>
              </a:lnSpc>
              <a:buNone/>
            </a:pPr>
            <a:r>
              <a:rPr lang="en-US" sz="8850" b="1" spc="-177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command, one honest gate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143000" y="5896451"/>
            <a:ext cx="1098804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46"/>
              </a:lnSpc>
              <a:buNone/>
            </a:pPr>
            <a:r>
              <a:rPr lang="en-US" sz="25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same command you ran locally becomes the merge gate — fleet-wide, and it never lies.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8978900"/>
            <a:ext cx="16002000" cy="19050"/>
          </a:xfrm>
          <a:prstGeom prst="rect">
            <a:avLst/>
          </a:prstGeom>
          <a:solidFill>
            <a:srgbClr val="F3F2F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188450"/>
            <a:ext cx="63341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22444" y="9188450"/>
            <a:ext cx="173664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6123444" y="9188450"/>
            <a:ext cx="109775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56" kern="0" dirty="0">
                <a:solidFill>
                  <a:srgbClr val="F3F2F2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25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71550"/>
            <a:ext cx="43338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28788" y="838200"/>
            <a:ext cx="325780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gate, in CI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3626961"/>
            <a:ext cx="7922895" cy="3541077"/>
          </a:xfrm>
          <a:prstGeom prst="rect">
            <a:avLst/>
          </a:prstGeom>
          <a:ln w="19050">
            <a:solidFill>
              <a:srgbClr val="201E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050" y="3646011"/>
            <a:ext cx="7884795" cy="71120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7" name="Shape 5"/>
          <p:cNvSpPr/>
          <p:nvPr/>
        </p:nvSpPr>
        <p:spPr>
          <a:xfrm>
            <a:off x="1162050" y="4338161"/>
            <a:ext cx="7884795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3855561"/>
            <a:ext cx="331927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 / dependency-gate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751127" y="3868261"/>
            <a:ext cx="11052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 failing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28750" y="4585811"/>
            <a:ext cx="7571937" cy="3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10"/>
              </a:lnSpc>
              <a:buNone/>
            </a:pPr>
            <a:r>
              <a:rPr lang="en-US" sz="1575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</a:t>
            </a:r>
            <a:pPr algn="l" indent="0" marL="0">
              <a:lnSpc>
                <a:spcPct val="130610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hygiene — clean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428750" y="4925854"/>
            <a:ext cx="7571937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10"/>
              </a:lnSpc>
              <a:buNone/>
            </a:pPr>
            <a:r>
              <a:rPr lang="en-US" sz="1575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 </a:t>
            </a:r>
            <a:pPr algn="l" indent="0" marL="0">
              <a:lnSpc>
                <a:spcPct val="130610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 — 1 critical · </a:t>
            </a:r>
            <a:pPr algn="l" indent="0" marL="0">
              <a:lnSpc>
                <a:spcPct val="130610"/>
              </a:lnSpc>
              <a:buNone/>
            </a:pPr>
            <a:r>
              <a:rPr lang="en-US" sz="1575" b="1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KEV-listed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695450" y="5265896"/>
            <a:ext cx="7305237" cy="3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10"/>
              </a:lnSpc>
              <a:buNone/>
            </a:pPr>
            <a:r>
              <a:rPr lang="en-US" sz="1575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numpy 1.22.0 · GHSA-xxxx · EPSS 0.83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428750" y="5605939"/>
            <a:ext cx="7571937" cy="3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10"/>
              </a:lnSpc>
              <a:buNone/>
            </a:pPr>
            <a:r>
              <a:rPr lang="en-US" sz="1575" dirty="0">
                <a:solidFill>
                  <a:srgbClr val="1A7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</a:t>
            </a:r>
            <a:pPr algn="l" indent="0" marL="0">
              <a:lnSpc>
                <a:spcPct val="130610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license — clean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428750" y="6079331"/>
            <a:ext cx="7351395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428750" y="6231731"/>
            <a:ext cx="7571937" cy="3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10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 </a:t>
            </a:r>
            <a:pPr algn="l" indent="0" marL="0">
              <a:lnSpc>
                <a:spcPct val="130610"/>
              </a:lnSpc>
              <a:buNone/>
            </a:pPr>
            <a:r>
              <a:rPr lang="en-US" sz="15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policy-violation </a:t>
            </a:r>
            <a:pPr algn="l" indent="0" marL="0">
              <a:lnSpc>
                <a:spcPct val="130610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exit </a:t>
            </a:r>
            <a:pPr algn="l" indent="0" marL="0">
              <a:lnSpc>
                <a:spcPct val="130610"/>
              </a:lnSpc>
              <a:buNone/>
            </a:pPr>
            <a:r>
              <a:rPr lang="en-US" sz="1575" b="1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428750" y="6628924"/>
            <a:ext cx="7571937" cy="32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43"/>
              </a:lnSpc>
              <a:buNone/>
            </a:pPr>
            <a:r>
              <a:rPr lang="en-US" sz="1350" dirty="0">
                <a:solidFill>
                  <a:srgbClr val="201E1D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↳ report artifact: compliance-report.json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599295" y="4490720"/>
            <a:ext cx="77720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Exit 1 </a:t>
            </a:r>
            <a:pPr algn="l" indent="0" marL="0">
              <a:lnSpc>
                <a:spcPct val="13316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blocks the merge </a:t>
            </a:r>
            <a:pPr algn="l" indent="0" marL="0">
              <a:lnSpc>
                <a:spcPct val="1331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and the check shows exactly why, with the report attached.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599295" y="5586095"/>
            <a:ext cx="7772076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Green is </a:t>
            </a:r>
            <a:pPr algn="l" indent="0" marL="0">
              <a:lnSpc>
                <a:spcPct val="134643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earned 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lock the environment, file an </a:t>
            </a:r>
            <a:pPr algn="l" indent="0" marL="0">
              <a:lnSpc>
                <a:spcPct val="134643"/>
              </a:lnSpc>
              <a:buNone/>
            </a:pPr>
            <a:r>
              <a:rPr lang="en-US" sz="1950" b="1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expiring waiver </a:t>
            </a:r>
            <a:pPr algn="l" indent="0" marL="0">
              <a:lnSpc>
                <a:spcPct val="13464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with a reason, or fix the finding. Never faked.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13816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139160" y="9455150"/>
            <a:ext cx="10820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26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3F2F2">
                    <a:alpha val="8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HONEST-ADOPTION POSTURE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2703195"/>
            <a:ext cx="15304770" cy="352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0"/>
              </a:lnSpc>
              <a:buNone/>
            </a:pPr>
            <a:r>
              <a:rPr lang="en-US" sz="6600" b="1" spc="-132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green check should mean it was </a:t>
            </a:r>
            <a:pPr algn="l" indent="0" marL="0">
              <a:lnSpc>
                <a:spcPct val="95330"/>
              </a:lnSpc>
              <a:buNone/>
            </a:pPr>
            <a:r>
              <a:rPr lang="en-US" sz="6600" b="1" u="heavy" spc="-132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actually checked </a:t>
            </a:r>
            <a:pPr algn="l" indent="0" marL="0">
              <a:lnSpc>
                <a:spcPct val="95330"/>
              </a:lnSpc>
              <a:buNone/>
            </a:pPr>
            <a:r>
              <a:rPr lang="en-US" sz="6600" b="1" spc="-132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No empty database, no skipped manifest, no false green.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6570980"/>
            <a:ext cx="1373505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bare </a:t>
            </a:r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F3F2F2">
                    <a:alpha val="94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recipe.yaml 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 exits non-zero by design — until you lock, waive, or run </a:t>
            </a:r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F3F2F2">
                    <a:alpha val="94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--warn-only 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F3F2F2">
                    <a:alpha val="94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That's the lock-nudge working, not a bug.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8921750"/>
            <a:ext cx="16002000" cy="1905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9169400"/>
            <a:ext cx="402336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 · pyforge-warden · pyforge.warden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07240" y="9169400"/>
            <a:ext cx="5431536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2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rxm7706 / local-recipes · docs/specs/pyforge-warden.md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485900"/>
            <a:ext cx="16002000" cy="254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009650"/>
            <a:ext cx="121666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EC30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512060" y="838200"/>
            <a:ext cx="456731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 Warden serves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143000" y="1511300"/>
            <a:ext cx="19050" cy="77724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6" name="Shape 4"/>
          <p:cNvSpPr/>
          <p:nvPr/>
        </p:nvSpPr>
        <p:spPr>
          <a:xfrm>
            <a:off x="5138738" y="1511300"/>
            <a:ext cx="19050" cy="77724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1816100"/>
            <a:ext cx="374570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64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CISO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447800" y="2159000"/>
            <a:ext cx="3745706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09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Provable risk posture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447800" y="2634297"/>
            <a:ext cx="3507343" cy="949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17"/>
              </a:lnSpc>
              <a:buNone/>
            </a:pPr>
            <a:r>
              <a:rPr lang="en-US" sz="16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Exploitability-prioritized findings (KEV/EPSS) and audit-grade, reproducible evidence.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34475" y="1511300"/>
            <a:ext cx="19050" cy="77724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1" name="Text 9"/>
          <p:cNvSpPr/>
          <p:nvPr/>
        </p:nvSpPr>
        <p:spPr>
          <a:xfrm>
            <a:off x="5443538" y="1816100"/>
            <a:ext cx="374570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64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CHIEF DEV EXPERIENCE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443538" y="2159000"/>
            <a:ext cx="3745706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09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gate devs trust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5443538" y="2634297"/>
            <a:ext cx="3507343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17"/>
              </a:lnSpc>
              <a:buNone/>
            </a:pPr>
            <a:r>
              <a:rPr lang="en-US" sz="16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locally first, one command, no false alarms — so it doesn't cry wolf.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130213" y="1511300"/>
            <a:ext cx="19050" cy="777240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15" name="Text 13"/>
          <p:cNvSpPr/>
          <p:nvPr/>
        </p:nvSpPr>
        <p:spPr>
          <a:xfrm>
            <a:off x="9439275" y="1816100"/>
            <a:ext cx="374570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64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CIO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439275" y="2159000"/>
            <a:ext cx="3745706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09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Standardized &amp; offline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439275" y="2634297"/>
            <a:ext cx="3507343" cy="949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17"/>
              </a:lnSpc>
              <a:buNone/>
            </a:pPr>
            <a:r>
              <a:rPr lang="en-US" sz="16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gate fleet-wide, deterministic and air-gap-ready for regulated estates.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435013" y="1816100"/>
            <a:ext cx="37666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64" kern="0" dirty="0">
                <a:solidFill>
                  <a:srgbClr val="C22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CHIEF DATA &amp; ANALYTICS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3435013" y="2159000"/>
            <a:ext cx="3526965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09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ML footprint, covered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3435013" y="2938145"/>
            <a:ext cx="3526965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17"/>
              </a:lnSpc>
              <a:buNone/>
            </a:pPr>
            <a:r>
              <a:rPr lang="en-US" sz="1650" dirty="0">
                <a:solidFill>
                  <a:srgbClr val="201E1D">
                    <a:alpha val="72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conda / conda-forge coverage — the 80% of libraries stock tools never see.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43000" y="9283700"/>
            <a:ext cx="16002000" cy="19050"/>
          </a:xfrm>
          <a:prstGeom prst="rect">
            <a:avLst/>
          </a:prstGeom>
          <a:solidFill>
            <a:srgbClr val="D3D0C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9455150"/>
            <a:ext cx="6248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201E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WARDEN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046720" y="9455150"/>
            <a:ext cx="1709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false-green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5956280" y="9455150"/>
            <a:ext cx="1264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201E1D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 · 28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2026-07-14T18:39:43Z</dcterms:created>
  <dcterms:modified xsi:type="dcterms:W3CDTF">2026-07-14T18:39:43Z</dcterms:modified>
</cp:coreProperties>
</file>