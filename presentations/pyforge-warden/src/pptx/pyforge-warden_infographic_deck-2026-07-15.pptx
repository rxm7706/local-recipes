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Warden — pyforge-warden. One CLI guarding both Python ecosystems across six axes of dependency trust, returning one consolidated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gate, both Python ecosystems, six axes of dependency trust — hygiene, security, license, currency, provenance, maintenance.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I — the tool, shipping in v1.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Dependency hygiene and security need disjointed tools — deptry and osv-scanner as separate pipelines, neither understanding conda/pixi manifests.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isn't one ecosystem. PyPI: ~850K packages, open upload, 20% of footprint. conda-forge: ~30K feedstocks, curated FOSS, 80% of footprint. Engines are pluggable, not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axes, each a different question. v1 ships hygiene + security; license &amp; currency complete the v1.x gate; provenance &amp; maintenance are vision. Engines are pluggable.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manifest engine is the wedge — neither scanning engine parses conda/pixi. No untrusted input executed: yaml.safe_load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invocation, one pipeline: discovery, extraction, parallel hygiene + security scan, aggregation into one ComplianceReport, teardown that never mutates host or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Outputs: the canonical ComplianceReport JSON (schema-validated), a human summary, a CycloneDX SBOM, and actionable findings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severity-tiered gate: verdict lattice highest-wins, frozen exit enum 0/1/2/130, default policy blocks on CVSS-critical + KEV tier, waivers-as-code, typed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II — in practice, running it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Platform engineers (CI/CD), DevSecOps (compliance + SBOM), Python developers (pip + conda). Designed for a 20k+ repo fleet, concurrent (NFR1).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rings: consumption edge (today), registry perimeter / JFrog blocklists (v1.x), public upstream scanning (vision). The further out, the more it prevents rather than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 is the primary consumer, but first contact is a developer at a terminal. Same CLI, same exit codes. Waiver authoring is local-only. Local mode never softens the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ways a repo flows: Path A PyPI native (delegate to engines), Path B conda/pixi wedge (manifest engine synthesizes requirements), Path C non-Python (not-applicable, exit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Warden is the fleet edge — one of several scanning surfaces. It complements the atlas host, container tooling, and the future unified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III — where it's going. Roadmap and vision; v1 is the gate in Parts I–II.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Now: v1.x completes license + currency, baseline/grandfathering, automated fix PRs. Next: pluggable scanners, allowlist, maintenance/health, vendor-support backlog. Later: reachability, malicious-package detection, alternate-library suggestions, sibling ecosystems.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IV — at enterprise scale. Fleet and ecosystem 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Governing thousands of repos needs more than a per-repo gate. Warden's report contract feeds a fleet-wide control plane across five domains.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Consuming OSS at scale is stewardship, not just risk. Warden feeds the OSPO's policy, governance, and sustainability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report feeds executive scorecards: CISO, CDXO, CIO, CDAO — each measured on a different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producer-agnostic report contract lets tools slot in as an engine, an enrichment feed, or a downstream consumer — from deptry/osv today to commercial SCA consumers.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Adoption starts at a terminal: try it locally with --warn-only, make it pass honestly (lock/waive/fix), then gate in CI with the same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Warden refuses to fake a pass. If it can't prove your dependencies are safe, it fails — until you pin, accept the risk, or run --warn-only. An honest 'not verified' beats a false 'all clear.'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4811792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1125" b="1" spc="113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BMAD-METHOD TECH SPEC · FULL AGENTIC AI-SDLC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14501018" y="914400"/>
            <a:ext cx="3013154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1125" b="1" spc="113" kern="0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STATUS — PLANNING COMPLETE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3172460"/>
            <a:ext cx="1781175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653"/>
              </a:lnSpc>
              <a:buNone/>
            </a:pPr>
            <a:r>
              <a:rPr lang="en-US" sz="11250" b="1" spc="-337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Warden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1047750" y="4591685"/>
            <a:ext cx="1781175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950" b="1" dirty="0">
                <a:solidFill>
                  <a:srgbClr val="201E1D">
                    <a:alpha val="6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pyforge-warden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5280343"/>
            <a:ext cx="1275397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CLI that guards both Python ecosystems — the </a:t>
            </a:r>
            <a:pPr algn="l" indent="0" marL="0">
              <a:lnSpc>
                <a:spcPct val="128571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PyPI </a:t>
            </a:r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world of applications and the </a:t>
            </a:r>
            <a:pPr algn="l" indent="0" marL="0">
              <a:lnSpc>
                <a:spcPct val="128571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conda / conda-forge </a:t>
            </a:r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world of scientific, analytics &amp; ML/AI computing — across </a:t>
            </a:r>
            <a:pPr algn="l" indent="0" marL="0">
              <a:lnSpc>
                <a:spcPct val="128571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six axes </a:t>
            </a:r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 dependency trust, returning </a:t>
            </a:r>
            <a:pPr algn="l" indent="0" marL="0">
              <a:lnSpc>
                <a:spcPct val="128571"/>
              </a:lnSpc>
              <a:buNone/>
            </a:pPr>
            <a:r>
              <a:rPr lang="en-US" sz="2250" b="1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consolidated report</a:t>
            </a:r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8517096"/>
            <a:ext cx="161925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8" name="Shape 6"/>
          <p:cNvSpPr/>
          <p:nvPr/>
        </p:nvSpPr>
        <p:spPr>
          <a:xfrm>
            <a:off x="4269581" y="8544877"/>
            <a:ext cx="16669" cy="827722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8754427"/>
            <a:ext cx="3334464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spc="63" kern="0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OWNER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47750" y="9018270"/>
            <a:ext cx="333446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RXM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508081" y="8544877"/>
            <a:ext cx="16669" cy="827722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476750" y="8754427"/>
            <a:ext cx="3124914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spc="63" kern="0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LANGUAGE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76750" y="9018270"/>
            <a:ext cx="312491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Python 3.12+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746581" y="8544877"/>
            <a:ext cx="16669" cy="827722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15250" y="8754427"/>
            <a:ext cx="3124914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spc="63" kern="0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15250" y="9018270"/>
            <a:ext cx="312491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argparse · stdlib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985081" y="8544877"/>
            <a:ext cx="16669" cy="827722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953750" y="8754427"/>
            <a:ext cx="3124914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spc="63" kern="0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SCOPE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953750" y="9018270"/>
            <a:ext cx="312491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 epics · 20 stories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92250" y="8754427"/>
            <a:ext cx="3352800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spc="63" kern="0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ECOSYSTEM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4192250" y="9018270"/>
            <a:ext cx="33528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PyPI + conda-forge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278346"/>
            <a:ext cx="17811750" cy="30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672"/>
              </a:lnSpc>
              <a:buNone/>
            </a:pPr>
            <a:r>
              <a:rPr lang="en-US" sz="1350" b="1" spc="189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WHY WARDEN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3734594"/>
            <a:ext cx="14716125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77"/>
              </a:lnSpc>
              <a:buNone/>
            </a:pPr>
            <a:r>
              <a:rPr lang="en-US" sz="6150" b="1" spc="-123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gate. Both Python ecosystems. </a:t>
            </a:r>
            <a:pPr algn="l" indent="0" marL="0">
              <a:lnSpc>
                <a:spcPct val="91877"/>
              </a:lnSpc>
              <a:buNone/>
            </a:pPr>
            <a:r>
              <a:rPr lang="en-US" sz="6150" b="1" spc="-123" kern="0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Six axes of dependency trust.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1047750" y="5830094"/>
            <a:ext cx="161925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5" name="Shape 3"/>
          <p:cNvSpPr/>
          <p:nvPr/>
        </p:nvSpPr>
        <p:spPr>
          <a:xfrm>
            <a:off x="3605530" y="5857875"/>
            <a:ext cx="16669" cy="115062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6105525"/>
            <a:ext cx="2604008" cy="540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401"/>
              </a:lnSpc>
              <a:buNone/>
            </a:pPr>
            <a:r>
              <a:rPr lang="en-US" sz="25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047750" y="6683693"/>
            <a:ext cx="2604008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78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Hygiene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370637" y="5857875"/>
            <a:ext cx="16669" cy="115062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812699" y="6105525"/>
            <a:ext cx="2604182" cy="540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401"/>
              </a:lnSpc>
              <a:buNone/>
            </a:pPr>
            <a:r>
              <a:rPr lang="en-US" sz="25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3812699" y="6683693"/>
            <a:ext cx="2604182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78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Security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135586" y="5857875"/>
            <a:ext cx="16669" cy="115062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577806" y="6105525"/>
            <a:ext cx="2604008" cy="540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401"/>
              </a:lnSpc>
              <a:buNone/>
            </a:pPr>
            <a:r>
              <a:rPr lang="en-US" sz="25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577806" y="6683693"/>
            <a:ext cx="2604008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78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License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900694" y="5857875"/>
            <a:ext cx="16669" cy="115062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342755" y="6105525"/>
            <a:ext cx="2604183" cy="540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401"/>
              </a:lnSpc>
              <a:buNone/>
            </a:pPr>
            <a:r>
              <a:rPr lang="en-US" sz="25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342755" y="6683693"/>
            <a:ext cx="2604183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78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Currency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4665642" y="5857875"/>
            <a:ext cx="16669" cy="115062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2107862" y="6105525"/>
            <a:ext cx="2604008" cy="540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401"/>
              </a:lnSpc>
              <a:buNone/>
            </a:pPr>
            <a:r>
              <a:rPr lang="en-US" sz="25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2107862" y="6683693"/>
            <a:ext cx="2604008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78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Provenance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4872811" y="6105525"/>
            <a:ext cx="2604183" cy="540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401"/>
              </a:lnSpc>
              <a:buNone/>
            </a:pPr>
            <a:r>
              <a:rPr lang="en-US" sz="25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872811" y="6683693"/>
            <a:ext cx="2604183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78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Maintenance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35872" y="-1524000"/>
            <a:ext cx="2938240" cy="727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29"/>
              </a:lnSpc>
              <a:buNone/>
            </a:pPr>
            <a:r>
              <a:rPr lang="en-US" sz="40000" b="1" dirty="0">
                <a:solidFill>
                  <a:srgbClr val="F3F2F2">
                    <a:alpha val="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047750" y="914400"/>
            <a:ext cx="17811750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78"/>
              </a:lnSpc>
              <a:buNone/>
            </a:pPr>
            <a:r>
              <a:rPr lang="en-US" sz="1650" b="1" spc="264" kern="0" dirty="0">
                <a:solidFill>
                  <a:srgbClr val="FF978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PART I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4307364"/>
            <a:ext cx="17811750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63"/>
              </a:lnSpc>
              <a:buNone/>
            </a:pPr>
            <a:r>
              <a:rPr lang="en-US" sz="9000" b="1" spc="-180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tool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047750" y="5671344"/>
            <a:ext cx="1781175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2400" dirty="0">
                <a:solidFill>
                  <a:srgbClr val="F3F2F2">
                    <a:alpha val="9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ships in v1 — the gate, its engines, and its contract.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47750" y="9151144"/>
            <a:ext cx="1781175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1125" b="1" spc="113" kern="0" dirty="0">
                <a:solidFill>
                  <a:srgbClr val="F3F2F2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SHIPPING IN V1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31131"/>
            <a:ext cx="161925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35819"/>
            <a:ext cx="43338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14488" y="762000"/>
            <a:ext cx="2960417" cy="528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91"/>
              </a:lnSpc>
              <a:buNone/>
            </a:pPr>
            <a:r>
              <a:rPr lang="en-US" sz="3450" b="1" spc="-34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problem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047750" y="4079557"/>
            <a:ext cx="6113059" cy="2609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55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Dependency hygiene and security compliance require </a:t>
            </a:r>
            <a:pPr algn="l" indent="0" marL="0">
              <a:lnSpc>
                <a:spcPct val="13775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disjointed tools</a:t>
            </a:r>
            <a:pPr algn="l" indent="0" marL="0">
              <a:lnSpc>
                <a:spcPct val="137755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Teams run </a:t>
            </a:r>
            <a:pPr algn="l" indent="0" marL="0">
              <a:lnSpc>
                <a:spcPct val="13775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deptry </a:t>
            </a:r>
            <a:pPr algn="l" indent="0" marL="0">
              <a:lnSpc>
                <a:spcPct val="137755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and </a:t>
            </a:r>
            <a:pPr algn="l" indent="0" marL="0">
              <a:lnSpc>
                <a:spcPct val="13775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osv-scanner </a:t>
            </a:r>
            <a:pPr algn="l" indent="0" marL="0">
              <a:lnSpc>
                <a:spcPct val="137755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as separate pipelines — friction that grows in Conda- and Pixi-heavy environments where </a:t>
            </a:r>
            <a:pPr algn="l" indent="0" marL="0">
              <a:lnSpc>
                <a:spcPct val="13775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neither engine natively understands those manifests </a:t>
            </a:r>
            <a:pPr algn="l" indent="0" marL="0">
              <a:lnSpc>
                <a:spcPct val="137755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7426643" y="4464368"/>
            <a:ext cx="16669" cy="180213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824311" y="4464368"/>
            <a:ext cx="4540949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40"/>
              </a:lnSpc>
              <a:buNone/>
            </a:pPr>
            <a:r>
              <a:rPr lang="en-US" sz="8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8250" dirty="0"/>
          </a:p>
        </p:txBody>
      </p:sp>
      <p:sp>
        <p:nvSpPr>
          <p:cNvPr id="8" name="Text 6"/>
          <p:cNvSpPr/>
          <p:nvPr/>
        </p:nvSpPr>
        <p:spPr>
          <a:xfrm>
            <a:off x="7824311" y="5626418"/>
            <a:ext cx="4251979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disconnected pipelines developers maintain by hand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333446" y="4464368"/>
            <a:ext cx="16669" cy="180213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2731115" y="4464368"/>
            <a:ext cx="4540948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40"/>
              </a:lnSpc>
              <a:buNone/>
            </a:pPr>
            <a:r>
              <a:rPr lang="en-US" sz="8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</a:t>
            </a:r>
            <a:endParaRPr lang="en-US" sz="8250" dirty="0"/>
          </a:p>
        </p:txBody>
      </p:sp>
      <p:sp>
        <p:nvSpPr>
          <p:cNvPr id="11" name="Text 9"/>
          <p:cNvSpPr/>
          <p:nvPr/>
        </p:nvSpPr>
        <p:spPr>
          <a:xfrm>
            <a:off x="12731115" y="5626418"/>
            <a:ext cx="4251979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native conda/pixi support in either engine (as of 2026-07)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9272111"/>
            <a:ext cx="16192500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9441180"/>
            <a:ext cx="209113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WARDEN · pyforge-warden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782892" y="9441180"/>
            <a:ext cx="53355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 / 25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31131"/>
            <a:ext cx="161925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35819"/>
            <a:ext cx="43338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14488" y="762000"/>
            <a:ext cx="6280563" cy="528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91"/>
              </a:lnSpc>
              <a:buNone/>
            </a:pPr>
            <a:r>
              <a:rPr lang="en-US" sz="3450" b="1" spc="-34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Two ecosystems, one gate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687513"/>
            <a:ext cx="7943850" cy="735599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83519" y="2085181"/>
            <a:ext cx="7779544" cy="289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61"/>
              </a:lnSpc>
              <a:buNone/>
            </a:pPr>
            <a:r>
              <a:rPr lang="en-US" sz="1275" b="1" spc="102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ECOSYSTEM 1 · PYPI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483519" y="2469515"/>
            <a:ext cx="777954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3000" b="1" spc="-30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Application Python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3519" y="3174365"/>
            <a:ext cx="77795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29"/>
              </a:lnSpc>
              <a:buNone/>
            </a:pPr>
            <a:r>
              <a:rPr lang="en-US" sz="1500" dirty="0">
                <a:solidFill>
                  <a:srgbClr val="201E1D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~850K packages · open upload, any license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3519" y="3622040"/>
            <a:ext cx="7779544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78"/>
              </a:lnSpc>
              <a:buNone/>
            </a:pPr>
            <a:r>
              <a:rPr lang="en-US" sz="1650" b="1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20% of footprint — ~400 shipped apps ≈ 2–3K libraries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483519" y="8043069"/>
            <a:ext cx="7284482" cy="6408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Manifests </a:t>
            </a:r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pyproject.toml</a:t>
            </a:r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lockfiles — read </a:t>
            </a:r>
            <a:pPr algn="l" indent="0" marL="0">
              <a:lnSpc>
                <a:spcPct val="135000"/>
              </a:lnSpc>
              <a:buNone/>
            </a:pPr>
            <a:r>
              <a:rPr lang="en-US" sz="1575" b="1" dirty="0">
                <a:solidFill>
                  <a:srgbClr val="201E1D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natively </a:t>
            </a:r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by the engines.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9296400" y="1687513"/>
            <a:ext cx="7943850" cy="7355999"/>
          </a:xfrm>
          <a:prstGeom prst="rect">
            <a:avLst/>
          </a:prstGeom>
          <a:solidFill>
            <a:srgbClr val="FFF2EF"/>
          </a:solidFill>
          <a:ln w="16669">
            <a:solidFill>
              <a:srgbClr val="EC30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32169" y="2085181"/>
            <a:ext cx="7779544" cy="289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61"/>
              </a:lnSpc>
              <a:buNone/>
            </a:pPr>
            <a:r>
              <a:rPr lang="en-US" sz="1275" b="1" spc="102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ECOSYSTEM 2 · CONDA-FORGE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9732169" y="2469515"/>
            <a:ext cx="777954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3000" b="1" spc="-30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Scientific &amp; Data Python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732169" y="3174365"/>
            <a:ext cx="77795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29"/>
              </a:lnSpc>
              <a:buNone/>
            </a:pPr>
            <a:r>
              <a:rPr lang="en-US" sz="1500" dirty="0">
                <a:solidFill>
                  <a:srgbClr val="201E1D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~30K feedstocks · curated, FOSS-only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732169" y="3622040"/>
            <a:ext cx="7779544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78"/>
              </a:lnSpc>
              <a:buNone/>
            </a:pPr>
            <a:r>
              <a:rPr lang="en-US" sz="1650" b="1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80% of footprint — ~10 platforms ≈ 7–8K libraries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732169" y="8043069"/>
            <a:ext cx="7284482" cy="6408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Manifests </a:t>
            </a:r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environment.yml</a:t>
            </a:r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meta.yaml</a:t>
            </a:r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recipe.yaml</a:t>
            </a:r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pixi.toml </a:t>
            </a:r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which </a:t>
            </a:r>
            <a:pPr algn="l" indent="0" marL="0">
              <a:lnSpc>
                <a:spcPct val="135000"/>
              </a:lnSpc>
              <a:buNone/>
            </a:pPr>
            <a:r>
              <a:rPr lang="en-US" sz="1575" b="1" dirty="0">
                <a:solidFill>
                  <a:srgbClr val="201E1D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engine parses</a:t>
            </a:r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; Warden's manifest engine bridges them.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1047750" y="9272111"/>
            <a:ext cx="16192500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9441180"/>
            <a:ext cx="209113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WARDEN · pyforge-warden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783208" y="9441180"/>
            <a:ext cx="53324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 / 25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31131"/>
            <a:ext cx="161925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35819"/>
            <a:ext cx="43338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14488" y="762000"/>
            <a:ext cx="6763925" cy="528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91"/>
              </a:lnSpc>
              <a:buNone/>
            </a:pPr>
            <a:r>
              <a:rPr lang="en-US" sz="3450" b="1" spc="-34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Six axes of dependency trust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649413"/>
            <a:ext cx="16192500" cy="16669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1649413"/>
            <a:ext cx="16669" cy="743219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4419" y="5357178"/>
            <a:ext cx="5391944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39694" y="1666081"/>
            <a:ext cx="16669" cy="3707765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350169" y="1913731"/>
            <a:ext cx="161371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spc="60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AXIS 1 · HYGIENE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30094" y="1915001"/>
            <a:ext cx="323850" cy="244792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1" name="Text 9"/>
          <p:cNvSpPr/>
          <p:nvPr/>
        </p:nvSpPr>
        <p:spPr>
          <a:xfrm>
            <a:off x="5915819" y="1934051"/>
            <a:ext cx="228600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50169" y="2255044"/>
            <a:ext cx="5284152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deptry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50169" y="4814253"/>
            <a:ext cx="528415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29"/>
              </a:lnSpc>
              <a:buNone/>
            </a:pPr>
            <a:r>
              <a:rPr lang="en-US" sz="1500" dirty="0">
                <a:solidFill>
                  <a:srgbClr val="201E1D">
                    <a:alpha val="6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 it actually used?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56362" y="5357178"/>
            <a:ext cx="5391944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31638" y="1666081"/>
            <a:ext cx="16669" cy="3707765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742112" y="1913731"/>
            <a:ext cx="171831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spc="60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AXIS 2 · SECURITY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222037" y="1915001"/>
            <a:ext cx="323850" cy="244792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8" name="Text 16"/>
          <p:cNvSpPr/>
          <p:nvPr/>
        </p:nvSpPr>
        <p:spPr>
          <a:xfrm>
            <a:off x="11307762" y="1934051"/>
            <a:ext cx="228600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42112" y="2255044"/>
            <a:ext cx="5284153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osv-scanner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742112" y="4814253"/>
            <a:ext cx="52841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29"/>
              </a:lnSpc>
              <a:buNone/>
            </a:pPr>
            <a:r>
              <a:rPr lang="en-US" sz="1500" dirty="0">
                <a:solidFill>
                  <a:srgbClr val="201E1D">
                    <a:alpha val="6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Any known CVE?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1848306" y="1666081"/>
            <a:ext cx="5391944" cy="3707765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22" name="Shape 20"/>
          <p:cNvSpPr/>
          <p:nvPr/>
        </p:nvSpPr>
        <p:spPr>
          <a:xfrm>
            <a:off x="11848306" y="5357178"/>
            <a:ext cx="5391944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223581" y="1666081"/>
            <a:ext cx="16669" cy="3707765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2134056" y="1913731"/>
            <a:ext cx="157389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spc="60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AXIS 3 · LICENSE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6496823" y="1915001"/>
            <a:ext cx="441008" cy="244792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6" name="Text 24"/>
          <p:cNvSpPr/>
          <p:nvPr/>
        </p:nvSpPr>
        <p:spPr>
          <a:xfrm>
            <a:off x="16582548" y="1934051"/>
            <a:ext cx="345758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v1.x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2134056" y="2255044"/>
            <a:ext cx="5284152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license-expression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134056" y="4814253"/>
            <a:ext cx="528415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29"/>
              </a:lnSpc>
              <a:buNone/>
            </a:pPr>
            <a:r>
              <a:rPr lang="en-US" sz="1500" dirty="0">
                <a:solidFill>
                  <a:srgbClr val="201E1D">
                    <a:alpha val="6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Legally allowed?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64419" y="5373846"/>
            <a:ext cx="5391944" cy="3707765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64419" y="9064943"/>
            <a:ext cx="5391944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39694" y="5373846"/>
            <a:ext cx="16669" cy="3707765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350169" y="5621496"/>
            <a:ext cx="181767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spc="60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AXIS 4 · CURRENCY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712936" y="5622766"/>
            <a:ext cx="441007" cy="244792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34" name="Text 32"/>
          <p:cNvSpPr/>
          <p:nvPr/>
        </p:nvSpPr>
        <p:spPr>
          <a:xfrm>
            <a:off x="5798661" y="5641816"/>
            <a:ext cx="345757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v1.x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350169" y="5962809"/>
            <a:ext cx="5284152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endoflife.date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350169" y="8522018"/>
            <a:ext cx="528415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29"/>
              </a:lnSpc>
              <a:buNone/>
            </a:pPr>
            <a:r>
              <a:rPr lang="en-US" sz="1500" dirty="0">
                <a:solidFill>
                  <a:srgbClr val="201E1D">
                    <a:alpha val="6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Supported / patchable?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456362" y="5373846"/>
            <a:ext cx="5391944" cy="3707765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38" name="Shape 36"/>
          <p:cNvSpPr/>
          <p:nvPr/>
        </p:nvSpPr>
        <p:spPr>
          <a:xfrm>
            <a:off x="6456362" y="9064943"/>
            <a:ext cx="5391944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1831638" y="5373846"/>
            <a:ext cx="16669" cy="3707765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742112" y="5631339"/>
            <a:ext cx="207681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spc="60" kern="0" dirty="0">
                <a:solidFill>
                  <a:srgbClr val="201E1D">
                    <a:alpha val="5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AXIS 5 · PROVENANCE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972006" y="5621496"/>
            <a:ext cx="573881" cy="267017"/>
          </a:xfrm>
          <a:prstGeom prst="rect">
            <a:avLst/>
          </a:prstGeom>
          <a:ln w="11113">
            <a:solidFill>
              <a:srgbClr val="BAB6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068843" y="5651659"/>
            <a:ext cx="456406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vision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742112" y="5983764"/>
            <a:ext cx="52841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Sigstore / SLSA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742112" y="8522018"/>
            <a:ext cx="52841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29"/>
              </a:lnSpc>
              <a:buNone/>
            </a:pPr>
            <a:r>
              <a:rPr lang="en-US" sz="1500" dirty="0">
                <a:solidFill>
                  <a:srgbClr val="201E1D">
                    <a:alpha val="6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Authentic &amp; untampered?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1848306" y="5373846"/>
            <a:ext cx="5391944" cy="3707765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46" name="Shape 44"/>
          <p:cNvSpPr/>
          <p:nvPr/>
        </p:nvSpPr>
        <p:spPr>
          <a:xfrm>
            <a:off x="11848306" y="9064943"/>
            <a:ext cx="5391944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7223581" y="5373846"/>
            <a:ext cx="16669" cy="3707765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2134056" y="5631339"/>
            <a:ext cx="216622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spc="60" kern="0" dirty="0">
                <a:solidFill>
                  <a:srgbClr val="201E1D">
                    <a:alpha val="5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AXIS 6 · MAINTENANCE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6363950" y="5621496"/>
            <a:ext cx="573881" cy="267017"/>
          </a:xfrm>
          <a:prstGeom prst="rect">
            <a:avLst/>
          </a:prstGeom>
          <a:ln w="11113">
            <a:solidFill>
              <a:srgbClr val="BAB6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460788" y="5651659"/>
            <a:ext cx="456406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vision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2134056" y="5983764"/>
            <a:ext cx="5284152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OpenSSF Scorecard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2134056" y="8522018"/>
            <a:ext cx="528415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29"/>
              </a:lnSpc>
              <a:buNone/>
            </a:pPr>
            <a:r>
              <a:rPr lang="en-US" sz="1500" dirty="0">
                <a:solidFill>
                  <a:srgbClr val="201E1D">
                    <a:alpha val="6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Alive, funded, resilient?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1047750" y="9272111"/>
            <a:ext cx="16192500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47750" y="9441180"/>
            <a:ext cx="522809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Engines pluggable · v1 hygiene + security · v1.x + license &amp; currency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6783050" y="9441180"/>
            <a:ext cx="533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 / 25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31131"/>
            <a:ext cx="161925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35819"/>
            <a:ext cx="43338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14488" y="762000"/>
            <a:ext cx="9523524" cy="528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91"/>
              </a:lnSpc>
              <a:buNone/>
            </a:pPr>
            <a:r>
              <a:rPr lang="en-US" sz="3450" b="1" spc="-34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Six manifest formats — resolved natively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047750" y="1649413"/>
            <a:ext cx="17811750" cy="368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78"/>
              </a:lnSpc>
              <a:buNone/>
            </a:pPr>
            <a:r>
              <a:rPr lang="en-US" sz="1650" dirty="0">
                <a:solidFill>
                  <a:srgbClr val="201E1D">
                    <a:alpha val="6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manifest engine is the wedge: neither scanning engine parses conda/pixi. No untrusted input is executed — </a:t>
            </a:r>
            <a:pPr algn="l" indent="0" marL="0">
              <a:lnSpc>
                <a:spcPct val="142578"/>
              </a:lnSpc>
              <a:buNone/>
            </a:pPr>
            <a:r>
              <a:rPr lang="en-US" sz="1650" dirty="0">
                <a:solidFill>
                  <a:srgbClr val="201E1D">
                    <a:alpha val="6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yaml.safe_load </a:t>
            </a:r>
            <a:pPr algn="l" indent="0" marL="0">
              <a:lnSpc>
                <a:spcPct val="142578"/>
              </a:lnSpc>
              <a:buNone/>
            </a:pPr>
            <a:r>
              <a:rPr lang="en-US" sz="1650" dirty="0">
                <a:solidFill>
                  <a:srgbClr val="201E1D">
                    <a:alpha val="6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only.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047750" y="2208371"/>
            <a:ext cx="16192500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2208371"/>
            <a:ext cx="16669" cy="687324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4419" y="5636736"/>
            <a:ext cx="5391944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39694" y="2225040"/>
            <a:ext cx="16669" cy="3428365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69219" y="2491740"/>
            <a:ext cx="5242242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pyproject.toml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69219" y="3019425"/>
            <a:ext cx="524224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29"/>
              </a:lnSpc>
              <a:buNone/>
            </a:pPr>
            <a:r>
              <a:rPr lang="en-US" sz="1500" dirty="0">
                <a:solidFill>
                  <a:srgbClr val="201E1D">
                    <a:alpha val="6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PEP 621 · Poetry · PDM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69219" y="5150485"/>
            <a:ext cx="646112" cy="219551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13" name="Text 11"/>
          <p:cNvSpPr/>
          <p:nvPr/>
        </p:nvSpPr>
        <p:spPr>
          <a:xfrm>
            <a:off x="1464469" y="5179060"/>
            <a:ext cx="531812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4441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tomllib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6456362" y="5636736"/>
            <a:ext cx="5391944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31638" y="2225040"/>
            <a:ext cx="16669" cy="3428365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761162" y="2491740"/>
            <a:ext cx="5242243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pixi.toml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761162" y="3019425"/>
            <a:ext cx="524224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29"/>
              </a:lnSpc>
              <a:buNone/>
            </a:pPr>
            <a:r>
              <a:rPr lang="en-US" sz="1500" dirty="0">
                <a:solidFill>
                  <a:srgbClr val="201E1D">
                    <a:alpha val="6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deps · pypi-deps · features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761162" y="5150485"/>
            <a:ext cx="646113" cy="219551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19" name="Text 17"/>
          <p:cNvSpPr/>
          <p:nvPr/>
        </p:nvSpPr>
        <p:spPr>
          <a:xfrm>
            <a:off x="6856412" y="5179060"/>
            <a:ext cx="531813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4441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tomllib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11848306" y="5636736"/>
            <a:ext cx="5391944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7223581" y="2225040"/>
            <a:ext cx="16669" cy="3428365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2153106" y="2491740"/>
            <a:ext cx="5242242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2153106" y="3019425"/>
            <a:ext cx="524224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29"/>
              </a:lnSpc>
              <a:buNone/>
            </a:pPr>
            <a:r>
              <a:rPr lang="en-US" sz="1500" dirty="0">
                <a:solidFill>
                  <a:srgbClr val="201E1D">
                    <a:alpha val="6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requirement per line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2153106" y="5150485"/>
            <a:ext cx="1166813" cy="219551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25" name="Text 23"/>
          <p:cNvSpPr/>
          <p:nvPr/>
        </p:nvSpPr>
        <p:spPr>
          <a:xfrm>
            <a:off x="12248356" y="5179060"/>
            <a:ext cx="1052513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4441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 / line-parse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1064419" y="9065101"/>
            <a:ext cx="5391944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439694" y="5653405"/>
            <a:ext cx="16669" cy="3428365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369219" y="5920105"/>
            <a:ext cx="5242242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environment.yml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369219" y="6447790"/>
            <a:ext cx="524224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29"/>
              </a:lnSpc>
              <a:buNone/>
            </a:pPr>
            <a:r>
              <a:rPr lang="en-US" sz="1500" dirty="0">
                <a:solidFill>
                  <a:srgbClr val="201E1D">
                    <a:alpha val="6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dependencies: + nested pip: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369219" y="8578850"/>
            <a:ext cx="776288" cy="219551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31" name="Text 29"/>
          <p:cNvSpPr/>
          <p:nvPr/>
        </p:nvSpPr>
        <p:spPr>
          <a:xfrm>
            <a:off x="1464469" y="8607425"/>
            <a:ext cx="661988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4441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safe_load</a:t>
            </a:r>
            <a:endParaRPr lang="en-US" sz="825" dirty="0"/>
          </a:p>
        </p:txBody>
      </p:sp>
      <p:sp>
        <p:nvSpPr>
          <p:cNvPr id="32" name="Shape 30"/>
          <p:cNvSpPr/>
          <p:nvPr/>
        </p:nvSpPr>
        <p:spPr>
          <a:xfrm>
            <a:off x="6456362" y="5653405"/>
            <a:ext cx="5391944" cy="3428365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33" name="Shape 31"/>
          <p:cNvSpPr/>
          <p:nvPr/>
        </p:nvSpPr>
        <p:spPr>
          <a:xfrm>
            <a:off x="6456362" y="9065101"/>
            <a:ext cx="5391944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831638" y="5653405"/>
            <a:ext cx="16669" cy="3428365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761162" y="5920105"/>
            <a:ext cx="5242243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meta.yaml </a:t>
            </a:r>
            <a:pPr algn="l" indent="0" marL="0">
              <a:lnSpc>
                <a:spcPct val="135273"/>
              </a:lnSpc>
              <a:buNone/>
            </a:pPr>
            <a:r>
              <a:rPr lang="en-US" sz="21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6761162" y="6447790"/>
            <a:ext cx="524224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29"/>
              </a:lnSpc>
              <a:buNone/>
            </a:pPr>
            <a:r>
              <a:rPr lang="en-US" sz="1500" dirty="0">
                <a:solidFill>
                  <a:srgbClr val="201E1D">
                    <a:alpha val="6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Jinja + </a:t>
            </a:r>
            <a:pPr algn="l" indent="0" marL="0">
              <a:lnSpc>
                <a:spcPct val="143629"/>
              </a:lnSpc>
              <a:buNone/>
            </a:pPr>
            <a:r>
              <a:rPr lang="en-US" sz="1500" dirty="0">
                <a:solidFill>
                  <a:srgbClr val="201E1D">
                    <a:alpha val="6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[selector]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761162" y="8578850"/>
            <a:ext cx="1622425" cy="219551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38" name="Text 36"/>
          <p:cNvSpPr/>
          <p:nvPr/>
        </p:nvSpPr>
        <p:spPr>
          <a:xfrm>
            <a:off x="6856412" y="8607425"/>
            <a:ext cx="1508125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4441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neutralize → safe_load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11848306" y="9065101"/>
            <a:ext cx="5391944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7223581" y="5653405"/>
            <a:ext cx="16669" cy="3428365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2153106" y="5920105"/>
            <a:ext cx="5242242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recipe.yaml </a:t>
            </a:r>
            <a:pPr algn="l" indent="0" marL="0">
              <a:lnSpc>
                <a:spcPct val="135273"/>
              </a:lnSpc>
              <a:buNone/>
            </a:pPr>
            <a:r>
              <a:rPr lang="en-US" sz="21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12153106" y="6447790"/>
            <a:ext cx="524224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29"/>
              </a:lnSpc>
              <a:buNone/>
            </a:pPr>
            <a:r>
              <a:rPr lang="en-US" sz="1500" dirty="0">
                <a:solidFill>
                  <a:srgbClr val="201E1D">
                    <a:alpha val="6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requirements: run: block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2153106" y="8578850"/>
            <a:ext cx="776288" cy="219551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44" name="Text 42"/>
          <p:cNvSpPr/>
          <p:nvPr/>
        </p:nvSpPr>
        <p:spPr>
          <a:xfrm>
            <a:off x="12248356" y="8607425"/>
            <a:ext cx="661988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4441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safe_load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1047750" y="9272111"/>
            <a:ext cx="16192500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047750" y="9441180"/>
            <a:ext cx="209113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WARDEN · pyforge-warden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6783050" y="9441180"/>
            <a:ext cx="533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07 / 25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31131"/>
            <a:ext cx="161925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35819"/>
            <a:ext cx="43370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14805" y="762000"/>
            <a:ext cx="6665786" cy="528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91"/>
              </a:lnSpc>
              <a:buNone/>
            </a:pPr>
            <a:r>
              <a:rPr lang="en-US" sz="3450" b="1" spc="-34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invocation, one pipeline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458913"/>
            <a:ext cx="2673509" cy="781319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73969" y="1723231"/>
            <a:ext cx="244317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73969" y="2035651"/>
            <a:ext cx="244317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Discovery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73969" y="2504281"/>
            <a:ext cx="2297271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67"/>
              </a:lnSpc>
              <a:buNone/>
            </a:pPr>
            <a:r>
              <a:rPr lang="en-US" sz="14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Union coverage — every manifest found is scanned and reported per-manifest.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3835559" y="5129213"/>
            <a:ext cx="303832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24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205288" y="1458913"/>
            <a:ext cx="2673668" cy="781319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1506" y="1723231"/>
            <a:ext cx="244335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31506" y="2035651"/>
            <a:ext cx="2443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Extraction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31506" y="2504281"/>
            <a:ext cx="2297430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67"/>
              </a:lnSpc>
              <a:buNone/>
            </a:pPr>
            <a:r>
              <a:rPr lang="en-US" sz="14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Flatten &amp; de-dup names; filter base packages. No untrusted input executed.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6993255" y="5129213"/>
            <a:ext cx="303832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24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362984" y="1458913"/>
            <a:ext cx="3562033" cy="7813199"/>
          </a:xfrm>
          <a:prstGeom prst="rect">
            <a:avLst/>
          </a:prstGeom>
          <a:solidFill>
            <a:srgbClr val="FFF2EF"/>
          </a:solidFill>
          <a:ln w="16669">
            <a:solidFill>
              <a:srgbClr val="EC301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202" y="1685131"/>
            <a:ext cx="342055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STEP 3 · PARALLEL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202" y="2054701"/>
            <a:ext cx="3109595" cy="531336"/>
          </a:xfrm>
          <a:prstGeom prst="rect">
            <a:avLst/>
          </a:prstGeom>
          <a:ln w="11113">
            <a:solidFill>
              <a:srgbClr val="AE1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33665" y="2180114"/>
            <a:ext cx="2913958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38"/>
              </a:lnSpc>
              <a:buNone/>
            </a:pPr>
            <a:r>
              <a:rPr lang="en-US" sz="142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· Hygiene </a:t>
            </a:r>
            <a:pPr algn="l" indent="0" marL="0">
              <a:lnSpc>
                <a:spcPct val="140238"/>
              </a:lnSpc>
              <a:buNone/>
            </a:pPr>
            <a:r>
              <a:rPr lang="en-US" sz="14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deptry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7589202" y="2700338"/>
            <a:ext cx="3109595" cy="531336"/>
          </a:xfrm>
          <a:prstGeom prst="rect">
            <a:avLst/>
          </a:prstGeom>
          <a:ln w="11113">
            <a:solidFill>
              <a:srgbClr val="AE1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33665" y="2825750"/>
            <a:ext cx="2913958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38"/>
              </a:lnSpc>
              <a:buNone/>
            </a:pPr>
            <a:r>
              <a:rPr lang="en-US" sz="142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 · Security </a:t>
            </a:r>
            <a:pPr algn="l" indent="0" marL="0">
              <a:lnSpc>
                <a:spcPct val="140238"/>
              </a:lnSpc>
              <a:buNone/>
            </a:pPr>
            <a:r>
              <a:rPr lang="en-US" sz="14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osv-scanner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1039317" y="5129213"/>
            <a:ext cx="303832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24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1409045" y="1458913"/>
            <a:ext cx="2673668" cy="781319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35264" y="1723231"/>
            <a:ext cx="244335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STEP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635264" y="2035651"/>
            <a:ext cx="244335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Aggregation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635264" y="2504281"/>
            <a:ext cx="2297430" cy="8008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67"/>
              </a:lnSpc>
              <a:buNone/>
            </a:pPr>
            <a:r>
              <a:rPr lang="en-US" sz="14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Both branches merge into one </a:t>
            </a:r>
            <a:pPr algn="l" indent="0" marL="0">
              <a:lnSpc>
                <a:spcPct val="126667"/>
              </a:lnSpc>
              <a:buNone/>
            </a:pPr>
            <a:r>
              <a:rPr lang="en-US" sz="142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ComplianceReport </a:t>
            </a:r>
            <a:pPr algn="l" indent="0" marL="0">
              <a:lnSpc>
                <a:spcPct val="126667"/>
              </a:lnSpc>
              <a:buNone/>
            </a:pPr>
            <a:r>
              <a:rPr lang="en-US" sz="14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+ human summary.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4197013" y="5129213"/>
            <a:ext cx="303832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24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4566741" y="1458913"/>
            <a:ext cx="2673509" cy="781319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792960" y="1723231"/>
            <a:ext cx="244317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STEP 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792960" y="2035651"/>
            <a:ext cx="244317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Teardown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792960" y="2504281"/>
            <a:ext cx="2297271" cy="8008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67"/>
              </a:lnSpc>
              <a:buNone/>
            </a:pPr>
            <a:r>
              <a:rPr lang="en-US" sz="14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Ephemeral files removed via </a:t>
            </a:r>
            <a:pPr algn="l" indent="0" marL="0">
              <a:lnSpc>
                <a:spcPct val="126667"/>
              </a:lnSpc>
              <a:buNone/>
            </a:pPr>
            <a:r>
              <a:rPr lang="en-US" sz="142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try/finally </a:t>
            </a:r>
            <a:pPr algn="l" indent="0" marL="0">
              <a:lnSpc>
                <a:spcPct val="126667"/>
              </a:lnSpc>
              <a:buNone/>
            </a:pPr>
            <a:r>
              <a:rPr lang="en-US" sz="14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never mutate host or source.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1047750" y="9272111"/>
            <a:ext cx="16192500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47750" y="9441180"/>
            <a:ext cx="209113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WARDEN · pyforge-warden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6783050" y="9441180"/>
            <a:ext cx="533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08 / 25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31131"/>
            <a:ext cx="161925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35819"/>
            <a:ext cx="43338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14488" y="762000"/>
            <a:ext cx="3796173" cy="528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91"/>
              </a:lnSpc>
              <a:buNone/>
            </a:pPr>
            <a:r>
              <a:rPr lang="en-US" sz="3450" b="1" spc="-34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comes out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458913"/>
            <a:ext cx="16669" cy="781319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91747" y="4554379"/>
            <a:ext cx="16669" cy="1622108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88269" y="4554379"/>
            <a:ext cx="3717591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991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ComplianceReport JSON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88269" y="5071586"/>
            <a:ext cx="3481017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canonical artifact — schema-validated against a committed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report-schema.json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(JSON Schema 2020-12).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35745" y="4830604"/>
            <a:ext cx="16669" cy="1069658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32266" y="4830604"/>
            <a:ext cx="3717591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991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Human summary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432266" y="5347811"/>
            <a:ext cx="348101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scannable stdout rollup for CI logs — the same data, never the source of truth.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179742" y="4692491"/>
            <a:ext cx="16669" cy="1345883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476263" y="4692491"/>
            <a:ext cx="3717591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991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CycloneDX SBOM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476263" y="5209699"/>
            <a:ext cx="3481017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Valid BOM with correct purls (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pkg:pypi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/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pkg:conda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) + honest per-manifest coverage.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20261" y="4692491"/>
            <a:ext cx="3735927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991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Actionable findings only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520261" y="5209699"/>
            <a:ext cx="349818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Package + location for hygiene; advisory ID + affected/fixed version for security. No theoretical noise.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47750" y="9272111"/>
            <a:ext cx="16192500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9441180"/>
            <a:ext cx="209113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WARDEN · pyforge-warden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783208" y="9441180"/>
            <a:ext cx="53324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09 / 25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31131"/>
            <a:ext cx="161925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35819"/>
            <a:ext cx="43338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14488" y="762000"/>
            <a:ext cx="5604240" cy="528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91"/>
              </a:lnSpc>
              <a:buNone/>
            </a:pPr>
            <a:r>
              <a:rPr lang="en-US" sz="3450" b="1" spc="-34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severity-tiered gate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047750" y="2984976"/>
            <a:ext cx="906653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spc="96" kern="0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VERDICT LATTICE — HIGHEST WINS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47750" y="3354546"/>
            <a:ext cx="8242300" cy="4007168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4419" y="3371215"/>
            <a:ext cx="8208962" cy="553403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8" name="Text 6"/>
          <p:cNvSpPr/>
          <p:nvPr/>
        </p:nvSpPr>
        <p:spPr>
          <a:xfrm>
            <a:off x="1254919" y="3485515"/>
            <a:ext cx="707231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650" b="1" dirty="0">
                <a:solidFill>
                  <a:srgbClr val="F3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673657" y="3485515"/>
            <a:ext cx="1485424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61"/>
              </a:lnSpc>
              <a:buNone/>
            </a:pPr>
            <a:r>
              <a:rPr lang="en-US" sz="1275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2 · operational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1064419" y="3924617"/>
            <a:ext cx="8208962" cy="570071"/>
          </a:xfrm>
          <a:prstGeom prst="rect">
            <a:avLst/>
          </a:prstGeom>
          <a:solidFill>
            <a:srgbClr val="FFE0D9"/>
          </a:solidFill>
          <a:ln/>
        </p:spPr>
      </p:sp>
      <p:sp>
        <p:nvSpPr>
          <p:cNvPr id="11" name="Shape 9"/>
          <p:cNvSpPr/>
          <p:nvPr/>
        </p:nvSpPr>
        <p:spPr>
          <a:xfrm>
            <a:off x="1064419" y="3924617"/>
            <a:ext cx="8208962" cy="16669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12" name="Text 10"/>
          <p:cNvSpPr/>
          <p:nvPr/>
        </p:nvSpPr>
        <p:spPr>
          <a:xfrm>
            <a:off x="1254919" y="4055586"/>
            <a:ext cx="2221230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policy-violation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516019" y="4055586"/>
            <a:ext cx="1643063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61"/>
              </a:lnSpc>
              <a:buNone/>
            </a:pPr>
            <a:r>
              <a:rPr lang="en-US" sz="12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1 · blocks merge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1064419" y="4494689"/>
            <a:ext cx="8208962" cy="570071"/>
          </a:xfrm>
          <a:prstGeom prst="rect">
            <a:avLst/>
          </a:prstGeom>
          <a:solidFill>
            <a:srgbClr val="FFE0D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4419" y="4494689"/>
            <a:ext cx="8208962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254919" y="4625657"/>
            <a:ext cx="1804749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indeterminate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819231" y="4625657"/>
            <a:ext cx="1339850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61"/>
              </a:lnSpc>
              <a:buNone/>
            </a:pPr>
            <a:r>
              <a:rPr lang="en-US" sz="12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1 · unproven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1064419" y="5064760"/>
            <a:ext cx="8208962" cy="16669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19" name="Text 17"/>
          <p:cNvSpPr/>
          <p:nvPr/>
        </p:nvSpPr>
        <p:spPr>
          <a:xfrm>
            <a:off x="1254919" y="5195729"/>
            <a:ext cx="58102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645559" y="5195729"/>
            <a:ext cx="1513522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61"/>
              </a:lnSpc>
              <a:buNone/>
            </a:pPr>
            <a:r>
              <a:rPr lang="en-US" sz="12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0 · non-blocking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1064419" y="5634831"/>
            <a:ext cx="8208962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254919" y="5765800"/>
            <a:ext cx="1085850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bypassed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545705" y="5765800"/>
            <a:ext cx="1613376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61"/>
              </a:lnSpc>
              <a:buNone/>
            </a:pPr>
            <a:r>
              <a:rPr lang="en-US" sz="12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0 · audited waiver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1064419" y="6204903"/>
            <a:ext cx="8208962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254919" y="6335871"/>
            <a:ext cx="707231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8700611" y="6335871"/>
            <a:ext cx="458470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61"/>
              </a:lnSpc>
              <a:buNone/>
            </a:pPr>
            <a:r>
              <a:rPr lang="en-US" sz="12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0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1064419" y="6774974"/>
            <a:ext cx="8208962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254919" y="6905942"/>
            <a:ext cx="1943576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650" b="1" dirty="0">
                <a:solidFill>
                  <a:srgbClr val="201E1D">
                    <a:alpha val="6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not-applicable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738745" y="6905942"/>
            <a:ext cx="1420336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61"/>
              </a:lnSpc>
              <a:buNone/>
            </a:pPr>
            <a:r>
              <a:rPr lang="en-US" sz="1275" dirty="0">
                <a:solidFill>
                  <a:srgbClr val="201E1D">
                    <a:alpha val="6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0 · non-Python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1047750" y="7495063"/>
            <a:ext cx="1354042" cy="289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61"/>
              </a:lnSpc>
              <a:buNone/>
            </a:pPr>
            <a:r>
              <a:rPr lang="en-US" sz="1275" dirty="0">
                <a:solidFill>
                  <a:srgbClr val="201E1D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Frozen exit enum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2354898" y="7505224"/>
            <a:ext cx="266700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55704" y="7539355"/>
            <a:ext cx="141288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2697798" y="7505224"/>
            <a:ext cx="266700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98604" y="7539355"/>
            <a:ext cx="141288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3040698" y="7505224"/>
            <a:ext cx="266700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41504" y="7539355"/>
            <a:ext cx="141288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3383598" y="7505224"/>
            <a:ext cx="396875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84404" y="7539355"/>
            <a:ext cx="271462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9747250" y="4946809"/>
            <a:ext cx="7493000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747250" y="3497104"/>
            <a:ext cx="82423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Default policy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747250" y="3927634"/>
            <a:ext cx="77177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v1 blocks on </a:t>
            </a:r>
            <a:pPr algn="l" indent="0" marL="0">
              <a:lnSpc>
                <a:spcPct val="134363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CVSS-critical CVEs only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; high/med/low + all hygiene warn. </a:t>
            </a:r>
            <a:pPr algn="l" indent="0" marL="0">
              <a:lnSpc>
                <a:spcPct val="134363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v1.x adds a KEV tier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any CISA-KEV-listed advisory on a pinned version blocks regardless of CVSS. Configurable via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--fail-on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--fail-on-kev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9747250" y="6327457"/>
            <a:ext cx="7493000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9747250" y="5153977"/>
            <a:ext cx="82423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Waivers as code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747250" y="5584507"/>
            <a:ext cx="771779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--bypass --reason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emits an expiring stanza (default </a:t>
            </a:r>
            <a:pPr algn="l" indent="0" marL="0">
              <a:lnSpc>
                <a:spcPct val="134363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14 days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) the team commits. The tool </a:t>
            </a:r>
            <a:pPr algn="l" indent="0" marL="0">
              <a:lnSpc>
                <a:spcPct val="134363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reads it, never writes the repo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747250" y="6534626"/>
            <a:ext cx="82423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Typed errors — each with an owner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747250" y="7003256"/>
            <a:ext cx="1438275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48056" y="7037387"/>
            <a:ext cx="1312863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unparsable-manifest</a:t>
            </a:r>
            <a:endParaRPr lang="en-US" sz="825" dirty="0"/>
          </a:p>
        </p:txBody>
      </p:sp>
      <p:sp>
        <p:nvSpPr>
          <p:cNvPr id="48" name="Shape 46"/>
          <p:cNvSpPr/>
          <p:nvPr/>
        </p:nvSpPr>
        <p:spPr>
          <a:xfrm>
            <a:off x="11261725" y="7003256"/>
            <a:ext cx="1373188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362532" y="7037387"/>
            <a:ext cx="1247775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engine-unavailable</a:t>
            </a:r>
            <a:endParaRPr lang="en-US" sz="825" dirty="0"/>
          </a:p>
        </p:txBody>
      </p:sp>
      <p:sp>
        <p:nvSpPr>
          <p:cNvPr id="50" name="Shape 48"/>
          <p:cNvSpPr/>
          <p:nvPr/>
        </p:nvSpPr>
        <p:spPr>
          <a:xfrm>
            <a:off x="12711113" y="7003256"/>
            <a:ext cx="982663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811919" y="7037387"/>
            <a:ext cx="857250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engine-crash</a:t>
            </a:r>
            <a:endParaRPr lang="en-US" sz="825" dirty="0"/>
          </a:p>
        </p:txBody>
      </p:sp>
      <p:sp>
        <p:nvSpPr>
          <p:cNvPr id="52" name="Shape 50"/>
          <p:cNvSpPr/>
          <p:nvPr/>
        </p:nvSpPr>
        <p:spPr>
          <a:xfrm>
            <a:off x="13769975" y="7003256"/>
            <a:ext cx="1112837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870781" y="7037387"/>
            <a:ext cx="987425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internal-error</a:t>
            </a:r>
            <a:endParaRPr lang="en-US" sz="825" dirty="0"/>
          </a:p>
        </p:txBody>
      </p:sp>
      <p:sp>
        <p:nvSpPr>
          <p:cNvPr id="54" name="Shape 52"/>
          <p:cNvSpPr/>
          <p:nvPr/>
        </p:nvSpPr>
        <p:spPr>
          <a:xfrm>
            <a:off x="1047750" y="9272111"/>
            <a:ext cx="16192500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47750" y="9441180"/>
            <a:ext cx="209113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WARDEN · pyforge-warden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6783050" y="9441180"/>
            <a:ext cx="533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 / 25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0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64745" y="-1524000"/>
            <a:ext cx="5876481" cy="727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29"/>
              </a:lnSpc>
              <a:buNone/>
            </a:pPr>
            <a:r>
              <a:rPr lang="en-US" sz="40000" b="1" dirty="0">
                <a:solidFill>
                  <a:srgbClr val="F3F2F2">
                    <a:alpha val="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II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047750" y="914400"/>
            <a:ext cx="17811750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78"/>
              </a:lnSpc>
              <a:buNone/>
            </a:pPr>
            <a:r>
              <a:rPr lang="en-US" sz="1650" b="1" spc="264" kern="0" dirty="0">
                <a:solidFill>
                  <a:srgbClr val="FF978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PART II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4307364"/>
            <a:ext cx="17811750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63"/>
              </a:lnSpc>
              <a:buNone/>
            </a:pPr>
            <a:r>
              <a:rPr lang="en-US" sz="9000" b="1" spc="-180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 practice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047750" y="5671344"/>
            <a:ext cx="1781175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2400" dirty="0">
                <a:solidFill>
                  <a:srgbClr val="F3F2F2">
                    <a:alpha val="9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Who runs it, how it flows, and where it fits among your tools.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47750" y="9151144"/>
            <a:ext cx="1781175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1125" b="1" spc="113" kern="0" dirty="0">
                <a:solidFill>
                  <a:srgbClr val="F3F2F2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RUNNING IT TODAY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31131"/>
            <a:ext cx="161925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35819"/>
            <a:ext cx="43338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07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14488" y="762000"/>
            <a:ext cx="5959078" cy="528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91"/>
              </a:lnSpc>
              <a:buNone/>
            </a:pPr>
            <a:r>
              <a:rPr lang="en-US" sz="3450" b="1" spc="-34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Who runs it, at what scale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458913"/>
            <a:ext cx="16669" cy="781319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535295" y="4978241"/>
            <a:ext cx="16669" cy="774383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407319" y="4978241"/>
            <a:ext cx="4163584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991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Platform Engineers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07319" y="5457349"/>
            <a:ext cx="41635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29"/>
              </a:lnSpc>
              <a:buNone/>
            </a:pPr>
            <a:r>
              <a:rPr lang="en-US" sz="1500" dirty="0">
                <a:solidFill>
                  <a:srgbClr val="201E1D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CI/CD pipelines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22840" y="4978241"/>
            <a:ext cx="16669" cy="774383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894863" y="4978241"/>
            <a:ext cx="4163584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991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DevSecOps Engineers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894863" y="5457349"/>
            <a:ext cx="41635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29"/>
              </a:lnSpc>
              <a:buNone/>
            </a:pPr>
            <a:r>
              <a:rPr lang="en-US" sz="1500" dirty="0">
                <a:solidFill>
                  <a:srgbClr val="201E1D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Compliance &amp; SBOM data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4510384" y="4978241"/>
            <a:ext cx="16669" cy="774383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382408" y="4978241"/>
            <a:ext cx="4163584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991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Python developers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382408" y="5457349"/>
            <a:ext cx="41635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29"/>
              </a:lnSpc>
              <a:buNone/>
            </a:pPr>
            <a:r>
              <a:rPr lang="en-US" sz="1500" dirty="0">
                <a:solidFill>
                  <a:srgbClr val="201E1D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pip- + conda-sourced, any shape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716728" y="4580096"/>
            <a:ext cx="252368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1939"/>
              </a:lnSpc>
              <a:buNone/>
            </a:pPr>
            <a:r>
              <a:rPr lang="en-US" sz="72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20k+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4869954" y="5589746"/>
            <a:ext cx="2370455" cy="599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238"/>
              </a:lnSpc>
              <a:buNone/>
            </a:pPr>
            <a:r>
              <a:rPr lang="en-US" sz="1425" dirty="0">
                <a:solidFill>
                  <a:srgbClr val="201E1D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repo fleet, concurrent (NFR1 scalability)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1047750" y="9272111"/>
            <a:ext cx="16192500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9441180"/>
            <a:ext cx="209113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WARDEN · pyforge-warden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782892" y="9441180"/>
            <a:ext cx="53355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 / 25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31131"/>
            <a:ext cx="161925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35819"/>
            <a:ext cx="32543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◎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506538" y="762000"/>
            <a:ext cx="9923764" cy="528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91"/>
              </a:lnSpc>
              <a:buNone/>
            </a:pPr>
            <a:r>
              <a:rPr lang="en-US" sz="3450" b="1" spc="-34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 rings — scan the whole supply chain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047750" y="1649413"/>
            <a:ext cx="17811750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78"/>
              </a:lnSpc>
              <a:buNone/>
            </a:pPr>
            <a:r>
              <a:rPr lang="en-US" sz="1650" dirty="0">
                <a:solidFill>
                  <a:srgbClr val="201E1D">
                    <a:alpha val="6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further out Warden scans, the more it </a:t>
            </a:r>
            <a:pPr algn="l" indent="0" marL="0">
              <a:lnSpc>
                <a:spcPct val="142578"/>
              </a:lnSpc>
              <a:buNone/>
            </a:pPr>
            <a:r>
              <a:rPr lang="en-US" sz="1650" b="1" dirty="0">
                <a:solidFill>
                  <a:srgbClr val="201E1D">
                    <a:alpha val="6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prevents </a:t>
            </a:r>
            <a:pPr algn="l" indent="0" marL="0">
              <a:lnSpc>
                <a:spcPct val="142578"/>
              </a:lnSpc>
              <a:buNone/>
            </a:pPr>
            <a:r>
              <a:rPr lang="en-US" sz="1650" dirty="0">
                <a:solidFill>
                  <a:srgbClr val="201E1D">
                    <a:alpha val="6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rather than reports.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047750" y="2202815"/>
            <a:ext cx="4624388" cy="6878796"/>
          </a:xfrm>
          <a:prstGeom prst="rect">
            <a:avLst/>
          </a:prstGeom>
          <a:ln w="16669">
            <a:solidFill>
              <a:srgbClr val="BAB6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4419" y="2219484"/>
            <a:ext cx="4591050" cy="1096328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8" name="Text 6"/>
          <p:cNvSpPr/>
          <p:nvPr/>
        </p:nvSpPr>
        <p:spPr>
          <a:xfrm>
            <a:off x="1293019" y="2409984"/>
            <a:ext cx="1529556" cy="2638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b="1" spc="63" kern="0" dirty="0">
                <a:solidFill>
                  <a:srgbClr val="201E1D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OUTSIDE FIREWALL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94262" y="2409984"/>
            <a:ext cx="532606" cy="225742"/>
          </a:xfrm>
          <a:prstGeom prst="rect">
            <a:avLst/>
          </a:prstGeom>
          <a:solidFill>
            <a:srgbClr val="BAB6B6"/>
          </a:solidFill>
          <a:ln/>
        </p:spPr>
      </p:sp>
      <p:sp>
        <p:nvSpPr>
          <p:cNvPr id="10" name="Text 8"/>
          <p:cNvSpPr/>
          <p:nvPr/>
        </p:nvSpPr>
        <p:spPr>
          <a:xfrm>
            <a:off x="4970462" y="2419509"/>
            <a:ext cx="456406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vision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93019" y="2711926"/>
            <a:ext cx="4547235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Public upstream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93019" y="3544411"/>
            <a:ext cx="4271582" cy="5330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Scan </a:t>
            </a:r>
            <a:pPr algn="l" indent="0" marL="0">
              <a:lnSpc>
                <a:spcPct val="130500"/>
              </a:lnSpc>
              <a:buNone/>
            </a:pPr>
            <a:r>
              <a:rPr lang="en-US" sz="15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PyPI &amp; conda-forge </a:t>
            </a:r>
            <a:pPr algn="l" indent="0" marL="0">
              <a:lnSpc>
                <a:spcPct val="130500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malicious packages, typosquats, name-squatting, stale feedstocks.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6106001" y="5273993"/>
            <a:ext cx="331629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24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805488" y="5803582"/>
            <a:ext cx="932656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b="1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BLOCKLISTS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95294" y="2202815"/>
            <a:ext cx="4624546" cy="6878796"/>
          </a:xfrm>
          <a:prstGeom prst="rect">
            <a:avLst/>
          </a:prstGeom>
          <a:ln w="16669">
            <a:solidFill>
              <a:srgbClr val="EC301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1963" y="2219484"/>
            <a:ext cx="4591209" cy="1096328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563" y="2409984"/>
            <a:ext cx="1163637" cy="2638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b="1" spc="63" kern="0" dirty="0">
                <a:solidFill>
                  <a:srgbClr val="F3F2F2">
                    <a:alpha val="8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FIREWALL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752613" y="2409984"/>
            <a:ext cx="421958" cy="225742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10828813" y="2419509"/>
            <a:ext cx="345758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v1.x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40563" y="2711926"/>
            <a:ext cx="454741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210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Registry perimeter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6811963" y="3315811"/>
            <a:ext cx="4591209" cy="574913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563" y="3544411"/>
            <a:ext cx="4271745" cy="5330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1575" dirty="0">
                <a:solidFill>
                  <a:srgbClr val="201E1D"/>
                </a:solidFill>
                <a:highlight>
                  <a:srgbClr val="FFF2EF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Block / allow lists on </a:t>
            </a:r>
            <a:pPr algn="l" indent="0" marL="0">
              <a:lnSpc>
                <a:spcPct val="130500"/>
              </a:lnSpc>
              <a:buNone/>
            </a:pPr>
            <a:r>
              <a:rPr lang="en-US" sz="15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Artifactory / JFrog </a:t>
            </a:r>
            <a:pPr algn="l" indent="0" marL="0">
              <a:lnSpc>
                <a:spcPct val="130500"/>
              </a:lnSpc>
              <a:buNone/>
            </a:pPr>
            <a:r>
              <a:rPr lang="en-US" sz="1575" dirty="0">
                <a:solidFill>
                  <a:srgbClr val="201E1D"/>
                </a:solidFill>
                <a:highlight>
                  <a:srgbClr val="FFF2EF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— quarantine bad packages before they cross. A census of everything that enters.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11890058" y="5273993"/>
            <a:ext cx="331629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24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553190" y="5803582"/>
            <a:ext cx="1005522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b="1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CLEAN PULLS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2615863" y="2202815"/>
            <a:ext cx="4624388" cy="6878796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632531" y="2219484"/>
            <a:ext cx="4591050" cy="1096328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27" name="Text 25"/>
          <p:cNvSpPr/>
          <p:nvPr/>
        </p:nvSpPr>
        <p:spPr>
          <a:xfrm>
            <a:off x="12861131" y="2409984"/>
            <a:ext cx="584835" cy="2638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b="1" spc="63" kern="0" dirty="0">
                <a:solidFill>
                  <a:srgbClr val="F3F2F2">
                    <a:alpha val="7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INSIDE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6483965" y="2409984"/>
            <a:ext cx="511016" cy="225742"/>
          </a:xfrm>
          <a:prstGeom prst="rect">
            <a:avLst/>
          </a:prstGeom>
          <a:solidFill>
            <a:srgbClr val="FF9783"/>
          </a:solidFill>
          <a:ln/>
        </p:spPr>
      </p:sp>
      <p:sp>
        <p:nvSpPr>
          <p:cNvPr id="29" name="Text 27"/>
          <p:cNvSpPr/>
          <p:nvPr/>
        </p:nvSpPr>
        <p:spPr>
          <a:xfrm>
            <a:off x="16560165" y="2419509"/>
            <a:ext cx="434816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today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2861131" y="2711926"/>
            <a:ext cx="4547235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210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Consumption edge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2861131" y="3544411"/>
            <a:ext cx="4271582" cy="5330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Scan </a:t>
            </a:r>
            <a:pPr algn="l" indent="0" marL="0">
              <a:lnSpc>
                <a:spcPct val="130500"/>
              </a:lnSpc>
              <a:buNone/>
            </a:pPr>
            <a:r>
              <a:rPr lang="en-US" sz="15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repos, desktops &amp; CI </a:t>
            </a:r>
            <a:pPr algn="l" indent="0" marL="0">
              <a:lnSpc>
                <a:spcPct val="130500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the six axes on what apps actually pull. Precise, but only sees what you scan.</a:t>
            </a:r>
            <a:endParaRPr lang="en-US" sz="1575" dirty="0"/>
          </a:p>
        </p:txBody>
      </p:sp>
      <p:sp>
        <p:nvSpPr>
          <p:cNvPr id="32" name="Shape 30"/>
          <p:cNvSpPr/>
          <p:nvPr/>
        </p:nvSpPr>
        <p:spPr>
          <a:xfrm>
            <a:off x="1047750" y="9272111"/>
            <a:ext cx="16192500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47750" y="9441180"/>
            <a:ext cx="388383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Scan the edge → report · scan the supply → prevent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6782892" y="9441180"/>
            <a:ext cx="53355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13 / 25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31131"/>
            <a:ext cx="161925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35819"/>
            <a:ext cx="43338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08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14488" y="762000"/>
            <a:ext cx="6138592" cy="528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91"/>
              </a:lnSpc>
              <a:buNone/>
            </a:pPr>
            <a:r>
              <a:rPr lang="en-US" sz="3450" b="1" spc="-34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Local &amp; workstation mode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047750" y="1649413"/>
            <a:ext cx="17811750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78"/>
              </a:lnSpc>
              <a:buNone/>
            </a:pPr>
            <a:r>
              <a:rPr lang="en-US" sz="1650" dirty="0">
                <a:solidFill>
                  <a:srgbClr val="201E1D">
                    <a:alpha val="6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CI is the primary consumer — but the supported </a:t>
            </a:r>
            <a:pPr algn="l" indent="0" marL="0">
              <a:lnSpc>
                <a:spcPct val="142578"/>
              </a:lnSpc>
              <a:buNone/>
            </a:pPr>
            <a:r>
              <a:rPr lang="en-US" sz="1650" b="1" dirty="0">
                <a:solidFill>
                  <a:srgbClr val="201E1D">
                    <a:alpha val="6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first contact is a developer at a terminal</a:t>
            </a:r>
            <a:pPr algn="l" indent="0" marL="0">
              <a:lnSpc>
                <a:spcPct val="142578"/>
              </a:lnSpc>
              <a:buNone/>
            </a:pPr>
            <a:r>
              <a:rPr lang="en-US" sz="1650" dirty="0">
                <a:solidFill>
                  <a:srgbClr val="201E1D">
                    <a:alpha val="6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Same CLI, same exit codes.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047750" y="2202815"/>
            <a:ext cx="5219700" cy="5963920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0169" y="2524284"/>
            <a:ext cx="507634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spc="96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FIRST CONTACT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0169" y="2874804"/>
            <a:ext cx="5076349" cy="424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991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--warn-only </a:t>
            </a:r>
            <a:pPr algn="l" indent="0" marL="0">
              <a:lnSpc>
                <a:spcPct val="140991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at a terminal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50169" y="7292816"/>
            <a:ext cx="475330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>
                    <a:alpha val="7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Trial the gate and clear a finding before wiring CI — adoption realistically starts here.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4150" y="2202815"/>
            <a:ext cx="5219700" cy="5963920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6569" y="2524284"/>
            <a:ext cx="507634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spc="96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WAIVER AUTHORING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36569" y="2874804"/>
            <a:ext cx="5076349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991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Local-only by design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836569" y="7292816"/>
            <a:ext cx="475330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>
                    <a:alpha val="7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--bypass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>
                    <a:alpha val="7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emits a waiver stanza </a:t>
            </a:r>
            <a:pPr algn="l" indent="0" marL="0">
              <a:lnSpc>
                <a:spcPct val="134363"/>
              </a:lnSpc>
              <a:buNone/>
            </a:pPr>
            <a:r>
              <a:rPr lang="en-US" sz="1500" b="1" dirty="0">
                <a:solidFill>
                  <a:srgbClr val="201E1D">
                    <a:alpha val="7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for the human to commit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>
                    <a:alpha val="7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the tool never writes the repo.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020550" y="2202815"/>
            <a:ext cx="5219700" cy="5963920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22969" y="2524284"/>
            <a:ext cx="507634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spc="96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ENVIRONMENT DEBUGGING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22969" y="2874804"/>
            <a:ext cx="5076349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991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Reproduce runner failures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322969" y="7292816"/>
            <a:ext cx="475330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>
                    <a:alpha val="7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Chase an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>
                    <a:alpha val="7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engine-unavailable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>
                    <a:alpha val="7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2 outside the runner; a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>
                    <a:alpha val="7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>
                    <a:alpha val="7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self-check verifies engines.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47750" y="8395335"/>
            <a:ext cx="16192500" cy="686276"/>
          </a:xfrm>
          <a:prstGeom prst="rect">
            <a:avLst/>
          </a:prstGeom>
          <a:solidFill>
            <a:srgbClr val="FFF2EF"/>
          </a:solidFill>
          <a:ln w="16669">
            <a:solidFill>
              <a:srgbClr val="EC30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2069" y="8583454"/>
            <a:ext cx="16149637" cy="34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15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Local mode never softens the gate — same verdict lattice, same exit codes, TTY-colour auto-detect, zero prompts.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047750" y="9272111"/>
            <a:ext cx="16192500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47750" y="9441180"/>
            <a:ext cx="209113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WARDEN · pyforge-warden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782733" y="9441180"/>
            <a:ext cx="53371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14 / 25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31131"/>
            <a:ext cx="161925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35819"/>
            <a:ext cx="43338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09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14488" y="762000"/>
            <a:ext cx="10469467" cy="528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91"/>
              </a:lnSpc>
              <a:buNone/>
            </a:pPr>
            <a:r>
              <a:rPr lang="en-US" sz="3450" b="1" spc="-34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 ways a repo flows through the scanner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668463"/>
            <a:ext cx="5219700" cy="739409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4419" y="1685131"/>
            <a:ext cx="5186363" cy="10096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7" name="Text 5"/>
          <p:cNvSpPr/>
          <p:nvPr/>
        </p:nvSpPr>
        <p:spPr>
          <a:xfrm>
            <a:off x="1293019" y="1875631"/>
            <a:ext cx="5202079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b="1" spc="95" kern="0" dirty="0">
                <a:solidFill>
                  <a:srgbClr val="F3F2F2">
                    <a:alpha val="7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PATH A · NATIVE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93019" y="2120424"/>
            <a:ext cx="5202079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991"/>
              </a:lnSpc>
              <a:buNone/>
            </a:pPr>
            <a:r>
              <a:rPr lang="en-US" sz="195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PyPI project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3019" y="2942431"/>
            <a:ext cx="52020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500" b="1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DETECT </a:t>
            </a:r>
            <a:pPr algn="l" indent="0" marL="0">
              <a:lnSpc>
                <a:spcPct val="129730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</a:t>
            </a:r>
            <a:pPr algn="l" indent="0" marL="0">
              <a:lnSpc>
                <a:spcPct val="129730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pyproject.toml </a:t>
            </a:r>
            <a:pPr algn="l" indent="0" marL="0">
              <a:lnSpc>
                <a:spcPct val="129730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· </a:t>
            </a:r>
            <a:pPr algn="l" indent="0" marL="0">
              <a:lnSpc>
                <a:spcPct val="129730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*.lock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93019" y="3342481"/>
            <a:ext cx="487103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500" b="1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DELEGATE </a:t>
            </a:r>
            <a:pPr algn="l" indent="0" marL="0">
              <a:lnSpc>
                <a:spcPct val="129730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deptry reads source, osv-scanner reads native lockfile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3019" y="4009231"/>
            <a:ext cx="52020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500" b="1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UNIFY </a:t>
            </a:r>
            <a:pPr algn="l" indent="0" marL="0">
              <a:lnSpc>
                <a:spcPct val="129730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one ComplianceReport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93019" y="8567579"/>
            <a:ext cx="527050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93825" y="8601710"/>
            <a:ext cx="401637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1877219" y="8567579"/>
            <a:ext cx="461963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78025" y="8601710"/>
            <a:ext cx="336550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2396331" y="8567579"/>
            <a:ext cx="1231900" cy="230664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17" name="Text 15"/>
          <p:cNvSpPr/>
          <p:nvPr/>
        </p:nvSpPr>
        <p:spPr>
          <a:xfrm>
            <a:off x="2491581" y="8596154"/>
            <a:ext cx="1117600" cy="211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policy-violation</a:t>
            </a:r>
            <a:endParaRPr lang="en-US" sz="825" dirty="0"/>
          </a:p>
        </p:txBody>
      </p:sp>
      <p:sp>
        <p:nvSpPr>
          <p:cNvPr id="18" name="Shape 16"/>
          <p:cNvSpPr/>
          <p:nvPr/>
        </p:nvSpPr>
        <p:spPr>
          <a:xfrm>
            <a:off x="6534150" y="1668463"/>
            <a:ext cx="5219700" cy="7394099"/>
          </a:xfrm>
          <a:prstGeom prst="rect">
            <a:avLst/>
          </a:prstGeom>
          <a:ln w="16669">
            <a:solidFill>
              <a:srgbClr val="EC301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50819" y="1685131"/>
            <a:ext cx="5186363" cy="10096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0" name="Text 18"/>
          <p:cNvSpPr/>
          <p:nvPr/>
        </p:nvSpPr>
        <p:spPr>
          <a:xfrm>
            <a:off x="6779419" y="1875631"/>
            <a:ext cx="5202079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b="1" spc="95" kern="0" dirty="0">
                <a:solidFill>
                  <a:srgbClr val="F3F2F2">
                    <a:alpha val="8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PATH B · THE E1 WEDGE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79419" y="2120424"/>
            <a:ext cx="5202079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991"/>
              </a:lnSpc>
              <a:buNone/>
            </a:pPr>
            <a:r>
              <a:rPr lang="en-US" sz="195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Conda / Pixi project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6550819" y="2694781"/>
            <a:ext cx="5186363" cy="635111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23" name="Text 21"/>
          <p:cNvSpPr/>
          <p:nvPr/>
        </p:nvSpPr>
        <p:spPr>
          <a:xfrm>
            <a:off x="6779419" y="2942431"/>
            <a:ext cx="487103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500" b="1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DETECT </a:t>
            </a:r>
            <a:pPr algn="l" indent="0" marL="0">
              <a:lnSpc>
                <a:spcPct val="129730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</a:t>
            </a:r>
            <a:pPr algn="l" indent="0" marL="0">
              <a:lnSpc>
                <a:spcPct val="129730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environment.yml </a:t>
            </a:r>
            <a:pPr algn="l" indent="0" marL="0">
              <a:lnSpc>
                <a:spcPct val="129730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· </a:t>
            </a:r>
            <a:pPr algn="l" indent="0" marL="0">
              <a:lnSpc>
                <a:spcPct val="129730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meta.yaml </a:t>
            </a:r>
            <a:pPr algn="l" indent="0" marL="0">
              <a:lnSpc>
                <a:spcPct val="129730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· </a:t>
            </a:r>
            <a:pPr algn="l" indent="0" marL="0">
              <a:lnSpc>
                <a:spcPct val="129730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pixi.toml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79419" y="3609181"/>
            <a:ext cx="487103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500" b="1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BRIDGE </a:t>
            </a:r>
            <a:pPr algn="l" indent="0" marL="0">
              <a:lnSpc>
                <a:spcPct val="129730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manifest engine synthesizes a pinned </a:t>
            </a:r>
            <a:pPr algn="l" indent="0" marL="0">
              <a:lnSpc>
                <a:spcPct val="129730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 </a:t>
            </a:r>
            <a:pPr algn="l" indent="0" marL="0">
              <a:lnSpc>
                <a:spcPct val="129730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from the lockfile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79419" y="4275931"/>
            <a:ext cx="52020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500" b="1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UNIFY </a:t>
            </a:r>
            <a:pPr algn="l" indent="0" marL="0">
              <a:lnSpc>
                <a:spcPct val="129730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engines run over synthesized input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779419" y="8567579"/>
            <a:ext cx="1243013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0225" y="8601710"/>
            <a:ext cx="1117600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coverage-flagged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8079581" y="8567579"/>
            <a:ext cx="1036637" cy="230664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29" name="Text 27"/>
          <p:cNvSpPr/>
          <p:nvPr/>
        </p:nvSpPr>
        <p:spPr>
          <a:xfrm>
            <a:off x="8174831" y="8596154"/>
            <a:ext cx="922337" cy="211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indeterminate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12020550" y="1668463"/>
            <a:ext cx="5219700" cy="7394099"/>
          </a:xfrm>
          <a:prstGeom prst="rect">
            <a:avLst/>
          </a:prstGeom>
          <a:ln w="16669">
            <a:solidFill>
              <a:srgbClr val="BAB6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037219" y="1685131"/>
            <a:ext cx="5186363" cy="1009650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32" name="Text 30"/>
          <p:cNvSpPr/>
          <p:nvPr/>
        </p:nvSpPr>
        <p:spPr>
          <a:xfrm>
            <a:off x="12265819" y="1875631"/>
            <a:ext cx="5202079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b="1" spc="95" kern="0" dirty="0">
                <a:solidFill>
                  <a:srgbClr val="201E1D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PATH C · OUT OF SCOPE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2265819" y="2120424"/>
            <a:ext cx="5202079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991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Non-Python repo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2265819" y="2942431"/>
            <a:ext cx="52020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DETECT </a:t>
            </a:r>
            <a:pPr algn="l" indent="0" marL="0">
              <a:lnSpc>
                <a:spcPct val="129730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no supported manifest at root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265819" y="3342481"/>
            <a:ext cx="52020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SKIP </a:t>
            </a:r>
            <a:pPr algn="l" indent="0" marL="0">
              <a:lnSpc>
                <a:spcPct val="129730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both engines bypassed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2265819" y="3742531"/>
            <a:ext cx="52020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REPORT </a:t>
            </a:r>
            <a:pPr algn="l" indent="0" marL="0">
              <a:lnSpc>
                <a:spcPct val="129730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status recorded honestly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2265819" y="8578691"/>
            <a:ext cx="1101725" cy="219551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38" name="Text 36"/>
          <p:cNvSpPr/>
          <p:nvPr/>
        </p:nvSpPr>
        <p:spPr>
          <a:xfrm>
            <a:off x="12361069" y="8607266"/>
            <a:ext cx="987425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4441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not-applicable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13424693" y="8578691"/>
            <a:ext cx="581025" cy="219551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40" name="Text 38"/>
          <p:cNvSpPr/>
          <p:nvPr/>
        </p:nvSpPr>
        <p:spPr>
          <a:xfrm>
            <a:off x="13519943" y="8607266"/>
            <a:ext cx="466725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4441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0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1047750" y="9272111"/>
            <a:ext cx="16192500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047750" y="9441180"/>
            <a:ext cx="300337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Union coverage · reported per-manifest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6783050" y="9441180"/>
            <a:ext cx="533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15 / 25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31131"/>
            <a:ext cx="161925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35819"/>
            <a:ext cx="43338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14488" y="762000"/>
            <a:ext cx="4024582" cy="528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91"/>
              </a:lnSpc>
              <a:buNone/>
            </a:pPr>
            <a:r>
              <a:rPr lang="en-US" sz="3450" b="1" spc="-34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Which tool, when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3820954"/>
            <a:ext cx="16192500" cy="526256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3973354"/>
            <a:ext cx="10254996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1125" b="1" spc="90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YOU HAVE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1620500" y="3973354"/>
            <a:ext cx="5585079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1125" b="1" spc="90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REACH FOR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047750" y="4347210"/>
            <a:ext cx="16192500" cy="638016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9" name="Shape 7"/>
          <p:cNvSpPr/>
          <p:nvPr/>
        </p:nvSpPr>
        <p:spPr>
          <a:xfrm>
            <a:off x="1047750" y="4968557"/>
            <a:ext cx="16192500" cy="16669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4499610"/>
            <a:ext cx="10254996" cy="37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578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Any repo, no atlas — a CI or terminal gate on pinned deps (hygiene + CVEs)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620500" y="4499610"/>
            <a:ext cx="5585079" cy="37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578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Warden </a:t>
            </a:r>
            <a:pPr algn="l" indent="0" marL="0">
              <a:lnSpc>
                <a:spcPct val="142578"/>
              </a:lnSpc>
              <a:buNone/>
            </a:pPr>
            <a:r>
              <a:rPr lang="en-US" sz="1650" dirty="0">
                <a:solidFill>
                  <a:srgbClr val="201E1D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(this tool)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5620385"/>
            <a:ext cx="16192500" cy="9525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57300" y="5137626"/>
            <a:ext cx="10254996" cy="374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578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atlas host — gap / version-lag buckets, freshness-percentile policy, worklists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620500" y="5137626"/>
            <a:ext cx="5585079" cy="374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inventory-match --policy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047750" y="6255544"/>
            <a:ext cx="16192500" cy="9525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257300" y="5778341"/>
            <a:ext cx="10254996" cy="368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578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Exotic — containers, K8s, live envs, third-party SBOMs, non-Python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620500" y="5778341"/>
            <a:ext cx="5585079" cy="368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scan-project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047750" y="6885146"/>
            <a:ext cx="16192500" cy="16669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19" name="Text 17"/>
          <p:cNvSpPr/>
          <p:nvPr/>
        </p:nvSpPr>
        <p:spPr>
          <a:xfrm>
            <a:off x="1257300" y="6413500"/>
            <a:ext cx="10254996" cy="374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578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migrated Kedro pipeline (future)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620500" y="6413500"/>
            <a:ext cx="5585079" cy="374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578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FR-18 unified gate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047750" y="9272111"/>
            <a:ext cx="16192500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47750" y="9441180"/>
            <a:ext cx="427272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Warden is the fleet edge — it complements, not replaces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782892" y="9441180"/>
            <a:ext cx="53355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16 / 25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0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26077" y="-1524000"/>
            <a:ext cx="8119015" cy="670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97"/>
              </a:lnSpc>
              <a:buNone/>
            </a:pPr>
            <a:r>
              <a:rPr lang="en-US" sz="40000" b="1" dirty="0">
                <a:solidFill>
                  <a:srgbClr val="F3F2F2">
                    <a:alpha val="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III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047750" y="914400"/>
            <a:ext cx="17811750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78"/>
              </a:lnSpc>
              <a:buNone/>
            </a:pPr>
            <a:r>
              <a:rPr lang="en-US" sz="1650" b="1" spc="264" kern="0" dirty="0">
                <a:solidFill>
                  <a:srgbClr val="FF978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PART III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4307364"/>
            <a:ext cx="17811750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63"/>
              </a:lnSpc>
              <a:buNone/>
            </a:pPr>
            <a:r>
              <a:rPr lang="en-US" sz="9000" b="1" spc="-180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Where it's going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047750" y="5671344"/>
            <a:ext cx="1781175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2400" dirty="0">
                <a:solidFill>
                  <a:srgbClr val="F3F2F2">
                    <a:alpha val="9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Roadmap &amp; vision — everything here is beyond v1.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47750" y="9151144"/>
            <a:ext cx="1781175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1125" b="1" spc="113" kern="0" dirty="0">
                <a:solidFill>
                  <a:srgbClr val="F3F2F2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ROADMAP · NOT YET SHIPPED</a:t>
            </a:r>
            <a:endParaRPr lang="en-US" sz="11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31131"/>
            <a:ext cx="161925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35819"/>
            <a:ext cx="43338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11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14488" y="762000"/>
            <a:ext cx="7031101" cy="528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91"/>
              </a:lnSpc>
              <a:buNone/>
            </a:pPr>
            <a:r>
              <a:rPr lang="en-US" sz="3450" b="1" spc="-34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Beyond v1 — now, next &amp; later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687513"/>
            <a:ext cx="5194300" cy="444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1687513"/>
            <a:ext cx="16669" cy="735599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93019" y="1922462"/>
            <a:ext cx="675005" cy="316706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8" name="Text 6"/>
          <p:cNvSpPr/>
          <p:nvPr/>
        </p:nvSpPr>
        <p:spPr>
          <a:xfrm>
            <a:off x="1426369" y="1970087"/>
            <a:ext cx="484505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1125" b="1" spc="113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NOW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082324" y="1940560"/>
            <a:ext cx="442278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38"/>
              </a:lnSpc>
              <a:buNone/>
            </a:pPr>
            <a:r>
              <a:rPr lang="en-US" sz="142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v1.x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293019" y="2429669"/>
            <a:ext cx="486204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97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License compliance </a:t>
            </a:r>
            <a:pPr algn="l" indent="0" marL="0">
              <a:lnSpc>
                <a:spcPct val="125097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SPDX via license-expression (Axis 3)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3019" y="3077369"/>
            <a:ext cx="486204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97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Currency &amp; supportability </a:t>
            </a:r>
            <a:pPr algn="l" indent="0" marL="0">
              <a:lnSpc>
                <a:spcPct val="125097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LTS · N/N-1 · not EOL (Axis 4)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93019" y="3725069"/>
            <a:ext cx="51924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97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Baseline &amp; grandfathering </a:t>
            </a:r>
            <a:pPr algn="l" indent="0" marL="0">
              <a:lnSpc>
                <a:spcPct val="125097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gate only new findings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93019" y="4115594"/>
            <a:ext cx="51924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97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Automated fix PRs </a:t>
            </a:r>
            <a:pPr algn="l" indent="0" marL="0">
              <a:lnSpc>
                <a:spcPct val="125097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remediation, not just findings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46850" y="1687513"/>
            <a:ext cx="5194300" cy="444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5" name="Shape 13"/>
          <p:cNvSpPr/>
          <p:nvPr/>
        </p:nvSpPr>
        <p:spPr>
          <a:xfrm>
            <a:off x="6546850" y="1687513"/>
            <a:ext cx="16669" cy="735599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792119" y="1922462"/>
            <a:ext cx="768350" cy="350044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2137" y="1986756"/>
            <a:ext cx="544513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1125" b="1" spc="113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NEXT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7674769" y="1957229"/>
            <a:ext cx="1633792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38"/>
              </a:lnSpc>
              <a:buNone/>
            </a:pPr>
            <a:r>
              <a:rPr lang="en-US" sz="142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v2 — governance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6792119" y="2463006"/>
            <a:ext cx="51924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97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Pluggable scanners </a:t>
            </a:r>
            <a:pPr algn="l" indent="0" marL="0">
              <a:lnSpc>
                <a:spcPct val="125097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multiple backends, one report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92119" y="2853531"/>
            <a:ext cx="51924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97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Allowlist enforcement </a:t>
            </a:r>
            <a:pPr algn="l" indent="0" marL="0">
              <a:lnSpc>
                <a:spcPct val="125097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approved-library registry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92119" y="3244056"/>
            <a:ext cx="51924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97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Maintenance &amp; health </a:t>
            </a:r>
            <a:pPr algn="l" indent="0" marL="0">
              <a:lnSpc>
                <a:spcPct val="125097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cadence, bus-factor (Axis 6)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92119" y="3634581"/>
            <a:ext cx="486204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97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Vendor-support backlog </a:t>
            </a:r>
            <a:pPr algn="l" indent="0" marL="0">
              <a:lnSpc>
                <a:spcPct val="125097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tracked remediation work items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045950" y="1687513"/>
            <a:ext cx="5194300" cy="44450"/>
          </a:xfrm>
          <a:prstGeom prst="rect">
            <a:avLst/>
          </a:prstGeom>
          <a:solidFill>
            <a:srgbClr val="BAB6B6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45950" y="1687513"/>
            <a:ext cx="16669" cy="735599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2291218" y="1922462"/>
            <a:ext cx="825500" cy="316706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26" name="Text 24"/>
          <p:cNvSpPr/>
          <p:nvPr/>
        </p:nvSpPr>
        <p:spPr>
          <a:xfrm>
            <a:off x="12424568" y="1970087"/>
            <a:ext cx="63500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1125" b="1" spc="113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LATER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3231019" y="1940560"/>
            <a:ext cx="618808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38"/>
              </a:lnSpc>
              <a:buNone/>
            </a:pPr>
            <a:r>
              <a:rPr lang="en-US" sz="142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Vision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12291218" y="2429669"/>
            <a:ext cx="51924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97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Reachability analysis </a:t>
            </a:r>
            <a:pPr algn="l" indent="0" marL="0">
              <a:lnSpc>
                <a:spcPct val="125097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flag a CVE only when called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291218" y="2820194"/>
            <a:ext cx="486204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97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Malicious-package detection </a:t>
            </a:r>
            <a:pPr algn="l" indent="0" marL="0">
              <a:lnSpc>
                <a:spcPct val="125097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behavior + attestation (Axis 5)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291218" y="3467894"/>
            <a:ext cx="51924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97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Alternate-library suggestions </a:t>
            </a:r>
            <a:pPr algn="l" indent="0" marL="0">
              <a:lnSpc>
                <a:spcPct val="125097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vetted replacements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291218" y="3858419"/>
            <a:ext cx="51924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97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Sibling ecosystems </a:t>
            </a:r>
            <a:pPr algn="l" indent="0" marL="0">
              <a:lnSpc>
                <a:spcPct val="125097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js/go tools share osv + schema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47750" y="9272111"/>
            <a:ext cx="16192500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47750" y="9441180"/>
            <a:ext cx="399297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Same manifest engine + report contract, generalized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6782892" y="9441180"/>
            <a:ext cx="53355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18 / 25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0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817" y="-1524000"/>
            <a:ext cx="8172101" cy="651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23"/>
              </a:lnSpc>
              <a:buNone/>
            </a:pPr>
            <a:r>
              <a:rPr lang="en-US" sz="40000" b="1" dirty="0">
                <a:solidFill>
                  <a:srgbClr val="F3F2F2">
                    <a:alpha val="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IV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047750" y="914400"/>
            <a:ext cx="17811750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78"/>
              </a:lnSpc>
              <a:buNone/>
            </a:pPr>
            <a:r>
              <a:rPr lang="en-US" sz="1650" b="1" spc="264" kern="0" dirty="0">
                <a:solidFill>
                  <a:srgbClr val="FF978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PART IV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4307364"/>
            <a:ext cx="17811750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63"/>
              </a:lnSpc>
              <a:buNone/>
            </a:pPr>
            <a:r>
              <a:rPr lang="en-US" sz="9000" b="1" spc="-180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At enterprise scale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047750" y="5671344"/>
            <a:ext cx="1781175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2400" dirty="0">
                <a:solidFill>
                  <a:srgbClr val="F3F2F2">
                    <a:alpha val="9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report contract as the feed for a fleet-wide control plane.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47750" y="9151144"/>
            <a:ext cx="1781175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1125" b="1" spc="113" kern="0" dirty="0">
                <a:solidFill>
                  <a:srgbClr val="F3F2F2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VISION · FLEET &amp; ECOSYSTEM</a:t>
            </a:r>
            <a:endParaRPr lang="en-US" sz="11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31131"/>
            <a:ext cx="161925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35819"/>
            <a:ext cx="43338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14488" y="762000"/>
            <a:ext cx="9045400" cy="528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91"/>
              </a:lnSpc>
              <a:buNone/>
            </a:pPr>
            <a:r>
              <a:rPr lang="en-US" sz="3450" b="1" spc="-34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At enterprise scale — the control plane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649413"/>
            <a:ext cx="16192500" cy="16669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1649413"/>
            <a:ext cx="16669" cy="743219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282916" y="1666081"/>
            <a:ext cx="16669" cy="741553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254919" y="1875631"/>
            <a:ext cx="3121247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1125" b="1" spc="56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FLEET INTELLIGENCE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254919" y="2249488"/>
            <a:ext cx="3121247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Central estate dashboard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54919" y="2550477"/>
            <a:ext cx="2922622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Cross-repo dependency graph — CVE blast-radius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54919" y="3057208"/>
            <a:ext cx="3121247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Risk-trend tracking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54919" y="3358197"/>
            <a:ext cx="3121247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KEV / EPSS enrichment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54919" y="3659188"/>
            <a:ext cx="3121247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Historical SBOM diff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54919" y="3960177"/>
            <a:ext cx="3121247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License-mix dashboard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18083" y="1666081"/>
            <a:ext cx="16669" cy="741553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490085" y="1875631"/>
            <a:ext cx="3121248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1125" b="1" spc="56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POLICY &amp; GOVERNANCE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490085" y="2249488"/>
            <a:ext cx="312124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Policy-as-code, central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90085" y="2550477"/>
            <a:ext cx="312124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Golden-path catalog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90085" y="2851468"/>
            <a:ext cx="312124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Waiver governance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90085" y="3152458"/>
            <a:ext cx="312124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Typosquat detection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90085" y="3453447"/>
            <a:ext cx="312124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Establish an OSPO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90085" y="3754438"/>
            <a:ext cx="312124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License allow / deny families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753249" y="1666081"/>
            <a:ext cx="16669" cy="741553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725251" y="1875631"/>
            <a:ext cx="3121247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1125" b="1" spc="56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SUPPLY-CHAIN INTEGRITY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7725251" y="2249488"/>
            <a:ext cx="3121247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SBOM registry + VEX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25251" y="2550477"/>
            <a:ext cx="3121247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Provenance &amp; signing (SLSA / Sigstore)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25251" y="2851468"/>
            <a:ext cx="3121247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Registry / Artifactory gate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25251" y="3152458"/>
            <a:ext cx="3121247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Upstream intel → blocklists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25251" y="3453447"/>
            <a:ext cx="2922622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Source-fix registry — metadata · code · build · security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25251" y="3960177"/>
            <a:ext cx="3121247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Patch attribution &amp; upstreaming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3988415" y="1666081"/>
            <a:ext cx="16669" cy="741553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960417" y="1875631"/>
            <a:ext cx="3121248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1125" b="1" spc="56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SCALE &amp; OPERATIONS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0960417" y="2249488"/>
            <a:ext cx="312124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Incremental PR-diff scans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60417" y="2550477"/>
            <a:ext cx="312124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Fleet-wide auto-remediation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960417" y="2851468"/>
            <a:ext cx="312124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SIEM / ticketing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960417" y="3152458"/>
            <a:ext cx="312124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SSO / RBAC + evidence; air-gapped DB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960417" y="3453447"/>
            <a:ext cx="312124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PyPI ↔ conda-forge tracking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960417" y="3754438"/>
            <a:ext cx="312124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Contribute-back PR automation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4005084" y="1666081"/>
            <a:ext cx="3235166" cy="7415530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40" name="Text 38"/>
          <p:cNvSpPr/>
          <p:nvPr/>
        </p:nvSpPr>
        <p:spPr>
          <a:xfrm>
            <a:off x="14195584" y="1875631"/>
            <a:ext cx="3139583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1125" b="1" spc="56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PROGRAM MANAGEMENT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14195584" y="2249488"/>
            <a:ext cx="3139583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Remediation SLAs &amp; MTTR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4195584" y="2550477"/>
            <a:ext cx="3139583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Ownership &amp; chargeback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4195584" y="2851468"/>
            <a:ext cx="3139583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Campaign mode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4195584" y="3152458"/>
            <a:ext cx="3139583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conda-forge onboarding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4195584" y="3453447"/>
            <a:ext cx="3139583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Python 3.14 support tracking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4195584" y="3754438"/>
            <a:ext cx="3139583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Sponsorship &amp; funding budget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47750" y="9272111"/>
            <a:ext cx="16192500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047750" y="9441180"/>
            <a:ext cx="228287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report contract is the feed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6783050" y="9441180"/>
            <a:ext cx="533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 / 25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31131"/>
            <a:ext cx="161925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35819"/>
            <a:ext cx="43338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13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14488" y="762000"/>
            <a:ext cx="11369135" cy="528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91"/>
              </a:lnSpc>
              <a:buNone/>
            </a:pPr>
            <a:r>
              <a:rPr lang="en-US" sz="3450" b="1" spc="-34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Open-source policy, governance &amp; sustainability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668463"/>
            <a:ext cx="5219700" cy="739409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4419" y="1685131"/>
            <a:ext cx="5186363" cy="962025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7" name="Text 5"/>
          <p:cNvSpPr/>
          <p:nvPr/>
        </p:nvSpPr>
        <p:spPr>
          <a:xfrm>
            <a:off x="1293019" y="1856581"/>
            <a:ext cx="5202079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b="1" spc="95" kern="0" dirty="0">
                <a:solidFill>
                  <a:srgbClr val="F3F2F2">
                    <a:alpha val="7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OSPO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93019" y="2091849"/>
            <a:ext cx="5202079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991"/>
              </a:lnSpc>
              <a:buNone/>
            </a:pPr>
            <a:r>
              <a:rPr lang="en-US" sz="195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Policy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3019" y="2894806"/>
            <a:ext cx="52020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63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Usage &amp; contribution policy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one codified standard.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93019" y="3342481"/>
            <a:ext cx="52020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63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License allow / deny families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enforced at the gate.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3019" y="3790156"/>
            <a:ext cx="487103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63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New-dependency intake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review before a library enters.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34150" y="1668463"/>
            <a:ext cx="5219700" cy="739409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50819" y="1685131"/>
            <a:ext cx="5186363" cy="962025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14" name="Text 12"/>
          <p:cNvSpPr/>
          <p:nvPr/>
        </p:nvSpPr>
        <p:spPr>
          <a:xfrm>
            <a:off x="6779419" y="1856581"/>
            <a:ext cx="5202079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b="1" spc="95" kern="0" dirty="0">
                <a:solidFill>
                  <a:srgbClr val="F3F2F2">
                    <a:alpha val="7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79419" y="2091849"/>
            <a:ext cx="5202079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991"/>
              </a:lnSpc>
              <a:buNone/>
            </a:pPr>
            <a:r>
              <a:rPr lang="en-US" sz="195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Governance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779419" y="2894806"/>
            <a:ext cx="52020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63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License-obligation tracking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attribution per release.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79419" y="3342481"/>
            <a:ext cx="487103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63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Stewardship ownership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a named owner per dependency.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79419" y="4066381"/>
            <a:ext cx="487103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63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Export-control &amp; provenance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origin &amp; jurisdiction on record.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020550" y="1668463"/>
            <a:ext cx="5219700" cy="7394099"/>
          </a:xfrm>
          <a:prstGeom prst="rect">
            <a:avLst/>
          </a:prstGeom>
          <a:ln w="16669">
            <a:solidFill>
              <a:srgbClr val="EC301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37219" y="1685131"/>
            <a:ext cx="5186363" cy="962025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1" name="Text 19"/>
          <p:cNvSpPr/>
          <p:nvPr/>
        </p:nvSpPr>
        <p:spPr>
          <a:xfrm>
            <a:off x="12265819" y="1856581"/>
            <a:ext cx="5202079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050" b="1" spc="95" kern="0" dirty="0">
                <a:solidFill>
                  <a:srgbClr val="F3F2F2">
                    <a:alpha val="8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GIVE BACK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2265819" y="2091849"/>
            <a:ext cx="5202079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991"/>
              </a:lnSpc>
              <a:buNone/>
            </a:pPr>
            <a:r>
              <a:rPr lang="en-US" sz="195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Sustainability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2037219" y="2647156"/>
            <a:ext cx="5186363" cy="2219325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24" name="Text 22"/>
          <p:cNvSpPr/>
          <p:nvPr/>
        </p:nvSpPr>
        <p:spPr>
          <a:xfrm>
            <a:off x="12265819" y="2894806"/>
            <a:ext cx="52020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63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Upstream funding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surface critical deps to sponsor.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265819" y="3342481"/>
            <a:ext cx="487103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63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Maintainer &amp; community health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bus-factor, cadence.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265819" y="4066381"/>
            <a:ext cx="487103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63"/>
              </a:lnSpc>
              <a:buNone/>
            </a:pPr>
            <a:r>
              <a:rPr lang="en-US" sz="15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Contribute-back tracking </a:t>
            </a:r>
            <a:pPr algn="l" indent="0" marL="0">
              <a:lnSpc>
                <a:spcPct val="134363"/>
              </a:lnSpc>
              <a:buNone/>
            </a:pPr>
            <a:r>
              <a:rPr lang="en-US" sz="15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upstream fixes, retire forks.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47750" y="9272111"/>
            <a:ext cx="16192500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047750" y="9441180"/>
            <a:ext cx="209113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WARDEN · pyforge-warden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782892" y="9441180"/>
            <a:ext cx="53355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21 / 25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31131"/>
            <a:ext cx="161925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35819"/>
            <a:ext cx="43370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14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14805" y="762000"/>
            <a:ext cx="5222335" cy="528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91"/>
              </a:lnSpc>
              <a:buNone/>
            </a:pPr>
            <a:r>
              <a:rPr lang="en-US" sz="3450" b="1" spc="-34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each leader gets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668463"/>
            <a:ext cx="3876675" cy="739409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4419" y="1685131"/>
            <a:ext cx="3843338" cy="938689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7" name="Text 5"/>
          <p:cNvSpPr/>
          <p:nvPr/>
        </p:nvSpPr>
        <p:spPr>
          <a:xfrm>
            <a:off x="1273969" y="1837531"/>
            <a:ext cx="3766661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171"/>
              </a:lnSpc>
              <a:buNone/>
            </a:pPr>
            <a:r>
              <a:rPr lang="en-US" sz="975" b="1" spc="88" kern="0" dirty="0">
                <a:solidFill>
                  <a:srgbClr val="F3F2F2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SECURITY &amp; RISK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273969" y="2058035"/>
            <a:ext cx="3766661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210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CISO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73969" y="2833370"/>
            <a:ext cx="352696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97"/>
              </a:lnSpc>
              <a:buNone/>
            </a:pPr>
            <a:r>
              <a:rPr lang="en-US" sz="1500" b="1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Provable, board-ready risk reduction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73969" y="3442970"/>
            <a:ext cx="3766661" cy="25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12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Fleet risk score &amp; heatmap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273969" y="3775869"/>
            <a:ext cx="3766661" cy="25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12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MTTR &amp; SLA compliance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273969" y="4108768"/>
            <a:ext cx="3766661" cy="25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12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Audit evidence on demand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273969" y="4441666"/>
            <a:ext cx="3766661" cy="25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12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Zero-day readiness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5153025" y="1668463"/>
            <a:ext cx="3876675" cy="739409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9694" y="1685131"/>
            <a:ext cx="3843338" cy="938689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16" name="Text 14"/>
          <p:cNvSpPr/>
          <p:nvPr/>
        </p:nvSpPr>
        <p:spPr>
          <a:xfrm>
            <a:off x="5379244" y="1837531"/>
            <a:ext cx="3766661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171"/>
              </a:lnSpc>
              <a:buNone/>
            </a:pPr>
            <a:r>
              <a:rPr lang="en-US" sz="975" b="1" spc="88" kern="0" dirty="0">
                <a:solidFill>
                  <a:srgbClr val="F3F2F2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DEVELOPER EXPERIENCE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379244" y="2058035"/>
            <a:ext cx="3766661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210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CDXO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379244" y="2833370"/>
            <a:ext cx="352696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97"/>
              </a:lnSpc>
              <a:buNone/>
            </a:pPr>
            <a:r>
              <a:rPr lang="en-US" sz="1500" b="1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gate developers don't route around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79244" y="3442970"/>
            <a:ext cx="3766661" cy="25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12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Gate-friction metrics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5379244" y="3775869"/>
            <a:ext cx="3766661" cy="25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12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Shift-left ergonomics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5379244" y="4108768"/>
            <a:ext cx="3766661" cy="25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12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Auto-fix throughput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5379244" y="4441666"/>
            <a:ext cx="3766661" cy="25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12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Time-to-green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9258300" y="1668463"/>
            <a:ext cx="3876675" cy="739409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74969" y="1685131"/>
            <a:ext cx="3843338" cy="938689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25" name="Text 23"/>
          <p:cNvSpPr/>
          <p:nvPr/>
        </p:nvSpPr>
        <p:spPr>
          <a:xfrm>
            <a:off x="9484519" y="1837531"/>
            <a:ext cx="3766661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171"/>
              </a:lnSpc>
              <a:buNone/>
            </a:pPr>
            <a:r>
              <a:rPr lang="en-US" sz="975" b="1" spc="88" kern="0" dirty="0">
                <a:solidFill>
                  <a:srgbClr val="F3F2F2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PORTFOLIO &amp; COST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9484519" y="2058035"/>
            <a:ext cx="3766661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210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CIO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484519" y="2833370"/>
            <a:ext cx="37666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97"/>
              </a:lnSpc>
              <a:buNone/>
            </a:pPr>
            <a:r>
              <a:rPr lang="en-US" sz="1500" b="1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view of the OSS portfolio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484519" y="3214370"/>
            <a:ext cx="3766661" cy="25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12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Portfolio inventory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9484519" y="3547269"/>
            <a:ext cx="3766661" cy="25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12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Modernization dashboard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9484519" y="3880168"/>
            <a:ext cx="3766661" cy="25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12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Cost &amp; consolidation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9484519" y="4213066"/>
            <a:ext cx="3766661" cy="25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12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Policy conformance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13363575" y="1668463"/>
            <a:ext cx="3876675" cy="7394099"/>
          </a:xfrm>
          <a:prstGeom prst="rect">
            <a:avLst/>
          </a:prstGeom>
          <a:ln w="16669">
            <a:solidFill>
              <a:srgbClr val="EC301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380244" y="1685131"/>
            <a:ext cx="3843338" cy="938689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34" name="Text 32"/>
          <p:cNvSpPr/>
          <p:nvPr/>
        </p:nvSpPr>
        <p:spPr>
          <a:xfrm>
            <a:off x="13589794" y="1837531"/>
            <a:ext cx="3766661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171"/>
              </a:lnSpc>
              <a:buNone/>
            </a:pPr>
            <a:r>
              <a:rPr lang="en-US" sz="975" b="1" spc="88" kern="0" dirty="0">
                <a:solidFill>
                  <a:srgbClr val="F3F2F2">
                    <a:alpha val="8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DATA &amp; ANALYTICS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13589794" y="2058035"/>
            <a:ext cx="3766661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210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CDAO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13380244" y="2623820"/>
            <a:ext cx="3843338" cy="6422073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37" name="Text 35"/>
          <p:cNvSpPr/>
          <p:nvPr/>
        </p:nvSpPr>
        <p:spPr>
          <a:xfrm>
            <a:off x="13589794" y="2833370"/>
            <a:ext cx="37666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97"/>
              </a:lnSpc>
              <a:buNone/>
            </a:pPr>
            <a:r>
              <a:rPr lang="en-US" sz="1500" b="1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Governed, reproducible data stacks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3589794" y="3214370"/>
            <a:ext cx="3766661" cy="25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12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Data/ML dependency governance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13589794" y="3547269"/>
            <a:ext cx="3766661" cy="25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12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Model &amp; pipeline SBOM lineage</a:t>
            </a:r>
            <a:endParaRPr lang="en-US" sz="1275" dirty="0"/>
          </a:p>
        </p:txBody>
      </p:sp>
      <p:sp>
        <p:nvSpPr>
          <p:cNvPr id="40" name="Text 38"/>
          <p:cNvSpPr/>
          <p:nvPr/>
        </p:nvSpPr>
        <p:spPr>
          <a:xfrm>
            <a:off x="13589794" y="3880168"/>
            <a:ext cx="3766661" cy="25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12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Diffable env reports</a:t>
            </a:r>
            <a:endParaRPr lang="en-US" sz="1275" dirty="0"/>
          </a:p>
        </p:txBody>
      </p:sp>
      <p:sp>
        <p:nvSpPr>
          <p:cNvPr id="41" name="Text 39"/>
          <p:cNvSpPr/>
          <p:nvPr/>
        </p:nvSpPr>
        <p:spPr>
          <a:xfrm>
            <a:off x="13589794" y="4213066"/>
            <a:ext cx="3766661" cy="25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12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Report as a data product</a:t>
            </a:r>
            <a:endParaRPr lang="en-US" sz="1275" dirty="0"/>
          </a:p>
        </p:txBody>
      </p:sp>
      <p:sp>
        <p:nvSpPr>
          <p:cNvPr id="42" name="Shape 40"/>
          <p:cNvSpPr/>
          <p:nvPr/>
        </p:nvSpPr>
        <p:spPr>
          <a:xfrm>
            <a:off x="1047750" y="9272111"/>
            <a:ext cx="16192500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047750" y="9441180"/>
            <a:ext cx="471260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Also: DevSecOps Lead · General Counsel · CRO · OSPO Lead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6782892" y="9441180"/>
            <a:ext cx="53355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22 / 25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31131"/>
            <a:ext cx="161925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35819"/>
            <a:ext cx="43338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15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14488" y="762000"/>
            <a:ext cx="11073321" cy="528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91"/>
              </a:lnSpc>
              <a:buNone/>
            </a:pPr>
            <a:r>
              <a:rPr lang="en-US" sz="3450" b="1" spc="-34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Integration surface — the pluggable ecosystem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047750" y="1649413"/>
            <a:ext cx="17811750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78"/>
              </a:lnSpc>
              <a:buNone/>
            </a:pPr>
            <a:r>
              <a:rPr lang="en-US" sz="1650" dirty="0">
                <a:solidFill>
                  <a:srgbClr val="201E1D">
                    <a:alpha val="6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producer-agnostic report contract lets tools slot in as an </a:t>
            </a:r>
            <a:pPr algn="l" indent="0" marL="0">
              <a:lnSpc>
                <a:spcPct val="142578"/>
              </a:lnSpc>
              <a:buNone/>
            </a:pPr>
            <a:r>
              <a:rPr lang="en-US" sz="1650" b="1" dirty="0">
                <a:solidFill>
                  <a:srgbClr val="201E1D">
                    <a:alpha val="6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engine</a:t>
            </a:r>
            <a:pPr algn="l" indent="0" marL="0">
              <a:lnSpc>
                <a:spcPct val="142578"/>
              </a:lnSpc>
              <a:buNone/>
            </a:pPr>
            <a:r>
              <a:rPr lang="en-US" sz="1650" dirty="0">
                <a:solidFill>
                  <a:srgbClr val="201E1D">
                    <a:alpha val="6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an </a:t>
            </a:r>
            <a:pPr algn="l" indent="0" marL="0">
              <a:lnSpc>
                <a:spcPct val="142578"/>
              </a:lnSpc>
              <a:buNone/>
            </a:pPr>
            <a:r>
              <a:rPr lang="en-US" sz="1650" b="1" dirty="0">
                <a:solidFill>
                  <a:srgbClr val="201E1D">
                    <a:alpha val="6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enrichment feed</a:t>
            </a:r>
            <a:pPr algn="l" indent="0" marL="0">
              <a:lnSpc>
                <a:spcPct val="142578"/>
              </a:lnSpc>
              <a:buNone/>
            </a:pPr>
            <a:r>
              <a:rPr lang="en-US" sz="1650" dirty="0">
                <a:solidFill>
                  <a:srgbClr val="201E1D">
                    <a:alpha val="6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or a downstream </a:t>
            </a:r>
            <a:pPr algn="l" indent="0" marL="0">
              <a:lnSpc>
                <a:spcPct val="142578"/>
              </a:lnSpc>
              <a:buNone/>
            </a:pPr>
            <a:r>
              <a:rPr lang="en-US" sz="1650" b="1" dirty="0">
                <a:solidFill>
                  <a:srgbClr val="201E1D">
                    <a:alpha val="6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consumer</a:t>
            </a:r>
            <a:pPr algn="l" indent="0" marL="0">
              <a:lnSpc>
                <a:spcPct val="142578"/>
              </a:lnSpc>
              <a:buNone/>
            </a:pPr>
            <a:r>
              <a:rPr lang="en-US" sz="1650" dirty="0">
                <a:solidFill>
                  <a:srgbClr val="201E1D">
                    <a:alpha val="6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047750" y="2164715"/>
            <a:ext cx="3919537" cy="5970905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4919" y="2371884"/>
            <a:ext cx="3855720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38"/>
              </a:lnSpc>
              <a:buNone/>
            </a:pPr>
            <a:r>
              <a:rPr lang="en-US" sz="142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Hygiene &amp; SBOM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1254919" y="2766695"/>
            <a:ext cx="3855720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84"/>
              </a:lnSpc>
              <a:buNone/>
            </a:pPr>
            <a:r>
              <a:rPr lang="en-US" sz="825" b="1" spc="50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ENGINES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254919" y="2976721"/>
            <a:ext cx="361035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deptry </a:t>
            </a:r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fawltydeps · pip-check-reqs · vulture · uv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254919" y="3491071"/>
            <a:ext cx="3855720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84"/>
              </a:lnSpc>
              <a:buNone/>
            </a:pPr>
            <a:r>
              <a:rPr lang="en-US" sz="825" b="1" spc="50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SBOM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254919" y="3701097"/>
            <a:ext cx="361035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CycloneDX </a:t>
            </a:r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cdxgen · Syft · rattler-build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5138738" y="2164715"/>
            <a:ext cx="3919537" cy="5970905"/>
          </a:xfrm>
          <a:prstGeom prst="rect">
            <a:avLst/>
          </a:prstGeom>
          <a:solidFill>
            <a:srgbClr val="FFF2EF"/>
          </a:solidFill>
          <a:ln w="16669">
            <a:solidFill>
              <a:srgbClr val="EC30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5906" y="2371884"/>
            <a:ext cx="3855720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38"/>
              </a:lnSpc>
              <a:buNone/>
            </a:pPr>
            <a:r>
              <a:rPr lang="en-US" sz="142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Vulnerability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5345906" y="2757170"/>
            <a:ext cx="3855720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84"/>
              </a:lnSpc>
              <a:buNone/>
            </a:pPr>
            <a:r>
              <a:rPr lang="en-US" sz="825" b="1" spc="50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ENGINES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345906" y="2967196"/>
            <a:ext cx="361035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osv-scanner </a:t>
            </a:r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osv-scalibr · vdb · Trivy · Grype · pip-audit · Capslock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5345906" y="3472021"/>
            <a:ext cx="3855720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84"/>
              </a:lnSpc>
              <a:buNone/>
            </a:pPr>
            <a:r>
              <a:rPr lang="en-US" sz="825" b="1" spc="50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CONDA-NATIVE (PREFIX.DEV)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345906" y="3682047"/>
            <a:ext cx="38557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Basilisk · parselmouth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5345906" y="3986847"/>
            <a:ext cx="3855720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84"/>
              </a:lnSpc>
              <a:buNone/>
            </a:pPr>
            <a:r>
              <a:rPr lang="en-US" sz="825" b="1" spc="50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ADVISORY DBS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345906" y="4196874"/>
            <a:ext cx="361035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OSV.dev · VulnerableCode · PyPA · NVD/GHSA/CWE · EUVD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5345906" y="4701699"/>
            <a:ext cx="3855720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84"/>
              </a:lnSpc>
              <a:buNone/>
            </a:pPr>
            <a:r>
              <a:rPr lang="en-US" sz="825" b="1" spc="50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EXPLOIT INTEL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345906" y="4911725"/>
            <a:ext cx="38557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CISA KEV · EPSS · VulnCheck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9229725" y="2164715"/>
            <a:ext cx="3919537" cy="5970905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36894" y="2371884"/>
            <a:ext cx="3855720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38"/>
              </a:lnSpc>
              <a:buNone/>
            </a:pPr>
            <a:r>
              <a:rPr lang="en-US" sz="142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License · Currency · Health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9436894" y="2757170"/>
            <a:ext cx="3855720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84"/>
              </a:lnSpc>
              <a:buNone/>
            </a:pPr>
            <a:r>
              <a:rPr lang="en-US" sz="825" b="1" spc="50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LICENSE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9436894" y="2967196"/>
            <a:ext cx="361035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license-expression · SPDX list · ORT · ClearlyDefined · ScanCode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9436894" y="3472021"/>
            <a:ext cx="3855720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84"/>
              </a:lnSpc>
              <a:buNone/>
            </a:pPr>
            <a:r>
              <a:rPr lang="en-US" sz="825" b="1" spc="50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CURRENCY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9436894" y="3682047"/>
            <a:ext cx="38557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endoflife.date · Repology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9436894" y="3986847"/>
            <a:ext cx="3855720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84"/>
              </a:lnSpc>
              <a:buNone/>
            </a:pPr>
            <a:r>
              <a:rPr lang="en-US" sz="825" b="1" spc="50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HEALTH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9436894" y="4196874"/>
            <a:ext cx="361035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OpenSSF Scorecard · criticality_score · Libraries.io · Tidelift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13320713" y="2164715"/>
            <a:ext cx="3919537" cy="5970905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527881" y="2371884"/>
            <a:ext cx="3855720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38"/>
              </a:lnSpc>
              <a:buNone/>
            </a:pPr>
            <a:r>
              <a:rPr lang="en-US" sz="142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Provenance · Consumers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13527881" y="2757170"/>
            <a:ext cx="3855720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84"/>
              </a:lnSpc>
              <a:buNone/>
            </a:pPr>
            <a:r>
              <a:rPr lang="en-US" sz="825" b="1" spc="50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PROVENANCE / BASE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13527881" y="2967196"/>
            <a:ext cx="361035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Sigstore·SLSA · in-toto·GUAC · PEP 740 · model-transparency · Assured OSS · Anaconda Defaults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3527881" y="3672046"/>
            <a:ext cx="3855720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84"/>
              </a:lnSpc>
              <a:buNone/>
            </a:pPr>
            <a:r>
              <a:rPr lang="en-US" sz="825" b="1" spc="50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PLATFORMS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13527881" y="3882072"/>
            <a:ext cx="361035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Dependency-Track · DefectDojo · Renovate · Allstar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3527881" y="4386897"/>
            <a:ext cx="3855720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84"/>
              </a:lnSpc>
              <a:buNone/>
            </a:pPr>
            <a:r>
              <a:rPr lang="en-US" sz="825" b="1" spc="50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CONSUMERS (SCA)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13527881" y="4596924"/>
            <a:ext cx="361035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1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Black Duck · Snyk · Nexus IQ · Mend · JFrog Xray · Wiz · Prisma · GitHub AS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1047750" y="8288020"/>
            <a:ext cx="16192500" cy="793591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73969" y="8438038"/>
            <a:ext cx="17314069" cy="215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935"/>
              </a:lnSpc>
              <a:buNone/>
            </a:pPr>
            <a:r>
              <a:rPr lang="en-US" sz="900" b="1" spc="72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STANDARDS WARDEN SPEAKS — THE CONTRACTS THAT MAKE IT PLUGGABLE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273969" y="8700929"/>
            <a:ext cx="461963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74775" y="8735060"/>
            <a:ext cx="336550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purl</a:t>
            </a:r>
            <a:endParaRPr lang="en-US" sz="825" dirty="0"/>
          </a:p>
        </p:txBody>
      </p:sp>
      <p:sp>
        <p:nvSpPr>
          <p:cNvPr id="42" name="Shape 40"/>
          <p:cNvSpPr/>
          <p:nvPr/>
        </p:nvSpPr>
        <p:spPr>
          <a:xfrm>
            <a:off x="1812131" y="8700929"/>
            <a:ext cx="461963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12937" y="8735060"/>
            <a:ext cx="336550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</a:t>
            </a:r>
            <a:endParaRPr lang="en-US" sz="825" dirty="0"/>
          </a:p>
        </p:txBody>
      </p:sp>
      <p:sp>
        <p:nvSpPr>
          <p:cNvPr id="44" name="Shape 42"/>
          <p:cNvSpPr/>
          <p:nvPr/>
        </p:nvSpPr>
        <p:spPr>
          <a:xfrm>
            <a:off x="2350294" y="8700929"/>
            <a:ext cx="852488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51100" y="8735060"/>
            <a:ext cx="727075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OSV schema</a:t>
            </a:r>
            <a:endParaRPr lang="en-US" sz="825" dirty="0"/>
          </a:p>
        </p:txBody>
      </p:sp>
      <p:sp>
        <p:nvSpPr>
          <p:cNvPr id="46" name="Shape 44"/>
          <p:cNvSpPr/>
          <p:nvPr/>
        </p:nvSpPr>
        <p:spPr>
          <a:xfrm>
            <a:off x="3278981" y="8700929"/>
            <a:ext cx="776288" cy="230664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47" name="Text 45"/>
          <p:cNvSpPr/>
          <p:nvPr/>
        </p:nvSpPr>
        <p:spPr>
          <a:xfrm>
            <a:off x="3374231" y="8729504"/>
            <a:ext cx="661988" cy="211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CycloneDX</a:t>
            </a:r>
            <a:endParaRPr lang="en-US" sz="825" dirty="0"/>
          </a:p>
        </p:txBody>
      </p:sp>
      <p:sp>
        <p:nvSpPr>
          <p:cNvPr id="48" name="Shape 46"/>
          <p:cNvSpPr/>
          <p:nvPr/>
        </p:nvSpPr>
        <p:spPr>
          <a:xfrm>
            <a:off x="4131469" y="8700929"/>
            <a:ext cx="461963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32275" y="8735060"/>
            <a:ext cx="336550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SPDX</a:t>
            </a:r>
            <a:endParaRPr lang="en-US" sz="825" dirty="0"/>
          </a:p>
        </p:txBody>
      </p:sp>
      <p:sp>
        <p:nvSpPr>
          <p:cNvPr id="50" name="Shape 48"/>
          <p:cNvSpPr/>
          <p:nvPr/>
        </p:nvSpPr>
        <p:spPr>
          <a:xfrm>
            <a:off x="4669631" y="8700929"/>
            <a:ext cx="1112837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0437" y="8735060"/>
            <a:ext cx="987425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OpenVEX / CSAF</a:t>
            </a:r>
            <a:endParaRPr lang="en-US" sz="825" dirty="0"/>
          </a:p>
        </p:txBody>
      </p:sp>
      <p:sp>
        <p:nvSpPr>
          <p:cNvPr id="52" name="Shape 50"/>
          <p:cNvSpPr/>
          <p:nvPr/>
        </p:nvSpPr>
        <p:spPr>
          <a:xfrm>
            <a:off x="5858669" y="8700929"/>
            <a:ext cx="527050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59475" y="8735060"/>
            <a:ext cx="401638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SARIF</a:t>
            </a:r>
            <a:endParaRPr lang="en-US" sz="825" dirty="0"/>
          </a:p>
        </p:txBody>
      </p:sp>
      <p:sp>
        <p:nvSpPr>
          <p:cNvPr id="54" name="Shape 52"/>
          <p:cNvSpPr/>
          <p:nvPr/>
        </p:nvSpPr>
        <p:spPr>
          <a:xfrm>
            <a:off x="6461919" y="8700929"/>
            <a:ext cx="657225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62725" y="8735060"/>
            <a:ext cx="531813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 5.x</a:t>
            </a:r>
            <a:endParaRPr lang="en-US" sz="825" dirty="0"/>
          </a:p>
        </p:txBody>
      </p:sp>
      <p:sp>
        <p:nvSpPr>
          <p:cNvPr id="56" name="Shape 54"/>
          <p:cNvSpPr/>
          <p:nvPr/>
        </p:nvSpPr>
        <p:spPr>
          <a:xfrm>
            <a:off x="7195344" y="8700929"/>
            <a:ext cx="461963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96150" y="8735060"/>
            <a:ext cx="336550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CVSS</a:t>
            </a:r>
            <a:endParaRPr lang="en-US" sz="825" dirty="0"/>
          </a:p>
        </p:txBody>
      </p:sp>
      <p:sp>
        <p:nvSpPr>
          <p:cNvPr id="58" name="Shape 56"/>
          <p:cNvSpPr/>
          <p:nvPr/>
        </p:nvSpPr>
        <p:spPr>
          <a:xfrm>
            <a:off x="7733506" y="8700929"/>
            <a:ext cx="461963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34313" y="8735060"/>
            <a:ext cx="336550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EPSS</a:t>
            </a:r>
            <a:endParaRPr lang="en-US" sz="825" dirty="0"/>
          </a:p>
        </p:txBody>
      </p:sp>
      <p:sp>
        <p:nvSpPr>
          <p:cNvPr id="60" name="Shape 58"/>
          <p:cNvSpPr/>
          <p:nvPr/>
        </p:nvSpPr>
        <p:spPr>
          <a:xfrm>
            <a:off x="8271669" y="8700929"/>
            <a:ext cx="657225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72475" y="8735060"/>
            <a:ext cx="531813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PEP 740</a:t>
            </a:r>
            <a:endParaRPr lang="en-US" sz="825" dirty="0"/>
          </a:p>
        </p:txBody>
      </p:sp>
      <p:sp>
        <p:nvSpPr>
          <p:cNvPr id="62" name="Shape 60"/>
          <p:cNvSpPr/>
          <p:nvPr/>
        </p:nvSpPr>
        <p:spPr>
          <a:xfrm>
            <a:off x="9005094" y="8700929"/>
            <a:ext cx="657225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05900" y="8735060"/>
            <a:ext cx="531813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PEP 639</a:t>
            </a:r>
            <a:endParaRPr lang="en-US" sz="825" dirty="0"/>
          </a:p>
        </p:txBody>
      </p:sp>
      <p:sp>
        <p:nvSpPr>
          <p:cNvPr id="64" name="Shape 62"/>
          <p:cNvSpPr/>
          <p:nvPr/>
        </p:nvSpPr>
        <p:spPr>
          <a:xfrm>
            <a:off x="9738519" y="8700929"/>
            <a:ext cx="461963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839325" y="8735060"/>
            <a:ext cx="336550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SLSA</a:t>
            </a:r>
            <a:endParaRPr lang="en-US" sz="825" dirty="0"/>
          </a:p>
        </p:txBody>
      </p:sp>
      <p:sp>
        <p:nvSpPr>
          <p:cNvPr id="66" name="Shape 64"/>
          <p:cNvSpPr/>
          <p:nvPr/>
        </p:nvSpPr>
        <p:spPr>
          <a:xfrm>
            <a:off x="10276681" y="8700929"/>
            <a:ext cx="657225" cy="230664"/>
          </a:xfrm>
          <a:prstGeom prst="rect">
            <a:avLst/>
          </a:prstGeom>
          <a:ln w="5556">
            <a:solidFill>
              <a:srgbClr val="EC301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377487" y="8735060"/>
            <a:ext cx="531813" cy="20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in-toto</a:t>
            </a:r>
            <a:endParaRPr lang="en-US" sz="825" dirty="0"/>
          </a:p>
        </p:txBody>
      </p:sp>
      <p:sp>
        <p:nvSpPr>
          <p:cNvPr id="68" name="Shape 66"/>
          <p:cNvSpPr/>
          <p:nvPr/>
        </p:nvSpPr>
        <p:spPr>
          <a:xfrm>
            <a:off x="1047750" y="9272111"/>
            <a:ext cx="16192500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047750" y="9441180"/>
            <a:ext cx="431236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Engine · feed · actuator · consumer — all off one contract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16782892" y="9441180"/>
            <a:ext cx="53355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23 / 25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31131"/>
            <a:ext cx="161925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35819"/>
            <a:ext cx="31559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47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496695" y="762000"/>
            <a:ext cx="5822172" cy="528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91"/>
              </a:lnSpc>
              <a:buNone/>
            </a:pPr>
            <a:r>
              <a:rPr lang="en-US" sz="3450" b="1" spc="-34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Start here — the on-ramp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687513"/>
            <a:ext cx="5194300" cy="735599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9219" y="2047081"/>
            <a:ext cx="500649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42"/>
              </a:lnSpc>
              <a:buNone/>
            </a:pPr>
            <a:r>
              <a:rPr lang="en-US" sz="60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369219" y="2942431"/>
            <a:ext cx="5006499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Try it locally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69219" y="3470116"/>
            <a:ext cx="4687903" cy="6408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Run </a:t>
            </a:r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warden scan . --warn-only </a:t>
            </a:r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see findings and clear one, no CI wiring needed.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6546850" y="1687513"/>
            <a:ext cx="5194300" cy="735599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68319" y="2047081"/>
            <a:ext cx="500649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42"/>
              </a:lnSpc>
              <a:buNone/>
            </a:pPr>
            <a:r>
              <a:rPr lang="en-US" sz="60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868319" y="2942431"/>
            <a:ext cx="5006499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Make it pass, honestly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868319" y="3470116"/>
            <a:ext cx="4687903" cy="6408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Lock (</a:t>
            </a:r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pixi.lock </a:t>
            </a:r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), file an expiring waiver, or fix the finding. Green is </a:t>
            </a:r>
            <a:pPr algn="l" indent="0" marL="0">
              <a:lnSpc>
                <a:spcPct val="135000"/>
              </a:lnSpc>
              <a:buNone/>
            </a:pPr>
            <a:r>
              <a:rPr lang="en-US" sz="1575" b="1" dirty="0">
                <a:solidFill>
                  <a:srgbClr val="201E1D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earned</a:t>
            </a:r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never faked.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12045950" y="1687513"/>
            <a:ext cx="5194300" cy="7355999"/>
          </a:xfrm>
          <a:prstGeom prst="rect">
            <a:avLst/>
          </a:prstGeom>
          <a:solidFill>
            <a:srgbClr val="FFF2EF"/>
          </a:solidFill>
          <a:ln w="16669">
            <a:solidFill>
              <a:srgbClr val="EC30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67418" y="2047081"/>
            <a:ext cx="500649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42"/>
              </a:lnSpc>
              <a:buNone/>
            </a:pPr>
            <a:r>
              <a:rPr lang="en-US" sz="60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12367418" y="2942431"/>
            <a:ext cx="5006499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Gate in CI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367418" y="3470116"/>
            <a:ext cx="4687903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201E1D">
                    <a:alpha val="7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Wire the same command — its exit code blocks risky merges. Same lattice, now fleet-wide.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1047750" y="9272111"/>
            <a:ext cx="16192500" cy="16669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9441180"/>
            <a:ext cx="325675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Adoption starts at a terminal, not a pipeline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782733" y="9441180"/>
            <a:ext cx="53371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714"/>
              </a:lnSpc>
              <a:buNone/>
            </a:pPr>
            <a:r>
              <a:rPr lang="en-US" sz="1200" b="1" dirty="0">
                <a:solidFill>
                  <a:srgbClr val="201E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24 / 25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629"/>
              </a:lnSpc>
              <a:buNone/>
            </a:pPr>
            <a:r>
              <a:rPr lang="en-US" sz="1500" b="1" spc="180" kern="0" dirty="0">
                <a:solidFill>
                  <a:srgbClr val="F3F2F2">
                    <a:alpha val="88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HONEST BY DESIGN — NO FALSE GREENS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3297396"/>
            <a:ext cx="15304770" cy="2383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095"/>
              </a:lnSpc>
              <a:buNone/>
            </a:pPr>
            <a:r>
              <a:rPr lang="en-US" sz="5700" b="1" spc="-114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Warden refuses to fake a pass. If it can't prove your dependencies are safe, it fails.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5985828"/>
            <a:ext cx="14127480" cy="840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F3F2F2">
                    <a:alpha val="9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Until you pin them, formally accept the risk, or explicitly run </a:t>
            </a:r>
            <a:pPr algn="l" indent="0" marL="0">
              <a:lnSpc>
                <a:spcPct val="128571"/>
              </a:lnSpc>
              <a:buNone/>
            </a:pPr>
            <a:r>
              <a:rPr lang="en-US" sz="2250" b="1" dirty="0">
                <a:solidFill>
                  <a:srgbClr val="F3F2F2">
                    <a:alpha val="9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--warn-only </a:t>
            </a:r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F3F2F2">
                    <a:alpha val="9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An honest "not verified" beats a false "all clear."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047750" y="8876348"/>
            <a:ext cx="16192500" cy="16669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9121616"/>
            <a:ext cx="4551601" cy="289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61"/>
              </a:lnSpc>
              <a:buNone/>
            </a:pPr>
            <a:r>
              <a:rPr lang="en-US" sz="1275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Warden · module pyforge.warden · dist pyforge-warden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4863762" y="9121616"/>
            <a:ext cx="2614136" cy="289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61"/>
              </a:lnSpc>
              <a:buNone/>
            </a:pPr>
            <a:r>
              <a:rPr lang="en-US" sz="1275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docs/specs/pyforge-warden.md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2026-07-15T02:06:21Z</dcterms:created>
  <dcterms:modified xsi:type="dcterms:W3CDTF">2026-07-15T02:06:21Z</dcterms:modified>
</cp:coreProperties>
</file>