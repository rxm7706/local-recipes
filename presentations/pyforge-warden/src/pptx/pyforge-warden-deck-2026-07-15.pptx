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Warden. The thesis in three words: never false-green. A green check must mean something — that the dependencies were actually assessed and found safe. Warden is a CI gate for BOTH Python ecosystems: pip/PyPI apps and the conda/conda-forge scientific and ML/AI world.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 I frames the problem. A CI gate's whole job is to answer one question honestly: is this safe to merge? The danger isn't a red X — it's a green check that never actually looked.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CI gate reduces to an exit code. 0 merges, non-zero blocks. But exit 0 conflates two very different states: 'I checked and it's clean' and 'I didn't really check.' A scanner that finds nothing returns 0 whether it looked hard or not at 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 false-green mode: the empty or corrupt vulnerability database. If the OSV database failed to download, is empty, or is stale, a naive scanner queries it, gets zero hits, and reports clean. You get a green check that means the opposite of safe.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Second false-green mode: the unassessable dependency. deptry and osv-scanner don't parse conda meta.yaml, recipe.yaml, environment.yml, or pixi.toml. A naive pipeline silently skips what it can't read — so a conda-heavy ML repo scans 'clean' while most of its dependencies were never seen.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blind spot has structure. Python is really two ecosystems: PyPI — 850K packages, open upload, any license — and conda-forge — 30K curated, FOSS-only feedstocks. Applications are 20% of the enterprise footprint; the ML/AI/data stack is a tiny slice of apps but 80% of the distinct libraries. Warden covers both.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 II: the contract. Warden's answer to false-green is a single, frozen, machine-readable contract — one report schema, one verdict lattice, one exit enum. Nothing downstream has to guess.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flows into one artifact: the ComplianceReport, validated against a committed JSON Schema. Both engines, all axes, coverage, and provenance merge here. It's producer-agnostic and the single source of truth — the human summary is just a rendering of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verdict lattice — seven rungs, highest wins. error and policy-violation and indeterminate all block; warn, bypassed, clean, not-applicable all pass. The key design move: indeterminate sits ABOVE the pass line. An unproven result blocks, it never slides to clean.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exit enum is frozen: 0 success, 1 policy violation or indeterminate, 2 operational error, 130 interrupted. Four values, no drift. CI wires against these forever. And every operational failure is a typed error with a named owner — unparsable-manifest, engine-unavailable, engine-crash, internal-error — so a failure routes to whoever can fix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 III: the engines and how they run. Warden orchestrates deptry and osv-scanner behind one report, reads six manifest formats natively, isolates each engine behind a hardened subprocess seam, and scans at three concentric rings of the supply chain.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Axis 1, hygiene, ships in v1 with deptry. It does AST import analysis and cross-checks against declared dependencies, emitting DEP001 through DEP005: missing, unused, transitive, misplaced-dev, and duplicate. It honors existing tool.deptry ignore config so teams keep their tuning.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Axis 2, security, ships in v1 with Google's osv-scanner checked against the OSV database. Crucially the database is provisioned as a declared conda/pixi dependency — never a runtime curl — and Warden pre-flights it for freshness and integrity before trusting a result. That's the fix for false-green #1.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engines are external binaries, so Warden isolates each behind a hardened subprocess seam: no shell, explicit argv, timeouts and resource caps, captured stdout/stderr, and a distinction between an engine that's unavailable versus one that crashed. A misbehaving engine becomes a typed error and exit 2 — never a silent pass.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manifest engine is the wedge: neither stock engine parses conda or pixi. Warden reads all six formats — pyproject.toml and pixi.toml via tomllib, requirements.txt by line-parse, environment.yml, meta.yaml v0 with jinja/selector neutralization, and recipe.yaml v1 — all via yaml.safe_load. No untrusted input is ever executed.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Warden runs at three depths, and the further out it scans, the more it prevents rather than reports. Consumption edge — repos, desktops, CI — is today. Registry perimeter — block/allow lists on Artifactory/JFrog — is v1.x and the star: a census of everything that enters. Public upstream — scanning PyPI and conda-forge for malicious and typosquat packages — is the vision.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 IV: offline and air-gap trust. Enterprise Python often runs where the internet doesn't reach. Warden is built for that: deny-by-default egress, deterministic runs, and a database it verifies before it trusts.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Warden makes no network calls during a scan by default. The database and engines are provisioned ahead of time as declared dependencies. Any online behavior is opt-in and explicit, never silent. That's what makes runs safe in regulated and air-gapped environments.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properties make Warden auditable. Determinism: pinned engines and a pinned database mean the same inputs give the same verdict, every time, on any machine. And the pre-flight: Warden verifies the database's record count, freshness, and integrity before trusting it. Together these turn a scan into evidence you can defend in an audit.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Adoption starts at a terminal, not a pipeline. warden scan . --warn-only runs locally, shows real findings, and exits 0 so nobody is blocked on day one. This is the on-ramp — see it work on your own machine before you ever touch CI.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 V: from a gate to a governance platform. The same contract extends across six axes of dependency trust — and the engines are pluggable, so new signals slot in behind the same report and the same lattice.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axes, each a different question. Hygiene: is it used? Security: is it vulnerable? These ship in v1. License: is it allowed? Currency: is it patchable / supported? These complete the v1.x gate. Provenance: is it authentic? Maintenance: is it maintained? These are the vision. All behind one report, one lattice.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v1.x enriches the security axis to prioritize by real-world exploitability. Not every CVE matters equally. CISA KEV tells you it's being exploited in the wild right now. FIRST EPSS gives a probability it will be. Together they let the gate block on what's actually dangerous — critical, KEV-listed, or high-EPSS — instead of drowning teams in theoretical findings.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more axes complete the v1.x gate. License: read SPDX expressions from PyPI metadata and conda recipe about-license via license-expression, and gate on allow/deny lists — an unreadable license is indeterminate, not clean. Currency: use endoflife.date plus version-lag to flag EOL and out-of-date dependencies, and the Python runtime itself against LTS / N / N-1. Only current things get patched.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 VI: the payoff. Everything reduces to one command with one trustworthy exit code. Wire it into CI and the same honest verdict runs fleet-wide.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Here's the same command as a CI check. It blocks the merge with exit 1 on a KEV-listed critical, and the check surfaces the exact finding and the report artifact. Green is earned — by locking, waiving with an expiring reason, or fixing — never faked.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close. A bare recipe.yaml scan exits non-zero by design until you lock, waive, or run warn-only. That's the lock-nudge working, not a bug. Warden's promise is simple: a green check means it was actually checked.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Appendix: who Warden serves at the executive level. The CISO gets exploitability-prioritized risk and audit evidence. The Chief Developer Experience Officer gets a gate that runs locally first and doesn't cry wolf. The CIO gets fleet-wide standardization and offline compliance. The Chief Data &amp; Analytics Officer gets coverage of the conda/ML footprint that stock tools miss.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239463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96" kern="0" dirty="0">
                <a:solidFill>
                  <a:srgbClr val="C22A1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DEPENDENCY-TRUST GATE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3931424" y="914400"/>
            <a:ext cx="353493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201E1D">
                    <a:alpha val="5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BMAD TECH SPEC · PYFORGE-WARDEN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43000" y="2581751"/>
            <a:ext cx="17602200" cy="3103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61" kern="0" dirty="0">
                <a:solidFill>
                  <a:srgbClr val="C22A1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WARDEN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143000" y="3101657"/>
            <a:ext cx="16482060" cy="2552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816"/>
              </a:lnSpc>
              <a:buNone/>
            </a:pPr>
            <a:r>
              <a:rPr lang="en-US" sz="11250" b="1" spc="-337" kern="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never false-green</a:t>
            </a:r>
            <a:endParaRPr lang="en-US" sz="11250" dirty="0"/>
          </a:p>
        </p:txBody>
      </p:sp>
      <p:sp>
        <p:nvSpPr>
          <p:cNvPr id="6" name="Text 4"/>
          <p:cNvSpPr/>
          <p:nvPr/>
        </p:nvSpPr>
        <p:spPr>
          <a:xfrm>
            <a:off x="1143000" y="5997257"/>
            <a:ext cx="11969115" cy="9124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898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 CI dependency-trust gate for </a:t>
            </a:r>
            <a:pPr algn="l" indent="0" marL="0">
              <a:lnSpc>
                <a:spcPct val="124898"/>
              </a:lnSpc>
              <a:buNone/>
            </a:pPr>
            <a:r>
              <a:rPr lang="en-US" sz="255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both Python ecosystems </a:t>
            </a:r>
            <a:pPr algn="l" indent="0" marL="0">
              <a:lnSpc>
                <a:spcPct val="124898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— PyPI applications and the conda / conda-forge world of scientific, analytics &amp; ML/AI computing.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1143000" y="8339137"/>
            <a:ext cx="16002000" cy="27781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8" name="Shape 6"/>
          <p:cNvSpPr/>
          <p:nvPr/>
        </p:nvSpPr>
        <p:spPr>
          <a:xfrm>
            <a:off x="5126831" y="8366919"/>
            <a:ext cx="16669" cy="1005681"/>
          </a:xfrm>
          <a:prstGeom prst="rect">
            <a:avLst/>
          </a:prstGeom>
          <a:solidFill>
            <a:srgbClr val="D3D0CF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8595519"/>
            <a:ext cx="4130754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63" kern="0" dirty="0">
                <a:solidFill>
                  <a:srgbClr val="201E1D">
                    <a:alpha val="5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BRAND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143000" y="8849519"/>
            <a:ext cx="4130754" cy="3103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Warden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127331" y="8366919"/>
            <a:ext cx="16669" cy="1005681"/>
          </a:xfrm>
          <a:prstGeom prst="rect">
            <a:avLst/>
          </a:prstGeom>
          <a:solidFill>
            <a:srgbClr val="D3D0CF"/>
          </a:solidFill>
          <a:ln/>
        </p:spPr>
      </p:sp>
      <p:sp>
        <p:nvSpPr>
          <p:cNvPr id="12" name="Text 10"/>
          <p:cNvSpPr/>
          <p:nvPr/>
        </p:nvSpPr>
        <p:spPr>
          <a:xfrm>
            <a:off x="5372100" y="8595519"/>
            <a:ext cx="3879294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63" kern="0" dirty="0">
                <a:solidFill>
                  <a:srgbClr val="201E1D">
                    <a:alpha val="5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DISTRIBUTION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372100" y="8849519"/>
            <a:ext cx="3879294" cy="3325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01E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pyforge-warden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3127831" y="8366919"/>
            <a:ext cx="16669" cy="1005681"/>
          </a:xfrm>
          <a:prstGeom prst="rect">
            <a:avLst/>
          </a:prstGeom>
          <a:solidFill>
            <a:srgbClr val="D3D0CF"/>
          </a:solidFill>
          <a:ln/>
        </p:spPr>
      </p:sp>
      <p:sp>
        <p:nvSpPr>
          <p:cNvPr id="15" name="Text 13"/>
          <p:cNvSpPr/>
          <p:nvPr/>
        </p:nvSpPr>
        <p:spPr>
          <a:xfrm>
            <a:off x="9372600" y="8595519"/>
            <a:ext cx="3879294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63" kern="0" dirty="0">
                <a:solidFill>
                  <a:srgbClr val="201E1D">
                    <a:alpha val="5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IMPORT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372600" y="8849519"/>
            <a:ext cx="3879294" cy="3325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01E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pyforge.warden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373100" y="8595519"/>
            <a:ext cx="4149090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63" kern="0" dirty="0">
                <a:solidFill>
                  <a:srgbClr val="201E1D">
                    <a:alpha val="5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CLI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3373100" y="8849519"/>
            <a:ext cx="4149090" cy="3325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01E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warden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C3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376366" y="-1333500"/>
            <a:ext cx="2783697" cy="6896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072"/>
              </a:lnSpc>
              <a:buNone/>
            </a:pPr>
            <a:r>
              <a:rPr lang="en-US" sz="40000" b="1" dirty="0">
                <a:solidFill>
                  <a:srgbClr val="F3F2F2">
                    <a:alpha val="13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</a:t>
            </a:r>
            <a:endParaRPr lang="en-US" sz="40000" dirty="0"/>
          </a:p>
        </p:txBody>
      </p:sp>
      <p:sp>
        <p:nvSpPr>
          <p:cNvPr id="3" name="Text 1"/>
          <p:cNvSpPr/>
          <p:nvPr/>
        </p:nvSpPr>
        <p:spPr>
          <a:xfrm>
            <a:off x="1143000" y="914400"/>
            <a:ext cx="17602200" cy="3103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64" kern="0" dirty="0">
                <a:solidFill>
                  <a:srgbClr val="F3F2F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I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43000" y="3396615"/>
            <a:ext cx="16482060" cy="21961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72"/>
              </a:lnSpc>
              <a:buNone/>
            </a:pPr>
            <a:r>
              <a:rPr lang="en-US" sz="8850" b="1" spc="-177" kern="0" dirty="0">
                <a:solidFill>
                  <a:srgbClr val="F3F2F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green check that lies</a:t>
            </a:r>
            <a:endParaRPr lang="en-US" sz="8850" dirty="0"/>
          </a:p>
        </p:txBody>
      </p:sp>
      <p:sp>
        <p:nvSpPr>
          <p:cNvPr id="5" name="Text 3"/>
          <p:cNvSpPr/>
          <p:nvPr/>
        </p:nvSpPr>
        <p:spPr>
          <a:xfrm>
            <a:off x="1143000" y="5897563"/>
            <a:ext cx="10988040" cy="9124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898"/>
              </a:lnSpc>
              <a:buNone/>
            </a:pPr>
            <a:r>
              <a:rPr lang="en-US" sz="2550" dirty="0">
                <a:solidFill>
                  <a:srgbClr val="F3F2F2">
                    <a:alpha val="94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An exit-code gate can pass while your dependencies are unassessed, unparsed, or unsafe. That's the failure Warden exists to end.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1143000" y="8982075"/>
            <a:ext cx="16002000" cy="16669"/>
          </a:xfrm>
          <a:prstGeom prst="rect">
            <a:avLst/>
          </a:prstGeom>
          <a:solidFill>
            <a:srgbClr val="F3F2F2">
              <a:alpha val="4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9189244"/>
            <a:ext cx="633413" cy="221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56" kern="0" dirty="0">
                <a:solidFill>
                  <a:srgbClr val="F3F2F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WARDEN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8168799" y="9189244"/>
            <a:ext cx="1736646" cy="221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56" kern="0" dirty="0">
                <a:solidFill>
                  <a:srgbClr val="F3F2F2">
                    <a:alpha val="8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never false-green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16216313" y="9189244"/>
            <a:ext cx="1004887" cy="221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56" kern="0" dirty="0">
                <a:solidFill>
                  <a:srgbClr val="F3F2F2">
                    <a:alpha val="8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I · 02</a:t>
            </a:r>
            <a:endParaRPr lang="en-US" sz="11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487487"/>
            <a:ext cx="16002000" cy="27781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971550"/>
            <a:ext cx="433388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EC301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01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1728788" y="838200"/>
            <a:ext cx="4972272" cy="515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spc="-69" kern="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Exit 0 is not a promise</a:t>
            </a:r>
            <a:endParaRPr lang="en-US" sz="3450" dirty="0"/>
          </a:p>
        </p:txBody>
      </p:sp>
      <p:sp>
        <p:nvSpPr>
          <p:cNvPr id="5" name="Text 3"/>
          <p:cNvSpPr/>
          <p:nvPr/>
        </p:nvSpPr>
        <p:spPr>
          <a:xfrm>
            <a:off x="1143000" y="3634105"/>
            <a:ext cx="7927086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163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 gate reduces to one number. </a:t>
            </a:r>
            <a:pPr algn="l" indent="0" marL="0">
              <a:lnSpc>
                <a:spcPct val="133163"/>
              </a:lnSpc>
              <a:buNone/>
            </a:pPr>
            <a:r>
              <a:rPr lang="en-US" sz="225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 merges, non-zero blocks. </a:t>
            </a:r>
            <a:pPr algn="l" indent="0" marL="0">
              <a:lnSpc>
                <a:spcPct val="133163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But exit 0 quietly conflates two very different states —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1143000" y="4843780"/>
            <a:ext cx="7696200" cy="1066800"/>
          </a:xfrm>
          <a:prstGeom prst="rect">
            <a:avLst/>
          </a:prstGeom>
          <a:ln w="16669">
            <a:solidFill>
              <a:srgbClr val="201E1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26369" y="5089049"/>
            <a:ext cx="7842409" cy="3103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A7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exit 0 — assessed &amp; clean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426369" y="5437505"/>
            <a:ext cx="7842409" cy="2659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01E1D">
                    <a:alpha val="70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tool looked hard and found nothing.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1143000" y="6101080"/>
            <a:ext cx="7696200" cy="1066800"/>
          </a:xfrm>
          <a:prstGeom prst="rect">
            <a:avLst/>
          </a:prstGeom>
          <a:solidFill>
            <a:srgbClr val="FCE4DE"/>
          </a:solidFill>
          <a:ln w="16669">
            <a:solidFill>
              <a:srgbClr val="EC301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26369" y="6346349"/>
            <a:ext cx="7842409" cy="3103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C22A1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exit 0 — never looked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426369" y="6694805"/>
            <a:ext cx="7842409" cy="2659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01E1D">
                    <a:alpha val="70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tool found nothing because it couldn't check.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448800" y="4124166"/>
            <a:ext cx="8465820" cy="1323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2653"/>
              </a:lnSpc>
              <a:buNone/>
            </a:pPr>
            <a:r>
              <a:rPr lang="en-US" sz="11250" b="1" dirty="0">
                <a:solidFill>
                  <a:srgbClr val="EC301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</a:t>
            </a:r>
            <a:endParaRPr lang="en-US" sz="11250" dirty="0"/>
          </a:p>
        </p:txBody>
      </p:sp>
      <p:sp>
        <p:nvSpPr>
          <p:cNvPr id="13" name="Text 11"/>
          <p:cNvSpPr/>
          <p:nvPr/>
        </p:nvSpPr>
        <p:spPr>
          <a:xfrm>
            <a:off x="9448800" y="5600541"/>
            <a:ext cx="5101590" cy="11153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895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Traditional gates can't tell these apart. Warden refuses to collapse them — an unproven result is </a:t>
            </a:r>
            <a:pPr algn="l" indent="0" marL="0">
              <a:lnSpc>
                <a:spcPct val="131895"/>
              </a:lnSpc>
              <a:buNone/>
            </a:pPr>
            <a:r>
              <a:rPr lang="en-US" sz="195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never </a:t>
            </a:r>
            <a:pPr algn="l" indent="0" marL="0">
              <a:lnSpc>
                <a:spcPct val="131895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reported as clean.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1143000" y="9286875"/>
            <a:ext cx="16002000" cy="16669"/>
          </a:xfrm>
          <a:prstGeom prst="rect">
            <a:avLst/>
          </a:prstGeom>
          <a:solidFill>
            <a:srgbClr val="D3D0CF"/>
          </a:solidFill>
          <a:ln/>
        </p:spPr>
      </p:sp>
      <p:sp>
        <p:nvSpPr>
          <p:cNvPr id="15" name="Text 13"/>
          <p:cNvSpPr/>
          <p:nvPr/>
        </p:nvSpPr>
        <p:spPr>
          <a:xfrm>
            <a:off x="1143000" y="9455944"/>
            <a:ext cx="624840" cy="221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45" kern="0" dirty="0">
                <a:solidFill>
                  <a:srgbClr val="201E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WARDEN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8183880" y="9455944"/>
            <a:ext cx="1709928" cy="221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45" kern="0" dirty="0">
                <a:solidFill>
                  <a:srgbClr val="201E1D">
                    <a:alpha val="5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never false-green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16230600" y="9455944"/>
            <a:ext cx="990600" cy="221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45" kern="0" dirty="0">
                <a:solidFill>
                  <a:srgbClr val="201E1D">
                    <a:alpha val="5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I · 03</a:t>
            </a:r>
            <a:endParaRPr lang="en-US" sz="11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487487"/>
            <a:ext cx="16002000" cy="27781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971550"/>
            <a:ext cx="433388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EC301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02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1728788" y="838200"/>
            <a:ext cx="8632762" cy="515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spc="-69" kern="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False-green #1 — the empty database</a:t>
            </a:r>
            <a:endParaRPr lang="en-US" sz="3450" dirty="0"/>
          </a:p>
        </p:txBody>
      </p:sp>
      <p:sp>
        <p:nvSpPr>
          <p:cNvPr id="5" name="Text 3"/>
          <p:cNvSpPr/>
          <p:nvPr/>
        </p:nvSpPr>
        <p:spPr>
          <a:xfrm>
            <a:off x="1143000" y="3588702"/>
            <a:ext cx="14716125" cy="922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571"/>
              </a:lnSpc>
              <a:buNone/>
            </a:pPr>
            <a:r>
              <a:rPr lang="en-US" sz="240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 vulnerability scanner is only as honest as its database. If the OSV feed is </a:t>
            </a:r>
            <a:pPr algn="l" indent="0" marL="0">
              <a:lnSpc>
                <a:spcPct val="132571"/>
              </a:lnSpc>
              <a:buNone/>
            </a:pPr>
            <a:r>
              <a:rPr lang="en-US" sz="240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missing, empty, corrupt, or stale </a:t>
            </a:r>
            <a:pPr algn="l" indent="0" marL="0">
              <a:lnSpc>
                <a:spcPct val="132571"/>
              </a:lnSpc>
              <a:buNone/>
            </a:pPr>
            <a:r>
              <a:rPr lang="en-US" sz="240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, a naïve scanner queries it, gets zero hits, and reports </a:t>
            </a:r>
            <a:pPr algn="l" indent="0" marL="0">
              <a:lnSpc>
                <a:spcPct val="132571"/>
              </a:lnSpc>
              <a:buNone/>
            </a:pPr>
            <a:r>
              <a:rPr lang="en-US" sz="2400" b="1" dirty="0">
                <a:solidFill>
                  <a:srgbClr val="1A7A3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clean</a:t>
            </a:r>
            <a:pPr algn="l" indent="0" marL="0">
              <a:lnSpc>
                <a:spcPct val="132571"/>
              </a:lnSpc>
              <a:buNone/>
            </a:pPr>
            <a:r>
              <a:rPr lang="en-US" sz="240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143000" y="4891722"/>
            <a:ext cx="4891405" cy="1184275"/>
          </a:xfrm>
          <a:prstGeom prst="rect">
            <a:avLst/>
          </a:prstGeom>
          <a:ln w="16669">
            <a:solidFill>
              <a:srgbClr val="201E1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45419" y="5175091"/>
            <a:ext cx="471522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72" kern="0" dirty="0">
                <a:solidFill>
                  <a:srgbClr val="201E1D">
                    <a:alpha val="5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INPUT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445419" y="5470366"/>
            <a:ext cx="4715224" cy="360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01E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db.records = 0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6263005" y="4891722"/>
            <a:ext cx="282734" cy="1222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EC301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6698139" y="4891722"/>
            <a:ext cx="4891564" cy="1184275"/>
          </a:xfrm>
          <a:prstGeom prst="rect">
            <a:avLst/>
          </a:prstGeom>
          <a:ln w="16669">
            <a:solidFill>
              <a:srgbClr val="201E1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00558" y="5175091"/>
            <a:ext cx="471539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72" kern="0" dirty="0">
                <a:solidFill>
                  <a:srgbClr val="201E1D">
                    <a:alpha val="5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NAÏVE SCANNER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000558" y="5470366"/>
            <a:ext cx="4715399" cy="360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A7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verdict: clean ✓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1818302" y="4891722"/>
            <a:ext cx="282734" cy="1222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EC301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</a:t>
            </a:r>
            <a:endParaRPr lang="en-US" sz="2700" dirty="0"/>
          </a:p>
        </p:txBody>
      </p:sp>
      <p:sp>
        <p:nvSpPr>
          <p:cNvPr id="14" name="Shape 12"/>
          <p:cNvSpPr/>
          <p:nvPr/>
        </p:nvSpPr>
        <p:spPr>
          <a:xfrm>
            <a:off x="12253436" y="4891722"/>
            <a:ext cx="4891564" cy="1184275"/>
          </a:xfrm>
          <a:prstGeom prst="rect">
            <a:avLst/>
          </a:prstGeom>
          <a:solidFill>
            <a:srgbClr val="EC3013"/>
          </a:solidFill>
          <a:ln w="16669">
            <a:solidFill>
              <a:srgbClr val="EC301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555855" y="5175091"/>
            <a:ext cx="471539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72" kern="0" dirty="0">
                <a:solidFill>
                  <a:srgbClr val="F3F2F2">
                    <a:alpha val="8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WARDEN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555855" y="5470366"/>
            <a:ext cx="4715399" cy="360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3F2F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verdict: indeterminate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143000" y="6495098"/>
            <a:ext cx="14716125" cy="7562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895"/>
              </a:lnSpc>
              <a:buNone/>
            </a:pPr>
            <a:r>
              <a:rPr lang="en-US" sz="1950" dirty="0">
                <a:solidFill>
                  <a:srgbClr val="201E1D">
                    <a:alpha val="72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Warden </a:t>
            </a:r>
            <a:pPr algn="l" indent="0" marL="0">
              <a:lnSpc>
                <a:spcPct val="131895"/>
              </a:lnSpc>
              <a:buNone/>
            </a:pPr>
            <a:r>
              <a:rPr lang="en-US" sz="1950" b="1" dirty="0">
                <a:solidFill>
                  <a:srgbClr val="201E1D">
                    <a:alpha val="72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content-pre-flights the database </a:t>
            </a:r>
            <a:pPr algn="l" indent="0" marL="0">
              <a:lnSpc>
                <a:spcPct val="131895"/>
              </a:lnSpc>
              <a:buNone/>
            </a:pPr>
            <a:r>
              <a:rPr lang="en-US" sz="1950" dirty="0">
                <a:solidFill>
                  <a:srgbClr val="201E1D">
                    <a:alpha val="72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— record count, freshness, and integrity — before it trusts a single result. No proof of assessment, no green.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1143000" y="9286875"/>
            <a:ext cx="16002000" cy="16669"/>
          </a:xfrm>
          <a:prstGeom prst="rect">
            <a:avLst/>
          </a:prstGeom>
          <a:solidFill>
            <a:srgbClr val="D3D0CF"/>
          </a:solidFill>
          <a:ln/>
        </p:spPr>
      </p:sp>
      <p:sp>
        <p:nvSpPr>
          <p:cNvPr id="19" name="Text 17"/>
          <p:cNvSpPr/>
          <p:nvPr/>
        </p:nvSpPr>
        <p:spPr>
          <a:xfrm>
            <a:off x="1143000" y="9455944"/>
            <a:ext cx="624840" cy="221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45" kern="0" dirty="0">
                <a:solidFill>
                  <a:srgbClr val="201E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WARDEN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8183880" y="9455944"/>
            <a:ext cx="1709928" cy="221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45" kern="0" dirty="0">
                <a:solidFill>
                  <a:srgbClr val="201E1D">
                    <a:alpha val="5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never false-green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16230600" y="9455944"/>
            <a:ext cx="990600" cy="221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45" kern="0" dirty="0">
                <a:solidFill>
                  <a:srgbClr val="201E1D">
                    <a:alpha val="5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I · 04</a:t>
            </a:r>
            <a:endParaRPr lang="en-US" sz="11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487487"/>
            <a:ext cx="16002000" cy="27781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971550"/>
            <a:ext cx="433388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EC301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03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1728788" y="838200"/>
            <a:ext cx="11109992" cy="515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spc="-69" kern="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False-green #2 — the unassessable dependency</a:t>
            </a:r>
            <a:endParaRPr lang="en-US" sz="3450" dirty="0"/>
          </a:p>
        </p:txBody>
      </p:sp>
      <p:sp>
        <p:nvSpPr>
          <p:cNvPr id="5" name="Text 3"/>
          <p:cNvSpPr/>
          <p:nvPr/>
        </p:nvSpPr>
        <p:spPr>
          <a:xfrm>
            <a:off x="1143000" y="4101941"/>
            <a:ext cx="8304636" cy="12811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163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stock engines don't parse conda &amp; pixi manifests. A naïve pipeline </a:t>
            </a:r>
            <a:pPr algn="l" indent="0" marL="0">
              <a:lnSpc>
                <a:spcPct val="133163"/>
              </a:lnSpc>
              <a:buNone/>
            </a:pPr>
            <a:r>
              <a:rPr lang="en-US" sz="225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silently skips what it can't read </a:t>
            </a:r>
            <a:pPr algn="l" indent="0" marL="0">
              <a:lnSpc>
                <a:spcPct val="133163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— and silence scores as clean.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143000" y="5611654"/>
            <a:ext cx="8304636" cy="1126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895"/>
              </a:lnSpc>
              <a:buNone/>
            </a:pPr>
            <a:r>
              <a:rPr lang="en-US" sz="1950" dirty="0">
                <a:solidFill>
                  <a:srgbClr val="201E1D">
                    <a:alpha val="72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 conda-heavy ML repo passes while most of its dependency graph was </a:t>
            </a:r>
            <a:pPr algn="l" indent="0" marL="0">
              <a:lnSpc>
                <a:spcPct val="131895"/>
              </a:lnSpc>
              <a:buNone/>
            </a:pPr>
            <a:r>
              <a:rPr lang="en-US" sz="1950" b="1" dirty="0">
                <a:solidFill>
                  <a:srgbClr val="201E1D">
                    <a:alpha val="72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never seen </a:t>
            </a:r>
            <a:pPr algn="l" indent="0" marL="0">
              <a:lnSpc>
                <a:spcPct val="131895"/>
              </a:lnSpc>
              <a:buNone/>
            </a:pPr>
            <a:r>
              <a:rPr lang="en-US" sz="1950" dirty="0">
                <a:solidFill>
                  <a:srgbClr val="201E1D">
                    <a:alpha val="72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. Warden's manifest engine reads all six formats — and marks anything it genuinely can't resolve </a:t>
            </a:r>
            <a:pPr algn="l" indent="0" marL="0">
              <a:lnSpc>
                <a:spcPct val="131895"/>
              </a:lnSpc>
              <a:buNone/>
            </a:pPr>
            <a:r>
              <a:rPr lang="en-US" sz="1950" dirty="0">
                <a:solidFill>
                  <a:srgbClr val="C22A1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indeterminate</a:t>
            </a:r>
            <a:pPr algn="l" indent="0" marL="0">
              <a:lnSpc>
                <a:spcPct val="131895"/>
              </a:lnSpc>
              <a:buNone/>
            </a:pPr>
            <a:r>
              <a:rPr lang="en-US" sz="1950" dirty="0">
                <a:solidFill>
                  <a:srgbClr val="201E1D">
                    <a:alpha val="72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, not clean.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9815354" y="3662362"/>
            <a:ext cx="7329646" cy="3477419"/>
          </a:xfrm>
          <a:prstGeom prst="rect">
            <a:avLst/>
          </a:prstGeom>
          <a:ln w="16669">
            <a:solidFill>
              <a:srgbClr val="201E1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832023" y="4354513"/>
            <a:ext cx="7296309" cy="16669"/>
          </a:xfrm>
          <a:prstGeom prst="rect">
            <a:avLst/>
          </a:prstGeom>
          <a:solidFill>
            <a:srgbClr val="D3D0CF"/>
          </a:solidFill>
          <a:ln/>
        </p:spPr>
      </p:sp>
      <p:sp>
        <p:nvSpPr>
          <p:cNvPr id="9" name="Text 7"/>
          <p:cNvSpPr/>
          <p:nvPr/>
        </p:nvSpPr>
        <p:spPr>
          <a:xfrm>
            <a:off x="10079673" y="3869531"/>
            <a:ext cx="2112264" cy="3325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01E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pyproject.toml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6332041" y="3869531"/>
            <a:ext cx="624840" cy="3325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7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seen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832023" y="5046663"/>
            <a:ext cx="7296309" cy="16669"/>
          </a:xfrm>
          <a:prstGeom prst="rect">
            <a:avLst/>
          </a:prstGeom>
          <a:solidFill>
            <a:srgbClr val="D3D0CF"/>
          </a:solidFill>
          <a:ln/>
        </p:spPr>
      </p:sp>
      <p:sp>
        <p:nvSpPr>
          <p:cNvPr id="12" name="Text 10"/>
          <p:cNvSpPr/>
          <p:nvPr/>
        </p:nvSpPr>
        <p:spPr>
          <a:xfrm>
            <a:off x="10079673" y="4561681"/>
            <a:ext cx="2414016" cy="3325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01E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requirements.txt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332041" y="4561681"/>
            <a:ext cx="624840" cy="3325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7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seen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832023" y="5063331"/>
            <a:ext cx="7296309" cy="692150"/>
          </a:xfrm>
          <a:prstGeom prst="rect">
            <a:avLst/>
          </a:prstGeom>
          <a:solidFill>
            <a:srgbClr val="FCE4DE"/>
          </a:solidFill>
          <a:ln/>
        </p:spPr>
      </p:sp>
      <p:sp>
        <p:nvSpPr>
          <p:cNvPr id="15" name="Shape 13"/>
          <p:cNvSpPr/>
          <p:nvPr/>
        </p:nvSpPr>
        <p:spPr>
          <a:xfrm>
            <a:off x="9832023" y="5738812"/>
            <a:ext cx="7296309" cy="16669"/>
          </a:xfrm>
          <a:prstGeom prst="rect">
            <a:avLst/>
          </a:prstGeom>
          <a:solidFill>
            <a:srgbClr val="D3D0CF"/>
          </a:solidFill>
          <a:ln/>
        </p:spPr>
      </p:sp>
      <p:sp>
        <p:nvSpPr>
          <p:cNvPr id="16" name="Text 14"/>
          <p:cNvSpPr/>
          <p:nvPr/>
        </p:nvSpPr>
        <p:spPr>
          <a:xfrm>
            <a:off x="10079673" y="5253831"/>
            <a:ext cx="2263140" cy="3325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01E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environment.yml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920561" y="5253831"/>
            <a:ext cx="1036320" cy="3325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22A1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skipped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832023" y="5755481"/>
            <a:ext cx="7296309" cy="692150"/>
          </a:xfrm>
          <a:prstGeom prst="rect">
            <a:avLst/>
          </a:prstGeom>
          <a:solidFill>
            <a:srgbClr val="FCE4DE"/>
          </a:solidFill>
          <a:ln/>
        </p:spPr>
      </p:sp>
      <p:sp>
        <p:nvSpPr>
          <p:cNvPr id="19" name="Shape 17"/>
          <p:cNvSpPr/>
          <p:nvPr/>
        </p:nvSpPr>
        <p:spPr>
          <a:xfrm>
            <a:off x="9832023" y="6430963"/>
            <a:ext cx="7296309" cy="16669"/>
          </a:xfrm>
          <a:prstGeom prst="rect">
            <a:avLst/>
          </a:prstGeom>
          <a:solidFill>
            <a:srgbClr val="D3D0CF"/>
          </a:solidFill>
          <a:ln/>
        </p:spPr>
      </p:sp>
      <p:sp>
        <p:nvSpPr>
          <p:cNvPr id="20" name="Text 18"/>
          <p:cNvSpPr/>
          <p:nvPr/>
        </p:nvSpPr>
        <p:spPr>
          <a:xfrm>
            <a:off x="10079673" y="5945981"/>
            <a:ext cx="1357884" cy="3325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01E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meta.yaml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5920561" y="5945981"/>
            <a:ext cx="1036320" cy="3325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22A1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skipped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832023" y="6447631"/>
            <a:ext cx="7296309" cy="675481"/>
          </a:xfrm>
          <a:prstGeom prst="rect">
            <a:avLst/>
          </a:prstGeom>
          <a:solidFill>
            <a:srgbClr val="FCE4DE"/>
          </a:solidFill>
          <a:ln/>
        </p:spPr>
      </p:sp>
      <p:sp>
        <p:nvSpPr>
          <p:cNvPr id="23" name="Text 21"/>
          <p:cNvSpPr/>
          <p:nvPr/>
        </p:nvSpPr>
        <p:spPr>
          <a:xfrm>
            <a:off x="10079673" y="6638131"/>
            <a:ext cx="1357884" cy="3325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01E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pixi.toml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5920561" y="6638131"/>
            <a:ext cx="1036320" cy="3325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22A1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skipped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143000" y="9286875"/>
            <a:ext cx="16002000" cy="16669"/>
          </a:xfrm>
          <a:prstGeom prst="rect">
            <a:avLst/>
          </a:prstGeom>
          <a:solidFill>
            <a:srgbClr val="D3D0CF"/>
          </a:solidFill>
          <a:ln/>
        </p:spPr>
      </p:sp>
      <p:sp>
        <p:nvSpPr>
          <p:cNvPr id="26" name="Text 24"/>
          <p:cNvSpPr/>
          <p:nvPr/>
        </p:nvSpPr>
        <p:spPr>
          <a:xfrm>
            <a:off x="1143000" y="9455944"/>
            <a:ext cx="624840" cy="221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45" kern="0" dirty="0">
                <a:solidFill>
                  <a:srgbClr val="201E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WARDEN</a:t>
            </a:r>
            <a:endParaRPr lang="en-US" sz="1125" dirty="0"/>
          </a:p>
        </p:txBody>
      </p:sp>
      <p:sp>
        <p:nvSpPr>
          <p:cNvPr id="27" name="Text 25"/>
          <p:cNvSpPr/>
          <p:nvPr/>
        </p:nvSpPr>
        <p:spPr>
          <a:xfrm>
            <a:off x="8183880" y="9455944"/>
            <a:ext cx="1709928" cy="221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45" kern="0" dirty="0">
                <a:solidFill>
                  <a:srgbClr val="201E1D">
                    <a:alpha val="5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never false-green</a:t>
            </a:r>
            <a:endParaRPr lang="en-US" sz="1125" dirty="0"/>
          </a:p>
        </p:txBody>
      </p:sp>
      <p:sp>
        <p:nvSpPr>
          <p:cNvPr id="28" name="Text 26"/>
          <p:cNvSpPr/>
          <p:nvPr/>
        </p:nvSpPr>
        <p:spPr>
          <a:xfrm>
            <a:off x="16230600" y="9455944"/>
            <a:ext cx="990600" cy="221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45" kern="0" dirty="0">
                <a:solidFill>
                  <a:srgbClr val="201E1D">
                    <a:alpha val="5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I · 05</a:t>
            </a:r>
            <a:endParaRPr lang="en-US" sz="11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487487"/>
            <a:ext cx="16002000" cy="27781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971550"/>
            <a:ext cx="433705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EC301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04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1729105" y="838200"/>
            <a:ext cx="7382446" cy="515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spc="-69" kern="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Two ecosystems, one blind spot</a:t>
            </a:r>
            <a:endParaRPr lang="en-US" sz="3450" dirty="0"/>
          </a:p>
        </p:txBody>
      </p:sp>
      <p:sp>
        <p:nvSpPr>
          <p:cNvPr id="5" name="Shape 3"/>
          <p:cNvSpPr/>
          <p:nvPr/>
        </p:nvSpPr>
        <p:spPr>
          <a:xfrm>
            <a:off x="1143000" y="1591469"/>
            <a:ext cx="7810500" cy="7619206"/>
          </a:xfrm>
          <a:prstGeom prst="rect">
            <a:avLst/>
          </a:prstGeom>
          <a:ln w="16669">
            <a:solidFill>
              <a:srgbClr val="201E1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78769" y="1989137"/>
            <a:ext cx="7632859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108" kern="0" dirty="0">
                <a:solidFill>
                  <a:srgbClr val="C22A1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ECOSYSTEM 1 · PYPI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578769" y="2344738"/>
            <a:ext cx="7632859" cy="4548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spc="-30" kern="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Application Python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578769" y="2875756"/>
            <a:ext cx="7632859" cy="2770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201E1D">
                    <a:alpha val="60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~850K packages · open upload · any license</a:t>
            </a:r>
            <a:endParaRPr lang="en-US" sz="1725" dirty="0"/>
          </a:p>
        </p:txBody>
      </p:sp>
      <p:sp>
        <p:nvSpPr>
          <p:cNvPr id="9" name="Text 7"/>
          <p:cNvSpPr/>
          <p:nvPr/>
        </p:nvSpPr>
        <p:spPr>
          <a:xfrm>
            <a:off x="1578769" y="7626350"/>
            <a:ext cx="7632859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939"/>
              </a:lnSpc>
              <a:buNone/>
            </a:pPr>
            <a:r>
              <a:rPr lang="en-US" sz="7200" b="1" dirty="0">
                <a:solidFill>
                  <a:srgbClr val="EC301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20%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1578769" y="8540750"/>
            <a:ext cx="7632859" cy="3103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01E1D">
                    <a:alpha val="72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of footprint — ~400 shipped apps ≈ 2–3K libraries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334500" y="1591469"/>
            <a:ext cx="7810500" cy="7619206"/>
          </a:xfrm>
          <a:prstGeom prst="rect">
            <a:avLst/>
          </a:prstGeom>
          <a:solidFill>
            <a:srgbClr val="FCE4DE"/>
          </a:solidFill>
          <a:ln w="16669">
            <a:solidFill>
              <a:srgbClr val="EC301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70269" y="1989137"/>
            <a:ext cx="7632859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108" kern="0" dirty="0">
                <a:solidFill>
                  <a:srgbClr val="C22A1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ECOSYSTEM 2 · CONDA-FORGE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9770269" y="2344738"/>
            <a:ext cx="7632859" cy="4548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spc="-30" kern="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Scientific &amp; Data Python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9770269" y="2875756"/>
            <a:ext cx="7632859" cy="2770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201E1D">
                    <a:alpha val="60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~30K feedstocks · curated · FOSS-only</a:t>
            </a:r>
            <a:endParaRPr lang="en-US" sz="1725" dirty="0"/>
          </a:p>
        </p:txBody>
      </p:sp>
      <p:sp>
        <p:nvSpPr>
          <p:cNvPr id="15" name="Text 13"/>
          <p:cNvSpPr/>
          <p:nvPr/>
        </p:nvSpPr>
        <p:spPr>
          <a:xfrm>
            <a:off x="9770269" y="7626350"/>
            <a:ext cx="7632859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939"/>
              </a:lnSpc>
              <a:buNone/>
            </a:pPr>
            <a:r>
              <a:rPr lang="en-US" sz="7200" b="1" dirty="0">
                <a:solidFill>
                  <a:srgbClr val="EC301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80%</a:t>
            </a:r>
            <a:endParaRPr lang="en-US" sz="7200" dirty="0"/>
          </a:p>
        </p:txBody>
      </p:sp>
      <p:sp>
        <p:nvSpPr>
          <p:cNvPr id="16" name="Text 14"/>
          <p:cNvSpPr/>
          <p:nvPr/>
        </p:nvSpPr>
        <p:spPr>
          <a:xfrm>
            <a:off x="9770269" y="8540750"/>
            <a:ext cx="7632859" cy="3103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01E1D">
                    <a:alpha val="72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of footprint — ~1% of apps ≈ 7–8K libraries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143000" y="9286875"/>
            <a:ext cx="16002000" cy="16669"/>
          </a:xfrm>
          <a:prstGeom prst="rect">
            <a:avLst/>
          </a:prstGeom>
          <a:solidFill>
            <a:srgbClr val="D3D0CF"/>
          </a:solidFill>
          <a:ln/>
        </p:spPr>
      </p:sp>
      <p:sp>
        <p:nvSpPr>
          <p:cNvPr id="18" name="Text 16"/>
          <p:cNvSpPr/>
          <p:nvPr/>
        </p:nvSpPr>
        <p:spPr>
          <a:xfrm>
            <a:off x="1143000" y="9455944"/>
            <a:ext cx="624840" cy="221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45" kern="0" dirty="0">
                <a:solidFill>
                  <a:srgbClr val="201E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WARDEN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8183880" y="9455944"/>
            <a:ext cx="1709928" cy="221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45" kern="0" dirty="0">
                <a:solidFill>
                  <a:srgbClr val="201E1D">
                    <a:alpha val="5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never false-green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16230600" y="9455944"/>
            <a:ext cx="990600" cy="221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45" kern="0" dirty="0">
                <a:solidFill>
                  <a:srgbClr val="201E1D">
                    <a:alpha val="5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I · 06</a:t>
            </a:r>
            <a:endParaRPr lang="en-US" sz="11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C3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45732" y="-1333500"/>
            <a:ext cx="5567395" cy="6896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072"/>
              </a:lnSpc>
              <a:buNone/>
            </a:pPr>
            <a:r>
              <a:rPr lang="en-US" sz="40000" b="1" dirty="0">
                <a:solidFill>
                  <a:srgbClr val="F3F2F2">
                    <a:alpha val="13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II</a:t>
            </a:r>
            <a:endParaRPr lang="en-US" sz="40000" dirty="0"/>
          </a:p>
        </p:txBody>
      </p:sp>
      <p:sp>
        <p:nvSpPr>
          <p:cNvPr id="3" name="Text 1"/>
          <p:cNvSpPr/>
          <p:nvPr/>
        </p:nvSpPr>
        <p:spPr>
          <a:xfrm>
            <a:off x="1143000" y="914400"/>
            <a:ext cx="17602200" cy="3103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64" kern="0" dirty="0">
                <a:solidFill>
                  <a:srgbClr val="F3F2F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II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43000" y="3396615"/>
            <a:ext cx="16482060" cy="21961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72"/>
              </a:lnSpc>
              <a:buNone/>
            </a:pPr>
            <a:r>
              <a:rPr lang="en-US" sz="8850" b="1" spc="-177" kern="0" dirty="0">
                <a:solidFill>
                  <a:srgbClr val="F3F2F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frozen contract</a:t>
            </a:r>
            <a:endParaRPr lang="en-US" sz="8850" dirty="0"/>
          </a:p>
        </p:txBody>
      </p:sp>
      <p:sp>
        <p:nvSpPr>
          <p:cNvPr id="5" name="Text 3"/>
          <p:cNvSpPr/>
          <p:nvPr/>
        </p:nvSpPr>
        <p:spPr>
          <a:xfrm>
            <a:off x="1143000" y="5897563"/>
            <a:ext cx="10988040" cy="9124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898"/>
              </a:lnSpc>
              <a:buNone/>
            </a:pPr>
            <a:r>
              <a:rPr lang="en-US" sz="2550" dirty="0">
                <a:solidFill>
                  <a:srgbClr val="F3F2F2">
                    <a:alpha val="94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One report schema. One verdict lattice. One exit enum. Honesty encoded as a data structure.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1143000" y="8982075"/>
            <a:ext cx="16002000" cy="16669"/>
          </a:xfrm>
          <a:prstGeom prst="rect">
            <a:avLst/>
          </a:prstGeom>
          <a:solidFill>
            <a:srgbClr val="F3F2F2">
              <a:alpha val="4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9189244"/>
            <a:ext cx="633413" cy="221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56" kern="0" dirty="0">
                <a:solidFill>
                  <a:srgbClr val="F3F2F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WARDEN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8122444" y="9189244"/>
            <a:ext cx="1736646" cy="221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56" kern="0" dirty="0">
                <a:solidFill>
                  <a:srgbClr val="F3F2F2">
                    <a:alpha val="8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never false-green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16123444" y="9189244"/>
            <a:ext cx="1097756" cy="221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56" kern="0" dirty="0">
                <a:solidFill>
                  <a:srgbClr val="F3F2F2">
                    <a:alpha val="8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II · 07</a:t>
            </a:r>
            <a:endParaRPr lang="en-US" sz="11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487487"/>
            <a:ext cx="16002000" cy="27781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971550"/>
            <a:ext cx="433388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EC301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05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1728788" y="838200"/>
            <a:ext cx="5521293" cy="515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spc="-69" kern="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One report, one schema</a:t>
            </a:r>
            <a:endParaRPr lang="en-US" sz="3450" dirty="0"/>
          </a:p>
        </p:txBody>
      </p:sp>
      <p:sp>
        <p:nvSpPr>
          <p:cNvPr id="5" name="Text 3"/>
          <p:cNvSpPr/>
          <p:nvPr/>
        </p:nvSpPr>
        <p:spPr>
          <a:xfrm>
            <a:off x="1143000" y="4003199"/>
            <a:ext cx="7410550" cy="12811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163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Every engine and axis merges into one </a:t>
            </a:r>
            <a:pPr algn="l" indent="0" marL="0">
              <a:lnSpc>
                <a:spcPct val="133163"/>
              </a:lnSpc>
              <a:buNone/>
            </a:pPr>
            <a:r>
              <a:rPr lang="en-US" sz="225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ComplianceReport </a:t>
            </a:r>
            <a:pPr algn="l" indent="0" marL="0">
              <a:lnSpc>
                <a:spcPct val="133163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, schema-validated against a committed contract.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143000" y="5589111"/>
            <a:ext cx="275749" cy="327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EC301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→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1494949" y="5605780"/>
            <a:ext cx="5943536" cy="2992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Producer-agnostic — the source of truth, not the log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1143000" y="6049487"/>
            <a:ext cx="275749" cy="327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EC301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→</a:t>
            </a:r>
            <a:endParaRPr lang="en-US" sz="1875" dirty="0"/>
          </a:p>
        </p:txBody>
      </p:sp>
      <p:sp>
        <p:nvSpPr>
          <p:cNvPr id="9" name="Text 7"/>
          <p:cNvSpPr/>
          <p:nvPr/>
        </p:nvSpPr>
        <p:spPr>
          <a:xfrm>
            <a:off x="1494949" y="6066155"/>
            <a:ext cx="4799743" cy="2992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Carries </a:t>
            </a:r>
            <a:pPr algn="l" indent="0" marL="0">
              <a:buNone/>
            </a:pPr>
            <a:r>
              <a:rPr lang="en-US" sz="1875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coverage </a:t>
            </a:r>
            <a:pPr algn="l" indent="0" marL="0">
              <a:buNone/>
            </a:pPr>
            <a:r>
              <a:rPr lang="en-US" sz="1875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&amp; </a:t>
            </a:r>
            <a:pPr algn="l" indent="0" marL="0">
              <a:buNone/>
            </a:pPr>
            <a:r>
              <a:rPr lang="en-US" sz="1875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provenance </a:t>
            </a:r>
            <a:pPr algn="l" indent="0" marL="0">
              <a:buNone/>
            </a:pPr>
            <a:r>
              <a:rPr lang="en-US" sz="1875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per axis</a:t>
            </a:r>
            <a:endParaRPr lang="en-US" sz="1875" dirty="0"/>
          </a:p>
        </p:txBody>
      </p:sp>
      <p:sp>
        <p:nvSpPr>
          <p:cNvPr id="10" name="Text 8"/>
          <p:cNvSpPr/>
          <p:nvPr/>
        </p:nvSpPr>
        <p:spPr>
          <a:xfrm>
            <a:off x="1143000" y="6509861"/>
            <a:ext cx="275749" cy="327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EC301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→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1494949" y="6526530"/>
            <a:ext cx="5882069" cy="2992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Versioned schema — the contract can't silently drift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8871109" y="3040539"/>
            <a:ext cx="8273891" cy="4720908"/>
          </a:xfrm>
          <a:prstGeom prst="rect">
            <a:avLst/>
          </a:prstGeom>
          <a:solidFill>
            <a:srgbClr val="1A1918"/>
          </a:solidFill>
          <a:ln w="16669">
            <a:solidFill>
              <a:srgbClr val="201E1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887777" y="3613468"/>
            <a:ext cx="8240554" cy="9525"/>
          </a:xfrm>
          <a:prstGeom prst="rect">
            <a:avLst/>
          </a:prstGeom>
          <a:solidFill>
            <a:srgbClr val="3A3836"/>
          </a:solidFill>
          <a:ln/>
        </p:spPr>
      </p:sp>
      <p:sp>
        <p:nvSpPr>
          <p:cNvPr id="14" name="Shape 12"/>
          <p:cNvSpPr/>
          <p:nvPr/>
        </p:nvSpPr>
        <p:spPr>
          <a:xfrm>
            <a:off x="9097327" y="3273425"/>
            <a:ext cx="123825" cy="123825"/>
          </a:xfrm>
          <a:prstGeom prst="ellipse">
            <a:avLst/>
          </a:prstGeom>
          <a:solidFill>
            <a:srgbClr val="EC3013"/>
          </a:solidFill>
          <a:ln/>
        </p:spPr>
      </p:sp>
      <p:sp>
        <p:nvSpPr>
          <p:cNvPr id="15" name="Shape 13"/>
          <p:cNvSpPr/>
          <p:nvPr/>
        </p:nvSpPr>
        <p:spPr>
          <a:xfrm>
            <a:off x="9306877" y="3273425"/>
            <a:ext cx="123825" cy="123825"/>
          </a:xfrm>
          <a:prstGeom prst="ellipse">
            <a:avLst/>
          </a:prstGeom>
          <a:solidFill>
            <a:srgbClr val="4A4846"/>
          </a:solidFill>
          <a:ln/>
        </p:spPr>
      </p:sp>
      <p:sp>
        <p:nvSpPr>
          <p:cNvPr id="16" name="Shape 14"/>
          <p:cNvSpPr/>
          <p:nvPr/>
        </p:nvSpPr>
        <p:spPr>
          <a:xfrm>
            <a:off x="9516427" y="3273425"/>
            <a:ext cx="123825" cy="123825"/>
          </a:xfrm>
          <a:prstGeom prst="ellipse">
            <a:avLst/>
          </a:prstGeom>
          <a:solidFill>
            <a:srgbClr val="4A4846"/>
          </a:solidFill>
          <a:ln/>
        </p:spPr>
      </p:sp>
      <p:sp>
        <p:nvSpPr>
          <p:cNvPr id="17" name="Text 15"/>
          <p:cNvSpPr/>
          <p:nvPr/>
        </p:nvSpPr>
        <p:spPr>
          <a:xfrm>
            <a:off x="9840277" y="3209608"/>
            <a:ext cx="2087880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714"/>
              </a:lnSpc>
              <a:buNone/>
            </a:pPr>
            <a:r>
              <a:rPr lang="en-US" sz="1200" dirty="0">
                <a:solidFill>
                  <a:srgbClr val="8A87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compliance-report.json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73527" y="3866674"/>
            <a:ext cx="7916271" cy="36685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383"/>
              </a:lnSpc>
              <a:buNone/>
            </a:pPr>
            <a:r>
              <a:rPr lang="en-US" sz="1575" dirty="0">
                <a:solidFill>
                  <a:srgbClr val="8A87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 </a:t>
            </a:r>
            <a:pPr algn="l" indent="0" marL="0">
              <a:lnSpc>
                <a:spcPct val="126383"/>
              </a:lnSpc>
              <a:buNone/>
            </a:pPr>
            <a:r>
              <a:rPr lang="en-US" sz="1575" dirty="0">
                <a:solidFill>
                  <a:srgbClr val="E8E6E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"schema_version": </a:t>
            </a:r>
            <a:pPr algn="l" indent="0" marL="0">
              <a:lnSpc>
                <a:spcPct val="126383"/>
              </a:lnSpc>
              <a:buNone/>
            </a:pPr>
            <a:r>
              <a:rPr lang="en-US" sz="1575" dirty="0">
                <a:solidFill>
                  <a:srgbClr val="7FD6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"1.0.0" </a:t>
            </a:r>
            <a:pPr algn="l" indent="0" marL="0">
              <a:lnSpc>
                <a:spcPct val="126383"/>
              </a:lnSpc>
              <a:buNone/>
            </a:pPr>
            <a:r>
              <a:rPr lang="en-US" sz="1575" dirty="0">
                <a:solidFill>
                  <a:srgbClr val="E8E6E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 "verdict": </a:t>
            </a:r>
            <a:pPr algn="l" indent="0" marL="0">
              <a:lnSpc>
                <a:spcPct val="126383"/>
              </a:lnSpc>
              <a:buNone/>
            </a:pPr>
            <a:r>
              <a:rPr lang="en-US" sz="1575" dirty="0">
                <a:solidFill>
                  <a:srgbClr val="FF7A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"policy-violation" </a:t>
            </a:r>
            <a:pPr algn="l" indent="0" marL="0">
              <a:lnSpc>
                <a:spcPct val="126383"/>
              </a:lnSpc>
              <a:buNone/>
            </a:pPr>
            <a:r>
              <a:rPr lang="en-US" sz="1575" dirty="0">
                <a:solidFill>
                  <a:srgbClr val="E8E6E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 "exit_code": </a:t>
            </a:r>
            <a:pPr algn="l" indent="0" marL="0">
              <a:lnSpc>
                <a:spcPct val="126383"/>
              </a:lnSpc>
              <a:buNone/>
            </a:pPr>
            <a:r>
              <a:rPr lang="en-US" sz="1575" dirty="0">
                <a:solidFill>
                  <a:srgbClr val="FF7A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 </a:t>
            </a:r>
            <a:pPr algn="l" indent="0" marL="0">
              <a:lnSpc>
                <a:spcPct val="126383"/>
              </a:lnSpc>
              <a:buNone/>
            </a:pPr>
            <a:r>
              <a:rPr lang="en-US" sz="1575" dirty="0">
                <a:solidFill>
                  <a:srgbClr val="E8E6E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 "axes": { "hygiene": </a:t>
            </a:r>
            <a:pPr algn="l" indent="0" marL="0">
              <a:lnSpc>
                <a:spcPct val="126383"/>
              </a:lnSpc>
              <a:buNone/>
            </a:pPr>
            <a:r>
              <a:rPr lang="en-US" sz="1575" dirty="0">
                <a:solidFill>
                  <a:srgbClr val="7FD6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"clean" </a:t>
            </a:r>
            <a:pPr algn="l" indent="0" marL="0">
              <a:lnSpc>
                <a:spcPct val="126383"/>
              </a:lnSpc>
              <a:buNone/>
            </a:pPr>
            <a:r>
              <a:rPr lang="en-US" sz="1575" dirty="0">
                <a:solidFill>
                  <a:srgbClr val="E8E6E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 "security": </a:t>
            </a:r>
            <a:pPr algn="l" indent="0" marL="0">
              <a:lnSpc>
                <a:spcPct val="126383"/>
              </a:lnSpc>
              <a:buNone/>
            </a:pPr>
            <a:r>
              <a:rPr lang="en-US" sz="1575" dirty="0">
                <a:solidFill>
                  <a:srgbClr val="FF7A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"policy-violation" </a:t>
            </a:r>
            <a:pPr algn="l" indent="0" marL="0">
              <a:lnSpc>
                <a:spcPct val="126383"/>
              </a:lnSpc>
              <a:buNone/>
            </a:pPr>
            <a:r>
              <a:rPr lang="en-US" sz="1575" dirty="0">
                <a:solidFill>
                  <a:srgbClr val="E8E6E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 "license": </a:t>
            </a:r>
            <a:pPr algn="l" indent="0" marL="0">
              <a:lnSpc>
                <a:spcPct val="126383"/>
              </a:lnSpc>
              <a:buNone/>
            </a:pPr>
            <a:r>
              <a:rPr lang="en-US" sz="1575" dirty="0">
                <a:solidFill>
                  <a:srgbClr val="FFD27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"indeterminate" </a:t>
            </a:r>
            <a:pPr algn="l" indent="0" marL="0">
              <a:lnSpc>
                <a:spcPct val="126383"/>
              </a:lnSpc>
              <a:buNone/>
            </a:pPr>
            <a:r>
              <a:rPr lang="en-US" sz="1575" dirty="0">
                <a:solidFill>
                  <a:srgbClr val="E8E6E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}, "coverage": { "manifests": </a:t>
            </a:r>
            <a:pPr algn="l" indent="0" marL="0">
              <a:lnSpc>
                <a:spcPct val="126383"/>
              </a:lnSpc>
              <a:buNone/>
            </a:pPr>
            <a:r>
              <a:rPr lang="en-US" sz="1575" dirty="0">
                <a:solidFill>
                  <a:srgbClr val="7FD6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</a:t>
            </a:r>
            <a:pPr algn="l" indent="0" marL="0">
              <a:lnSpc>
                <a:spcPct val="126383"/>
              </a:lnSpc>
              <a:buNone/>
            </a:pPr>
            <a:r>
              <a:rPr lang="en-US" sz="1575" dirty="0">
                <a:solidFill>
                  <a:srgbClr val="E8E6E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 "resolved": </a:t>
            </a:r>
            <a:pPr algn="l" indent="0" marL="0">
              <a:lnSpc>
                <a:spcPct val="126383"/>
              </a:lnSpc>
              <a:buNone/>
            </a:pPr>
            <a:r>
              <a:rPr lang="en-US" sz="1575" dirty="0">
                <a:solidFill>
                  <a:srgbClr val="7FD6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312 </a:t>
            </a:r>
            <a:pPr algn="l" indent="0" marL="0">
              <a:lnSpc>
                <a:spcPct val="126383"/>
              </a:lnSpc>
              <a:buNone/>
            </a:pPr>
            <a:r>
              <a:rPr lang="en-US" sz="1575" dirty="0">
                <a:solidFill>
                  <a:srgbClr val="E8E6E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} </a:t>
            </a:r>
            <a:pPr algn="l" indent="0" marL="0">
              <a:lnSpc>
                <a:spcPct val="126383"/>
              </a:lnSpc>
              <a:buNone/>
            </a:pPr>
            <a:r>
              <a:rPr lang="en-US" sz="1575" dirty="0">
                <a:solidFill>
                  <a:srgbClr val="8A87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}</a:t>
            </a:r>
            <a:endParaRPr lang="en-US" sz="1575" dirty="0"/>
          </a:p>
        </p:txBody>
      </p:sp>
      <p:sp>
        <p:nvSpPr>
          <p:cNvPr id="19" name="Shape 17"/>
          <p:cNvSpPr/>
          <p:nvPr/>
        </p:nvSpPr>
        <p:spPr>
          <a:xfrm>
            <a:off x="1143000" y="9286875"/>
            <a:ext cx="16002000" cy="16669"/>
          </a:xfrm>
          <a:prstGeom prst="rect">
            <a:avLst/>
          </a:prstGeom>
          <a:solidFill>
            <a:srgbClr val="D3D0CF"/>
          </a:solidFill>
          <a:ln/>
        </p:spPr>
      </p:sp>
      <p:sp>
        <p:nvSpPr>
          <p:cNvPr id="20" name="Text 18"/>
          <p:cNvSpPr/>
          <p:nvPr/>
        </p:nvSpPr>
        <p:spPr>
          <a:xfrm>
            <a:off x="1143000" y="9455944"/>
            <a:ext cx="624840" cy="221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45" kern="0" dirty="0">
                <a:solidFill>
                  <a:srgbClr val="201E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WARDEN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8138160" y="9455944"/>
            <a:ext cx="1709928" cy="221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45" kern="0" dirty="0">
                <a:solidFill>
                  <a:srgbClr val="201E1D">
                    <a:alpha val="5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never false-green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16139160" y="9455944"/>
            <a:ext cx="1082040" cy="221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45" kern="0" dirty="0">
                <a:solidFill>
                  <a:srgbClr val="201E1D">
                    <a:alpha val="5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II · 08</a:t>
            </a:r>
            <a:endParaRPr lang="en-US" sz="11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487487"/>
            <a:ext cx="16002000" cy="27781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971550"/>
            <a:ext cx="433388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EC301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06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1728788" y="838200"/>
            <a:ext cx="7715282" cy="515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spc="-69" kern="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verdict lattice — highest wins</a:t>
            </a:r>
            <a:endParaRPr lang="en-US" sz="3450" dirty="0"/>
          </a:p>
        </p:txBody>
      </p:sp>
      <p:sp>
        <p:nvSpPr>
          <p:cNvPr id="5" name="Shape 3"/>
          <p:cNvSpPr/>
          <p:nvPr/>
        </p:nvSpPr>
        <p:spPr>
          <a:xfrm>
            <a:off x="1143000" y="3134042"/>
            <a:ext cx="9023350" cy="4533900"/>
          </a:xfrm>
          <a:prstGeom prst="rect">
            <a:avLst/>
          </a:prstGeom>
          <a:ln w="16669">
            <a:solidFill>
              <a:srgbClr val="201E1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59669" y="3150711"/>
            <a:ext cx="8990012" cy="627062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7" name="Text 5"/>
          <p:cNvSpPr/>
          <p:nvPr/>
        </p:nvSpPr>
        <p:spPr>
          <a:xfrm>
            <a:off x="1407319" y="3303111"/>
            <a:ext cx="819150" cy="360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3F2F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error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7616031" y="3339147"/>
            <a:ext cx="2514600" cy="288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3F2F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exit 2 · operational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159669" y="3777774"/>
            <a:ext cx="8990012" cy="643731"/>
          </a:xfrm>
          <a:prstGeom prst="rect">
            <a:avLst/>
          </a:prstGeom>
          <a:solidFill>
            <a:srgbClr val="F8CABF"/>
          </a:solidFill>
          <a:ln/>
        </p:spPr>
      </p:sp>
      <p:sp>
        <p:nvSpPr>
          <p:cNvPr id="10" name="Shape 8"/>
          <p:cNvSpPr/>
          <p:nvPr/>
        </p:nvSpPr>
        <p:spPr>
          <a:xfrm>
            <a:off x="1159669" y="3777774"/>
            <a:ext cx="8990012" cy="16669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11" name="Text 9"/>
          <p:cNvSpPr/>
          <p:nvPr/>
        </p:nvSpPr>
        <p:spPr>
          <a:xfrm>
            <a:off x="1407319" y="3946843"/>
            <a:ext cx="2615184" cy="360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01E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policy-violation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8187531" y="3982879"/>
            <a:ext cx="1885950" cy="288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01E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exit 1 · blocks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159669" y="4421505"/>
            <a:ext cx="8990012" cy="643731"/>
          </a:xfrm>
          <a:prstGeom prst="rect">
            <a:avLst/>
          </a:prstGeom>
          <a:solidFill>
            <a:srgbClr val="F8CABF"/>
          </a:solidFill>
          <a:ln/>
        </p:spPr>
      </p:sp>
      <p:sp>
        <p:nvSpPr>
          <p:cNvPr id="14" name="Shape 12"/>
          <p:cNvSpPr/>
          <p:nvPr/>
        </p:nvSpPr>
        <p:spPr>
          <a:xfrm>
            <a:off x="1159669" y="4421505"/>
            <a:ext cx="8990012" cy="16669"/>
          </a:xfrm>
          <a:prstGeom prst="rect">
            <a:avLst/>
          </a:prstGeom>
          <a:solidFill>
            <a:srgbClr val="D3D0CF"/>
          </a:solidFill>
          <a:ln/>
        </p:spPr>
      </p:sp>
      <p:sp>
        <p:nvSpPr>
          <p:cNvPr id="15" name="Text 13"/>
          <p:cNvSpPr/>
          <p:nvPr/>
        </p:nvSpPr>
        <p:spPr>
          <a:xfrm>
            <a:off x="1407319" y="4590574"/>
            <a:ext cx="2124837" cy="3603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01E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indeterminate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7958931" y="4626610"/>
            <a:ext cx="2137410" cy="288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01E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exit 1 · unproven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159669" y="5065236"/>
            <a:ext cx="8990012" cy="27781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18" name="Text 16"/>
          <p:cNvSpPr/>
          <p:nvPr/>
        </p:nvSpPr>
        <p:spPr>
          <a:xfrm>
            <a:off x="1407319" y="5245418"/>
            <a:ext cx="670560" cy="3603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01E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warn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9216231" y="5281454"/>
            <a:ext cx="762000" cy="288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01E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exit 0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1159669" y="5720080"/>
            <a:ext cx="8990012" cy="16669"/>
          </a:xfrm>
          <a:prstGeom prst="rect">
            <a:avLst/>
          </a:prstGeom>
          <a:solidFill>
            <a:srgbClr val="D3D0CF"/>
          </a:solidFill>
          <a:ln/>
        </p:spPr>
      </p:sp>
      <p:sp>
        <p:nvSpPr>
          <p:cNvPr id="21" name="Text 19"/>
          <p:cNvSpPr/>
          <p:nvPr/>
        </p:nvSpPr>
        <p:spPr>
          <a:xfrm>
            <a:off x="1407319" y="5889149"/>
            <a:ext cx="1264920" cy="360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01E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bypassed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8187531" y="5925185"/>
            <a:ext cx="1885950" cy="288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01E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exit 0 · waiver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1159669" y="6363812"/>
            <a:ext cx="8990012" cy="16669"/>
          </a:xfrm>
          <a:prstGeom prst="rect">
            <a:avLst/>
          </a:prstGeom>
          <a:solidFill>
            <a:srgbClr val="D3D0CF"/>
          </a:solidFill>
          <a:ln/>
        </p:spPr>
      </p:sp>
      <p:sp>
        <p:nvSpPr>
          <p:cNvPr id="24" name="Text 22"/>
          <p:cNvSpPr/>
          <p:nvPr/>
        </p:nvSpPr>
        <p:spPr>
          <a:xfrm>
            <a:off x="1407319" y="6532880"/>
            <a:ext cx="819150" cy="360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01E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clean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9216231" y="6568916"/>
            <a:ext cx="762000" cy="288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01E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exit 0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1159669" y="7007543"/>
            <a:ext cx="8990012" cy="16669"/>
          </a:xfrm>
          <a:prstGeom prst="rect">
            <a:avLst/>
          </a:prstGeom>
          <a:solidFill>
            <a:srgbClr val="D3D0CF"/>
          </a:solidFill>
          <a:ln/>
        </p:spPr>
      </p:sp>
      <p:sp>
        <p:nvSpPr>
          <p:cNvPr id="27" name="Text 25"/>
          <p:cNvSpPr/>
          <p:nvPr/>
        </p:nvSpPr>
        <p:spPr>
          <a:xfrm>
            <a:off x="1407319" y="7176611"/>
            <a:ext cx="2288286" cy="3603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01E1D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not-applicable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9216231" y="7212648"/>
            <a:ext cx="762000" cy="288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01E1D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exit 0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0699750" y="4051459"/>
            <a:ext cx="7089775" cy="288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90" kern="0" dirty="0">
                <a:solidFill>
                  <a:srgbClr val="C22A1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DASHED LINE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0699750" y="4472940"/>
            <a:ext cx="6638608" cy="8391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492"/>
              </a:lnSpc>
              <a:buNone/>
            </a:pPr>
            <a:r>
              <a:rPr lang="en-US" sz="2175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Everything above it </a:t>
            </a:r>
            <a:pPr algn="l" indent="0" marL="0">
              <a:lnSpc>
                <a:spcPct val="133492"/>
              </a:lnSpc>
              <a:buNone/>
            </a:pPr>
            <a:r>
              <a:rPr lang="en-US" sz="2175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blocks the merge </a:t>
            </a:r>
            <a:pPr algn="l" indent="0" marL="0">
              <a:lnSpc>
                <a:spcPct val="133492"/>
              </a:lnSpc>
              <a:buNone/>
            </a:pPr>
            <a:r>
              <a:rPr lang="en-US" sz="2175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. The whole design turns on one placement:</a:t>
            </a:r>
            <a:endParaRPr lang="en-US" sz="2175" dirty="0"/>
          </a:p>
        </p:txBody>
      </p:sp>
      <p:sp>
        <p:nvSpPr>
          <p:cNvPr id="31" name="Text 29"/>
          <p:cNvSpPr/>
          <p:nvPr/>
        </p:nvSpPr>
        <p:spPr>
          <a:xfrm>
            <a:off x="10699750" y="5540693"/>
            <a:ext cx="6638608" cy="1248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492"/>
              </a:lnSpc>
              <a:buNone/>
            </a:pPr>
            <a:r>
              <a:rPr lang="en-US" sz="2175" b="1" dirty="0">
                <a:solidFill>
                  <a:srgbClr val="C22A1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indeterminate </a:t>
            </a:r>
            <a:pPr algn="l" indent="0" marL="0">
              <a:lnSpc>
                <a:spcPct val="133492"/>
              </a:lnSpc>
              <a:buNone/>
            </a:pPr>
            <a:r>
              <a:rPr lang="en-US" sz="2175" dirty="0">
                <a:solidFill>
                  <a:srgbClr val="201E1D">
                    <a:alpha val="72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sits </a:t>
            </a:r>
            <a:pPr algn="l" indent="0" marL="0">
              <a:lnSpc>
                <a:spcPct val="133492"/>
              </a:lnSpc>
              <a:buNone/>
            </a:pPr>
            <a:r>
              <a:rPr lang="en-US" sz="2175" b="1" dirty="0">
                <a:solidFill>
                  <a:srgbClr val="201E1D">
                    <a:alpha val="72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above </a:t>
            </a:r>
            <a:pPr algn="l" indent="0" marL="0">
              <a:lnSpc>
                <a:spcPct val="133492"/>
              </a:lnSpc>
              <a:buNone/>
            </a:pPr>
            <a:r>
              <a:rPr lang="en-US" sz="2175" dirty="0">
                <a:solidFill>
                  <a:srgbClr val="201E1D">
                    <a:alpha val="72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pass line. An unproven axis fails the gate — it never slides down to clean.</a:t>
            </a:r>
            <a:endParaRPr lang="en-US" sz="2175" dirty="0"/>
          </a:p>
        </p:txBody>
      </p:sp>
      <p:sp>
        <p:nvSpPr>
          <p:cNvPr id="32" name="Shape 30"/>
          <p:cNvSpPr/>
          <p:nvPr/>
        </p:nvSpPr>
        <p:spPr>
          <a:xfrm>
            <a:off x="1143000" y="9286875"/>
            <a:ext cx="16002000" cy="16669"/>
          </a:xfrm>
          <a:prstGeom prst="rect">
            <a:avLst/>
          </a:prstGeom>
          <a:solidFill>
            <a:srgbClr val="D3D0CF"/>
          </a:solidFill>
          <a:ln/>
        </p:spPr>
      </p:sp>
      <p:sp>
        <p:nvSpPr>
          <p:cNvPr id="33" name="Text 31"/>
          <p:cNvSpPr/>
          <p:nvPr/>
        </p:nvSpPr>
        <p:spPr>
          <a:xfrm>
            <a:off x="1143000" y="9455944"/>
            <a:ext cx="624840" cy="221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45" kern="0" dirty="0">
                <a:solidFill>
                  <a:srgbClr val="201E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WARDEN</a:t>
            </a:r>
            <a:endParaRPr lang="en-US" sz="1125" dirty="0"/>
          </a:p>
        </p:txBody>
      </p:sp>
      <p:sp>
        <p:nvSpPr>
          <p:cNvPr id="34" name="Text 32"/>
          <p:cNvSpPr/>
          <p:nvPr/>
        </p:nvSpPr>
        <p:spPr>
          <a:xfrm>
            <a:off x="8138160" y="9455944"/>
            <a:ext cx="1709928" cy="221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45" kern="0" dirty="0">
                <a:solidFill>
                  <a:srgbClr val="201E1D">
                    <a:alpha val="5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never false-green</a:t>
            </a:r>
            <a:endParaRPr lang="en-US" sz="1125" dirty="0"/>
          </a:p>
        </p:txBody>
      </p:sp>
      <p:sp>
        <p:nvSpPr>
          <p:cNvPr id="35" name="Text 33"/>
          <p:cNvSpPr/>
          <p:nvPr/>
        </p:nvSpPr>
        <p:spPr>
          <a:xfrm>
            <a:off x="16139160" y="9455944"/>
            <a:ext cx="1082040" cy="221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45" kern="0" dirty="0">
                <a:solidFill>
                  <a:srgbClr val="201E1D">
                    <a:alpha val="5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II · 09</a:t>
            </a:r>
            <a:endParaRPr lang="en-US" sz="11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487487"/>
            <a:ext cx="16002000" cy="27781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971550"/>
            <a:ext cx="433388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EC301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07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1728788" y="838200"/>
            <a:ext cx="7598981" cy="515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spc="-69" kern="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 frozen exit enum &amp; typed errors</a:t>
            </a:r>
            <a:endParaRPr lang="en-US" sz="3450" dirty="0"/>
          </a:p>
        </p:txBody>
      </p:sp>
      <p:sp>
        <p:nvSpPr>
          <p:cNvPr id="5" name="Shape 3"/>
          <p:cNvSpPr/>
          <p:nvPr/>
        </p:nvSpPr>
        <p:spPr>
          <a:xfrm>
            <a:off x="1143000" y="3944461"/>
            <a:ext cx="16669" cy="1477963"/>
          </a:xfrm>
          <a:prstGeom prst="rect">
            <a:avLst/>
          </a:prstGeom>
          <a:solidFill>
            <a:srgbClr val="D3D0CF"/>
          </a:solidFill>
          <a:ln/>
        </p:spPr>
      </p:sp>
      <p:sp>
        <p:nvSpPr>
          <p:cNvPr id="6" name="Shape 4"/>
          <p:cNvSpPr/>
          <p:nvPr/>
        </p:nvSpPr>
        <p:spPr>
          <a:xfrm>
            <a:off x="5139372" y="3944461"/>
            <a:ext cx="16669" cy="1477963"/>
          </a:xfrm>
          <a:prstGeom prst="rect">
            <a:avLst/>
          </a:prstGeom>
          <a:solidFill>
            <a:srgbClr val="D3D0CF"/>
          </a:solidFill>
          <a:ln/>
        </p:spPr>
      </p:sp>
      <p:sp>
        <p:nvSpPr>
          <p:cNvPr id="7" name="Text 5"/>
          <p:cNvSpPr/>
          <p:nvPr/>
        </p:nvSpPr>
        <p:spPr>
          <a:xfrm>
            <a:off x="1426369" y="3944461"/>
            <a:ext cx="3790934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986"/>
              </a:lnSpc>
              <a:buNone/>
            </a:pPr>
            <a:r>
              <a:rPr lang="en-US" sz="6600" b="1" dirty="0">
                <a:solidFill>
                  <a:srgbClr val="1A7A3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</a:t>
            </a:r>
            <a:endParaRPr lang="en-US" sz="6600" dirty="0"/>
          </a:p>
        </p:txBody>
      </p:sp>
      <p:sp>
        <p:nvSpPr>
          <p:cNvPr id="8" name="Text 6"/>
          <p:cNvSpPr/>
          <p:nvPr/>
        </p:nvSpPr>
        <p:spPr>
          <a:xfrm>
            <a:off x="1426369" y="4877912"/>
            <a:ext cx="3790934" cy="3103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01E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success · clean / warn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9135745" y="3944461"/>
            <a:ext cx="16669" cy="1477963"/>
          </a:xfrm>
          <a:prstGeom prst="rect">
            <a:avLst/>
          </a:prstGeom>
          <a:solidFill>
            <a:srgbClr val="D3D0CF"/>
          </a:solidFill>
          <a:ln/>
        </p:spPr>
      </p:sp>
      <p:sp>
        <p:nvSpPr>
          <p:cNvPr id="10" name="Text 8"/>
          <p:cNvSpPr/>
          <p:nvPr/>
        </p:nvSpPr>
        <p:spPr>
          <a:xfrm>
            <a:off x="5422741" y="3944461"/>
            <a:ext cx="3790934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986"/>
              </a:lnSpc>
              <a:buNone/>
            </a:pPr>
            <a:r>
              <a:rPr lang="en-US" sz="6600" b="1" dirty="0">
                <a:solidFill>
                  <a:srgbClr val="EC301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</a:t>
            </a:r>
            <a:endParaRPr lang="en-US" sz="6600" dirty="0"/>
          </a:p>
        </p:txBody>
      </p:sp>
      <p:sp>
        <p:nvSpPr>
          <p:cNvPr id="11" name="Text 9"/>
          <p:cNvSpPr/>
          <p:nvPr/>
        </p:nvSpPr>
        <p:spPr>
          <a:xfrm>
            <a:off x="5422741" y="4877912"/>
            <a:ext cx="3549693" cy="582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01E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policy-violation / indeterminate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13132117" y="3944461"/>
            <a:ext cx="16669" cy="1477963"/>
          </a:xfrm>
          <a:prstGeom prst="rect">
            <a:avLst/>
          </a:prstGeom>
          <a:solidFill>
            <a:srgbClr val="D3D0CF"/>
          </a:solidFill>
          <a:ln/>
        </p:spPr>
      </p:sp>
      <p:sp>
        <p:nvSpPr>
          <p:cNvPr id="13" name="Text 11"/>
          <p:cNvSpPr/>
          <p:nvPr/>
        </p:nvSpPr>
        <p:spPr>
          <a:xfrm>
            <a:off x="9419113" y="3944461"/>
            <a:ext cx="3790934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986"/>
              </a:lnSpc>
              <a:buNone/>
            </a:pPr>
            <a:r>
              <a:rPr lang="en-US" sz="6600" b="1" dirty="0">
                <a:solidFill>
                  <a:srgbClr val="EC301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2</a:t>
            </a:r>
            <a:endParaRPr lang="en-US" sz="6600" dirty="0"/>
          </a:p>
        </p:txBody>
      </p:sp>
      <p:sp>
        <p:nvSpPr>
          <p:cNvPr id="14" name="Text 12"/>
          <p:cNvSpPr/>
          <p:nvPr/>
        </p:nvSpPr>
        <p:spPr>
          <a:xfrm>
            <a:off x="9419113" y="4877912"/>
            <a:ext cx="3790934" cy="3103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01E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operational error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3415486" y="3944461"/>
            <a:ext cx="3809270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986"/>
              </a:lnSpc>
              <a:buNone/>
            </a:pPr>
            <a:r>
              <a:rPr lang="en-US" sz="6600" b="1" dirty="0">
                <a:solidFill>
                  <a:srgbClr val="201E1D">
                    <a:alpha val="50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130</a:t>
            </a:r>
            <a:endParaRPr lang="en-US" sz="6600" dirty="0"/>
          </a:p>
        </p:txBody>
      </p:sp>
      <p:sp>
        <p:nvSpPr>
          <p:cNvPr id="16" name="Text 14"/>
          <p:cNvSpPr/>
          <p:nvPr/>
        </p:nvSpPr>
        <p:spPr>
          <a:xfrm>
            <a:off x="13415486" y="4877912"/>
            <a:ext cx="3809270" cy="3103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01E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interrupted (SIGINT)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1143000" y="5879624"/>
            <a:ext cx="17602200" cy="288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01E1D">
                    <a:alpha val="60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Every operational failure is a </a:t>
            </a:r>
            <a:pPr algn="l" indent="0" marL="0">
              <a:buNone/>
            </a:pPr>
            <a:r>
              <a:rPr lang="en-US" sz="180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typed error with a named owner </a:t>
            </a:r>
            <a:pPr algn="l" indent="0" marL="0">
              <a:buNone/>
            </a:pPr>
            <a:r>
              <a:rPr lang="en-US" sz="1800" dirty="0">
                <a:solidFill>
                  <a:srgbClr val="201E1D">
                    <a:alpha val="60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—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143000" y="6301105"/>
            <a:ext cx="3020378" cy="556419"/>
          </a:xfrm>
          <a:prstGeom prst="rect">
            <a:avLst/>
          </a:prstGeom>
          <a:ln w="16669">
            <a:solidFill>
              <a:srgbClr val="201E1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50169" y="6432074"/>
            <a:ext cx="2696651" cy="3325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01E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unparsable-manifest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296728" y="6301105"/>
            <a:ext cx="2883218" cy="556419"/>
          </a:xfrm>
          <a:prstGeom prst="rect">
            <a:avLst/>
          </a:prstGeom>
          <a:ln w="16669">
            <a:solidFill>
              <a:srgbClr val="201E1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03896" y="6432074"/>
            <a:ext cx="2555377" cy="3325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01E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engine-unavailable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313295" y="6301105"/>
            <a:ext cx="2060258" cy="556419"/>
          </a:xfrm>
          <a:prstGeom prst="rect">
            <a:avLst/>
          </a:prstGeom>
          <a:ln w="16669">
            <a:solidFill>
              <a:srgbClr val="201E1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20464" y="6432074"/>
            <a:ext cx="1722120" cy="3325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01E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engine-crash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506902" y="6301105"/>
            <a:ext cx="2334577" cy="556419"/>
          </a:xfrm>
          <a:prstGeom prst="rect">
            <a:avLst/>
          </a:prstGeom>
          <a:ln w="16669">
            <a:solidFill>
              <a:srgbClr val="201E1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14071" y="6432074"/>
            <a:ext cx="1996440" cy="3325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01E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internal-error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143000" y="9286875"/>
            <a:ext cx="16002000" cy="16669"/>
          </a:xfrm>
          <a:prstGeom prst="rect">
            <a:avLst/>
          </a:prstGeom>
          <a:solidFill>
            <a:srgbClr val="D3D0CF"/>
          </a:solidFill>
          <a:ln/>
        </p:spPr>
      </p:sp>
      <p:sp>
        <p:nvSpPr>
          <p:cNvPr id="27" name="Text 25"/>
          <p:cNvSpPr/>
          <p:nvPr/>
        </p:nvSpPr>
        <p:spPr>
          <a:xfrm>
            <a:off x="1143000" y="9455944"/>
            <a:ext cx="624840" cy="221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45" kern="0" dirty="0">
                <a:solidFill>
                  <a:srgbClr val="201E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WARDEN</a:t>
            </a:r>
            <a:endParaRPr lang="en-US" sz="1125" dirty="0"/>
          </a:p>
        </p:txBody>
      </p:sp>
      <p:sp>
        <p:nvSpPr>
          <p:cNvPr id="28" name="Text 26"/>
          <p:cNvSpPr/>
          <p:nvPr/>
        </p:nvSpPr>
        <p:spPr>
          <a:xfrm>
            <a:off x="8138160" y="9455944"/>
            <a:ext cx="1709928" cy="221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45" kern="0" dirty="0">
                <a:solidFill>
                  <a:srgbClr val="201E1D">
                    <a:alpha val="5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never false-green</a:t>
            </a:r>
            <a:endParaRPr lang="en-US" sz="1125" dirty="0"/>
          </a:p>
        </p:txBody>
      </p:sp>
      <p:sp>
        <p:nvSpPr>
          <p:cNvPr id="29" name="Text 27"/>
          <p:cNvSpPr/>
          <p:nvPr/>
        </p:nvSpPr>
        <p:spPr>
          <a:xfrm>
            <a:off x="16139160" y="9455944"/>
            <a:ext cx="1082040" cy="221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45" kern="0" dirty="0">
                <a:solidFill>
                  <a:srgbClr val="201E1D">
                    <a:alpha val="5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II · 10</a:t>
            </a:r>
            <a:endParaRPr lang="en-US" sz="11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C3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15098" y="-1333500"/>
            <a:ext cx="8351091" cy="6896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072"/>
              </a:lnSpc>
              <a:buNone/>
            </a:pPr>
            <a:r>
              <a:rPr lang="en-US" sz="40000" b="1" dirty="0">
                <a:solidFill>
                  <a:srgbClr val="F3F2F2">
                    <a:alpha val="13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III</a:t>
            </a:r>
            <a:endParaRPr lang="en-US" sz="40000" dirty="0"/>
          </a:p>
        </p:txBody>
      </p:sp>
      <p:sp>
        <p:nvSpPr>
          <p:cNvPr id="3" name="Text 1"/>
          <p:cNvSpPr/>
          <p:nvPr/>
        </p:nvSpPr>
        <p:spPr>
          <a:xfrm>
            <a:off x="1143000" y="914400"/>
            <a:ext cx="17602200" cy="3103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64" kern="0" dirty="0">
                <a:solidFill>
                  <a:srgbClr val="F3F2F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III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43000" y="3396615"/>
            <a:ext cx="16482060" cy="21961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72"/>
              </a:lnSpc>
              <a:buNone/>
            </a:pPr>
            <a:r>
              <a:rPr lang="en-US" sz="8850" b="1" spc="-177" kern="0" dirty="0">
                <a:solidFill>
                  <a:srgbClr val="F3F2F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engines, orchestrated</a:t>
            </a:r>
            <a:endParaRPr lang="en-US" sz="8850" dirty="0"/>
          </a:p>
        </p:txBody>
      </p:sp>
      <p:sp>
        <p:nvSpPr>
          <p:cNvPr id="5" name="Text 3"/>
          <p:cNvSpPr/>
          <p:nvPr/>
        </p:nvSpPr>
        <p:spPr>
          <a:xfrm>
            <a:off x="1143000" y="5897563"/>
            <a:ext cx="10988040" cy="9124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898"/>
              </a:lnSpc>
              <a:buNone/>
            </a:pPr>
            <a:r>
              <a:rPr lang="en-US" sz="2550" dirty="0">
                <a:solidFill>
                  <a:srgbClr val="F3F2F2">
                    <a:alpha val="94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Pluggable engines behind one report — six manifests read natively, isolated behind a hardened seam, across three supply-chain rings.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1143000" y="8982075"/>
            <a:ext cx="16002000" cy="16669"/>
          </a:xfrm>
          <a:prstGeom prst="rect">
            <a:avLst/>
          </a:prstGeom>
          <a:solidFill>
            <a:srgbClr val="F3F2F2">
              <a:alpha val="4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9189244"/>
            <a:ext cx="633413" cy="221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56" kern="0" dirty="0">
                <a:solidFill>
                  <a:srgbClr val="F3F2F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WARDEN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8075930" y="9189244"/>
            <a:ext cx="1736646" cy="221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56" kern="0" dirty="0">
                <a:solidFill>
                  <a:srgbClr val="F3F2F2">
                    <a:alpha val="8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never false-green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16030575" y="9189244"/>
            <a:ext cx="1190625" cy="221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56" kern="0" dirty="0">
                <a:solidFill>
                  <a:srgbClr val="F3F2F2">
                    <a:alpha val="8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III · 11</a:t>
            </a:r>
            <a:endParaRPr lang="en-US" sz="11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487487"/>
            <a:ext cx="16002000" cy="27781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971550"/>
            <a:ext cx="433388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EC301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08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1728788" y="838200"/>
            <a:ext cx="6550184" cy="515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spc="-69" kern="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deptry — the hygiene axis </a:t>
            </a:r>
            <a:pPr algn="l" indent="0" marL="0">
              <a:buNone/>
            </a:pPr>
            <a:r>
              <a:rPr lang="en-US" sz="1800" b="1" spc="-69" kern="0" dirty="0">
                <a:solidFill>
                  <a:srgbClr val="F3F2F2"/>
                </a:solidFill>
                <a:highlight>
                  <a:srgbClr val="EC3013"/>
                </a:highlight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v1</a:t>
            </a:r>
            <a:endParaRPr lang="en-US" sz="3450" dirty="0"/>
          </a:p>
        </p:txBody>
      </p:sp>
      <p:sp>
        <p:nvSpPr>
          <p:cNvPr id="5" name="Text 3"/>
          <p:cNvSpPr/>
          <p:nvPr/>
        </p:nvSpPr>
        <p:spPr>
          <a:xfrm>
            <a:off x="1143000" y="4772660"/>
            <a:ext cx="7586980" cy="12949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163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AST import analysis over the source tree, cross-checked against declared dependencies. Honors your existing </a:t>
            </a:r>
            <a:pPr algn="l" indent="0" marL="0">
              <a:lnSpc>
                <a:spcPct val="133163"/>
              </a:lnSpc>
              <a:buNone/>
            </a:pPr>
            <a:r>
              <a:rPr lang="en-US" sz="2250" dirty="0">
                <a:solidFill>
                  <a:srgbClr val="C22A1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[tool.deptry] </a:t>
            </a:r>
            <a:pPr algn="l" indent="0" marL="0">
              <a:lnSpc>
                <a:spcPct val="133163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config.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9042400" y="3757613"/>
            <a:ext cx="8102600" cy="3286919"/>
          </a:xfrm>
          <a:prstGeom prst="rect">
            <a:avLst/>
          </a:prstGeom>
          <a:ln w="16669">
            <a:solidFill>
              <a:srgbClr val="201E1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059069" y="4411663"/>
            <a:ext cx="8069263" cy="16669"/>
          </a:xfrm>
          <a:prstGeom prst="rect">
            <a:avLst/>
          </a:prstGeom>
          <a:solidFill>
            <a:srgbClr val="D3D0CF"/>
          </a:solidFill>
          <a:ln/>
        </p:spPr>
      </p:sp>
      <p:sp>
        <p:nvSpPr>
          <p:cNvPr id="8" name="Text 6"/>
          <p:cNvSpPr/>
          <p:nvPr/>
        </p:nvSpPr>
        <p:spPr>
          <a:xfrm>
            <a:off x="9306719" y="3945731"/>
            <a:ext cx="1123950" cy="3325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22A1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DEP001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64019" y="3945731"/>
            <a:ext cx="4828032" cy="3325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01E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missing — imported, not declared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059069" y="5065713"/>
            <a:ext cx="8069263" cy="16669"/>
          </a:xfrm>
          <a:prstGeom prst="rect">
            <a:avLst/>
          </a:prstGeom>
          <a:solidFill>
            <a:srgbClr val="D3D0CF"/>
          </a:solidFill>
          <a:ln/>
        </p:spPr>
      </p:sp>
      <p:sp>
        <p:nvSpPr>
          <p:cNvPr id="11" name="Text 9"/>
          <p:cNvSpPr/>
          <p:nvPr/>
        </p:nvSpPr>
        <p:spPr>
          <a:xfrm>
            <a:off x="9306719" y="4599781"/>
            <a:ext cx="1123950" cy="3325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22A1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DEP002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564019" y="4599781"/>
            <a:ext cx="4677156" cy="3325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01E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unused — declared, not imported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059069" y="5719762"/>
            <a:ext cx="8069263" cy="16669"/>
          </a:xfrm>
          <a:prstGeom prst="rect">
            <a:avLst/>
          </a:prstGeom>
          <a:solidFill>
            <a:srgbClr val="D3D0CF"/>
          </a:solidFill>
          <a:ln/>
        </p:spPr>
      </p:sp>
      <p:sp>
        <p:nvSpPr>
          <p:cNvPr id="14" name="Text 12"/>
          <p:cNvSpPr/>
          <p:nvPr/>
        </p:nvSpPr>
        <p:spPr>
          <a:xfrm>
            <a:off x="9306719" y="5253831"/>
            <a:ext cx="1123950" cy="3325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22A1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DEP003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564019" y="5253831"/>
            <a:ext cx="4677156" cy="3325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01E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transitive — used, not declared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059069" y="6373813"/>
            <a:ext cx="8069263" cy="16669"/>
          </a:xfrm>
          <a:prstGeom prst="rect">
            <a:avLst/>
          </a:prstGeom>
          <a:solidFill>
            <a:srgbClr val="D3D0CF"/>
          </a:solidFill>
          <a:ln/>
        </p:spPr>
      </p:sp>
      <p:sp>
        <p:nvSpPr>
          <p:cNvPr id="17" name="Text 15"/>
          <p:cNvSpPr/>
          <p:nvPr/>
        </p:nvSpPr>
        <p:spPr>
          <a:xfrm>
            <a:off x="9306719" y="5907881"/>
            <a:ext cx="1123950" cy="3325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22A1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DEP004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564019" y="5907881"/>
            <a:ext cx="3621024" cy="3325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01E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misplaced dev dependency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306719" y="6561931"/>
            <a:ext cx="1123950" cy="3325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22A1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DEP005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564019" y="6561931"/>
            <a:ext cx="3168396" cy="3325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01E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duplicate declaration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143000" y="9286875"/>
            <a:ext cx="16002000" cy="16669"/>
          </a:xfrm>
          <a:prstGeom prst="rect">
            <a:avLst/>
          </a:prstGeom>
          <a:solidFill>
            <a:srgbClr val="D3D0CF"/>
          </a:solidFill>
          <a:ln/>
        </p:spPr>
      </p:sp>
      <p:sp>
        <p:nvSpPr>
          <p:cNvPr id="22" name="Text 20"/>
          <p:cNvSpPr/>
          <p:nvPr/>
        </p:nvSpPr>
        <p:spPr>
          <a:xfrm>
            <a:off x="1143000" y="9455944"/>
            <a:ext cx="624840" cy="221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45" kern="0" dirty="0">
                <a:solidFill>
                  <a:srgbClr val="201E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WARDEN</a:t>
            </a:r>
            <a:endParaRPr lang="en-US" sz="1125" dirty="0"/>
          </a:p>
        </p:txBody>
      </p:sp>
      <p:sp>
        <p:nvSpPr>
          <p:cNvPr id="23" name="Text 21"/>
          <p:cNvSpPr/>
          <p:nvPr/>
        </p:nvSpPr>
        <p:spPr>
          <a:xfrm>
            <a:off x="8092440" y="9455944"/>
            <a:ext cx="1709928" cy="221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45" kern="0" dirty="0">
                <a:solidFill>
                  <a:srgbClr val="201E1D">
                    <a:alpha val="5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never false-green</a:t>
            </a:r>
            <a:endParaRPr lang="en-US" sz="1125" dirty="0"/>
          </a:p>
        </p:txBody>
      </p:sp>
      <p:sp>
        <p:nvSpPr>
          <p:cNvPr id="24" name="Text 22"/>
          <p:cNvSpPr/>
          <p:nvPr/>
        </p:nvSpPr>
        <p:spPr>
          <a:xfrm>
            <a:off x="16047720" y="9455944"/>
            <a:ext cx="1173480" cy="221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45" kern="0" dirty="0">
                <a:solidFill>
                  <a:srgbClr val="201E1D">
                    <a:alpha val="5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III · 12</a:t>
            </a:r>
            <a:endParaRPr lang="en-US" sz="11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487487"/>
            <a:ext cx="16002000" cy="27781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971550"/>
            <a:ext cx="433388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EC301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09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1728788" y="838200"/>
            <a:ext cx="7969361" cy="515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spc="-69" kern="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osv-scanner — the security axis </a:t>
            </a:r>
            <a:pPr algn="l" indent="0" marL="0">
              <a:buNone/>
            </a:pPr>
            <a:r>
              <a:rPr lang="en-US" sz="1800" b="1" spc="-69" kern="0" dirty="0">
                <a:solidFill>
                  <a:srgbClr val="F3F2F2"/>
                </a:solidFill>
                <a:highlight>
                  <a:srgbClr val="EC3013"/>
                </a:highlight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v1</a:t>
            </a:r>
            <a:endParaRPr lang="en-US" sz="3450" dirty="0"/>
          </a:p>
        </p:txBody>
      </p:sp>
      <p:sp>
        <p:nvSpPr>
          <p:cNvPr id="5" name="Text 3"/>
          <p:cNvSpPr/>
          <p:nvPr/>
        </p:nvSpPr>
        <p:spPr>
          <a:xfrm>
            <a:off x="1143000" y="4246245"/>
            <a:ext cx="14912340" cy="9358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571"/>
              </a:lnSpc>
              <a:buNone/>
            </a:pPr>
            <a:r>
              <a:rPr lang="en-US" sz="240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Google's OSV database checked against the resolved dependency set. The database is a </a:t>
            </a:r>
            <a:pPr algn="l" indent="0" marL="0">
              <a:lnSpc>
                <a:spcPct val="132571"/>
              </a:lnSpc>
              <a:buNone/>
            </a:pPr>
            <a:r>
              <a:rPr lang="en-US" sz="240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declared conda / pixi dependency </a:t>
            </a:r>
            <a:pPr algn="l" indent="0" marL="0">
              <a:lnSpc>
                <a:spcPct val="132571"/>
              </a:lnSpc>
              <a:buNone/>
            </a:pPr>
            <a:r>
              <a:rPr lang="en-US" sz="240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— never a runtime </a:t>
            </a:r>
            <a:pPr algn="l" indent="0" marL="0">
              <a:lnSpc>
                <a:spcPct val="132571"/>
              </a:lnSpc>
              <a:buNone/>
            </a:pPr>
            <a:r>
              <a:rPr lang="en-US" sz="2400" dirty="0">
                <a:solidFill>
                  <a:srgbClr val="C22A1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curl</a:t>
            </a:r>
            <a:pPr algn="l" indent="0" marL="0">
              <a:lnSpc>
                <a:spcPct val="132571"/>
              </a:lnSpc>
              <a:buNone/>
            </a:pPr>
            <a:r>
              <a:rPr lang="en-US" sz="240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143000" y="5524976"/>
            <a:ext cx="16669" cy="1030764"/>
          </a:xfrm>
          <a:prstGeom prst="rect">
            <a:avLst/>
          </a:prstGeom>
          <a:solidFill>
            <a:srgbClr val="D3D0CF"/>
          </a:solidFill>
          <a:ln/>
        </p:spPr>
      </p:sp>
      <p:sp>
        <p:nvSpPr>
          <p:cNvPr id="7" name="Shape 5"/>
          <p:cNvSpPr/>
          <p:nvPr/>
        </p:nvSpPr>
        <p:spPr>
          <a:xfrm>
            <a:off x="6471444" y="5524976"/>
            <a:ext cx="16669" cy="1030764"/>
          </a:xfrm>
          <a:prstGeom prst="rect">
            <a:avLst/>
          </a:prstGeom>
          <a:solidFill>
            <a:srgbClr val="D3D0CF"/>
          </a:solidFill>
          <a:ln/>
        </p:spPr>
      </p:sp>
      <p:sp>
        <p:nvSpPr>
          <p:cNvPr id="8" name="Text 6"/>
          <p:cNvSpPr/>
          <p:nvPr/>
        </p:nvSpPr>
        <p:spPr>
          <a:xfrm>
            <a:off x="1464469" y="5524976"/>
            <a:ext cx="5172393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81" kern="0" dirty="0">
                <a:solidFill>
                  <a:srgbClr val="C22A1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PROVISIONED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464469" y="5880576"/>
            <a:ext cx="484324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660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DB ships as a pinned, declared dependency — reproducible &amp; offline.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11799887" y="5524976"/>
            <a:ext cx="16669" cy="1030764"/>
          </a:xfrm>
          <a:prstGeom prst="rect">
            <a:avLst/>
          </a:prstGeom>
          <a:solidFill>
            <a:srgbClr val="D3D0CF"/>
          </a:solidFill>
          <a:ln/>
        </p:spPr>
      </p:sp>
      <p:sp>
        <p:nvSpPr>
          <p:cNvPr id="11" name="Text 9"/>
          <p:cNvSpPr/>
          <p:nvPr/>
        </p:nvSpPr>
        <p:spPr>
          <a:xfrm>
            <a:off x="6792913" y="5524976"/>
            <a:ext cx="5172392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81" kern="0" dirty="0">
                <a:solidFill>
                  <a:srgbClr val="C22A1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PRE-FLIGHTED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792913" y="5880576"/>
            <a:ext cx="484324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660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Record count, freshness &amp; integrity verified </a:t>
            </a:r>
            <a:pPr algn="l" indent="0" marL="0">
              <a:lnSpc>
                <a:spcPct val="127660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before </a:t>
            </a:r>
            <a:pPr algn="l" indent="0" marL="0">
              <a:lnSpc>
                <a:spcPct val="127660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any result is trusted.</a:t>
            </a:r>
            <a:endParaRPr lang="en-US" sz="1875" dirty="0"/>
          </a:p>
        </p:txBody>
      </p:sp>
      <p:sp>
        <p:nvSpPr>
          <p:cNvPr id="13" name="Text 11"/>
          <p:cNvSpPr/>
          <p:nvPr/>
        </p:nvSpPr>
        <p:spPr>
          <a:xfrm>
            <a:off x="12121357" y="5524976"/>
            <a:ext cx="5190728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81" kern="0" dirty="0">
                <a:solidFill>
                  <a:srgbClr val="C22A1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FAILS HONEST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2121357" y="5880576"/>
            <a:ext cx="4860409" cy="713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660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 bad DB yields </a:t>
            </a:r>
            <a:pPr algn="l" indent="0" marL="0">
              <a:lnSpc>
                <a:spcPct val="127660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indeterminate </a:t>
            </a:r>
            <a:pPr algn="l" indent="0" marL="0">
              <a:lnSpc>
                <a:spcPct val="127660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, not a false clean.</a:t>
            </a:r>
            <a:endParaRPr lang="en-US" sz="1875" dirty="0"/>
          </a:p>
        </p:txBody>
      </p:sp>
      <p:sp>
        <p:nvSpPr>
          <p:cNvPr id="15" name="Shape 13"/>
          <p:cNvSpPr/>
          <p:nvPr/>
        </p:nvSpPr>
        <p:spPr>
          <a:xfrm>
            <a:off x="1143000" y="9286875"/>
            <a:ext cx="16002000" cy="16669"/>
          </a:xfrm>
          <a:prstGeom prst="rect">
            <a:avLst/>
          </a:prstGeom>
          <a:solidFill>
            <a:srgbClr val="D3D0CF"/>
          </a:solidFill>
          <a:ln/>
        </p:spPr>
      </p:sp>
      <p:sp>
        <p:nvSpPr>
          <p:cNvPr id="16" name="Text 14"/>
          <p:cNvSpPr/>
          <p:nvPr/>
        </p:nvSpPr>
        <p:spPr>
          <a:xfrm>
            <a:off x="1143000" y="9455944"/>
            <a:ext cx="624840" cy="221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45" kern="0" dirty="0">
                <a:solidFill>
                  <a:srgbClr val="201E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WARDEN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8092440" y="9455944"/>
            <a:ext cx="1709928" cy="221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45" kern="0" dirty="0">
                <a:solidFill>
                  <a:srgbClr val="201E1D">
                    <a:alpha val="5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never false-green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16047720" y="9455944"/>
            <a:ext cx="1173480" cy="221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45" kern="0" dirty="0">
                <a:solidFill>
                  <a:srgbClr val="201E1D">
                    <a:alpha val="5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III · 13</a:t>
            </a:r>
            <a:endParaRPr lang="en-US" sz="11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487487"/>
            <a:ext cx="16002000" cy="27781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971550"/>
            <a:ext cx="433388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EC301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10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1728788" y="838200"/>
            <a:ext cx="7399385" cy="515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spc="-69" kern="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hardened subprocess seam</a:t>
            </a:r>
            <a:endParaRPr lang="en-US" sz="3450" dirty="0"/>
          </a:p>
        </p:txBody>
      </p:sp>
      <p:sp>
        <p:nvSpPr>
          <p:cNvPr id="5" name="Text 3"/>
          <p:cNvSpPr/>
          <p:nvPr/>
        </p:nvSpPr>
        <p:spPr>
          <a:xfrm>
            <a:off x="1143000" y="4488656"/>
            <a:ext cx="7966329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163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Engines are external binaries. Warden runs each behind a strict seam so a misbehaving engine can't corrupt a verdict.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143000" y="5584031"/>
            <a:ext cx="7966329" cy="7673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895"/>
              </a:lnSpc>
              <a:buNone/>
            </a:pPr>
            <a:r>
              <a:rPr lang="en-US" sz="1950" dirty="0">
                <a:solidFill>
                  <a:srgbClr val="201E1D">
                    <a:alpha val="72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Unavailable ≠ crashed ≠ clean. Each maps to a distinct typed error and </a:t>
            </a:r>
            <a:pPr algn="l" indent="0" marL="0">
              <a:lnSpc>
                <a:spcPct val="131895"/>
              </a:lnSpc>
              <a:buNone/>
            </a:pPr>
            <a:r>
              <a:rPr lang="en-US" sz="1950" dirty="0">
                <a:solidFill>
                  <a:srgbClr val="C22A1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exit 2 </a:t>
            </a:r>
            <a:pPr algn="l" indent="0" marL="0">
              <a:lnSpc>
                <a:spcPct val="131895"/>
              </a:lnSpc>
              <a:buNone/>
            </a:pPr>
            <a:r>
              <a:rPr lang="en-US" sz="1950" dirty="0">
                <a:solidFill>
                  <a:srgbClr val="201E1D">
                    <a:alpha val="72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— never a silent pass.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9410700" y="3754755"/>
            <a:ext cx="7734300" cy="708819"/>
          </a:xfrm>
          <a:prstGeom prst="rect">
            <a:avLst/>
          </a:prstGeom>
          <a:ln w="16669">
            <a:solidFill>
              <a:srgbClr val="201E1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75019" y="3961924"/>
            <a:ext cx="7437692" cy="3325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01E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no shell — explicit </a:t>
            </a:r>
            <a:pPr algn="l" indent="0" marL="0">
              <a:buNone/>
            </a:pPr>
            <a:r>
              <a:rPr lang="en-US" sz="1800" b="1" dirty="0">
                <a:solidFill>
                  <a:srgbClr val="201E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argv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410700" y="4615974"/>
            <a:ext cx="7734300" cy="708819"/>
          </a:xfrm>
          <a:prstGeom prst="rect">
            <a:avLst/>
          </a:prstGeom>
          <a:ln w="16669">
            <a:solidFill>
              <a:srgbClr val="201E1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75019" y="4823143"/>
            <a:ext cx="7437692" cy="3325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01E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timeouts + resource caps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410700" y="5477192"/>
            <a:ext cx="7734300" cy="708819"/>
          </a:xfrm>
          <a:prstGeom prst="rect">
            <a:avLst/>
          </a:prstGeom>
          <a:ln w="16669">
            <a:solidFill>
              <a:srgbClr val="201E1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75019" y="5684361"/>
            <a:ext cx="7437692" cy="3325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01E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captured stdout / stderr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410700" y="6338411"/>
            <a:ext cx="7734300" cy="708819"/>
          </a:xfrm>
          <a:prstGeom prst="rect">
            <a:avLst/>
          </a:prstGeom>
          <a:solidFill>
            <a:srgbClr val="FCE4DE"/>
          </a:solidFill>
          <a:ln w="16669">
            <a:solidFill>
              <a:srgbClr val="EC301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75019" y="6545580"/>
            <a:ext cx="7437692" cy="3325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01E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unavailable ≠ crash ≠ clean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143000" y="9286875"/>
            <a:ext cx="16002000" cy="16669"/>
          </a:xfrm>
          <a:prstGeom prst="rect">
            <a:avLst/>
          </a:prstGeom>
          <a:solidFill>
            <a:srgbClr val="D3D0CF"/>
          </a:solidFill>
          <a:ln/>
        </p:spPr>
      </p:sp>
      <p:sp>
        <p:nvSpPr>
          <p:cNvPr id="16" name="Text 14"/>
          <p:cNvSpPr/>
          <p:nvPr/>
        </p:nvSpPr>
        <p:spPr>
          <a:xfrm>
            <a:off x="1143000" y="9455944"/>
            <a:ext cx="624840" cy="221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45" kern="0" dirty="0">
                <a:solidFill>
                  <a:srgbClr val="201E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WARDEN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8092440" y="9455944"/>
            <a:ext cx="1709928" cy="221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45" kern="0" dirty="0">
                <a:solidFill>
                  <a:srgbClr val="201E1D">
                    <a:alpha val="5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never false-green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16047720" y="9455944"/>
            <a:ext cx="1173480" cy="221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45" kern="0" dirty="0">
                <a:solidFill>
                  <a:srgbClr val="201E1D">
                    <a:alpha val="5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III · 14</a:t>
            </a:r>
            <a:endParaRPr lang="en-US" sz="11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487487"/>
            <a:ext cx="16002000" cy="27781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971550"/>
            <a:ext cx="433388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EC301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11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1728788" y="838200"/>
            <a:ext cx="8371348" cy="515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spc="-69" kern="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Six manifest formats — read natively</a:t>
            </a:r>
            <a:endParaRPr lang="en-US" sz="3450" dirty="0"/>
          </a:p>
        </p:txBody>
      </p:sp>
      <p:sp>
        <p:nvSpPr>
          <p:cNvPr id="5" name="Text 3"/>
          <p:cNvSpPr/>
          <p:nvPr/>
        </p:nvSpPr>
        <p:spPr>
          <a:xfrm>
            <a:off x="1143000" y="3545364"/>
            <a:ext cx="15716250" cy="395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347"/>
              </a:lnSpc>
              <a:buNone/>
            </a:pPr>
            <a:r>
              <a:rPr lang="en-US" sz="1950" dirty="0">
                <a:solidFill>
                  <a:srgbClr val="201E1D">
                    <a:alpha val="70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manifest engine is the wedge — no engine parses conda / pixi. No untrusted input is executed: </a:t>
            </a:r>
            <a:pPr algn="l" indent="0" marL="0">
              <a:lnSpc>
                <a:spcPct val="127347"/>
              </a:lnSpc>
              <a:buNone/>
            </a:pPr>
            <a:r>
              <a:rPr lang="en-US" sz="1950" dirty="0">
                <a:solidFill>
                  <a:srgbClr val="C22A1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yaml.safe_load </a:t>
            </a:r>
            <a:pPr algn="l" indent="0" marL="0">
              <a:lnSpc>
                <a:spcPct val="127347"/>
              </a:lnSpc>
              <a:buNone/>
            </a:pPr>
            <a:r>
              <a:rPr lang="en-US" sz="1950" dirty="0">
                <a:solidFill>
                  <a:srgbClr val="201E1D">
                    <a:alpha val="70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only.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1143000" y="4169886"/>
            <a:ext cx="16002000" cy="16669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7" name="Shape 5"/>
          <p:cNvSpPr/>
          <p:nvPr/>
        </p:nvSpPr>
        <p:spPr>
          <a:xfrm>
            <a:off x="1143000" y="4169886"/>
            <a:ext cx="16669" cy="3086894"/>
          </a:xfrm>
          <a:prstGeom prst="rect">
            <a:avLst/>
          </a:prstGeom>
          <a:solidFill>
            <a:srgbClr val="D3D0CF"/>
          </a:solidFill>
          <a:ln/>
        </p:spPr>
      </p:sp>
      <p:sp>
        <p:nvSpPr>
          <p:cNvPr id="8" name="Shape 6"/>
          <p:cNvSpPr/>
          <p:nvPr/>
        </p:nvSpPr>
        <p:spPr>
          <a:xfrm>
            <a:off x="1159669" y="5704999"/>
            <a:ext cx="5328444" cy="16669"/>
          </a:xfrm>
          <a:prstGeom prst="rect">
            <a:avLst/>
          </a:prstGeom>
          <a:solidFill>
            <a:srgbClr val="D3D0CF"/>
          </a:solidFill>
          <a:ln/>
        </p:spPr>
      </p:sp>
      <p:sp>
        <p:nvSpPr>
          <p:cNvPr id="9" name="Shape 7"/>
          <p:cNvSpPr/>
          <p:nvPr/>
        </p:nvSpPr>
        <p:spPr>
          <a:xfrm>
            <a:off x="6471444" y="4186555"/>
            <a:ext cx="16669" cy="1535112"/>
          </a:xfrm>
          <a:prstGeom prst="rect">
            <a:avLst/>
          </a:prstGeom>
          <a:solidFill>
            <a:srgbClr val="D3D0CF"/>
          </a:solidFill>
          <a:ln/>
        </p:spPr>
      </p:sp>
      <p:sp>
        <p:nvSpPr>
          <p:cNvPr id="10" name="Text 8"/>
          <p:cNvSpPr/>
          <p:nvPr/>
        </p:nvSpPr>
        <p:spPr>
          <a:xfrm>
            <a:off x="1445419" y="4434205"/>
            <a:ext cx="5214303" cy="360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01E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pyproject.toml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445419" y="4851718"/>
            <a:ext cx="5214303" cy="288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01E1D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PEP 621 · Poetry · PDM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45419" y="5235099"/>
            <a:ext cx="5214303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C22A1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tomllib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88113" y="5704999"/>
            <a:ext cx="5328443" cy="16669"/>
          </a:xfrm>
          <a:prstGeom prst="rect">
            <a:avLst/>
          </a:prstGeom>
          <a:solidFill>
            <a:srgbClr val="D3D0CF"/>
          </a:solidFill>
          <a:ln/>
        </p:spPr>
      </p:sp>
      <p:sp>
        <p:nvSpPr>
          <p:cNvPr id="14" name="Shape 12"/>
          <p:cNvSpPr/>
          <p:nvPr/>
        </p:nvSpPr>
        <p:spPr>
          <a:xfrm>
            <a:off x="11799887" y="4186555"/>
            <a:ext cx="16669" cy="1535112"/>
          </a:xfrm>
          <a:prstGeom prst="rect">
            <a:avLst/>
          </a:prstGeom>
          <a:solidFill>
            <a:srgbClr val="D3D0CF"/>
          </a:solidFill>
          <a:ln/>
        </p:spPr>
      </p:sp>
      <p:sp>
        <p:nvSpPr>
          <p:cNvPr id="15" name="Text 13"/>
          <p:cNvSpPr/>
          <p:nvPr/>
        </p:nvSpPr>
        <p:spPr>
          <a:xfrm>
            <a:off x="6773863" y="4434205"/>
            <a:ext cx="5214302" cy="360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01E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pixi.toml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6773863" y="4851718"/>
            <a:ext cx="5214302" cy="288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01E1D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deps · pypi-deps · features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773863" y="5235099"/>
            <a:ext cx="5214302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C22A1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tomllib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11816557" y="5704999"/>
            <a:ext cx="5328444" cy="16669"/>
          </a:xfrm>
          <a:prstGeom prst="rect">
            <a:avLst/>
          </a:prstGeom>
          <a:solidFill>
            <a:srgbClr val="D3D0CF"/>
          </a:solidFill>
          <a:ln/>
        </p:spPr>
      </p:sp>
      <p:sp>
        <p:nvSpPr>
          <p:cNvPr id="19" name="Shape 17"/>
          <p:cNvSpPr/>
          <p:nvPr/>
        </p:nvSpPr>
        <p:spPr>
          <a:xfrm>
            <a:off x="17128332" y="4186555"/>
            <a:ext cx="16669" cy="1535112"/>
          </a:xfrm>
          <a:prstGeom prst="rect">
            <a:avLst/>
          </a:prstGeom>
          <a:solidFill>
            <a:srgbClr val="D3D0CF"/>
          </a:solidFill>
          <a:ln/>
        </p:spPr>
      </p:sp>
      <p:sp>
        <p:nvSpPr>
          <p:cNvPr id="20" name="Text 18"/>
          <p:cNvSpPr/>
          <p:nvPr/>
        </p:nvSpPr>
        <p:spPr>
          <a:xfrm>
            <a:off x="12102307" y="4434205"/>
            <a:ext cx="5214303" cy="360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01E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requirements.txt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12102307" y="4851718"/>
            <a:ext cx="5214303" cy="288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01E1D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one requirement per line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102307" y="5235099"/>
            <a:ext cx="5214303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C22A1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line-parse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1159669" y="7240111"/>
            <a:ext cx="5328444" cy="16669"/>
          </a:xfrm>
          <a:prstGeom prst="rect">
            <a:avLst/>
          </a:prstGeom>
          <a:solidFill>
            <a:srgbClr val="D3D0CF"/>
          </a:solidFill>
          <a:ln/>
        </p:spPr>
      </p:sp>
      <p:sp>
        <p:nvSpPr>
          <p:cNvPr id="24" name="Shape 22"/>
          <p:cNvSpPr/>
          <p:nvPr/>
        </p:nvSpPr>
        <p:spPr>
          <a:xfrm>
            <a:off x="6471444" y="5721668"/>
            <a:ext cx="16669" cy="1535113"/>
          </a:xfrm>
          <a:prstGeom prst="rect">
            <a:avLst/>
          </a:prstGeom>
          <a:solidFill>
            <a:srgbClr val="D3D0CF"/>
          </a:solidFill>
          <a:ln/>
        </p:spPr>
      </p:sp>
      <p:sp>
        <p:nvSpPr>
          <p:cNvPr id="25" name="Text 23"/>
          <p:cNvSpPr/>
          <p:nvPr/>
        </p:nvSpPr>
        <p:spPr>
          <a:xfrm>
            <a:off x="1445419" y="5969318"/>
            <a:ext cx="5214303" cy="3603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01E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environment.yml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1445419" y="6386830"/>
            <a:ext cx="5214303" cy="288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01E1D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deps + nested pip: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445419" y="6770211"/>
            <a:ext cx="5214303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C22A1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safe_load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488113" y="5721668"/>
            <a:ext cx="5328443" cy="1535113"/>
          </a:xfrm>
          <a:prstGeom prst="rect">
            <a:avLst/>
          </a:prstGeom>
          <a:solidFill>
            <a:srgbClr val="FCE4DE"/>
          </a:solidFill>
          <a:ln/>
        </p:spPr>
      </p:sp>
      <p:sp>
        <p:nvSpPr>
          <p:cNvPr id="29" name="Shape 27"/>
          <p:cNvSpPr/>
          <p:nvPr/>
        </p:nvSpPr>
        <p:spPr>
          <a:xfrm>
            <a:off x="6488113" y="7240111"/>
            <a:ext cx="5328443" cy="16669"/>
          </a:xfrm>
          <a:prstGeom prst="rect">
            <a:avLst/>
          </a:prstGeom>
          <a:solidFill>
            <a:srgbClr val="D3D0CF"/>
          </a:solidFill>
          <a:ln/>
        </p:spPr>
      </p:sp>
      <p:sp>
        <p:nvSpPr>
          <p:cNvPr id="30" name="Shape 28"/>
          <p:cNvSpPr/>
          <p:nvPr/>
        </p:nvSpPr>
        <p:spPr>
          <a:xfrm>
            <a:off x="11799887" y="5721668"/>
            <a:ext cx="16669" cy="1535113"/>
          </a:xfrm>
          <a:prstGeom prst="rect">
            <a:avLst/>
          </a:prstGeom>
          <a:solidFill>
            <a:srgbClr val="D3D0CF"/>
          </a:solidFill>
          <a:ln/>
        </p:spPr>
      </p:sp>
      <p:sp>
        <p:nvSpPr>
          <p:cNvPr id="31" name="Text 29"/>
          <p:cNvSpPr/>
          <p:nvPr/>
        </p:nvSpPr>
        <p:spPr>
          <a:xfrm>
            <a:off x="6773863" y="5969318"/>
            <a:ext cx="5214302" cy="3603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01E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meta.yaml </a:t>
            </a:r>
            <a:pPr algn="l" indent="0" marL="0">
              <a:buNone/>
            </a:pPr>
            <a:r>
              <a:rPr lang="en-US" sz="1950" b="1" dirty="0">
                <a:solidFill>
                  <a:srgbClr val="C22A1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v0</a:t>
            </a:r>
            <a:endParaRPr lang="en-US" sz="1950" dirty="0"/>
          </a:p>
        </p:txBody>
      </p:sp>
      <p:sp>
        <p:nvSpPr>
          <p:cNvPr id="32" name="Text 30"/>
          <p:cNvSpPr/>
          <p:nvPr/>
        </p:nvSpPr>
        <p:spPr>
          <a:xfrm>
            <a:off x="6773863" y="6386830"/>
            <a:ext cx="5214302" cy="288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01E1D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jinja + # [selector]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773863" y="6770211"/>
            <a:ext cx="5214302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C22A1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neutralize → safe_load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11816557" y="7240111"/>
            <a:ext cx="5328444" cy="16669"/>
          </a:xfrm>
          <a:prstGeom prst="rect">
            <a:avLst/>
          </a:prstGeom>
          <a:solidFill>
            <a:srgbClr val="D3D0CF"/>
          </a:solidFill>
          <a:ln/>
        </p:spPr>
      </p:sp>
      <p:sp>
        <p:nvSpPr>
          <p:cNvPr id="35" name="Shape 33"/>
          <p:cNvSpPr/>
          <p:nvPr/>
        </p:nvSpPr>
        <p:spPr>
          <a:xfrm>
            <a:off x="17128332" y="5721668"/>
            <a:ext cx="16669" cy="1535113"/>
          </a:xfrm>
          <a:prstGeom prst="rect">
            <a:avLst/>
          </a:prstGeom>
          <a:solidFill>
            <a:srgbClr val="D3D0CF"/>
          </a:solidFill>
          <a:ln/>
        </p:spPr>
      </p:sp>
      <p:sp>
        <p:nvSpPr>
          <p:cNvPr id="36" name="Text 34"/>
          <p:cNvSpPr/>
          <p:nvPr/>
        </p:nvSpPr>
        <p:spPr>
          <a:xfrm>
            <a:off x="12102307" y="5969318"/>
            <a:ext cx="5214303" cy="3603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01E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recipe.yaml </a:t>
            </a:r>
            <a:pPr algn="l" indent="0" marL="0">
              <a:buNone/>
            </a:pPr>
            <a:r>
              <a:rPr lang="en-US" sz="1950" b="1" dirty="0">
                <a:solidFill>
                  <a:srgbClr val="C22A1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v1</a:t>
            </a:r>
            <a:endParaRPr lang="en-US" sz="1950" dirty="0"/>
          </a:p>
        </p:txBody>
      </p:sp>
      <p:sp>
        <p:nvSpPr>
          <p:cNvPr id="37" name="Text 35"/>
          <p:cNvSpPr/>
          <p:nvPr/>
        </p:nvSpPr>
        <p:spPr>
          <a:xfrm>
            <a:off x="12102307" y="6386830"/>
            <a:ext cx="5214303" cy="288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01E1D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requirements: run: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12102307" y="6770211"/>
            <a:ext cx="5214303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C22A1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safe_load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1143000" y="9286875"/>
            <a:ext cx="16002000" cy="16669"/>
          </a:xfrm>
          <a:prstGeom prst="rect">
            <a:avLst/>
          </a:prstGeom>
          <a:solidFill>
            <a:srgbClr val="D3D0CF"/>
          </a:solidFill>
          <a:ln/>
        </p:spPr>
      </p:sp>
      <p:sp>
        <p:nvSpPr>
          <p:cNvPr id="40" name="Text 38"/>
          <p:cNvSpPr/>
          <p:nvPr/>
        </p:nvSpPr>
        <p:spPr>
          <a:xfrm>
            <a:off x="1143000" y="9455944"/>
            <a:ext cx="624840" cy="221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45" kern="0" dirty="0">
                <a:solidFill>
                  <a:srgbClr val="201E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WARDEN</a:t>
            </a:r>
            <a:endParaRPr lang="en-US" sz="1125" dirty="0"/>
          </a:p>
        </p:txBody>
      </p:sp>
      <p:sp>
        <p:nvSpPr>
          <p:cNvPr id="41" name="Text 39"/>
          <p:cNvSpPr/>
          <p:nvPr/>
        </p:nvSpPr>
        <p:spPr>
          <a:xfrm>
            <a:off x="8092440" y="9455944"/>
            <a:ext cx="1709928" cy="221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45" kern="0" dirty="0">
                <a:solidFill>
                  <a:srgbClr val="201E1D">
                    <a:alpha val="5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never false-green</a:t>
            </a:r>
            <a:endParaRPr lang="en-US" sz="1125" dirty="0"/>
          </a:p>
        </p:txBody>
      </p:sp>
      <p:sp>
        <p:nvSpPr>
          <p:cNvPr id="42" name="Text 40"/>
          <p:cNvSpPr/>
          <p:nvPr/>
        </p:nvSpPr>
        <p:spPr>
          <a:xfrm>
            <a:off x="16047720" y="9455944"/>
            <a:ext cx="1173480" cy="221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45" kern="0" dirty="0">
                <a:solidFill>
                  <a:srgbClr val="201E1D">
                    <a:alpha val="5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III · 15</a:t>
            </a:r>
            <a:endParaRPr lang="en-US" sz="112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487487"/>
            <a:ext cx="16002000" cy="27781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971550"/>
            <a:ext cx="433388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EC301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12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1728788" y="838200"/>
            <a:ext cx="9730454" cy="515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spc="-69" kern="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Three rings — scan the whole supply chain</a:t>
            </a:r>
            <a:endParaRPr lang="en-US" sz="3450" dirty="0"/>
          </a:p>
        </p:txBody>
      </p:sp>
      <p:sp>
        <p:nvSpPr>
          <p:cNvPr id="5" name="Text 3"/>
          <p:cNvSpPr/>
          <p:nvPr/>
        </p:nvSpPr>
        <p:spPr>
          <a:xfrm>
            <a:off x="1143000" y="4018915"/>
            <a:ext cx="159258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231"/>
              </a:lnSpc>
              <a:buNone/>
            </a:pPr>
            <a:r>
              <a:rPr lang="en-US" sz="2100" dirty="0">
                <a:solidFill>
                  <a:srgbClr val="201E1D">
                    <a:alpha val="72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further out Warden scans, the more it </a:t>
            </a:r>
            <a:pPr algn="l" indent="0" marL="0">
              <a:lnSpc>
                <a:spcPct val="129231"/>
              </a:lnSpc>
              <a:buNone/>
            </a:pPr>
            <a:r>
              <a:rPr lang="en-US" sz="210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prevents </a:t>
            </a:r>
            <a:pPr algn="l" indent="0" marL="0">
              <a:lnSpc>
                <a:spcPct val="129231"/>
              </a:lnSpc>
              <a:buNone/>
            </a:pPr>
            <a:r>
              <a:rPr lang="en-US" sz="2100" dirty="0">
                <a:solidFill>
                  <a:srgbClr val="201E1D">
                    <a:alpha val="72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rather than reports.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143000" y="4697095"/>
            <a:ext cx="4570730" cy="2086134"/>
          </a:xfrm>
          <a:prstGeom prst="rect">
            <a:avLst/>
          </a:prstGeom>
          <a:ln w="16669">
            <a:solidFill>
              <a:srgbClr val="B6B3B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9669" y="4713764"/>
            <a:ext cx="4537393" cy="989806"/>
          </a:xfrm>
          <a:prstGeom prst="rect">
            <a:avLst/>
          </a:prstGeom>
          <a:solidFill>
            <a:srgbClr val="DEDBDA"/>
          </a:solidFill>
          <a:ln/>
        </p:spPr>
      </p:sp>
      <p:sp>
        <p:nvSpPr>
          <p:cNvPr id="8" name="Text 6"/>
          <p:cNvSpPr/>
          <p:nvPr/>
        </p:nvSpPr>
        <p:spPr>
          <a:xfrm>
            <a:off x="1407319" y="4923313"/>
            <a:ext cx="1634490" cy="221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56" kern="0" dirty="0">
                <a:solidFill>
                  <a:srgbClr val="201E1D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OUTSIDE FIREWALL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4892199" y="4923313"/>
            <a:ext cx="633413" cy="221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56" kern="0" dirty="0">
                <a:solidFill>
                  <a:srgbClr val="201E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VISION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1407319" y="5182870"/>
            <a:ext cx="4446302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Public upstream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407319" y="5932170"/>
            <a:ext cx="4178214" cy="6438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780"/>
              </a:lnSpc>
              <a:buNone/>
            </a:pPr>
            <a:r>
              <a:rPr lang="en-US" sz="165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Scan </a:t>
            </a:r>
            <a:pPr algn="l" indent="0" marL="0">
              <a:lnSpc>
                <a:spcPct val="128780"/>
              </a:lnSpc>
              <a:buNone/>
            </a:pPr>
            <a:r>
              <a:rPr lang="en-US" sz="165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PyPI &amp; conda-forge </a:t>
            </a:r>
            <a:pPr algn="l" indent="0" marL="0">
              <a:lnSpc>
                <a:spcPct val="128780"/>
              </a:lnSpc>
              <a:buNone/>
            </a:pPr>
            <a:r>
              <a:rPr lang="en-US" sz="165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— malicious, typosquat, name-squat &amp; stale feedstocks.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6130449" y="5430996"/>
            <a:ext cx="347504" cy="4214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EC301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→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5866130" y="5871528"/>
            <a:ext cx="876300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C22A1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BLOCKLISTS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818630" y="4697095"/>
            <a:ext cx="4570730" cy="2086134"/>
          </a:xfrm>
          <a:prstGeom prst="rect">
            <a:avLst/>
          </a:prstGeom>
          <a:ln w="16669">
            <a:solidFill>
              <a:srgbClr val="EC301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35299" y="4713764"/>
            <a:ext cx="4537393" cy="1008856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16" name="Text 14"/>
          <p:cNvSpPr/>
          <p:nvPr/>
        </p:nvSpPr>
        <p:spPr>
          <a:xfrm>
            <a:off x="7082949" y="4923313"/>
            <a:ext cx="1190625" cy="240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56" kern="0" dirty="0">
                <a:solidFill>
                  <a:srgbClr val="F3F2F2">
                    <a:alpha val="8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FIREWALL</a:t>
            </a:r>
            <a:endParaRPr lang="en-US" sz="1125" dirty="0"/>
          </a:p>
        </p:txBody>
      </p:sp>
      <p:sp>
        <p:nvSpPr>
          <p:cNvPr id="17" name="Shape 15"/>
          <p:cNvSpPr/>
          <p:nvPr/>
        </p:nvSpPr>
        <p:spPr>
          <a:xfrm>
            <a:off x="10601167" y="4923313"/>
            <a:ext cx="523875" cy="202406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18" name="Text 16"/>
          <p:cNvSpPr/>
          <p:nvPr/>
        </p:nvSpPr>
        <p:spPr>
          <a:xfrm>
            <a:off x="10677367" y="4932838"/>
            <a:ext cx="423863" cy="221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56" kern="0" dirty="0">
                <a:solidFill>
                  <a:srgbClr val="EC301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V1.X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7082949" y="5201920"/>
            <a:ext cx="4446302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3F2F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Registry perimeter</a:t>
            </a:r>
            <a:endParaRPr lang="en-US" sz="2250" dirty="0"/>
          </a:p>
        </p:txBody>
      </p:sp>
      <p:sp>
        <p:nvSpPr>
          <p:cNvPr id="20" name="Shape 18"/>
          <p:cNvSpPr/>
          <p:nvPr/>
        </p:nvSpPr>
        <p:spPr>
          <a:xfrm>
            <a:off x="6835299" y="5722620"/>
            <a:ext cx="4537393" cy="1043940"/>
          </a:xfrm>
          <a:prstGeom prst="rect">
            <a:avLst/>
          </a:prstGeom>
          <a:solidFill>
            <a:srgbClr val="FCE4DE"/>
          </a:solidFill>
          <a:ln/>
        </p:spPr>
      </p:sp>
      <p:sp>
        <p:nvSpPr>
          <p:cNvPr id="21" name="Text 19"/>
          <p:cNvSpPr/>
          <p:nvPr/>
        </p:nvSpPr>
        <p:spPr>
          <a:xfrm>
            <a:off x="7082949" y="5951220"/>
            <a:ext cx="4178214" cy="624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780"/>
              </a:lnSpc>
              <a:buNone/>
            </a:pPr>
            <a:r>
              <a:rPr lang="en-US" sz="1650" dirty="0">
                <a:solidFill>
                  <a:srgbClr val="201E1D"/>
                </a:solidFill>
                <a:highlight>
                  <a:srgbClr val="FCE4DE"/>
                </a:highlight>
                <a:latin typeface="Archivo" pitchFamily="34" charset="0"/>
                <a:ea typeface="Archivo" pitchFamily="34" charset="-122"/>
                <a:cs typeface="Archivo" pitchFamily="34" charset="-120"/>
              </a:rPr>
              <a:t>Block / allow lists on </a:t>
            </a:r>
            <a:pPr algn="l" indent="0" marL="0">
              <a:lnSpc>
                <a:spcPct val="128780"/>
              </a:lnSpc>
              <a:buNone/>
            </a:pPr>
            <a:r>
              <a:rPr lang="en-US" sz="165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Artifactory / JFrog </a:t>
            </a:r>
            <a:pPr algn="l" indent="0" marL="0">
              <a:lnSpc>
                <a:spcPct val="128780"/>
              </a:lnSpc>
              <a:buNone/>
            </a:pPr>
            <a:r>
              <a:rPr lang="en-US" sz="1650" dirty="0">
                <a:solidFill>
                  <a:srgbClr val="201E1D"/>
                </a:solidFill>
                <a:highlight>
                  <a:srgbClr val="FCE4DE"/>
                </a:highlight>
                <a:latin typeface="Archivo" pitchFamily="34" charset="0"/>
                <a:ea typeface="Archivo" pitchFamily="34" charset="-122"/>
                <a:cs typeface="Archivo" pitchFamily="34" charset="-120"/>
              </a:rPr>
              <a:t>— a census of everything that enters.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11846084" y="5430996"/>
            <a:ext cx="347504" cy="4214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EC301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→</a:t>
            </a:r>
            <a:endParaRPr lang="en-US" sz="2550" dirty="0"/>
          </a:p>
        </p:txBody>
      </p:sp>
      <p:sp>
        <p:nvSpPr>
          <p:cNvPr id="23" name="Text 21"/>
          <p:cNvSpPr/>
          <p:nvPr/>
        </p:nvSpPr>
        <p:spPr>
          <a:xfrm>
            <a:off x="11541761" y="5871528"/>
            <a:ext cx="956310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C22A1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CLEAN PULLS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2574270" y="4697095"/>
            <a:ext cx="4570730" cy="2086134"/>
          </a:xfrm>
          <a:prstGeom prst="rect">
            <a:avLst/>
          </a:prstGeom>
          <a:ln w="16669">
            <a:solidFill>
              <a:srgbClr val="201E1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590938" y="4713764"/>
            <a:ext cx="4537393" cy="1008856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26" name="Text 24"/>
          <p:cNvSpPr/>
          <p:nvPr/>
        </p:nvSpPr>
        <p:spPr>
          <a:xfrm>
            <a:off x="12838588" y="4923313"/>
            <a:ext cx="633413" cy="240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56" kern="0" dirty="0">
                <a:solidFill>
                  <a:srgbClr val="F3F2F2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INSIDE</a:t>
            </a:r>
            <a:endParaRPr lang="en-US" sz="1125" dirty="0"/>
          </a:p>
        </p:txBody>
      </p:sp>
      <p:sp>
        <p:nvSpPr>
          <p:cNvPr id="27" name="Shape 25"/>
          <p:cNvSpPr/>
          <p:nvPr/>
        </p:nvSpPr>
        <p:spPr>
          <a:xfrm>
            <a:off x="16263937" y="4923313"/>
            <a:ext cx="616744" cy="202406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28" name="Text 26"/>
          <p:cNvSpPr/>
          <p:nvPr/>
        </p:nvSpPr>
        <p:spPr>
          <a:xfrm>
            <a:off x="16340137" y="4932838"/>
            <a:ext cx="526018" cy="221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56" kern="0" dirty="0">
                <a:solidFill>
                  <a:srgbClr val="F3F2F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TODAY</a:t>
            </a:r>
            <a:endParaRPr lang="en-US" sz="1125" dirty="0"/>
          </a:p>
        </p:txBody>
      </p:sp>
      <p:sp>
        <p:nvSpPr>
          <p:cNvPr id="29" name="Text 27"/>
          <p:cNvSpPr/>
          <p:nvPr/>
        </p:nvSpPr>
        <p:spPr>
          <a:xfrm>
            <a:off x="12838588" y="5201920"/>
            <a:ext cx="4446302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3F2F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Consumption edge</a:t>
            </a:r>
            <a:endParaRPr lang="en-US" sz="2250" dirty="0"/>
          </a:p>
        </p:txBody>
      </p:sp>
      <p:sp>
        <p:nvSpPr>
          <p:cNvPr id="30" name="Text 28"/>
          <p:cNvSpPr/>
          <p:nvPr/>
        </p:nvSpPr>
        <p:spPr>
          <a:xfrm>
            <a:off x="12838588" y="5951220"/>
            <a:ext cx="4178214" cy="624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780"/>
              </a:lnSpc>
              <a:buNone/>
            </a:pPr>
            <a:r>
              <a:rPr lang="en-US" sz="165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Scan </a:t>
            </a:r>
            <a:pPr algn="l" indent="0" marL="0">
              <a:lnSpc>
                <a:spcPct val="128780"/>
              </a:lnSpc>
              <a:buNone/>
            </a:pPr>
            <a:r>
              <a:rPr lang="en-US" sz="165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repos, desktops &amp; CI </a:t>
            </a:r>
            <a:pPr algn="l" indent="0" marL="0">
              <a:lnSpc>
                <a:spcPct val="128780"/>
              </a:lnSpc>
              <a:buNone/>
            </a:pPr>
            <a:r>
              <a:rPr lang="en-US" sz="165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— the axes on what apps actually pull.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1143000" y="9286875"/>
            <a:ext cx="16002000" cy="16669"/>
          </a:xfrm>
          <a:prstGeom prst="rect">
            <a:avLst/>
          </a:prstGeom>
          <a:solidFill>
            <a:srgbClr val="D3D0CF"/>
          </a:solidFill>
          <a:ln/>
        </p:spPr>
      </p:sp>
      <p:sp>
        <p:nvSpPr>
          <p:cNvPr id="32" name="Text 30"/>
          <p:cNvSpPr/>
          <p:nvPr/>
        </p:nvSpPr>
        <p:spPr>
          <a:xfrm>
            <a:off x="1143000" y="9455944"/>
            <a:ext cx="624840" cy="221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45" kern="0" dirty="0">
                <a:solidFill>
                  <a:srgbClr val="201E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WARDEN</a:t>
            </a:r>
            <a:endParaRPr lang="en-US" sz="1125" dirty="0"/>
          </a:p>
        </p:txBody>
      </p:sp>
      <p:sp>
        <p:nvSpPr>
          <p:cNvPr id="33" name="Text 31"/>
          <p:cNvSpPr/>
          <p:nvPr/>
        </p:nvSpPr>
        <p:spPr>
          <a:xfrm>
            <a:off x="8092440" y="9455944"/>
            <a:ext cx="1709928" cy="221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45" kern="0" dirty="0">
                <a:solidFill>
                  <a:srgbClr val="201E1D">
                    <a:alpha val="5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never false-green</a:t>
            </a:r>
            <a:endParaRPr lang="en-US" sz="1125" dirty="0"/>
          </a:p>
        </p:txBody>
      </p:sp>
      <p:sp>
        <p:nvSpPr>
          <p:cNvPr id="34" name="Text 32"/>
          <p:cNvSpPr/>
          <p:nvPr/>
        </p:nvSpPr>
        <p:spPr>
          <a:xfrm>
            <a:off x="16047720" y="9455944"/>
            <a:ext cx="1173480" cy="221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45" kern="0" dirty="0">
                <a:solidFill>
                  <a:srgbClr val="201E1D">
                    <a:alpha val="5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III · 16</a:t>
            </a:r>
            <a:endParaRPr lang="en-US" sz="112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C3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40937" y="-1333500"/>
            <a:ext cx="8652669" cy="6896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072"/>
              </a:lnSpc>
              <a:buNone/>
            </a:pPr>
            <a:r>
              <a:rPr lang="en-US" sz="40000" b="1" dirty="0">
                <a:solidFill>
                  <a:srgbClr val="F3F2F2">
                    <a:alpha val="13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IV</a:t>
            </a:r>
            <a:endParaRPr lang="en-US" sz="40000" dirty="0"/>
          </a:p>
        </p:txBody>
      </p:sp>
      <p:sp>
        <p:nvSpPr>
          <p:cNvPr id="3" name="Text 1"/>
          <p:cNvSpPr/>
          <p:nvPr/>
        </p:nvSpPr>
        <p:spPr>
          <a:xfrm>
            <a:off x="1143000" y="914400"/>
            <a:ext cx="17602200" cy="3103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64" kern="0" dirty="0">
                <a:solidFill>
                  <a:srgbClr val="F3F2F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IV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43000" y="3396615"/>
            <a:ext cx="16482060" cy="21961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72"/>
              </a:lnSpc>
              <a:buNone/>
            </a:pPr>
            <a:r>
              <a:rPr lang="en-US" sz="8850" b="1" spc="-177" kern="0" dirty="0">
                <a:solidFill>
                  <a:srgbClr val="F3F2F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Offline by default</a:t>
            </a:r>
            <a:endParaRPr lang="en-US" sz="8850" dirty="0"/>
          </a:p>
        </p:txBody>
      </p:sp>
      <p:sp>
        <p:nvSpPr>
          <p:cNvPr id="5" name="Text 3"/>
          <p:cNvSpPr/>
          <p:nvPr/>
        </p:nvSpPr>
        <p:spPr>
          <a:xfrm>
            <a:off x="1143000" y="5897563"/>
            <a:ext cx="10988040" cy="9124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898"/>
              </a:lnSpc>
              <a:buNone/>
            </a:pPr>
            <a:r>
              <a:rPr lang="en-US" sz="2550" dirty="0">
                <a:solidFill>
                  <a:srgbClr val="F3F2F2">
                    <a:alpha val="94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Deny-by-default egress, deterministic runs, a pre-flighted database. Trust that survives the air gap.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1143000" y="8982075"/>
            <a:ext cx="16002000" cy="16669"/>
          </a:xfrm>
          <a:prstGeom prst="rect">
            <a:avLst/>
          </a:prstGeom>
          <a:solidFill>
            <a:srgbClr val="F3F2F2">
              <a:alpha val="4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9189244"/>
            <a:ext cx="633413" cy="221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56" kern="0" dirty="0">
                <a:solidFill>
                  <a:srgbClr val="F3F2F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WARDEN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8122444" y="9189244"/>
            <a:ext cx="1736646" cy="221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56" kern="0" dirty="0">
                <a:solidFill>
                  <a:srgbClr val="F3F2F2">
                    <a:alpha val="8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never false-green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16123444" y="9189244"/>
            <a:ext cx="1097756" cy="221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56" kern="0" dirty="0">
                <a:solidFill>
                  <a:srgbClr val="F3F2F2">
                    <a:alpha val="8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IV · 17</a:t>
            </a:r>
            <a:endParaRPr lang="en-US" sz="11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487487"/>
            <a:ext cx="16002000" cy="27781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971550"/>
            <a:ext cx="433388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EC301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13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1728788" y="838200"/>
            <a:ext cx="5370068" cy="515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spc="-69" kern="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Deny-by-default egress</a:t>
            </a:r>
            <a:endParaRPr lang="en-US" sz="3450" dirty="0"/>
          </a:p>
        </p:txBody>
      </p:sp>
      <p:sp>
        <p:nvSpPr>
          <p:cNvPr id="5" name="Text 3"/>
          <p:cNvSpPr/>
          <p:nvPr/>
        </p:nvSpPr>
        <p:spPr>
          <a:xfrm>
            <a:off x="1143000" y="4494212"/>
            <a:ext cx="7966329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163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 scan makes </a:t>
            </a:r>
            <a:pPr algn="l" indent="0" marL="0">
              <a:lnSpc>
                <a:spcPct val="133163"/>
              </a:lnSpc>
              <a:buNone/>
            </a:pPr>
            <a:r>
              <a:rPr lang="en-US" sz="225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no network calls </a:t>
            </a:r>
            <a:pPr algn="l" indent="0" marL="0">
              <a:lnSpc>
                <a:spcPct val="133163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. Database and engines are provisioned ahead of time as declared dependencies.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143000" y="5589587"/>
            <a:ext cx="7966329" cy="7562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895"/>
              </a:lnSpc>
              <a:buNone/>
            </a:pPr>
            <a:r>
              <a:rPr lang="en-US" sz="1950" dirty="0">
                <a:solidFill>
                  <a:srgbClr val="201E1D">
                    <a:alpha val="72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Any online behavior is </a:t>
            </a:r>
            <a:pPr algn="l" indent="0" marL="0">
              <a:lnSpc>
                <a:spcPct val="131895"/>
              </a:lnSpc>
              <a:buNone/>
            </a:pPr>
            <a:r>
              <a:rPr lang="en-US" sz="1950" b="1" dirty="0">
                <a:solidFill>
                  <a:srgbClr val="201E1D">
                    <a:alpha val="72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opt-in and explicit </a:t>
            </a:r>
            <a:pPr algn="l" indent="0" marL="0">
              <a:lnSpc>
                <a:spcPct val="131895"/>
              </a:lnSpc>
              <a:buNone/>
            </a:pPr>
            <a:r>
              <a:rPr lang="en-US" sz="1950" dirty="0">
                <a:solidFill>
                  <a:srgbClr val="201E1D">
                    <a:alpha val="72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— never silent. Safe by construction in regulated and air-gapped estates.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9410700" y="3540443"/>
            <a:ext cx="7734300" cy="801688"/>
          </a:xfrm>
          <a:prstGeom prst="rect">
            <a:avLst/>
          </a:prstGeom>
          <a:ln w="16669">
            <a:solidFill>
              <a:srgbClr val="201E1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94069" y="3785711"/>
            <a:ext cx="2200275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201E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network egress</a:t>
            </a:r>
            <a:endParaRPr lang="en-US" sz="1875" dirty="0"/>
          </a:p>
        </p:txBody>
      </p:sp>
      <p:sp>
        <p:nvSpPr>
          <p:cNvPr id="9" name="Text 7"/>
          <p:cNvSpPr/>
          <p:nvPr/>
        </p:nvSpPr>
        <p:spPr>
          <a:xfrm>
            <a:off x="16290131" y="3785711"/>
            <a:ext cx="647700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C22A1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DENY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410700" y="4513580"/>
            <a:ext cx="7734300" cy="801688"/>
          </a:xfrm>
          <a:prstGeom prst="rect">
            <a:avLst/>
          </a:prstGeom>
          <a:ln w="16669">
            <a:solidFill>
              <a:srgbClr val="201E1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94069" y="4758849"/>
            <a:ext cx="1885950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201E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OSV database</a:t>
            </a:r>
            <a:endParaRPr lang="en-US" sz="1875" dirty="0"/>
          </a:p>
        </p:txBody>
      </p:sp>
      <p:sp>
        <p:nvSpPr>
          <p:cNvPr id="12" name="Text 10"/>
          <p:cNvSpPr/>
          <p:nvPr/>
        </p:nvSpPr>
        <p:spPr>
          <a:xfrm>
            <a:off x="16147256" y="4758849"/>
            <a:ext cx="790575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1A7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LOCAL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9410700" y="5486717"/>
            <a:ext cx="7734300" cy="801687"/>
          </a:xfrm>
          <a:prstGeom prst="rect">
            <a:avLst/>
          </a:prstGeom>
          <a:ln w="16669">
            <a:solidFill>
              <a:srgbClr val="201E1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94069" y="5731986"/>
            <a:ext cx="1076325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201E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engines</a:t>
            </a:r>
            <a:endParaRPr lang="en-US" sz="1875" dirty="0"/>
          </a:p>
        </p:txBody>
      </p:sp>
      <p:sp>
        <p:nvSpPr>
          <p:cNvPr id="15" name="Text 13"/>
          <p:cNvSpPr/>
          <p:nvPr/>
        </p:nvSpPr>
        <p:spPr>
          <a:xfrm>
            <a:off x="15718631" y="5731986"/>
            <a:ext cx="1219200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1A7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DECLARED</a:t>
            </a:r>
            <a:endParaRPr lang="en-US" sz="1875" dirty="0"/>
          </a:p>
        </p:txBody>
      </p:sp>
      <p:sp>
        <p:nvSpPr>
          <p:cNvPr id="16" name="Shape 14"/>
          <p:cNvSpPr/>
          <p:nvPr/>
        </p:nvSpPr>
        <p:spPr>
          <a:xfrm>
            <a:off x="9410700" y="6459855"/>
            <a:ext cx="7734300" cy="801688"/>
          </a:xfrm>
          <a:prstGeom prst="rect">
            <a:avLst/>
          </a:prstGeom>
          <a:solidFill>
            <a:srgbClr val="FCE4DE"/>
          </a:solidFill>
          <a:ln w="16669">
            <a:solidFill>
              <a:srgbClr val="EC301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94069" y="6705124"/>
            <a:ext cx="2671763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201E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online enrichment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16004381" y="6705124"/>
            <a:ext cx="933450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C22A1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OPT-IN</a:t>
            </a:r>
            <a:endParaRPr lang="en-US" sz="1875" dirty="0"/>
          </a:p>
        </p:txBody>
      </p:sp>
      <p:sp>
        <p:nvSpPr>
          <p:cNvPr id="19" name="Shape 17"/>
          <p:cNvSpPr/>
          <p:nvPr/>
        </p:nvSpPr>
        <p:spPr>
          <a:xfrm>
            <a:off x="1143000" y="9286875"/>
            <a:ext cx="16002000" cy="16669"/>
          </a:xfrm>
          <a:prstGeom prst="rect">
            <a:avLst/>
          </a:prstGeom>
          <a:solidFill>
            <a:srgbClr val="D3D0CF"/>
          </a:solidFill>
          <a:ln/>
        </p:spPr>
      </p:sp>
      <p:sp>
        <p:nvSpPr>
          <p:cNvPr id="20" name="Text 18"/>
          <p:cNvSpPr/>
          <p:nvPr/>
        </p:nvSpPr>
        <p:spPr>
          <a:xfrm>
            <a:off x="1143000" y="9455944"/>
            <a:ext cx="624840" cy="221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45" kern="0" dirty="0">
                <a:solidFill>
                  <a:srgbClr val="201E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WARDEN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8138160" y="9455944"/>
            <a:ext cx="1709928" cy="221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45" kern="0" dirty="0">
                <a:solidFill>
                  <a:srgbClr val="201E1D">
                    <a:alpha val="5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never false-green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16139160" y="9455944"/>
            <a:ext cx="1082040" cy="221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45" kern="0" dirty="0">
                <a:solidFill>
                  <a:srgbClr val="201E1D">
                    <a:alpha val="5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IV · 18</a:t>
            </a:r>
            <a:endParaRPr lang="en-US" sz="112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487487"/>
            <a:ext cx="16002000" cy="27781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971550"/>
            <a:ext cx="433705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EC301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14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1729105" y="838200"/>
            <a:ext cx="6378876" cy="515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spc="-69" kern="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Deterministic &amp; pre-flighted</a:t>
            </a:r>
            <a:endParaRPr lang="en-US" sz="3450" dirty="0"/>
          </a:p>
        </p:txBody>
      </p:sp>
      <p:sp>
        <p:nvSpPr>
          <p:cNvPr id="5" name="Shape 3"/>
          <p:cNvSpPr/>
          <p:nvPr/>
        </p:nvSpPr>
        <p:spPr>
          <a:xfrm>
            <a:off x="1143000" y="1591469"/>
            <a:ext cx="7810500" cy="7619206"/>
          </a:xfrm>
          <a:prstGeom prst="rect">
            <a:avLst/>
          </a:prstGeom>
          <a:ln w="16669">
            <a:solidFill>
              <a:srgbClr val="201E1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16869" y="2027237"/>
            <a:ext cx="7549039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108" kern="0" dirty="0">
                <a:solidFill>
                  <a:srgbClr val="C22A1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DETERMINISM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616869" y="2382838"/>
            <a:ext cx="7068645" cy="834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926"/>
              </a:lnSpc>
              <a:buNone/>
            </a:pPr>
            <a:r>
              <a:rPr lang="en-US" sz="285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Same inputs, same verdict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1616869" y="3407727"/>
            <a:ext cx="7068645" cy="728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219"/>
              </a:lnSpc>
              <a:buNone/>
            </a:pPr>
            <a:r>
              <a:rPr lang="en-US" sz="1875" dirty="0">
                <a:solidFill>
                  <a:srgbClr val="201E1D">
                    <a:alpha val="72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Pinned engines + pinned database. Reproducible on any machine, on any day — including one with no internet.</a:t>
            </a:r>
            <a:endParaRPr lang="en-US" sz="1875" dirty="0"/>
          </a:p>
        </p:txBody>
      </p:sp>
      <p:sp>
        <p:nvSpPr>
          <p:cNvPr id="9" name="Shape 7"/>
          <p:cNvSpPr/>
          <p:nvPr/>
        </p:nvSpPr>
        <p:spPr>
          <a:xfrm>
            <a:off x="9334500" y="1591469"/>
            <a:ext cx="7810500" cy="7619206"/>
          </a:xfrm>
          <a:prstGeom prst="rect">
            <a:avLst/>
          </a:prstGeom>
          <a:solidFill>
            <a:srgbClr val="FCE4DE"/>
          </a:solidFill>
          <a:ln w="16669">
            <a:solidFill>
              <a:srgbClr val="EC301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08369" y="2027237"/>
            <a:ext cx="7549039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108" kern="0" dirty="0">
                <a:solidFill>
                  <a:srgbClr val="C22A1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PRE-FLIGHT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808369" y="2382838"/>
            <a:ext cx="7068645" cy="834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926"/>
              </a:lnSpc>
              <a:buNone/>
            </a:pPr>
            <a:r>
              <a:rPr lang="en-US" sz="285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Verify before you trust</a:t>
            </a:r>
            <a:endParaRPr lang="en-US" sz="2850" dirty="0"/>
          </a:p>
        </p:txBody>
      </p:sp>
      <p:sp>
        <p:nvSpPr>
          <p:cNvPr id="12" name="Text 10"/>
          <p:cNvSpPr/>
          <p:nvPr/>
        </p:nvSpPr>
        <p:spPr>
          <a:xfrm>
            <a:off x="9808369" y="3407727"/>
            <a:ext cx="7068645" cy="728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219"/>
              </a:lnSpc>
              <a:buNone/>
            </a:pPr>
            <a:r>
              <a:rPr lang="en-US" sz="1875" dirty="0">
                <a:solidFill>
                  <a:srgbClr val="201E1D">
                    <a:alpha val="72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Record count, freshness &amp; integrity checked first. A scan becomes </a:t>
            </a:r>
            <a:pPr algn="l" indent="0" marL="0">
              <a:lnSpc>
                <a:spcPct val="132219"/>
              </a:lnSpc>
              <a:buNone/>
            </a:pPr>
            <a:r>
              <a:rPr lang="en-US" sz="1875" b="1" dirty="0">
                <a:solidFill>
                  <a:srgbClr val="201E1D">
                    <a:alpha val="72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evidence you can defend </a:t>
            </a:r>
            <a:pPr algn="l" indent="0" marL="0">
              <a:lnSpc>
                <a:spcPct val="132219"/>
              </a:lnSpc>
              <a:buNone/>
            </a:pPr>
            <a:r>
              <a:rPr lang="en-US" sz="1875" dirty="0">
                <a:solidFill>
                  <a:srgbClr val="201E1D">
                    <a:alpha val="72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in an audit.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1143000" y="9286875"/>
            <a:ext cx="16002000" cy="16669"/>
          </a:xfrm>
          <a:prstGeom prst="rect">
            <a:avLst/>
          </a:prstGeom>
          <a:solidFill>
            <a:srgbClr val="D3D0CF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9455944"/>
            <a:ext cx="624840" cy="221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45" kern="0" dirty="0">
                <a:solidFill>
                  <a:srgbClr val="201E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WARDEN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8138160" y="9455944"/>
            <a:ext cx="1709928" cy="221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45" kern="0" dirty="0">
                <a:solidFill>
                  <a:srgbClr val="201E1D">
                    <a:alpha val="5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never false-green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16139160" y="9455944"/>
            <a:ext cx="1082040" cy="221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45" kern="0" dirty="0">
                <a:solidFill>
                  <a:srgbClr val="201E1D">
                    <a:alpha val="5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IV · 19</a:t>
            </a:r>
            <a:endParaRPr lang="en-US" sz="112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487487"/>
            <a:ext cx="16002000" cy="27781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971550"/>
            <a:ext cx="433388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EC301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15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1728788" y="838200"/>
            <a:ext cx="7179881" cy="515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spc="-69" kern="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First contact — at your terminal</a:t>
            </a:r>
            <a:endParaRPr lang="en-US" sz="3450" dirty="0"/>
          </a:p>
        </p:txBody>
      </p:sp>
      <p:sp>
        <p:nvSpPr>
          <p:cNvPr id="5" name="Shape 3"/>
          <p:cNvSpPr/>
          <p:nvPr/>
        </p:nvSpPr>
        <p:spPr>
          <a:xfrm>
            <a:off x="1143000" y="2871788"/>
            <a:ext cx="16002000" cy="5058569"/>
          </a:xfrm>
          <a:prstGeom prst="rect">
            <a:avLst/>
          </a:prstGeom>
          <a:solidFill>
            <a:srgbClr val="1A1918"/>
          </a:solidFill>
          <a:ln w="16669">
            <a:solidFill>
              <a:srgbClr val="201E1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59669" y="3522821"/>
            <a:ext cx="15968663" cy="9525"/>
          </a:xfrm>
          <a:prstGeom prst="rect">
            <a:avLst/>
          </a:prstGeom>
          <a:solidFill>
            <a:srgbClr val="3A3836"/>
          </a:solidFill>
          <a:ln/>
        </p:spPr>
      </p:sp>
      <p:sp>
        <p:nvSpPr>
          <p:cNvPr id="7" name="Shape 5"/>
          <p:cNvSpPr/>
          <p:nvPr/>
        </p:nvSpPr>
        <p:spPr>
          <a:xfrm>
            <a:off x="1388269" y="3138964"/>
            <a:ext cx="133350" cy="133350"/>
          </a:xfrm>
          <a:prstGeom prst="ellipse">
            <a:avLst/>
          </a:prstGeom>
          <a:solidFill>
            <a:srgbClr val="EC3013"/>
          </a:solidFill>
          <a:ln/>
        </p:spPr>
      </p:sp>
      <p:sp>
        <p:nvSpPr>
          <p:cNvPr id="8" name="Shape 6"/>
          <p:cNvSpPr/>
          <p:nvPr/>
        </p:nvSpPr>
        <p:spPr>
          <a:xfrm>
            <a:off x="1607344" y="3138964"/>
            <a:ext cx="133350" cy="133350"/>
          </a:xfrm>
          <a:prstGeom prst="ellipse">
            <a:avLst/>
          </a:prstGeom>
          <a:solidFill>
            <a:srgbClr val="4A4846"/>
          </a:solidFill>
          <a:ln/>
        </p:spPr>
      </p:sp>
      <p:sp>
        <p:nvSpPr>
          <p:cNvPr id="9" name="Shape 7"/>
          <p:cNvSpPr/>
          <p:nvPr/>
        </p:nvSpPr>
        <p:spPr>
          <a:xfrm>
            <a:off x="1826419" y="3138964"/>
            <a:ext cx="133350" cy="133350"/>
          </a:xfrm>
          <a:prstGeom prst="ellipse">
            <a:avLst/>
          </a:prstGeom>
          <a:solidFill>
            <a:srgbClr val="4A4846"/>
          </a:solidFill>
          <a:ln/>
        </p:spPr>
      </p:sp>
      <p:sp>
        <p:nvSpPr>
          <p:cNvPr id="10" name="Text 8"/>
          <p:cNvSpPr/>
          <p:nvPr/>
        </p:nvSpPr>
        <p:spPr>
          <a:xfrm>
            <a:off x="2178844" y="3059906"/>
            <a:ext cx="1413510" cy="3295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143"/>
              </a:lnSpc>
              <a:buNone/>
            </a:pPr>
            <a:r>
              <a:rPr lang="en-US" sz="1350" dirty="0">
                <a:solidFill>
                  <a:srgbClr val="8A87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bash — warden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502569" y="3814128"/>
            <a:ext cx="15741348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968"/>
              </a:lnSpc>
              <a:buNone/>
            </a:pPr>
            <a:r>
              <a:rPr lang="en-US" sz="1800" dirty="0">
                <a:solidFill>
                  <a:srgbClr val="7FD6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 </a:t>
            </a:r>
            <a:pPr algn="l" indent="0" marL="0">
              <a:lnSpc>
                <a:spcPct val="131968"/>
              </a:lnSpc>
              <a:buNone/>
            </a:pPr>
            <a:r>
              <a:rPr lang="en-US" sz="1800" dirty="0">
                <a:solidFill>
                  <a:srgbClr val="E8E6E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warden scan . --warn-only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502569" y="4355148"/>
            <a:ext cx="15741348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968"/>
              </a:lnSpc>
              <a:buNone/>
            </a:pPr>
            <a:r>
              <a:rPr lang="en-US" sz="1800" dirty="0">
                <a:solidFill>
                  <a:srgbClr val="8A87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Warden 1.0 · offline · OSV db 2026-07-10 (312,004 records ✓)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502569" y="4896167"/>
            <a:ext cx="15741348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968"/>
              </a:lnSpc>
              <a:buNone/>
            </a:pPr>
            <a:r>
              <a:rPr lang="en-US" sz="1800" dirty="0">
                <a:solidFill>
                  <a:srgbClr val="E8E6E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discovered </a:t>
            </a:r>
            <a:pPr algn="l" indent="0" marL="0">
              <a:lnSpc>
                <a:spcPct val="131968"/>
              </a:lnSpc>
              <a:buNone/>
            </a:pPr>
            <a:r>
              <a:rPr lang="en-US" sz="1800" dirty="0">
                <a:solidFill>
                  <a:srgbClr val="FFD27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 </a:t>
            </a:r>
            <a:pPr algn="l" indent="0" marL="0">
              <a:lnSpc>
                <a:spcPct val="131968"/>
              </a:lnSpc>
              <a:buNone/>
            </a:pPr>
            <a:r>
              <a:rPr lang="en-US" sz="1800" dirty="0">
                <a:solidFill>
                  <a:srgbClr val="E8E6E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manifests · resolved </a:t>
            </a:r>
            <a:pPr algn="l" indent="0" marL="0">
              <a:lnSpc>
                <a:spcPct val="131968"/>
              </a:lnSpc>
              <a:buNone/>
            </a:pPr>
            <a:r>
              <a:rPr lang="en-US" sz="1800" dirty="0">
                <a:solidFill>
                  <a:srgbClr val="FFD27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312 </a:t>
            </a:r>
            <a:pPr algn="l" indent="0" marL="0">
              <a:lnSpc>
                <a:spcPct val="131968"/>
              </a:lnSpc>
              <a:buNone/>
            </a:pPr>
            <a:r>
              <a:rPr lang="en-US" sz="1800" dirty="0">
                <a:solidFill>
                  <a:srgbClr val="E8E6E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packages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02569" y="5437187"/>
            <a:ext cx="15741348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968"/>
              </a:lnSpc>
              <a:buNone/>
            </a:pPr>
            <a:r>
              <a:rPr lang="en-US" sz="1800" dirty="0">
                <a:solidFill>
                  <a:srgbClr val="7FD6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✓ hygiene </a:t>
            </a:r>
            <a:pPr algn="l" indent="0" marL="0">
              <a:lnSpc>
                <a:spcPct val="131968"/>
              </a:lnSpc>
              <a:buNone/>
            </a:pPr>
            <a:r>
              <a:rPr lang="en-US" sz="1800" dirty="0">
                <a:solidFill>
                  <a:srgbClr val="E8E6E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clean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02569" y="5825807"/>
            <a:ext cx="15741348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968"/>
              </a:lnSpc>
              <a:buNone/>
            </a:pPr>
            <a:r>
              <a:rPr lang="en-US" sz="1800" dirty="0">
                <a:solidFill>
                  <a:srgbClr val="FF7A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✗ security </a:t>
            </a:r>
            <a:pPr algn="l" indent="0" marL="0">
              <a:lnSpc>
                <a:spcPct val="131968"/>
              </a:lnSpc>
              <a:buNone/>
            </a:pPr>
            <a:r>
              <a:rPr lang="en-US" sz="1800" dirty="0">
                <a:solidFill>
                  <a:srgbClr val="E8E6E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 critical — numpy 1.22.0 · GHSA-xxxx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502569" y="6214428"/>
            <a:ext cx="15741348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968"/>
              </a:lnSpc>
              <a:buNone/>
            </a:pPr>
            <a:r>
              <a:rPr lang="en-US" sz="1800" dirty="0">
                <a:solidFill>
                  <a:srgbClr val="FFD27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? license </a:t>
            </a:r>
            <a:pPr algn="l" indent="0" marL="0">
              <a:lnSpc>
                <a:spcPct val="131968"/>
              </a:lnSpc>
              <a:buNone/>
            </a:pPr>
            <a:r>
              <a:rPr lang="en-US" sz="1800" dirty="0">
                <a:solidFill>
                  <a:srgbClr val="E8E6E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 unknown — indeterminate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02569" y="6793548"/>
            <a:ext cx="15741348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968"/>
              </a:lnSpc>
              <a:buNone/>
            </a:pPr>
            <a:r>
              <a:rPr lang="en-US" sz="1800" dirty="0">
                <a:solidFill>
                  <a:srgbClr val="8A87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verdict </a:t>
            </a:r>
            <a:pPr algn="l" indent="0" marL="0">
              <a:lnSpc>
                <a:spcPct val="131968"/>
              </a:lnSpc>
              <a:buNone/>
            </a:pPr>
            <a:r>
              <a:rPr lang="en-US" sz="1800" dirty="0">
                <a:solidFill>
                  <a:srgbClr val="FFD27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policy-violation </a:t>
            </a:r>
            <a:pPr algn="l" indent="0" marL="0">
              <a:lnSpc>
                <a:spcPct val="131968"/>
              </a:lnSpc>
              <a:buNone/>
            </a:pPr>
            <a:r>
              <a:rPr lang="en-US" sz="1800" dirty="0">
                <a:solidFill>
                  <a:srgbClr val="8A87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— reported, not enforced (--warn-only)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502569" y="7239317"/>
            <a:ext cx="15741348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968"/>
              </a:lnSpc>
              <a:buNone/>
            </a:pPr>
            <a:r>
              <a:rPr lang="en-US" sz="1800" dirty="0">
                <a:solidFill>
                  <a:srgbClr val="E8E6E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exit </a:t>
            </a:r>
            <a:pPr algn="l" indent="0" marL="0">
              <a:lnSpc>
                <a:spcPct val="131968"/>
              </a:lnSpc>
              <a:buNone/>
            </a:pPr>
            <a:r>
              <a:rPr lang="en-US" sz="1800" dirty="0">
                <a:solidFill>
                  <a:srgbClr val="7FD6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143000" y="9286875"/>
            <a:ext cx="16002000" cy="16669"/>
          </a:xfrm>
          <a:prstGeom prst="rect">
            <a:avLst/>
          </a:prstGeom>
          <a:solidFill>
            <a:srgbClr val="D3D0CF"/>
          </a:solidFill>
          <a:ln/>
        </p:spPr>
      </p:sp>
      <p:sp>
        <p:nvSpPr>
          <p:cNvPr id="20" name="Text 18"/>
          <p:cNvSpPr/>
          <p:nvPr/>
        </p:nvSpPr>
        <p:spPr>
          <a:xfrm>
            <a:off x="1143000" y="9455944"/>
            <a:ext cx="624840" cy="221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45" kern="0" dirty="0">
                <a:solidFill>
                  <a:srgbClr val="201E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WARDEN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8138160" y="9455944"/>
            <a:ext cx="1709928" cy="221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45" kern="0" dirty="0">
                <a:solidFill>
                  <a:srgbClr val="201E1D">
                    <a:alpha val="5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never false-green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16139160" y="9455944"/>
            <a:ext cx="1082040" cy="221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45" kern="0" dirty="0">
                <a:solidFill>
                  <a:srgbClr val="201E1D">
                    <a:alpha val="5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IV · 20</a:t>
            </a:r>
            <a:endParaRPr lang="en-US" sz="112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C3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571571" y="-1333500"/>
            <a:ext cx="5868972" cy="6896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072"/>
              </a:lnSpc>
              <a:buNone/>
            </a:pPr>
            <a:r>
              <a:rPr lang="en-US" sz="40000" b="1" dirty="0">
                <a:solidFill>
                  <a:srgbClr val="F3F2F2">
                    <a:alpha val="13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V</a:t>
            </a:r>
            <a:endParaRPr lang="en-US" sz="40000" dirty="0"/>
          </a:p>
        </p:txBody>
      </p:sp>
      <p:sp>
        <p:nvSpPr>
          <p:cNvPr id="3" name="Text 1"/>
          <p:cNvSpPr/>
          <p:nvPr/>
        </p:nvSpPr>
        <p:spPr>
          <a:xfrm>
            <a:off x="1143000" y="914400"/>
            <a:ext cx="17602200" cy="3103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64" kern="0" dirty="0">
                <a:solidFill>
                  <a:srgbClr val="F3F2F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V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43000" y="3396615"/>
            <a:ext cx="16482060" cy="21961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72"/>
              </a:lnSpc>
              <a:buNone/>
            </a:pPr>
            <a:r>
              <a:rPr lang="en-US" sz="8850" b="1" spc="-177" kern="0" dirty="0">
                <a:solidFill>
                  <a:srgbClr val="F3F2F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From a gate to governance</a:t>
            </a:r>
            <a:endParaRPr lang="en-US" sz="8850" dirty="0"/>
          </a:p>
        </p:txBody>
      </p:sp>
      <p:sp>
        <p:nvSpPr>
          <p:cNvPr id="5" name="Text 3"/>
          <p:cNvSpPr/>
          <p:nvPr/>
        </p:nvSpPr>
        <p:spPr>
          <a:xfrm>
            <a:off x="1143000" y="5897563"/>
            <a:ext cx="10988040" cy="9124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898"/>
              </a:lnSpc>
              <a:buNone/>
            </a:pPr>
            <a:r>
              <a:rPr lang="en-US" sz="2550" dirty="0">
                <a:solidFill>
                  <a:srgbClr val="F3F2F2">
                    <a:alpha val="94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Six axes of dependency trust, pluggable behind one report — hygiene &amp; security today, four more on the roadmap.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1143000" y="8982075"/>
            <a:ext cx="16002000" cy="16669"/>
          </a:xfrm>
          <a:prstGeom prst="rect">
            <a:avLst/>
          </a:prstGeom>
          <a:solidFill>
            <a:srgbClr val="F3F2F2">
              <a:alpha val="4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9189244"/>
            <a:ext cx="633413" cy="221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56" kern="0" dirty="0">
                <a:solidFill>
                  <a:srgbClr val="F3F2F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WARDEN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8168799" y="9189244"/>
            <a:ext cx="1736646" cy="221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56" kern="0" dirty="0">
                <a:solidFill>
                  <a:srgbClr val="F3F2F2">
                    <a:alpha val="8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never false-green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16216313" y="9189244"/>
            <a:ext cx="1004887" cy="221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56" kern="0" dirty="0">
                <a:solidFill>
                  <a:srgbClr val="F3F2F2">
                    <a:alpha val="8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V · 21</a:t>
            </a:r>
            <a:endParaRPr lang="en-US" sz="112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487487"/>
            <a:ext cx="16002000" cy="27781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971550"/>
            <a:ext cx="433388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EC301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16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1728788" y="838200"/>
            <a:ext cx="6631908" cy="515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spc="-69" kern="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Six axes of dependency trust</a:t>
            </a:r>
            <a:endParaRPr lang="en-US" sz="3450" dirty="0"/>
          </a:p>
        </p:txBody>
      </p:sp>
      <p:sp>
        <p:nvSpPr>
          <p:cNvPr id="5" name="Shape 3"/>
          <p:cNvSpPr/>
          <p:nvPr/>
        </p:nvSpPr>
        <p:spPr>
          <a:xfrm>
            <a:off x="1143000" y="1515269"/>
            <a:ext cx="16002000" cy="16669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" y="1515269"/>
            <a:ext cx="16669" cy="7771606"/>
          </a:xfrm>
          <a:prstGeom prst="rect">
            <a:avLst/>
          </a:prstGeom>
          <a:solidFill>
            <a:srgbClr val="D3D0CF"/>
          </a:solidFill>
          <a:ln/>
        </p:spPr>
      </p:sp>
      <p:sp>
        <p:nvSpPr>
          <p:cNvPr id="7" name="Shape 5"/>
          <p:cNvSpPr/>
          <p:nvPr/>
        </p:nvSpPr>
        <p:spPr>
          <a:xfrm>
            <a:off x="1159669" y="5392738"/>
            <a:ext cx="5328444" cy="16669"/>
          </a:xfrm>
          <a:prstGeom prst="rect">
            <a:avLst/>
          </a:prstGeom>
          <a:solidFill>
            <a:srgbClr val="D3D0CF"/>
          </a:solidFill>
          <a:ln/>
        </p:spPr>
      </p:sp>
      <p:sp>
        <p:nvSpPr>
          <p:cNvPr id="8" name="Shape 6"/>
          <p:cNvSpPr/>
          <p:nvPr/>
        </p:nvSpPr>
        <p:spPr>
          <a:xfrm>
            <a:off x="6471444" y="1531937"/>
            <a:ext cx="16669" cy="3877469"/>
          </a:xfrm>
          <a:prstGeom prst="rect">
            <a:avLst/>
          </a:prstGeom>
          <a:solidFill>
            <a:srgbClr val="D3D0CF"/>
          </a:solidFill>
          <a:ln/>
        </p:spPr>
      </p:sp>
      <p:sp>
        <p:nvSpPr>
          <p:cNvPr id="9" name="Text 7"/>
          <p:cNvSpPr/>
          <p:nvPr/>
        </p:nvSpPr>
        <p:spPr>
          <a:xfrm>
            <a:off x="1483519" y="1825625"/>
            <a:ext cx="1880362" cy="2492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77" kern="0" dirty="0">
                <a:solidFill>
                  <a:srgbClr val="C22A1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AXIS 1 · HYGIENE</a:t>
            </a:r>
            <a:endParaRPr lang="en-US" sz="1275" dirty="0"/>
          </a:p>
        </p:txBody>
      </p:sp>
      <p:sp>
        <p:nvSpPr>
          <p:cNvPr id="10" name="Shape 8"/>
          <p:cNvSpPr/>
          <p:nvPr/>
        </p:nvSpPr>
        <p:spPr>
          <a:xfrm>
            <a:off x="5774214" y="1817687"/>
            <a:ext cx="373380" cy="238125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11" name="Text 9"/>
          <p:cNvSpPr/>
          <p:nvPr/>
        </p:nvSpPr>
        <p:spPr>
          <a:xfrm>
            <a:off x="5869464" y="1836737"/>
            <a:ext cx="22021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3F2F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483519" y="2170112"/>
            <a:ext cx="513048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Is it used?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483519" y="4884737"/>
            <a:ext cx="5130483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201E1D">
                    <a:alpha val="60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deptry</a:t>
            </a:r>
            <a:endParaRPr lang="en-US" sz="1575" dirty="0"/>
          </a:p>
        </p:txBody>
      </p:sp>
      <p:sp>
        <p:nvSpPr>
          <p:cNvPr id="14" name="Shape 12"/>
          <p:cNvSpPr/>
          <p:nvPr/>
        </p:nvSpPr>
        <p:spPr>
          <a:xfrm>
            <a:off x="6488113" y="5392738"/>
            <a:ext cx="5328443" cy="16669"/>
          </a:xfrm>
          <a:prstGeom prst="rect">
            <a:avLst/>
          </a:prstGeom>
          <a:solidFill>
            <a:srgbClr val="D3D0CF"/>
          </a:solidFill>
          <a:ln/>
        </p:spPr>
      </p:sp>
      <p:sp>
        <p:nvSpPr>
          <p:cNvPr id="15" name="Shape 13"/>
          <p:cNvSpPr/>
          <p:nvPr/>
        </p:nvSpPr>
        <p:spPr>
          <a:xfrm>
            <a:off x="11799887" y="1531937"/>
            <a:ext cx="16669" cy="3877469"/>
          </a:xfrm>
          <a:prstGeom prst="rect">
            <a:avLst/>
          </a:prstGeom>
          <a:solidFill>
            <a:srgbClr val="D3D0CF"/>
          </a:solidFill>
          <a:ln/>
        </p:spPr>
      </p:sp>
      <p:sp>
        <p:nvSpPr>
          <p:cNvPr id="16" name="Text 14"/>
          <p:cNvSpPr/>
          <p:nvPr/>
        </p:nvSpPr>
        <p:spPr>
          <a:xfrm>
            <a:off x="6811963" y="1825625"/>
            <a:ext cx="1997885" cy="2492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77" kern="0" dirty="0">
                <a:solidFill>
                  <a:srgbClr val="C22A1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AXIS 2 · SECURITY</a:t>
            </a:r>
            <a:endParaRPr lang="en-US" sz="1275" dirty="0"/>
          </a:p>
        </p:txBody>
      </p:sp>
      <p:sp>
        <p:nvSpPr>
          <p:cNvPr id="17" name="Shape 15"/>
          <p:cNvSpPr/>
          <p:nvPr/>
        </p:nvSpPr>
        <p:spPr>
          <a:xfrm>
            <a:off x="11102657" y="1817687"/>
            <a:ext cx="373380" cy="238125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18" name="Text 16"/>
          <p:cNvSpPr/>
          <p:nvPr/>
        </p:nvSpPr>
        <p:spPr>
          <a:xfrm>
            <a:off x="11197907" y="1836737"/>
            <a:ext cx="22021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3F2F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v1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11963" y="2170112"/>
            <a:ext cx="513048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Is it vulnerable?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811963" y="4884737"/>
            <a:ext cx="5130482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201E1D">
                    <a:alpha val="60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osv-scanner + KEV/EPSS</a:t>
            </a:r>
            <a:endParaRPr lang="en-US" sz="1575" dirty="0"/>
          </a:p>
        </p:txBody>
      </p:sp>
      <p:sp>
        <p:nvSpPr>
          <p:cNvPr id="21" name="Shape 19"/>
          <p:cNvSpPr/>
          <p:nvPr/>
        </p:nvSpPr>
        <p:spPr>
          <a:xfrm>
            <a:off x="11816557" y="5392738"/>
            <a:ext cx="5328444" cy="16669"/>
          </a:xfrm>
          <a:prstGeom prst="rect">
            <a:avLst/>
          </a:prstGeom>
          <a:solidFill>
            <a:srgbClr val="D3D0CF"/>
          </a:solidFill>
          <a:ln/>
        </p:spPr>
      </p:sp>
      <p:sp>
        <p:nvSpPr>
          <p:cNvPr id="22" name="Shape 20"/>
          <p:cNvSpPr/>
          <p:nvPr/>
        </p:nvSpPr>
        <p:spPr>
          <a:xfrm>
            <a:off x="17128332" y="1531937"/>
            <a:ext cx="16669" cy="3877469"/>
          </a:xfrm>
          <a:prstGeom prst="rect">
            <a:avLst/>
          </a:prstGeom>
          <a:solidFill>
            <a:srgbClr val="D3D0CF"/>
          </a:solidFill>
          <a:ln/>
        </p:spPr>
      </p:sp>
      <p:sp>
        <p:nvSpPr>
          <p:cNvPr id="23" name="Text 21"/>
          <p:cNvSpPr/>
          <p:nvPr/>
        </p:nvSpPr>
        <p:spPr>
          <a:xfrm>
            <a:off x="12140407" y="1825625"/>
            <a:ext cx="1880362" cy="2492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77" kern="0" dirty="0">
                <a:solidFill>
                  <a:srgbClr val="C22A1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AXIS 3 · LICENSE</a:t>
            </a:r>
            <a:endParaRPr lang="en-US" sz="1275" dirty="0"/>
          </a:p>
        </p:txBody>
      </p:sp>
      <p:sp>
        <p:nvSpPr>
          <p:cNvPr id="24" name="Shape 22"/>
          <p:cNvSpPr/>
          <p:nvPr/>
        </p:nvSpPr>
        <p:spPr>
          <a:xfrm>
            <a:off x="16248221" y="1817687"/>
            <a:ext cx="556260" cy="238125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25" name="Text 23"/>
          <p:cNvSpPr/>
          <p:nvPr/>
        </p:nvSpPr>
        <p:spPr>
          <a:xfrm>
            <a:off x="16343471" y="1836737"/>
            <a:ext cx="42138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3F2F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v1.x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2140407" y="2170112"/>
            <a:ext cx="513048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Is it allowed?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12140407" y="4884737"/>
            <a:ext cx="5130483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201E1D">
                    <a:alpha val="60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license-expression</a:t>
            </a:r>
            <a:endParaRPr lang="en-US" sz="1575" dirty="0"/>
          </a:p>
        </p:txBody>
      </p:sp>
      <p:sp>
        <p:nvSpPr>
          <p:cNvPr id="28" name="Shape 26"/>
          <p:cNvSpPr/>
          <p:nvPr/>
        </p:nvSpPr>
        <p:spPr>
          <a:xfrm>
            <a:off x="1159669" y="9270206"/>
            <a:ext cx="5328444" cy="16669"/>
          </a:xfrm>
          <a:prstGeom prst="rect">
            <a:avLst/>
          </a:prstGeom>
          <a:solidFill>
            <a:srgbClr val="D3D0CF"/>
          </a:solidFill>
          <a:ln/>
        </p:spPr>
      </p:sp>
      <p:sp>
        <p:nvSpPr>
          <p:cNvPr id="29" name="Shape 27"/>
          <p:cNvSpPr/>
          <p:nvPr/>
        </p:nvSpPr>
        <p:spPr>
          <a:xfrm>
            <a:off x="6471444" y="5409406"/>
            <a:ext cx="16669" cy="3877469"/>
          </a:xfrm>
          <a:prstGeom prst="rect">
            <a:avLst/>
          </a:prstGeom>
          <a:solidFill>
            <a:srgbClr val="D3D0CF"/>
          </a:solidFill>
          <a:ln/>
        </p:spPr>
      </p:sp>
      <p:sp>
        <p:nvSpPr>
          <p:cNvPr id="30" name="Text 28"/>
          <p:cNvSpPr/>
          <p:nvPr/>
        </p:nvSpPr>
        <p:spPr>
          <a:xfrm>
            <a:off x="1483519" y="5703094"/>
            <a:ext cx="1997885" cy="249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77" kern="0" dirty="0">
                <a:solidFill>
                  <a:srgbClr val="C22A1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AXIS 4 · CURRENCY</a:t>
            </a:r>
            <a:endParaRPr lang="en-US" sz="1275" dirty="0"/>
          </a:p>
        </p:txBody>
      </p:sp>
      <p:sp>
        <p:nvSpPr>
          <p:cNvPr id="31" name="Shape 29"/>
          <p:cNvSpPr/>
          <p:nvPr/>
        </p:nvSpPr>
        <p:spPr>
          <a:xfrm>
            <a:off x="5591334" y="5695156"/>
            <a:ext cx="556260" cy="238125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32" name="Text 30"/>
          <p:cNvSpPr/>
          <p:nvPr/>
        </p:nvSpPr>
        <p:spPr>
          <a:xfrm>
            <a:off x="5686584" y="5714206"/>
            <a:ext cx="42138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3F2F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v1.x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483519" y="6047581"/>
            <a:ext cx="513048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Is it patchable?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1483519" y="8762206"/>
            <a:ext cx="5130483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201E1D">
                    <a:alpha val="60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endoflife.date</a:t>
            </a:r>
            <a:endParaRPr lang="en-US" sz="1575" dirty="0"/>
          </a:p>
        </p:txBody>
      </p:sp>
      <p:sp>
        <p:nvSpPr>
          <p:cNvPr id="35" name="Shape 33"/>
          <p:cNvSpPr/>
          <p:nvPr/>
        </p:nvSpPr>
        <p:spPr>
          <a:xfrm>
            <a:off x="6488113" y="9270206"/>
            <a:ext cx="5328443" cy="16669"/>
          </a:xfrm>
          <a:prstGeom prst="rect">
            <a:avLst/>
          </a:prstGeom>
          <a:solidFill>
            <a:srgbClr val="D3D0CF"/>
          </a:solidFill>
          <a:ln/>
        </p:spPr>
      </p:sp>
      <p:sp>
        <p:nvSpPr>
          <p:cNvPr id="36" name="Shape 34"/>
          <p:cNvSpPr/>
          <p:nvPr/>
        </p:nvSpPr>
        <p:spPr>
          <a:xfrm>
            <a:off x="11799887" y="5409406"/>
            <a:ext cx="16669" cy="3877469"/>
          </a:xfrm>
          <a:prstGeom prst="rect">
            <a:avLst/>
          </a:prstGeom>
          <a:solidFill>
            <a:srgbClr val="D3D0CF"/>
          </a:solidFill>
          <a:ln/>
        </p:spPr>
      </p:sp>
      <p:sp>
        <p:nvSpPr>
          <p:cNvPr id="37" name="Text 35"/>
          <p:cNvSpPr/>
          <p:nvPr/>
        </p:nvSpPr>
        <p:spPr>
          <a:xfrm>
            <a:off x="6811963" y="5714206"/>
            <a:ext cx="2232930" cy="2492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77" kern="0" dirty="0">
                <a:solidFill>
                  <a:srgbClr val="201E1D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AXIS 5 · PROVENANCE</a:t>
            </a:r>
            <a:endParaRPr lang="en-US" sz="1275" dirty="0"/>
          </a:p>
        </p:txBody>
      </p:sp>
      <p:sp>
        <p:nvSpPr>
          <p:cNvPr id="38" name="Shape 36"/>
          <p:cNvSpPr/>
          <p:nvPr/>
        </p:nvSpPr>
        <p:spPr>
          <a:xfrm>
            <a:off x="10714673" y="5695156"/>
            <a:ext cx="761365" cy="260350"/>
          </a:xfrm>
          <a:prstGeom prst="rect">
            <a:avLst/>
          </a:prstGeom>
          <a:ln w="11113">
            <a:solidFill>
              <a:srgbClr val="B6B3B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821035" y="5725319"/>
            <a:ext cx="62484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01E1D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vision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811963" y="6069806"/>
            <a:ext cx="513048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1E1D">
                    <a:alpha val="72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Is it authentic?</a:t>
            </a:r>
            <a:endParaRPr lang="en-US" sz="2400" dirty="0"/>
          </a:p>
        </p:txBody>
      </p:sp>
      <p:sp>
        <p:nvSpPr>
          <p:cNvPr id="41" name="Text 39"/>
          <p:cNvSpPr/>
          <p:nvPr/>
        </p:nvSpPr>
        <p:spPr>
          <a:xfrm>
            <a:off x="6811963" y="8762206"/>
            <a:ext cx="5130482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201E1D">
                    <a:alpha val="50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Sigstore / SLSA</a:t>
            </a:r>
            <a:endParaRPr lang="en-US" sz="1575" dirty="0"/>
          </a:p>
        </p:txBody>
      </p:sp>
      <p:sp>
        <p:nvSpPr>
          <p:cNvPr id="42" name="Shape 40"/>
          <p:cNvSpPr/>
          <p:nvPr/>
        </p:nvSpPr>
        <p:spPr>
          <a:xfrm>
            <a:off x="11816557" y="9270206"/>
            <a:ext cx="5328444" cy="16669"/>
          </a:xfrm>
          <a:prstGeom prst="rect">
            <a:avLst/>
          </a:prstGeom>
          <a:solidFill>
            <a:srgbClr val="D3D0CF"/>
          </a:solidFill>
          <a:ln/>
        </p:spPr>
      </p:sp>
      <p:sp>
        <p:nvSpPr>
          <p:cNvPr id="43" name="Shape 41"/>
          <p:cNvSpPr/>
          <p:nvPr/>
        </p:nvSpPr>
        <p:spPr>
          <a:xfrm>
            <a:off x="17128332" y="5409406"/>
            <a:ext cx="16669" cy="3877469"/>
          </a:xfrm>
          <a:prstGeom prst="rect">
            <a:avLst/>
          </a:prstGeom>
          <a:solidFill>
            <a:srgbClr val="D3D0CF"/>
          </a:solidFill>
          <a:ln/>
        </p:spPr>
      </p:sp>
      <p:sp>
        <p:nvSpPr>
          <p:cNvPr id="44" name="Text 42"/>
          <p:cNvSpPr/>
          <p:nvPr/>
        </p:nvSpPr>
        <p:spPr>
          <a:xfrm>
            <a:off x="12140407" y="5714206"/>
            <a:ext cx="2350453" cy="2492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77" kern="0" dirty="0">
                <a:solidFill>
                  <a:srgbClr val="201E1D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AXIS 6 · MAINTENANCE</a:t>
            </a:r>
            <a:endParaRPr lang="en-US" sz="1275" dirty="0"/>
          </a:p>
        </p:txBody>
      </p:sp>
      <p:sp>
        <p:nvSpPr>
          <p:cNvPr id="45" name="Shape 43"/>
          <p:cNvSpPr/>
          <p:nvPr/>
        </p:nvSpPr>
        <p:spPr>
          <a:xfrm>
            <a:off x="16043116" y="5695156"/>
            <a:ext cx="761365" cy="260350"/>
          </a:xfrm>
          <a:prstGeom prst="rect">
            <a:avLst/>
          </a:prstGeom>
          <a:ln w="11113">
            <a:solidFill>
              <a:srgbClr val="B6B3B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6149479" y="5725319"/>
            <a:ext cx="62484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01E1D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vision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12140407" y="6069806"/>
            <a:ext cx="513048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1E1D">
                    <a:alpha val="72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Is it maintained?</a:t>
            </a:r>
            <a:endParaRPr lang="en-US" sz="2400" dirty="0"/>
          </a:p>
        </p:txBody>
      </p:sp>
      <p:sp>
        <p:nvSpPr>
          <p:cNvPr id="48" name="Text 46"/>
          <p:cNvSpPr/>
          <p:nvPr/>
        </p:nvSpPr>
        <p:spPr>
          <a:xfrm>
            <a:off x="12140407" y="8762206"/>
            <a:ext cx="5130483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201E1D">
                    <a:alpha val="50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OpenSSF Scorecard</a:t>
            </a:r>
            <a:endParaRPr lang="en-US" sz="1575" dirty="0"/>
          </a:p>
        </p:txBody>
      </p:sp>
      <p:sp>
        <p:nvSpPr>
          <p:cNvPr id="49" name="Shape 47"/>
          <p:cNvSpPr/>
          <p:nvPr/>
        </p:nvSpPr>
        <p:spPr>
          <a:xfrm>
            <a:off x="1143000" y="9286875"/>
            <a:ext cx="16002000" cy="16669"/>
          </a:xfrm>
          <a:prstGeom prst="rect">
            <a:avLst/>
          </a:prstGeom>
          <a:solidFill>
            <a:srgbClr val="D3D0CF"/>
          </a:solidFill>
          <a:ln/>
        </p:spPr>
      </p:sp>
      <p:sp>
        <p:nvSpPr>
          <p:cNvPr id="50" name="Text 48"/>
          <p:cNvSpPr/>
          <p:nvPr/>
        </p:nvSpPr>
        <p:spPr>
          <a:xfrm>
            <a:off x="1143000" y="9455944"/>
            <a:ext cx="624840" cy="221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45" kern="0" dirty="0">
                <a:solidFill>
                  <a:srgbClr val="201E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WARDEN</a:t>
            </a:r>
            <a:endParaRPr lang="en-US" sz="1125" dirty="0"/>
          </a:p>
        </p:txBody>
      </p:sp>
      <p:sp>
        <p:nvSpPr>
          <p:cNvPr id="51" name="Text 49"/>
          <p:cNvSpPr/>
          <p:nvPr/>
        </p:nvSpPr>
        <p:spPr>
          <a:xfrm>
            <a:off x="8183880" y="9455944"/>
            <a:ext cx="1709928" cy="221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45" kern="0" dirty="0">
                <a:solidFill>
                  <a:srgbClr val="201E1D">
                    <a:alpha val="5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never false-green</a:t>
            </a:r>
            <a:endParaRPr lang="en-US" sz="1125" dirty="0"/>
          </a:p>
        </p:txBody>
      </p:sp>
      <p:sp>
        <p:nvSpPr>
          <p:cNvPr id="52" name="Text 50"/>
          <p:cNvSpPr/>
          <p:nvPr/>
        </p:nvSpPr>
        <p:spPr>
          <a:xfrm>
            <a:off x="16230600" y="9455944"/>
            <a:ext cx="990600" cy="221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45" kern="0" dirty="0">
                <a:solidFill>
                  <a:srgbClr val="201E1D">
                    <a:alpha val="5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V · 22</a:t>
            </a:r>
            <a:endParaRPr lang="en-US" sz="112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487487"/>
            <a:ext cx="16002000" cy="27781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971550"/>
            <a:ext cx="433388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EC301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17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1728788" y="838200"/>
            <a:ext cx="10172081" cy="515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spc="-69" kern="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KEV + EPSS — prioritize by exploitability </a:t>
            </a:r>
            <a:pPr algn="l" indent="0" marL="0">
              <a:buNone/>
            </a:pPr>
            <a:r>
              <a:rPr lang="en-US" sz="1800" b="1" spc="-69" kern="0" dirty="0">
                <a:solidFill>
                  <a:srgbClr val="F3F2F2"/>
                </a:solidFill>
                <a:highlight>
                  <a:srgbClr val="201E1D"/>
                </a:highlight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v1.x</a:t>
            </a:r>
            <a:endParaRPr lang="en-US" sz="3450" dirty="0"/>
          </a:p>
        </p:txBody>
      </p:sp>
      <p:sp>
        <p:nvSpPr>
          <p:cNvPr id="5" name="Text 3"/>
          <p:cNvSpPr/>
          <p:nvPr/>
        </p:nvSpPr>
        <p:spPr>
          <a:xfrm>
            <a:off x="1143000" y="3128169"/>
            <a:ext cx="1491234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163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Not every CVE matters equally. Warden enriches each finding so the gate blocks on </a:t>
            </a:r>
            <a:pPr algn="l" indent="0" marL="0">
              <a:lnSpc>
                <a:spcPct val="133163"/>
              </a:lnSpc>
              <a:buNone/>
            </a:pPr>
            <a:r>
              <a:rPr lang="en-US" sz="225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what's actually dangerous </a:t>
            </a:r>
            <a:pPr algn="l" indent="0" marL="0">
              <a:lnSpc>
                <a:spcPct val="133163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— not theoretical noise.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1143000" y="4337844"/>
            <a:ext cx="7810500" cy="2182654"/>
          </a:xfrm>
          <a:prstGeom prst="rect">
            <a:avLst/>
          </a:prstGeom>
          <a:ln w="16669">
            <a:solidFill>
              <a:srgbClr val="201E1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40669" y="4697413"/>
            <a:ext cx="7716679" cy="288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90" kern="0" dirty="0">
                <a:solidFill>
                  <a:srgbClr val="C22A1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CISA KEV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40669" y="5061744"/>
            <a:ext cx="771667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Exploited in the wild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540669" y="5547519"/>
            <a:ext cx="7225617" cy="6515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372"/>
              </a:lnSpc>
              <a:buNone/>
            </a:pPr>
            <a:r>
              <a:rPr lang="en-US" sz="1725" dirty="0">
                <a:solidFill>
                  <a:srgbClr val="201E1D">
                    <a:alpha val="72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known-exploited catalog — a boolean that outranks a raw severity score.</a:t>
            </a:r>
            <a:endParaRPr lang="en-US" sz="1725" dirty="0"/>
          </a:p>
        </p:txBody>
      </p:sp>
      <p:sp>
        <p:nvSpPr>
          <p:cNvPr id="10" name="Shape 8"/>
          <p:cNvSpPr/>
          <p:nvPr/>
        </p:nvSpPr>
        <p:spPr>
          <a:xfrm>
            <a:off x="9334500" y="4337844"/>
            <a:ext cx="7810500" cy="2182654"/>
          </a:xfrm>
          <a:prstGeom prst="rect">
            <a:avLst/>
          </a:prstGeom>
          <a:ln w="16669">
            <a:solidFill>
              <a:srgbClr val="201E1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732169" y="4697413"/>
            <a:ext cx="7716679" cy="288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90" kern="0" dirty="0">
                <a:solidFill>
                  <a:srgbClr val="C22A1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FIRST EPSS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732169" y="5061744"/>
            <a:ext cx="771667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Probability it will be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9732169" y="5547519"/>
            <a:ext cx="7716679" cy="350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372"/>
              </a:lnSpc>
              <a:buNone/>
            </a:pPr>
            <a:r>
              <a:rPr lang="en-US" sz="1725" dirty="0">
                <a:solidFill>
                  <a:srgbClr val="201E1D">
                    <a:alpha val="72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 0–1 exploit-prediction score for triage — gate with </a:t>
            </a:r>
            <a:pPr algn="l" indent="0" marL="0">
              <a:lnSpc>
                <a:spcPct val="128372"/>
              </a:lnSpc>
              <a:buNone/>
            </a:pPr>
            <a:r>
              <a:rPr lang="en-US" sz="1725" dirty="0">
                <a:solidFill>
                  <a:srgbClr val="201E1D">
                    <a:alpha val="72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--min-epss</a:t>
            </a:r>
            <a:pPr algn="l" indent="0" marL="0">
              <a:lnSpc>
                <a:spcPct val="128372"/>
              </a:lnSpc>
              <a:buNone/>
            </a:pPr>
            <a:r>
              <a:rPr lang="en-US" sz="1725" dirty="0">
                <a:solidFill>
                  <a:srgbClr val="201E1D">
                    <a:alpha val="72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.</a:t>
            </a:r>
            <a:endParaRPr lang="en-US" sz="1725" dirty="0"/>
          </a:p>
        </p:txBody>
      </p:sp>
      <p:sp>
        <p:nvSpPr>
          <p:cNvPr id="14" name="Shape 12"/>
          <p:cNvSpPr/>
          <p:nvPr/>
        </p:nvSpPr>
        <p:spPr>
          <a:xfrm>
            <a:off x="1143000" y="6901497"/>
            <a:ext cx="16002000" cy="772478"/>
          </a:xfrm>
          <a:prstGeom prst="rect">
            <a:avLst/>
          </a:prstGeom>
          <a:solidFill>
            <a:srgbClr val="FCE4DE"/>
          </a:solidFill>
          <a:ln w="16669">
            <a:solidFill>
              <a:srgbClr val="EC301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45419" y="7127716"/>
            <a:ext cx="15877223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679"/>
              </a:lnSpc>
              <a:buNone/>
            </a:pPr>
            <a:r>
              <a:rPr lang="en-US" sz="1800" b="1" dirty="0">
                <a:solidFill>
                  <a:srgbClr val="C22A1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--fail-on-kev </a:t>
            </a:r>
            <a:pPr algn="l" indent="0" marL="0">
              <a:lnSpc>
                <a:spcPct val="108679"/>
              </a:lnSpc>
              <a:buNone/>
            </a:pPr>
            <a:r>
              <a:rPr lang="en-US" sz="1800" dirty="0">
                <a:solidFill>
                  <a:srgbClr val="201E1D"/>
                </a:solidFill>
                <a:highlight>
                  <a:srgbClr val="FCE4DE"/>
                </a:highlight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 </a:t>
            </a:r>
            <a:pPr algn="l" indent="0" marL="0">
              <a:lnSpc>
                <a:spcPct val="108679"/>
              </a:lnSpc>
              <a:buNone/>
            </a:pPr>
            <a:r>
              <a:rPr lang="en-US" sz="1800" b="1" dirty="0">
                <a:solidFill>
                  <a:srgbClr val="C22A1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--min-epss 0.5 </a:t>
            </a:r>
            <a:pPr algn="l" indent="0" marL="0">
              <a:lnSpc>
                <a:spcPct val="108679"/>
              </a:lnSpc>
              <a:buNone/>
            </a:pPr>
            <a:r>
              <a:rPr lang="en-US" sz="1800" dirty="0">
                <a:solidFill>
                  <a:srgbClr val="201E1D"/>
                </a:solidFill>
                <a:highlight>
                  <a:srgbClr val="FCE4DE"/>
                </a:highlight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— block on real-world risk, warn on the rest.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143000" y="9286875"/>
            <a:ext cx="16002000" cy="16669"/>
          </a:xfrm>
          <a:prstGeom prst="rect">
            <a:avLst/>
          </a:prstGeom>
          <a:solidFill>
            <a:srgbClr val="D3D0CF"/>
          </a:solidFill>
          <a:ln/>
        </p:spPr>
      </p:sp>
      <p:sp>
        <p:nvSpPr>
          <p:cNvPr id="17" name="Text 15"/>
          <p:cNvSpPr/>
          <p:nvPr/>
        </p:nvSpPr>
        <p:spPr>
          <a:xfrm>
            <a:off x="1143000" y="9455944"/>
            <a:ext cx="624840" cy="221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45" kern="0" dirty="0">
                <a:solidFill>
                  <a:srgbClr val="201E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WARDEN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8183880" y="9455944"/>
            <a:ext cx="1709928" cy="221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45" kern="0" dirty="0">
                <a:solidFill>
                  <a:srgbClr val="201E1D">
                    <a:alpha val="5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never false-green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16230600" y="9455944"/>
            <a:ext cx="990600" cy="221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45" kern="0" dirty="0">
                <a:solidFill>
                  <a:srgbClr val="201E1D">
                    <a:alpha val="5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V · 23</a:t>
            </a:r>
            <a:endParaRPr lang="en-US" sz="112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487487"/>
            <a:ext cx="16002000" cy="27781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971550"/>
            <a:ext cx="433388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EC301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18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1728788" y="838200"/>
            <a:ext cx="9665668" cy="515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spc="-69" kern="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License &amp; currency complete the gate </a:t>
            </a:r>
            <a:pPr algn="l" indent="0" marL="0">
              <a:buNone/>
            </a:pPr>
            <a:r>
              <a:rPr lang="en-US" sz="1800" b="1" spc="-69" kern="0" dirty="0">
                <a:solidFill>
                  <a:srgbClr val="F3F2F2"/>
                </a:solidFill>
                <a:highlight>
                  <a:srgbClr val="201E1D"/>
                </a:highlight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v1.x</a:t>
            </a:r>
            <a:endParaRPr lang="en-US" sz="3450" dirty="0"/>
          </a:p>
        </p:txBody>
      </p:sp>
      <p:sp>
        <p:nvSpPr>
          <p:cNvPr id="5" name="Shape 3"/>
          <p:cNvSpPr/>
          <p:nvPr/>
        </p:nvSpPr>
        <p:spPr>
          <a:xfrm>
            <a:off x="1143000" y="1591469"/>
            <a:ext cx="7810500" cy="7619206"/>
          </a:xfrm>
          <a:prstGeom prst="rect">
            <a:avLst/>
          </a:prstGeom>
          <a:ln w="16669">
            <a:solidFill>
              <a:srgbClr val="201E1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78769" y="1989137"/>
            <a:ext cx="7632859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108" kern="0" dirty="0">
                <a:solidFill>
                  <a:srgbClr val="C22A1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AXIS 3 · LICENSE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578769" y="2344738"/>
            <a:ext cx="7632859" cy="39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716"/>
              </a:lnSpc>
              <a:buNone/>
            </a:pPr>
            <a:r>
              <a:rPr lang="en-US" sz="270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Is it allowed?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1578769" y="2914333"/>
            <a:ext cx="7147131" cy="7121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571"/>
              </a:lnSpc>
              <a:buNone/>
            </a:pPr>
            <a:r>
              <a:rPr lang="en-US" sz="1800" dirty="0">
                <a:solidFill>
                  <a:srgbClr val="201E1D">
                    <a:alpha val="72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SPDX from PyPI metadata + conda </a:t>
            </a:r>
            <a:pPr algn="l" indent="0" marL="0">
              <a:lnSpc>
                <a:spcPct val="132571"/>
              </a:lnSpc>
              <a:buNone/>
            </a:pPr>
            <a:r>
              <a:rPr lang="en-US" sz="1800" dirty="0">
                <a:solidFill>
                  <a:srgbClr val="C22A1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about: license </a:t>
            </a:r>
            <a:pPr algn="l" indent="0" marL="0">
              <a:lnSpc>
                <a:spcPct val="132571"/>
              </a:lnSpc>
              <a:buNone/>
            </a:pPr>
            <a:r>
              <a:rPr lang="en-US" sz="1800" dirty="0">
                <a:solidFill>
                  <a:srgbClr val="201E1D">
                    <a:alpha val="72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, normalized via </a:t>
            </a:r>
            <a:pPr algn="l" indent="0" marL="0">
              <a:lnSpc>
                <a:spcPct val="132571"/>
              </a:lnSpc>
              <a:buNone/>
            </a:pPr>
            <a:r>
              <a:rPr lang="en-US" sz="1800" b="1" dirty="0">
                <a:solidFill>
                  <a:srgbClr val="201E1D">
                    <a:alpha val="72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license-expression</a:t>
            </a:r>
            <a:pPr algn="l" indent="0" marL="0">
              <a:lnSpc>
                <a:spcPct val="132571"/>
              </a:lnSpc>
              <a:buNone/>
            </a:pPr>
            <a:r>
              <a:rPr lang="en-US" sz="1800" dirty="0">
                <a:solidFill>
                  <a:srgbClr val="201E1D">
                    <a:alpha val="72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. Gate on allow / deny lists.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78769" y="8551862"/>
            <a:ext cx="7147131" cy="2992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C22A1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--allow-licenses · --deny-licenses</a:t>
            </a:r>
            <a:endParaRPr lang="en-US" sz="1575" dirty="0"/>
          </a:p>
        </p:txBody>
      </p:sp>
      <p:sp>
        <p:nvSpPr>
          <p:cNvPr id="10" name="Shape 8"/>
          <p:cNvSpPr/>
          <p:nvPr/>
        </p:nvSpPr>
        <p:spPr>
          <a:xfrm>
            <a:off x="9334500" y="1591469"/>
            <a:ext cx="7810500" cy="7619206"/>
          </a:xfrm>
          <a:prstGeom prst="rect">
            <a:avLst/>
          </a:prstGeom>
          <a:ln w="16669">
            <a:solidFill>
              <a:srgbClr val="201E1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770269" y="1989137"/>
            <a:ext cx="7632859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108" kern="0" dirty="0">
                <a:solidFill>
                  <a:srgbClr val="C22A1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AXIS 4 · CURRENCY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770269" y="2344738"/>
            <a:ext cx="7632859" cy="39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716"/>
              </a:lnSpc>
              <a:buNone/>
            </a:pPr>
            <a:r>
              <a:rPr lang="en-US" sz="270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Is it patchable?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9770269" y="2914333"/>
            <a:ext cx="7147131" cy="701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571"/>
              </a:lnSpc>
              <a:buNone/>
            </a:pPr>
            <a:r>
              <a:rPr lang="en-US" sz="1800" b="1" dirty="0">
                <a:solidFill>
                  <a:srgbClr val="201E1D">
                    <a:alpha val="72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endoflife.date </a:t>
            </a:r>
            <a:pPr algn="l" indent="0" marL="0">
              <a:lnSpc>
                <a:spcPct val="132571"/>
              </a:lnSpc>
              <a:buNone/>
            </a:pPr>
            <a:r>
              <a:rPr lang="en-US" sz="1800" dirty="0">
                <a:solidFill>
                  <a:srgbClr val="201E1D">
                    <a:alpha val="72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+ version-lag flag EOL &amp; stale deps — and the Python runtime against LTS / N / N-1. Only current things get patched.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770269" y="8551862"/>
            <a:ext cx="7147131" cy="2992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C22A1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--max-lag · --require-lts · --fail-on-eol</a:t>
            </a:r>
            <a:endParaRPr lang="en-US" sz="1575" dirty="0"/>
          </a:p>
        </p:txBody>
      </p:sp>
      <p:sp>
        <p:nvSpPr>
          <p:cNvPr id="15" name="Shape 13"/>
          <p:cNvSpPr/>
          <p:nvPr/>
        </p:nvSpPr>
        <p:spPr>
          <a:xfrm>
            <a:off x="1143000" y="9286875"/>
            <a:ext cx="16002000" cy="16669"/>
          </a:xfrm>
          <a:prstGeom prst="rect">
            <a:avLst/>
          </a:prstGeom>
          <a:solidFill>
            <a:srgbClr val="D3D0CF"/>
          </a:solidFill>
          <a:ln/>
        </p:spPr>
      </p:sp>
      <p:sp>
        <p:nvSpPr>
          <p:cNvPr id="16" name="Text 14"/>
          <p:cNvSpPr/>
          <p:nvPr/>
        </p:nvSpPr>
        <p:spPr>
          <a:xfrm>
            <a:off x="1143000" y="9455944"/>
            <a:ext cx="624840" cy="221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45" kern="0" dirty="0">
                <a:solidFill>
                  <a:srgbClr val="201E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WARDEN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8183880" y="9455944"/>
            <a:ext cx="1709928" cy="221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45" kern="0" dirty="0">
                <a:solidFill>
                  <a:srgbClr val="201E1D">
                    <a:alpha val="5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never false-green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16230600" y="9455944"/>
            <a:ext cx="990600" cy="221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45" kern="0" dirty="0">
                <a:solidFill>
                  <a:srgbClr val="201E1D">
                    <a:alpha val="5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V · 24</a:t>
            </a:r>
            <a:endParaRPr lang="en-US" sz="112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EC3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40937" y="-1333500"/>
            <a:ext cx="8652669" cy="6896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072"/>
              </a:lnSpc>
              <a:buNone/>
            </a:pPr>
            <a:r>
              <a:rPr lang="en-US" sz="40000" b="1" dirty="0">
                <a:solidFill>
                  <a:srgbClr val="F3F2F2">
                    <a:alpha val="13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VI</a:t>
            </a:r>
            <a:endParaRPr lang="en-US" sz="40000" dirty="0"/>
          </a:p>
        </p:txBody>
      </p:sp>
      <p:sp>
        <p:nvSpPr>
          <p:cNvPr id="3" name="Text 1"/>
          <p:cNvSpPr/>
          <p:nvPr/>
        </p:nvSpPr>
        <p:spPr>
          <a:xfrm>
            <a:off x="1143000" y="914400"/>
            <a:ext cx="17602200" cy="3103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64" kern="0" dirty="0">
                <a:solidFill>
                  <a:srgbClr val="F3F2F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VI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43000" y="3396615"/>
            <a:ext cx="16482060" cy="21961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72"/>
              </a:lnSpc>
              <a:buNone/>
            </a:pPr>
            <a:r>
              <a:rPr lang="en-US" sz="8850" b="1" spc="-177" kern="0" dirty="0">
                <a:solidFill>
                  <a:srgbClr val="F3F2F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One command, one honest gate</a:t>
            </a:r>
            <a:endParaRPr lang="en-US" sz="8850" dirty="0"/>
          </a:p>
        </p:txBody>
      </p:sp>
      <p:sp>
        <p:nvSpPr>
          <p:cNvPr id="5" name="Text 3"/>
          <p:cNvSpPr/>
          <p:nvPr/>
        </p:nvSpPr>
        <p:spPr>
          <a:xfrm>
            <a:off x="1143000" y="5897563"/>
            <a:ext cx="10988040" cy="9124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898"/>
              </a:lnSpc>
              <a:buNone/>
            </a:pPr>
            <a:r>
              <a:rPr lang="en-US" sz="2550" dirty="0">
                <a:solidFill>
                  <a:srgbClr val="F3F2F2">
                    <a:alpha val="94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same command you ran locally becomes the merge gate — fleet-wide, and it never lies.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1143000" y="8982075"/>
            <a:ext cx="16002000" cy="16669"/>
          </a:xfrm>
          <a:prstGeom prst="rect">
            <a:avLst/>
          </a:prstGeom>
          <a:solidFill>
            <a:srgbClr val="F3F2F2">
              <a:alpha val="4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9189244"/>
            <a:ext cx="633413" cy="221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56" kern="0" dirty="0">
                <a:solidFill>
                  <a:srgbClr val="F3F2F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WARDEN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8122444" y="9189244"/>
            <a:ext cx="1736646" cy="221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56" kern="0" dirty="0">
                <a:solidFill>
                  <a:srgbClr val="F3F2F2">
                    <a:alpha val="8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never false-green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16123444" y="9189244"/>
            <a:ext cx="1097756" cy="221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56" kern="0" dirty="0">
                <a:solidFill>
                  <a:srgbClr val="F3F2F2">
                    <a:alpha val="8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VI · 25</a:t>
            </a:r>
            <a:endParaRPr lang="en-US" sz="112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487487"/>
            <a:ext cx="16002000" cy="27781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971550"/>
            <a:ext cx="433388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EC301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19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1728788" y="838200"/>
            <a:ext cx="3257804" cy="515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spc="-69" kern="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gate, in CI</a:t>
            </a:r>
            <a:endParaRPr lang="en-US" sz="3450" dirty="0"/>
          </a:p>
        </p:txBody>
      </p:sp>
      <p:sp>
        <p:nvSpPr>
          <p:cNvPr id="5" name="Shape 3"/>
          <p:cNvSpPr/>
          <p:nvPr/>
        </p:nvSpPr>
        <p:spPr>
          <a:xfrm>
            <a:off x="1143000" y="3635693"/>
            <a:ext cx="7922895" cy="3530759"/>
          </a:xfrm>
          <a:prstGeom prst="rect">
            <a:avLst/>
          </a:prstGeom>
          <a:ln w="16669">
            <a:solidFill>
              <a:srgbClr val="201E1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59669" y="3652361"/>
            <a:ext cx="7889557" cy="708025"/>
          </a:xfrm>
          <a:prstGeom prst="rect">
            <a:avLst/>
          </a:prstGeom>
          <a:solidFill>
            <a:srgbClr val="EAE9E9"/>
          </a:solidFill>
          <a:ln/>
        </p:spPr>
      </p:sp>
      <p:sp>
        <p:nvSpPr>
          <p:cNvPr id="7" name="Shape 5"/>
          <p:cNvSpPr/>
          <p:nvPr/>
        </p:nvSpPr>
        <p:spPr>
          <a:xfrm>
            <a:off x="1159669" y="4343718"/>
            <a:ext cx="7889557" cy="16669"/>
          </a:xfrm>
          <a:prstGeom prst="rect">
            <a:avLst/>
          </a:prstGeom>
          <a:solidFill>
            <a:srgbClr val="D3D0CF"/>
          </a:solidFill>
          <a:ln/>
        </p:spPr>
      </p:sp>
      <p:sp>
        <p:nvSpPr>
          <p:cNvPr id="8" name="Text 6"/>
          <p:cNvSpPr/>
          <p:nvPr/>
        </p:nvSpPr>
        <p:spPr>
          <a:xfrm>
            <a:off x="1426369" y="3861911"/>
            <a:ext cx="3319272" cy="3103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01E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warden / dependency-gate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7753509" y="3873024"/>
            <a:ext cx="1105218" cy="288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22A1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✗ failing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26369" y="4588986"/>
            <a:ext cx="7576842" cy="3781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213"/>
              </a:lnSpc>
              <a:buNone/>
            </a:pPr>
            <a:r>
              <a:rPr lang="en-US" sz="1575" dirty="0">
                <a:solidFill>
                  <a:srgbClr val="1A7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✓ </a:t>
            </a:r>
            <a:pPr algn="l" indent="0" marL="0">
              <a:lnSpc>
                <a:spcPct val="130213"/>
              </a:lnSpc>
              <a:buNone/>
            </a:pPr>
            <a:r>
              <a:rPr lang="en-US" sz="1575" dirty="0">
                <a:solidFill>
                  <a:srgbClr val="201E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hygiene — clean</a:t>
            </a:r>
            <a:endParaRPr lang="en-US" sz="1575" dirty="0"/>
          </a:p>
        </p:txBody>
      </p:sp>
      <p:sp>
        <p:nvSpPr>
          <p:cNvPr id="11" name="Text 9"/>
          <p:cNvSpPr/>
          <p:nvPr/>
        </p:nvSpPr>
        <p:spPr>
          <a:xfrm>
            <a:off x="1426369" y="4929029"/>
            <a:ext cx="7576842" cy="3781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213"/>
              </a:lnSpc>
              <a:buNone/>
            </a:pPr>
            <a:r>
              <a:rPr lang="en-US" sz="1575" dirty="0">
                <a:solidFill>
                  <a:srgbClr val="C22A1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✗ </a:t>
            </a:r>
            <a:pPr algn="l" indent="0" marL="0">
              <a:lnSpc>
                <a:spcPct val="130213"/>
              </a:lnSpc>
              <a:buNone/>
            </a:pPr>
            <a:r>
              <a:rPr lang="en-US" sz="1575" dirty="0">
                <a:solidFill>
                  <a:srgbClr val="201E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security — 1 critical · </a:t>
            </a:r>
            <a:pPr algn="l" indent="0" marL="0">
              <a:lnSpc>
                <a:spcPct val="130213"/>
              </a:lnSpc>
              <a:buNone/>
            </a:pPr>
            <a:r>
              <a:rPr lang="en-US" sz="1575" b="1" dirty="0">
                <a:solidFill>
                  <a:srgbClr val="201E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KEV-listed</a:t>
            </a:r>
            <a:endParaRPr lang="en-US" sz="1575" dirty="0"/>
          </a:p>
        </p:txBody>
      </p:sp>
      <p:sp>
        <p:nvSpPr>
          <p:cNvPr id="12" name="Text 10"/>
          <p:cNvSpPr/>
          <p:nvPr/>
        </p:nvSpPr>
        <p:spPr>
          <a:xfrm>
            <a:off x="1693069" y="5269071"/>
            <a:ext cx="7310142" cy="3781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213"/>
              </a:lnSpc>
              <a:buNone/>
            </a:pPr>
            <a:r>
              <a:rPr lang="en-US" sz="1575" dirty="0">
                <a:solidFill>
                  <a:srgbClr val="201E1D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numpy 1.22.0 · GHSA-xxxx · EPSS 0.83</a:t>
            </a:r>
            <a:endParaRPr lang="en-US" sz="1575" dirty="0"/>
          </a:p>
        </p:txBody>
      </p:sp>
      <p:sp>
        <p:nvSpPr>
          <p:cNvPr id="13" name="Text 11"/>
          <p:cNvSpPr/>
          <p:nvPr/>
        </p:nvSpPr>
        <p:spPr>
          <a:xfrm>
            <a:off x="1426369" y="5609113"/>
            <a:ext cx="7576842" cy="3781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213"/>
              </a:lnSpc>
              <a:buNone/>
            </a:pPr>
            <a:r>
              <a:rPr lang="en-US" sz="1575" dirty="0">
                <a:solidFill>
                  <a:srgbClr val="1A7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✓ </a:t>
            </a:r>
            <a:pPr algn="l" indent="0" marL="0">
              <a:lnSpc>
                <a:spcPct val="130213"/>
              </a:lnSpc>
              <a:buNone/>
            </a:pPr>
            <a:r>
              <a:rPr lang="en-US" sz="1575" dirty="0">
                <a:solidFill>
                  <a:srgbClr val="201E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license — clean</a:t>
            </a:r>
            <a:endParaRPr lang="en-US" sz="1575" dirty="0"/>
          </a:p>
        </p:txBody>
      </p:sp>
      <p:sp>
        <p:nvSpPr>
          <p:cNvPr id="14" name="Shape 12"/>
          <p:cNvSpPr/>
          <p:nvPr/>
        </p:nvSpPr>
        <p:spPr>
          <a:xfrm>
            <a:off x="1426369" y="6082506"/>
            <a:ext cx="7356157" cy="16669"/>
          </a:xfrm>
          <a:prstGeom prst="rect">
            <a:avLst/>
          </a:prstGeom>
          <a:solidFill>
            <a:srgbClr val="D3D0CF"/>
          </a:solidFill>
          <a:ln/>
        </p:spPr>
      </p:sp>
      <p:sp>
        <p:nvSpPr>
          <p:cNvPr id="15" name="Text 13"/>
          <p:cNvSpPr/>
          <p:nvPr/>
        </p:nvSpPr>
        <p:spPr>
          <a:xfrm>
            <a:off x="1426369" y="6232525"/>
            <a:ext cx="7576842" cy="3781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213"/>
              </a:lnSpc>
              <a:buNone/>
            </a:pPr>
            <a:r>
              <a:rPr lang="en-US" sz="1575" dirty="0">
                <a:solidFill>
                  <a:srgbClr val="201E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verdict </a:t>
            </a:r>
            <a:pPr algn="l" indent="0" marL="0">
              <a:lnSpc>
                <a:spcPct val="130213"/>
              </a:lnSpc>
              <a:buNone/>
            </a:pPr>
            <a:r>
              <a:rPr lang="en-US" sz="1575" b="1" dirty="0">
                <a:solidFill>
                  <a:srgbClr val="C22A1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policy-violation </a:t>
            </a:r>
            <a:pPr algn="l" indent="0" marL="0">
              <a:lnSpc>
                <a:spcPct val="130213"/>
              </a:lnSpc>
              <a:buNone/>
            </a:pPr>
            <a:r>
              <a:rPr lang="en-US" sz="1575" dirty="0">
                <a:solidFill>
                  <a:srgbClr val="201E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 exit </a:t>
            </a:r>
            <a:pPr algn="l" indent="0" marL="0">
              <a:lnSpc>
                <a:spcPct val="130213"/>
              </a:lnSpc>
              <a:buNone/>
            </a:pPr>
            <a:r>
              <a:rPr lang="en-US" sz="1575" b="1" dirty="0">
                <a:solidFill>
                  <a:srgbClr val="C22A1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1575" dirty="0"/>
          </a:p>
        </p:txBody>
      </p:sp>
      <p:sp>
        <p:nvSpPr>
          <p:cNvPr id="16" name="Text 14"/>
          <p:cNvSpPr/>
          <p:nvPr/>
        </p:nvSpPr>
        <p:spPr>
          <a:xfrm>
            <a:off x="1426369" y="6629717"/>
            <a:ext cx="7576842" cy="3295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143"/>
              </a:lnSpc>
              <a:buNone/>
            </a:pPr>
            <a:r>
              <a:rPr lang="en-US" sz="1350" dirty="0">
                <a:solidFill>
                  <a:srgbClr val="201E1D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↳ report artifact: compliance-report.json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9599295" y="4494212"/>
            <a:ext cx="7772076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163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Exit 1 </a:t>
            </a:r>
            <a:pPr algn="l" indent="0" marL="0">
              <a:lnSpc>
                <a:spcPct val="133163"/>
              </a:lnSpc>
              <a:buNone/>
            </a:pPr>
            <a:r>
              <a:rPr lang="en-US" sz="225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blocks the merge </a:t>
            </a:r>
            <a:pPr algn="l" indent="0" marL="0">
              <a:lnSpc>
                <a:spcPct val="133163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— and the check shows exactly why, with the report attached.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9599295" y="5589587"/>
            <a:ext cx="7772076" cy="7562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895"/>
              </a:lnSpc>
              <a:buNone/>
            </a:pPr>
            <a:r>
              <a:rPr lang="en-US" sz="1950" dirty="0">
                <a:solidFill>
                  <a:srgbClr val="201E1D">
                    <a:alpha val="72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Green is </a:t>
            </a:r>
            <a:pPr algn="l" indent="0" marL="0">
              <a:lnSpc>
                <a:spcPct val="131895"/>
              </a:lnSpc>
              <a:buNone/>
            </a:pPr>
            <a:r>
              <a:rPr lang="en-US" sz="1950" b="1" dirty="0">
                <a:solidFill>
                  <a:srgbClr val="201E1D">
                    <a:alpha val="72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earned </a:t>
            </a:r>
            <a:pPr algn="l" indent="0" marL="0">
              <a:lnSpc>
                <a:spcPct val="131895"/>
              </a:lnSpc>
              <a:buNone/>
            </a:pPr>
            <a:r>
              <a:rPr lang="en-US" sz="1950" dirty="0">
                <a:solidFill>
                  <a:srgbClr val="201E1D">
                    <a:alpha val="72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— lock the environment, file an </a:t>
            </a:r>
            <a:pPr algn="l" indent="0" marL="0">
              <a:lnSpc>
                <a:spcPct val="131895"/>
              </a:lnSpc>
              <a:buNone/>
            </a:pPr>
            <a:r>
              <a:rPr lang="en-US" sz="1950" b="1" dirty="0">
                <a:solidFill>
                  <a:srgbClr val="201E1D">
                    <a:alpha val="72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expiring waiver </a:t>
            </a:r>
            <a:pPr algn="l" indent="0" marL="0">
              <a:lnSpc>
                <a:spcPct val="131895"/>
              </a:lnSpc>
              <a:buNone/>
            </a:pPr>
            <a:r>
              <a:rPr lang="en-US" sz="1950" dirty="0">
                <a:solidFill>
                  <a:srgbClr val="201E1D">
                    <a:alpha val="72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with a reason, or fix the finding. Never faked.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1143000" y="9286875"/>
            <a:ext cx="16002000" cy="16669"/>
          </a:xfrm>
          <a:prstGeom prst="rect">
            <a:avLst/>
          </a:prstGeom>
          <a:solidFill>
            <a:srgbClr val="D3D0CF"/>
          </a:solidFill>
          <a:ln/>
        </p:spPr>
      </p:sp>
      <p:sp>
        <p:nvSpPr>
          <p:cNvPr id="20" name="Text 18"/>
          <p:cNvSpPr/>
          <p:nvPr/>
        </p:nvSpPr>
        <p:spPr>
          <a:xfrm>
            <a:off x="1143000" y="9455944"/>
            <a:ext cx="624840" cy="221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45" kern="0" dirty="0">
                <a:solidFill>
                  <a:srgbClr val="201E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WARDEN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8138160" y="9455944"/>
            <a:ext cx="1709928" cy="221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45" kern="0" dirty="0">
                <a:solidFill>
                  <a:srgbClr val="201E1D">
                    <a:alpha val="5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never false-green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16139160" y="9455944"/>
            <a:ext cx="1082040" cy="221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45" kern="0" dirty="0">
                <a:solidFill>
                  <a:srgbClr val="201E1D">
                    <a:alpha val="5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VI · 26</a:t>
            </a:r>
            <a:endParaRPr lang="en-US" sz="112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EC3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7602200" cy="288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10" kern="0" dirty="0">
                <a:solidFill>
                  <a:srgbClr val="F3F2F2">
                    <a:alpha val="88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HONEST-ADOPTION POSTURE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143000" y="2704941"/>
            <a:ext cx="15304770" cy="35248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62"/>
              </a:lnSpc>
              <a:buNone/>
            </a:pPr>
            <a:r>
              <a:rPr lang="en-US" sz="6600" b="1" spc="-132" kern="0" dirty="0">
                <a:solidFill>
                  <a:srgbClr val="F3F2F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 green check should mean it was </a:t>
            </a:r>
            <a:pPr algn="l" indent="0" marL="0">
              <a:lnSpc>
                <a:spcPct val="95662"/>
              </a:lnSpc>
              <a:buNone/>
            </a:pPr>
            <a:r>
              <a:rPr lang="en-US" sz="6600" b="1" u="heavy" spc="-132" kern="0" dirty="0">
                <a:solidFill>
                  <a:srgbClr val="F3F2F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actually checked </a:t>
            </a:r>
            <a:pPr algn="l" indent="0" marL="0">
              <a:lnSpc>
                <a:spcPct val="95662"/>
              </a:lnSpc>
              <a:buNone/>
            </a:pPr>
            <a:r>
              <a:rPr lang="en-US" sz="6600" b="1" spc="-132" kern="0" dirty="0">
                <a:solidFill>
                  <a:srgbClr val="F3F2F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. No empty database, no skipped manifest, no false green.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1143000" y="6572726"/>
            <a:ext cx="13735050" cy="852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2250" dirty="0">
                <a:solidFill>
                  <a:srgbClr val="F3F2F2">
                    <a:alpha val="94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 bare </a:t>
            </a:r>
            <a:pPr algn="l" indent="0" marL="0">
              <a:lnSpc>
                <a:spcPct val="128571"/>
              </a:lnSpc>
              <a:buNone/>
            </a:pPr>
            <a:r>
              <a:rPr lang="en-US" sz="2250" b="1" dirty="0">
                <a:solidFill>
                  <a:srgbClr val="F3F2F2">
                    <a:alpha val="94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recipe.yaml </a:t>
            </a:r>
            <a:pPr algn="l" indent="0" marL="0">
              <a:lnSpc>
                <a:spcPct val="128571"/>
              </a:lnSpc>
              <a:buNone/>
            </a:pPr>
            <a:r>
              <a:rPr lang="en-US" sz="2250" dirty="0">
                <a:solidFill>
                  <a:srgbClr val="F3F2F2">
                    <a:alpha val="94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scan exits non-zero by design — until you lock, waive, or run </a:t>
            </a:r>
            <a:pPr algn="l" indent="0" marL="0">
              <a:lnSpc>
                <a:spcPct val="128571"/>
              </a:lnSpc>
              <a:buNone/>
            </a:pPr>
            <a:r>
              <a:rPr lang="en-US" sz="2250" b="1" dirty="0">
                <a:solidFill>
                  <a:srgbClr val="F3F2F2">
                    <a:alpha val="94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--warn-only </a:t>
            </a:r>
            <a:pPr algn="l" indent="0" marL="0">
              <a:lnSpc>
                <a:spcPct val="128571"/>
              </a:lnSpc>
              <a:buNone/>
            </a:pPr>
            <a:r>
              <a:rPr lang="en-US" sz="2250" dirty="0">
                <a:solidFill>
                  <a:srgbClr val="F3F2F2">
                    <a:alpha val="94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. That's the lock-nudge working, not a bug.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1143000" y="8927306"/>
            <a:ext cx="16002000" cy="16669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9172575"/>
            <a:ext cx="402336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3F2F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Warden · pyforge-warden · pyforge.warden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207240" y="9172575"/>
            <a:ext cx="543153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3F2F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rxm7706 / local-recipes · docs/specs/pyforge-warden.md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487487"/>
            <a:ext cx="16002000" cy="27781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1004887"/>
            <a:ext cx="1216660" cy="3103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132" kern="0" dirty="0">
                <a:solidFill>
                  <a:srgbClr val="EC301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APPENDIX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2512060" y="838200"/>
            <a:ext cx="4567317" cy="515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spc="-69" kern="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Who Warden serves</a:t>
            </a:r>
            <a:endParaRPr lang="en-US" sz="3450" dirty="0"/>
          </a:p>
        </p:txBody>
      </p:sp>
      <p:sp>
        <p:nvSpPr>
          <p:cNvPr id="5" name="Shape 3"/>
          <p:cNvSpPr/>
          <p:nvPr/>
        </p:nvSpPr>
        <p:spPr>
          <a:xfrm>
            <a:off x="1143000" y="1515269"/>
            <a:ext cx="16669" cy="7771606"/>
          </a:xfrm>
          <a:prstGeom prst="rect">
            <a:avLst/>
          </a:prstGeom>
          <a:solidFill>
            <a:srgbClr val="D3D0CF"/>
          </a:solidFill>
          <a:ln/>
        </p:spPr>
      </p:sp>
      <p:sp>
        <p:nvSpPr>
          <p:cNvPr id="6" name="Shape 4"/>
          <p:cNvSpPr/>
          <p:nvPr/>
        </p:nvSpPr>
        <p:spPr>
          <a:xfrm>
            <a:off x="5139372" y="1515269"/>
            <a:ext cx="16669" cy="7771606"/>
          </a:xfrm>
          <a:prstGeom prst="rect">
            <a:avLst/>
          </a:prstGeom>
          <a:solidFill>
            <a:srgbClr val="D3D0CF"/>
          </a:solidFill>
          <a:ln/>
        </p:spPr>
      </p:sp>
      <p:sp>
        <p:nvSpPr>
          <p:cNvPr id="7" name="Text 5"/>
          <p:cNvSpPr/>
          <p:nvPr/>
        </p:nvSpPr>
        <p:spPr>
          <a:xfrm>
            <a:off x="1445419" y="1820069"/>
            <a:ext cx="3749024" cy="249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64" kern="0" dirty="0">
                <a:solidFill>
                  <a:srgbClr val="C22A1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CISO</a:t>
            </a:r>
            <a:endParaRPr lang="en-US" sz="1275" dirty="0"/>
          </a:p>
        </p:txBody>
      </p:sp>
      <p:sp>
        <p:nvSpPr>
          <p:cNvPr id="8" name="Text 6"/>
          <p:cNvSpPr/>
          <p:nvPr/>
        </p:nvSpPr>
        <p:spPr>
          <a:xfrm>
            <a:off x="1445419" y="2164556"/>
            <a:ext cx="3749024" cy="3419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270"/>
              </a:lnSpc>
              <a:buNone/>
            </a:pPr>
            <a:r>
              <a:rPr lang="en-US" sz="2175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Provable risk posture</a:t>
            </a:r>
            <a:endParaRPr lang="en-US" sz="2175" dirty="0"/>
          </a:p>
        </p:txBody>
      </p:sp>
      <p:sp>
        <p:nvSpPr>
          <p:cNvPr id="9" name="Text 7"/>
          <p:cNvSpPr/>
          <p:nvPr/>
        </p:nvSpPr>
        <p:spPr>
          <a:xfrm>
            <a:off x="1445419" y="2639854"/>
            <a:ext cx="3510450" cy="9496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380"/>
              </a:lnSpc>
              <a:buNone/>
            </a:pPr>
            <a:r>
              <a:rPr lang="en-US" sz="1650" dirty="0">
                <a:solidFill>
                  <a:srgbClr val="201E1D">
                    <a:alpha val="72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Exploitability-prioritized findings (KEV/EPSS) and audit-grade, reproducible evidence.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9135745" y="1515269"/>
            <a:ext cx="16669" cy="7771606"/>
          </a:xfrm>
          <a:prstGeom prst="rect">
            <a:avLst/>
          </a:prstGeom>
          <a:solidFill>
            <a:srgbClr val="D3D0CF"/>
          </a:solidFill>
          <a:ln/>
        </p:spPr>
      </p:sp>
      <p:sp>
        <p:nvSpPr>
          <p:cNvPr id="11" name="Text 9"/>
          <p:cNvSpPr/>
          <p:nvPr/>
        </p:nvSpPr>
        <p:spPr>
          <a:xfrm>
            <a:off x="5441791" y="1820069"/>
            <a:ext cx="3749024" cy="249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64" kern="0" dirty="0">
                <a:solidFill>
                  <a:srgbClr val="C22A1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CHIEF DEV EXPERIENCE</a:t>
            </a:r>
            <a:endParaRPr lang="en-US" sz="1275" dirty="0"/>
          </a:p>
        </p:txBody>
      </p:sp>
      <p:sp>
        <p:nvSpPr>
          <p:cNvPr id="12" name="Text 10"/>
          <p:cNvSpPr/>
          <p:nvPr/>
        </p:nvSpPr>
        <p:spPr>
          <a:xfrm>
            <a:off x="5441791" y="2164556"/>
            <a:ext cx="3749024" cy="3419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270"/>
              </a:lnSpc>
              <a:buNone/>
            </a:pPr>
            <a:r>
              <a:rPr lang="en-US" sz="2175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 gate devs trust</a:t>
            </a:r>
            <a:endParaRPr lang="en-US" sz="2175" dirty="0"/>
          </a:p>
        </p:txBody>
      </p:sp>
      <p:sp>
        <p:nvSpPr>
          <p:cNvPr id="13" name="Text 11"/>
          <p:cNvSpPr/>
          <p:nvPr/>
        </p:nvSpPr>
        <p:spPr>
          <a:xfrm>
            <a:off x="5441791" y="2639854"/>
            <a:ext cx="3510450" cy="645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380"/>
              </a:lnSpc>
              <a:buNone/>
            </a:pPr>
            <a:r>
              <a:rPr lang="en-US" sz="1650" dirty="0">
                <a:solidFill>
                  <a:srgbClr val="201E1D">
                    <a:alpha val="72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Runs locally first, one command, no false alarms — so it doesn't cry wolf.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13132117" y="1515269"/>
            <a:ext cx="16669" cy="7771606"/>
          </a:xfrm>
          <a:prstGeom prst="rect">
            <a:avLst/>
          </a:prstGeom>
          <a:solidFill>
            <a:srgbClr val="D3D0CF"/>
          </a:solidFill>
          <a:ln/>
        </p:spPr>
      </p:sp>
      <p:sp>
        <p:nvSpPr>
          <p:cNvPr id="15" name="Text 13"/>
          <p:cNvSpPr/>
          <p:nvPr/>
        </p:nvSpPr>
        <p:spPr>
          <a:xfrm>
            <a:off x="9438163" y="1820069"/>
            <a:ext cx="3749024" cy="249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64" kern="0" dirty="0">
                <a:solidFill>
                  <a:srgbClr val="C22A1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CIO</a:t>
            </a:r>
            <a:endParaRPr lang="en-US" sz="1275" dirty="0"/>
          </a:p>
        </p:txBody>
      </p:sp>
      <p:sp>
        <p:nvSpPr>
          <p:cNvPr id="16" name="Text 14"/>
          <p:cNvSpPr/>
          <p:nvPr/>
        </p:nvSpPr>
        <p:spPr>
          <a:xfrm>
            <a:off x="9438163" y="2164556"/>
            <a:ext cx="3749024" cy="3419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270"/>
              </a:lnSpc>
              <a:buNone/>
            </a:pPr>
            <a:r>
              <a:rPr lang="en-US" sz="2175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Standardized &amp; offline</a:t>
            </a:r>
            <a:endParaRPr lang="en-US" sz="2175" dirty="0"/>
          </a:p>
        </p:txBody>
      </p:sp>
      <p:sp>
        <p:nvSpPr>
          <p:cNvPr id="17" name="Text 15"/>
          <p:cNvSpPr/>
          <p:nvPr/>
        </p:nvSpPr>
        <p:spPr>
          <a:xfrm>
            <a:off x="9438163" y="2639854"/>
            <a:ext cx="3510450" cy="9496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380"/>
              </a:lnSpc>
              <a:buNone/>
            </a:pPr>
            <a:r>
              <a:rPr lang="en-US" sz="1650" dirty="0">
                <a:solidFill>
                  <a:srgbClr val="201E1D">
                    <a:alpha val="72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One gate fleet-wide, deterministic and air-gap-ready for regulated estates.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3434536" y="1820069"/>
            <a:ext cx="3767360" cy="249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64" kern="0" dirty="0">
                <a:solidFill>
                  <a:srgbClr val="C22A1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CHIEF DATA &amp; ANALYTICS</a:t>
            </a:r>
            <a:endParaRPr lang="en-US" sz="1275" dirty="0"/>
          </a:p>
        </p:txBody>
      </p:sp>
      <p:sp>
        <p:nvSpPr>
          <p:cNvPr id="19" name="Text 17"/>
          <p:cNvSpPr/>
          <p:nvPr/>
        </p:nvSpPr>
        <p:spPr>
          <a:xfrm>
            <a:off x="13434536" y="2164556"/>
            <a:ext cx="3527619" cy="645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270"/>
              </a:lnSpc>
              <a:buNone/>
            </a:pPr>
            <a:r>
              <a:rPr lang="en-US" sz="2175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ML footprint, covered</a:t>
            </a:r>
            <a:endParaRPr lang="en-US" sz="2175" dirty="0"/>
          </a:p>
        </p:txBody>
      </p:sp>
      <p:sp>
        <p:nvSpPr>
          <p:cNvPr id="20" name="Text 18"/>
          <p:cNvSpPr/>
          <p:nvPr/>
        </p:nvSpPr>
        <p:spPr>
          <a:xfrm>
            <a:off x="13434536" y="2943701"/>
            <a:ext cx="3527619" cy="9496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380"/>
              </a:lnSpc>
              <a:buNone/>
            </a:pPr>
            <a:r>
              <a:rPr lang="en-US" sz="1650" dirty="0">
                <a:solidFill>
                  <a:srgbClr val="201E1D">
                    <a:alpha val="72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conda / conda-forge coverage — the 80% of libraries stock tools never see.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143000" y="9286875"/>
            <a:ext cx="16002000" cy="16669"/>
          </a:xfrm>
          <a:prstGeom prst="rect">
            <a:avLst/>
          </a:prstGeom>
          <a:solidFill>
            <a:srgbClr val="D3D0CF"/>
          </a:solidFill>
          <a:ln/>
        </p:spPr>
      </p:sp>
      <p:sp>
        <p:nvSpPr>
          <p:cNvPr id="22" name="Text 20"/>
          <p:cNvSpPr/>
          <p:nvPr/>
        </p:nvSpPr>
        <p:spPr>
          <a:xfrm>
            <a:off x="1143000" y="9455944"/>
            <a:ext cx="624840" cy="221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45" kern="0" dirty="0">
                <a:solidFill>
                  <a:srgbClr val="201E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WARDEN</a:t>
            </a:r>
            <a:endParaRPr lang="en-US" sz="1125" dirty="0"/>
          </a:p>
        </p:txBody>
      </p:sp>
      <p:sp>
        <p:nvSpPr>
          <p:cNvPr id="23" name="Text 21"/>
          <p:cNvSpPr/>
          <p:nvPr/>
        </p:nvSpPr>
        <p:spPr>
          <a:xfrm>
            <a:off x="8046720" y="9455944"/>
            <a:ext cx="1709928" cy="221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45" kern="0" dirty="0">
                <a:solidFill>
                  <a:srgbClr val="201E1D">
                    <a:alpha val="5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never false-green</a:t>
            </a:r>
            <a:endParaRPr lang="en-US" sz="1125" dirty="0"/>
          </a:p>
        </p:txBody>
      </p:sp>
      <p:sp>
        <p:nvSpPr>
          <p:cNvPr id="24" name="Text 22"/>
          <p:cNvSpPr/>
          <p:nvPr/>
        </p:nvSpPr>
        <p:spPr>
          <a:xfrm>
            <a:off x="15956280" y="9455944"/>
            <a:ext cx="1264920" cy="221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45" kern="0" dirty="0">
                <a:solidFill>
                  <a:srgbClr val="201E1D">
                    <a:alpha val="5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APPENDIX · 28</a:t>
            </a:r>
            <a:endParaRPr lang="en-US" sz="11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2026-07-15T02:05:44Z</dcterms:created>
  <dcterms:modified xsi:type="dcterms:W3CDTF">2026-07-15T02:05:44Z</dcterms:modified>
</cp:coreProperties>
</file>