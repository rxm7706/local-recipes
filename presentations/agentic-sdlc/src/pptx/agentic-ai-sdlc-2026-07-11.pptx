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This deck explains what agentic AI across the software development lifecycle actually looks like in practice, using the BMad Method as our concrete framework. Audience: working engineers. The arc runs in six acts: the case for change, spec-driven development, choosing a framework, the BMAD agent team, the four phases, and scaling plus the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 map. Six acts. First, why the augmented SDLC most teams run isn't enough and what agentic means. Second, spec-driven development as the operating model. Third, the tool landscape and why we settle on BMAD. Fourth, how the BMAD agent team is structured. Fifth, a walk through the four phases end to end. Sixth, scaling the method, governing it, and the wider ecosystem. About forty minutes end to end; each act stands alone if you want to jump.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 opener: the problem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Most AI coding tools generate for you and leave you to sort out the mess. That works for a snippet and falls apart on a real system. The shift is from a tool that types to a collaborator that follows a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term before going further. The AI-SDLC is not a new lifecycle — it's the one you already know: analyze, plan, design, build, test, ship. What changes is who does the work and how state moves between phases. Specialized agents execute each phase, humans keep judgment and approval, and persistent specs — not meetings or chat memory — carry the state from one phase to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agentic sit relative to the AI-augmented SDLC most teams already have? It's a spectrum. Manual: humans do everything. AI-augmented: humans still execute every phase, AI assists inside each one — autocomplete, generated tests you curate, review hints. Agentic: agents execute the phases, humans direct and gate through specs — that's this deck. Autonomous: unattended loops where you set intent and review outcomes. The real jump from augmented to agentic: context moves out of your head and chat history into documents agents read and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in one line: agents are collaborators, not oracles. They pull your best thinking out through a structured process instead of doing the thinking for you. This is the whole philosophy.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II opener: spec-driven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spec-driven development before we build on it. SDD means you write the specification first — a precise, versioned document stating behavior, constraints, and acceptance criteria — and the AI generates and validates code against it. Contrast that with vibe coding: prompt, get code, hope. In SDD the pipeline is intent → spec → human review → generate → validate. The spec is the contract; a bug means the contract was wrong or violated.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Spec-driven development is the universal operating model. Specs aren't paperwork — they're programmable infrastructure. Three payoffs: expertise becomes a permanent asset instead of living in one person's head; structured specs become machine-readable instructions agents can execute; and every document compounds — it's semantic context that makes the next agent run smarter. V6 shards work into atomic, versioned step-files to eliminate context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model that makes all of this click: the documentation is the brain, and agents are transient workers who read from and write to it. Never rely on an LLM's leaky chat memory to hold the plan. And the SDLC isn't a loop — it's a funnel of increasing resolution: why, what, how, build. No agent writes code until the what and the how are frozen in a text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III opener: the tool landscape and the BMAD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SDD is a category now, not one tool — 30+ frameworks by early 2026. Three broad buckets. Agent-team frameworks simulate a full agile team with role personas and file-based handoffs — BMAD is the archetype and what this deck follows. Spec-first scaffolding adds a specify-plan-tasks structure to a coding session — GitHub Spec Kit with its constitution, AWS Kiro baking specs into the IDE, GSD as the lightweight option. Living-spec tools treat the spec as the evolving source of truth — OpenSpec with delta specs for brownfield, Tessl betting on spec-as-source, Augment Intent writing changes back to the spec. Below all of these sits agent infrastructure — CrewAI, Agno, LangGraph, AutoGen — orchestration SDKs that provide multi-agent machinery, not a development methodology. Rules of thumb: complex greenfield with a paper trail, BMAD. Brownfield and lightweight, OpenSpec. Broad default, Spec Kit. AWS-native, Kiro.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and machinery are different layers, and engineers ask two questions when they see orchestration SDKs next to BMAD. First: do you need an SDK with BMAD? Usually not — BMAD installs as skills into your coding agent (Claude Code, Cursor, Codex), which is already the runtime: tool calling, files, context, with humans driving checkpoints. Reach for CrewAI or LangGraph only to build your own pipeline product — unattended CI loops, parallel story agents — where personas become crews or graph nodes and BMAD's artifacts stay the contracts. Second, the reverse: on an SDK already, do you need a method? For software, yes — orchestration SDKs are empty machinery with no roles, artifacts, or gates; borrow BMAD (personas become roles, artifacts the messages, gates the edges) or reinvent them. Not building software — research, bots, data pipelines? SDD is irrelevant. The relationship is asymmetric: method without SDK works out of the box; SDK without method only when you're not shipping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framework and not another from the landscape? Four reasons. Structure without rigidity: phases are guardrails, not gates you can't skip — drop optional phases, load agents directly, reorder once you know the flow. Context persistence: every plan is a file in git — new chat, agents pick up where you left off; the whole team sees the same artifacts. Scale-domain-adaptive: it sizes the ceremony to the work — bug fix gets three commands, an enterprise system gets compliance and security reviews — and adapts to domain: a dating app and a medical device don't get the same planning. And it's 100% free, MIT, no gated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break into the concrete half of the deck: the BMAD framework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don't talk to one monolithic AI. You talk to named agents, each anchored to a phase and a role, each with a persona and a menu of skills. Say 'Hey Mary, let's brainstorm' and she activates. The point: it feels like a team of specialists, not a slash-command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personas instead of a menu or a blank prompt? A menu makes you memorize where each capability lives. A blank prompt makes you guess the magic words. Named agents invert it: you say what you want, in your words, to a teammate who already knows the work and their menu is there as a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agent at a time is the default, but some decisions need several perspectives at once. Party mode brings multiple personas into one session and lets them respond in turn. Three canonical uses: a design review where UX, architect, and developer weigh in together; a troubleshooting session where dev, DevOps, and DBA triangulate a production issue; and architecture decisions where PM, architect, and security argue trade-offs before you commit. It's the whiteboard meeting, minus the scheduling.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reference slide before we walk the phases: the execution matrix. Each phase has a persona, an input artifact, and an output artifact. Each output becomes the anchor for the next persona — the handoff is a file, not a chat thread. Keep this in your head as we go phase by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skill roster in the latest release, aligned to agents and phases. Every workflow ships as an installable skill — invoke it directly by its bmad- id, or through the owning agent's menu. Mary and Paige cover analysis, John and Sally planning, Winston solutioning, Amelia the whole implementation loop. And a set of cross-cutting skills — help, party-mode, customize, project-context generation — plus the quick-dev and dev-auto parallel track work across all phases.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all physically looks like: two folders in your repo. _bmad holds the machinery — agent definitions, workflows, config. _bmad-output holds your artifacts, split in v6 into planning-artifacts (PRD, architecture, epics) and implementation-artifacts (sprint status), plus a project-context file. Four consequences: no context loss because a new chat picks up from the files; version control because plans live in git next to code; team visibility because everyone reads the same documents; and AI grounding because agents cite concrete files instead of hallucinating.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break opening the phase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rest of the deck. Four phases: Analysis, Planning, Solutioning, Implementation. Each is a set of workflows that produce documents. We'll walk through each one. Phase 1 is optional; the real spine is Planning to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Analysis, is optional but it makes everything downstream sharper. Four ways to think clearly before you build: brainstorm to generate, research to ground, brief to document, PRFAQ to stress-test. Skipping analysis means your PRD is built on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guidance: which analysis tool fits your situation. Vague idea, brainstorm. Need market truth, research. Know what you want, brief. Want it stress-tested, PRFAQ. Both brief and PRFAQ feed the PRD — the difference is how much challenge you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Planning. This is where you define what to build and for whom. The PRD is the anchor — it answers what and why, and every downstream document inherits its clarity or its vagueness. UX runs alongside when experience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Solutioning. Translate what into how. The architect makes technical decisions explicit, the PM breaks requirements into epics and stories, and a readiness gate decides pass, concerns, or fail before anyone writes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reason solutioning matters. Without shared architectural decisions, two agents on two epics pick REST and GraphQL independently, and integration becomes a nightmare. Decide once, up front, and everyone follows. Catching alignment issues here is 10x cheaper than during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4, Implementation. Build one story at a time. Each story carries complete, focused context so the dev agent isn't guessing. Sprint planning sequences the work once; then it's a tight loop per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into the loop. Create story, implement, review, and on to the next — with correct-course to handle mid-sprint changes and a retrospective at the end of each epic. Human stays in the loop; you choose how tight. This is the heartbeat of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break introducing the TEA testing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complaint heard most from teams using AI for development: the tests are garbage. They pass, they look fine in review, and three sprints later half are flaky and nobody trusts the suite — because the AI had no testing strategy, it just wrote assertions matching current behavior. TEA, the Test Architect module, treats testing as an engineering discipline: risk-based test design scores probability times impact into P0 to P3 priorities, so the checkout flow gets deep coverage and the settings page gets a smoke test. Network-first patterns kill flaky waits. And the trace workflow maps tests to requirements and issues a release-gate decision: pass, concerns, fail, or waived.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break opening the ecosystem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BMad v6 offers three planning tracks, and bmad-help picks one for you. Quick Flow for bug fixes and clear-scope work (1-15 stories) produces just a tech-spec. BMad Method for products and platforms (10-50+ stories) produces a PRD, architecture, and UX. Enterprise for compliance and multi-tenant systems (30+ stories) adds security and DevOps. Story counts are guidance, not definitions — choose by planning need. Same primitives throughout, different depth. Quick flow for a bug fix, simple for a small feature, complex when solutioning is required, enterprise when governance is. The process adjusts to complexity instead of forcing one-size-fits-all.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everything needs four phases. For small, well-understood work there's a parallel track: quick-dev clarifies, plans, implements, reviews, and presents in one flow; dev-auto runs a single unattended iteration. Use the full method for the enterprise system, quick flow for the bug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the docs idea together and scale it. The documents aren't paperwork — they're the product's memory. A project-context file makes a dozen separate agent runs feel like one coherent team, and at enterprise scale it matures into a constitution: a single, versioned source of truth that supersedes ad-hoc practice. The interesting part: agents are empowered to enforce it — they audit every PR and cite the exact clause a change violates. Humans amend it through ADRs and sign-off. And a simplicity gate keeps complexity honest: YAGNI, with justification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flip side: it's not just about using agents to build — it's about building systems agents can operate. Three layers: interfaces with semantic structure and deterministic layouts, no vibe UI; APIs that are idempotent and self-documenting with errors clear enough for an agent to self-correct; and an agent harness — explicit tool exposure, strict guardrails, exhaustive run-trace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BMAD isn't one thing — the core is a module in a wider ecosystem, and V6 leans hard into that. The core, BMM, is the 34+ workflow framework this deck walks through. On top of it, official modules extend the same scale-adaptive discipline into new domains, each installable during setup or any time after: BMad Builder to create your own agents and workflows; Test Architect (TEA) for risk-based test strategy; Game Dev Studio for Unity, Unreal, and Godot pipelines; and the Creative Intelligence Suite for brainstorming, innovation, and design-thinking facilitation. All MIT, all installed the same way. And when you're unsure what's next, the bmad-help skill tells you what to do and what's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built-in agents don't cover your domain — HIPAA reviews, a house deployment process — BMad Builder creates your own. The packaging model: everything is a skill, a folder with a SKILL.md, following the open Agent Skills standard; agents, workflows, and utilities all ship the same way. Agents come in three types: stateless for single-session experts; memory agents that keep a persistent 'sanctum' of identity and knowledge files and greet you by name next session; and autonomous agents that add a PULSE file and wake on a schedule to work unattended. Builders run as guided conversations, then modules package skills for distribution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isn't locked to one tool. Six planning coaches ship as web bundles you can install as ChatGPT Custom GPTs, Gemini Gems, or Microsoft Copilot agents — do the heavy planning on a flat-rate subscription, then bring the artifacts into your IDE for implementation. And a growing ecosystem of modules and community tools extends the same discipline to testing, game dev, automation, and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Show-and-tell slide. Three recreated terminal views walk the arc end to end: the one-command install and first prompt, a live PRD workflow session with the PM agent, and the artifacts landing in git. If you have real captures from your own runs, swap them in before presenting — live screenshots land even better. If not, these stand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actually try it. One install command, open your AI IDE, and if you're ever unsure, ask bmad-help and it tells you what's next. It's free and open source. The fastest way to understand it is to run it once on something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takeaways that transfer even if you never use this specific framework. Structure beats prompting. Documents are context. Decide the hard things once. Match ceremony to complexity. Keep a human in the loop. And when output is wrong, fix the upstream document and rerun — don't patch the code. These are the durable lessons of agentic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Agentic development isn't about handing off your judgment — it's about giving your judgment a structure to work in. Try it on something small this week. Resources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6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E9BEE">
                  <a:alpha val="16000"/>
                </a:srgbClr>
              </a:gs>
              <a:gs pos="60000">
                <a:srgbClr val="2E9BEE">
                  <a:alpha val="0"/>
                </a:srgbClr>
              </a:gs>
            </a:gsLst>
            <a:path path="circle">
              <a:fillToRect l="78000" t="8000" r="22000" b="92000"/>
            </a:path>
          </a:gradFill>
          <a:ln/>
        </p:spPr>
      </p:sp>
      <p:sp>
        <p:nvSpPr>
          <p:cNvPr id="3" name="Shape 1"/>
          <p:cNvSpPr/>
          <p:nvPr/>
        </p:nvSpPr>
        <p:spPr>
          <a:xfrm>
            <a:off x="1143000" y="6286500"/>
            <a:ext cx="16002000" cy="9525"/>
          </a:xfrm>
          <a:prstGeom prst="rect">
            <a:avLst/>
          </a:prstGeom>
          <a:gradFill rotWithShape="1">
            <a:gsLst>
              <a:gs pos="0">
                <a:srgbClr val="2E9BEE">
                  <a:alpha val="0"/>
                </a:srgbClr>
              </a:gs>
              <a:gs pos="12000">
                <a:srgbClr val="2E9BEE">
                  <a:alpha val="55000"/>
                </a:srgbClr>
              </a:gs>
              <a:gs pos="50000">
                <a:srgbClr val="2E9BEE">
                  <a:alpha val="90000"/>
                </a:srgbClr>
              </a:gs>
              <a:gs pos="88000">
                <a:srgbClr val="2E9BEE">
                  <a:alpha val="55000"/>
                </a:srgbClr>
              </a:gs>
              <a:gs pos="100000">
                <a:srgbClr val="2E9BEE">
                  <a:alpha val="0"/>
                </a:srgbClr>
              </a:gs>
            </a:gsLst>
            <a:lin ang="0" scaled="0"/>
          </a:gradFill>
          <a:ln/>
          <a:effectLst>
            <a:outerShdw sx="100000" sy="100000" kx="0" ky="0" algn="bl" rotWithShape="0" blurRad="228600" dist="50800" dir="16200000">
              <a:srgbClr val="2E9BEE">
                <a:alpha val="50000"/>
              </a:srgbClr>
            </a:outerShdw>
          </a:effectLst>
        </p:spPr>
      </p:sp>
      <p:sp>
        <p:nvSpPr>
          <p:cNvPr id="4" name="Shape 2"/>
          <p:cNvSpPr/>
          <p:nvPr/>
        </p:nvSpPr>
        <p:spPr>
          <a:xfrm>
            <a:off x="1143000" y="1101725"/>
            <a:ext cx="114300" cy="114300"/>
          </a:xfrm>
          <a:prstGeom prst="rect">
            <a:avLst/>
          </a:prstGeom>
          <a:solidFill>
            <a:srgbClr val="F4C233"/>
          </a:solidFill>
          <a:ln/>
        </p:spPr>
      </p:sp>
      <p:sp>
        <p:nvSpPr>
          <p:cNvPr id="5" name="Text 3"/>
          <p:cNvSpPr/>
          <p:nvPr/>
        </p:nvSpPr>
        <p:spPr>
          <a:xfrm>
            <a:off x="1409700" y="1047750"/>
            <a:ext cx="4194096" cy="260350"/>
          </a:xfrm>
          <a:prstGeom prst="rect">
            <a:avLst/>
          </a:prstGeom>
          <a:noFill/>
          <a:ln/>
        </p:spPr>
        <p:txBody>
          <a:bodyPr wrap="square" lIns="0" tIns="0" rIns="0" bIns="0" rtlCol="0" anchor="t">
            <a:normAutofit/>
          </a:bodyPr>
          <a:lstStyle/>
          <a:p>
            <a:pPr algn="l" indent="0" marL="0">
              <a:buNone/>
            </a:pPr>
            <a:r>
              <a:rPr lang="en-US" sz="1350" spc="378" kern="0" dirty="0">
                <a:solidFill>
                  <a:srgbClr val="5BB3F5"/>
                </a:solidFill>
                <a:latin typeface="IBM Plex Mono" pitchFamily="34" charset="0"/>
                <a:ea typeface="IBM Plex Mono" pitchFamily="34" charset="-122"/>
                <a:cs typeface="IBM Plex Mono" pitchFamily="34" charset="-120"/>
              </a:rPr>
              <a:t>A FIELD GUIDE FOR ENGINEERS</a:t>
            </a:r>
            <a:endParaRPr lang="en-US" sz="1350" dirty="0"/>
          </a:p>
        </p:txBody>
      </p:sp>
      <p:sp>
        <p:nvSpPr>
          <p:cNvPr id="6" name="Text 4"/>
          <p:cNvSpPr/>
          <p:nvPr/>
        </p:nvSpPr>
        <p:spPr>
          <a:xfrm>
            <a:off x="1143000" y="1689100"/>
            <a:ext cx="13735050" cy="2502535"/>
          </a:xfrm>
          <a:prstGeom prst="rect">
            <a:avLst/>
          </a:prstGeom>
          <a:noFill/>
          <a:ln/>
        </p:spPr>
        <p:txBody>
          <a:bodyPr wrap="square" lIns="25400" tIns="25400" rIns="25400" bIns="25400" rtlCol="0" anchor="t">
            <a:normAutofit/>
          </a:bodyPr>
          <a:lstStyle/>
          <a:p>
            <a:pPr algn="l" indent="0" marL="0">
              <a:lnSpc>
                <a:spcPct val="76700"/>
              </a:lnSpc>
              <a:buNone/>
            </a:pPr>
            <a:r>
              <a:rPr lang="en-US" sz="9900" b="1" spc="-297" kern="0" dirty="0">
                <a:solidFill>
                  <a:srgbClr val="F6F4EE"/>
                </a:solidFill>
                <a:latin typeface="Space Grotesk" pitchFamily="34" charset="0"/>
                <a:ea typeface="Space Grotesk" pitchFamily="34" charset="-122"/>
                <a:cs typeface="Space Grotesk" pitchFamily="34" charset="-120"/>
              </a:rPr>
              <a:t>Agentic AI across the software lifecycle</a:t>
            </a:r>
            <a:endParaRPr lang="en-US" sz="9900" dirty="0"/>
          </a:p>
        </p:txBody>
      </p:sp>
      <p:sp>
        <p:nvSpPr>
          <p:cNvPr id="7" name="Text 5"/>
          <p:cNvSpPr/>
          <p:nvPr/>
        </p:nvSpPr>
        <p:spPr>
          <a:xfrm>
            <a:off x="1143000" y="4534535"/>
            <a:ext cx="10006965" cy="895350"/>
          </a:xfrm>
          <a:prstGeom prst="rect">
            <a:avLst/>
          </a:prstGeom>
          <a:noFill/>
          <a:ln/>
        </p:spPr>
        <p:txBody>
          <a:bodyPr wrap="square" lIns="25400" tIns="25400" rIns="25400" bIns="25400" rtlCol="0" anchor="t">
            <a:normAutofit/>
          </a:bodyPr>
          <a:lstStyle/>
          <a:p>
            <a:pPr algn="l" indent="0" marL="0">
              <a:lnSpc>
                <a:spcPct val="114407"/>
              </a:lnSpc>
              <a:buNone/>
            </a:pPr>
            <a:r>
              <a:rPr lang="en-US" sz="2250" dirty="0">
                <a:solidFill>
                  <a:srgbClr val="F6F4EE">
                    <a:alpha val="72000"/>
                  </a:srgbClr>
                </a:solidFill>
                <a:latin typeface="IBM Plex Sans" pitchFamily="34" charset="0"/>
                <a:ea typeface="IBM Plex Sans" pitchFamily="34" charset="-122"/>
                <a:cs typeface="IBM Plex Sans" pitchFamily="34" charset="-120"/>
              </a:rPr>
              <a:t>Not autocomplete on steroids — a structured way to build software with AI agents as expert collaborators, from first idea to shipped code.</a:t>
            </a:r>
            <a:endParaRPr lang="en-US" sz="2250" dirty="0"/>
          </a:p>
        </p:txBody>
      </p:sp>
      <p:sp>
        <p:nvSpPr>
          <p:cNvPr id="8" name="Text 6"/>
          <p:cNvSpPr/>
          <p:nvPr/>
        </p:nvSpPr>
        <p:spPr>
          <a:xfrm>
            <a:off x="1143000" y="9055100"/>
            <a:ext cx="2053066" cy="355600"/>
          </a:xfrm>
          <a:prstGeom prst="rect">
            <a:avLst/>
          </a:prstGeom>
          <a:noFill/>
          <a:ln/>
        </p:spPr>
        <p:txBody>
          <a:bodyPr wrap="square" lIns="25400" tIns="25400" rIns="25400" bIns="25400" rtlCol="0" anchor="t">
            <a:normAutofit/>
          </a:bodyPr>
          <a:lstStyle/>
          <a:p>
            <a:pPr algn="l" indent="0" marL="0">
              <a:buNone/>
            </a:pPr>
            <a:r>
              <a:rPr lang="en-US" sz="1950" b="1" spc="78" kern="0" dirty="0">
                <a:solidFill>
                  <a:srgbClr val="F4C233"/>
                </a:solidFill>
                <a:latin typeface="Space Grotesk" pitchFamily="34" charset="0"/>
                <a:ea typeface="Space Grotesk" pitchFamily="34" charset="-122"/>
                <a:cs typeface="Space Grotesk" pitchFamily="34" charset="-120"/>
              </a:rPr>
              <a:t>BMAD METHOD</a:t>
            </a:r>
            <a:endParaRPr lang="en-US" sz="1950" dirty="0"/>
          </a:p>
        </p:txBody>
      </p:sp>
      <p:sp>
        <p:nvSpPr>
          <p:cNvPr id="9" name="Text 7"/>
          <p:cNvSpPr/>
          <p:nvPr/>
        </p:nvSpPr>
        <p:spPr>
          <a:xfrm>
            <a:off x="3180874" y="9153525"/>
            <a:ext cx="4413123" cy="222250"/>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F6F4EE">
                    <a:alpha val="50000"/>
                  </a:srgbClr>
                </a:solidFill>
                <a:latin typeface="IBM Plex Mono" pitchFamily="34" charset="0"/>
                <a:ea typeface="IBM Plex Mono" pitchFamily="34" charset="-122"/>
                <a:cs typeface="IBM Plex Mono" pitchFamily="34" charset="-120"/>
              </a:rPr>
              <a:t>GROUNDED IN AN OPEN-SOURCE FRAMEWORK</a:t>
            </a:r>
            <a:endParaRPr lang="en-US" sz="11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892175"/>
            <a:ext cx="95250" cy="95250"/>
          </a:xfrm>
          <a:prstGeom prst="rect">
            <a:avLst/>
          </a:prstGeom>
          <a:solidFill>
            <a:srgbClr val="F4C233"/>
          </a:solidFill>
          <a:ln/>
        </p:spPr>
      </p:sp>
      <p:sp>
        <p:nvSpPr>
          <p:cNvPr id="3" name="Text 1"/>
          <p:cNvSpPr/>
          <p:nvPr/>
        </p:nvSpPr>
        <p:spPr>
          <a:xfrm>
            <a:off x="1371600" y="838200"/>
            <a:ext cx="1099820"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CONTENTS</a:t>
            </a:r>
            <a:endParaRPr lang="en-US" sz="1200" dirty="0"/>
          </a:p>
        </p:txBody>
      </p:sp>
      <p:sp>
        <p:nvSpPr>
          <p:cNvPr id="4" name="Text 2"/>
          <p:cNvSpPr/>
          <p:nvPr/>
        </p:nvSpPr>
        <p:spPr>
          <a:xfrm>
            <a:off x="1143000" y="1250950"/>
            <a:ext cx="17602200" cy="612616"/>
          </a:xfrm>
          <a:prstGeom prst="rect">
            <a:avLst/>
          </a:prstGeom>
          <a:noFill/>
          <a:ln/>
        </p:spPr>
        <p:txBody>
          <a:bodyPr wrap="square" lIns="25400" tIns="25400" rIns="25400" bIns="25400" rtlCol="0" anchor="t">
            <a:normAutofit/>
          </a:bodyPr>
          <a:lstStyle/>
          <a:p>
            <a:pPr algn="l" indent="0" marL="0">
              <a:lnSpc>
                <a:spcPct val="81509"/>
              </a:lnSpc>
              <a:buNone/>
            </a:pPr>
            <a:r>
              <a:rPr lang="en-US" sz="4350" b="1" spc="-87" kern="0" dirty="0">
                <a:solidFill>
                  <a:srgbClr val="0E1C30"/>
                </a:solidFill>
                <a:latin typeface="Space Grotesk" pitchFamily="34" charset="0"/>
                <a:ea typeface="Space Grotesk" pitchFamily="34" charset="-122"/>
                <a:cs typeface="Space Grotesk" pitchFamily="34" charset="-120"/>
              </a:rPr>
              <a:t>The story arc, in six acts</a:t>
            </a:r>
            <a:endParaRPr lang="en-US" sz="4350" dirty="0"/>
          </a:p>
        </p:txBody>
      </p:sp>
      <p:sp>
        <p:nvSpPr>
          <p:cNvPr id="5" name="Shape 3"/>
          <p:cNvSpPr/>
          <p:nvPr/>
        </p:nvSpPr>
        <p:spPr>
          <a:xfrm>
            <a:off x="1143000" y="2149316"/>
            <a:ext cx="16002000" cy="9525"/>
          </a:xfrm>
          <a:prstGeom prst="rect">
            <a:avLst/>
          </a:prstGeom>
          <a:solidFill>
            <a:srgbClr val="0E1C30">
              <a:alpha val="12000"/>
            </a:srgbClr>
          </a:solidFill>
          <a:ln/>
        </p:spPr>
      </p:sp>
      <p:sp>
        <p:nvSpPr>
          <p:cNvPr id="6" name="Shape 4"/>
          <p:cNvSpPr/>
          <p:nvPr/>
        </p:nvSpPr>
        <p:spPr>
          <a:xfrm>
            <a:off x="1143000" y="3226276"/>
            <a:ext cx="16002000" cy="9525"/>
          </a:xfrm>
          <a:prstGeom prst="rect">
            <a:avLst/>
          </a:prstGeom>
          <a:solidFill>
            <a:srgbClr val="0E1C30">
              <a:alpha val="12000"/>
            </a:srgbClr>
          </a:solidFill>
          <a:ln/>
        </p:spPr>
      </p:sp>
      <p:sp>
        <p:nvSpPr>
          <p:cNvPr id="7" name="Text 5"/>
          <p:cNvSpPr/>
          <p:nvPr/>
        </p:nvSpPr>
        <p:spPr>
          <a:xfrm>
            <a:off x="1143000" y="2457609"/>
            <a:ext cx="495300" cy="285750"/>
          </a:xfrm>
          <a:prstGeom prst="rect">
            <a:avLst/>
          </a:prstGeom>
          <a:noFill/>
          <a:ln/>
        </p:spPr>
        <p:txBody>
          <a:bodyPr wrap="square" lIns="25400" tIns="25400" rIns="25400" bIns="25400" rtlCol="0" anchor="t">
            <a:normAutofit/>
          </a:bodyPr>
          <a:lstStyle/>
          <a:p>
            <a:pPr algn="l" indent="0" marL="0">
              <a:buNone/>
            </a:pPr>
            <a:r>
              <a:rPr lang="en-US" sz="1500" dirty="0">
                <a:solidFill>
                  <a:srgbClr val="B78A00"/>
                </a:solidFill>
                <a:latin typeface="IBM Plex Mono" pitchFamily="34" charset="0"/>
                <a:ea typeface="IBM Plex Mono" pitchFamily="34" charset="-122"/>
                <a:cs typeface="IBM Plex Mono" pitchFamily="34" charset="-120"/>
              </a:rPr>
              <a:t>01</a:t>
            </a:r>
            <a:endParaRPr lang="en-US" sz="1500" dirty="0"/>
          </a:p>
        </p:txBody>
      </p:sp>
      <p:sp>
        <p:nvSpPr>
          <p:cNvPr id="8" name="Text 6"/>
          <p:cNvSpPr/>
          <p:nvPr/>
        </p:nvSpPr>
        <p:spPr>
          <a:xfrm>
            <a:off x="1866900" y="2365216"/>
            <a:ext cx="15992856" cy="394335"/>
          </a:xfrm>
          <a:prstGeom prst="rect">
            <a:avLst/>
          </a:prstGeom>
          <a:noFill/>
          <a:ln/>
        </p:spPr>
        <p:txBody>
          <a:bodyPr wrap="square" lIns="25400" tIns="25400" rIns="25400" bIns="25400" rtlCol="0" anchor="t">
            <a:normAutofit/>
          </a:bodyPr>
          <a:lstStyle/>
          <a:p>
            <a:pPr algn="l" indent="0" marL="0">
              <a:lnSpc>
                <a:spcPct val="86308"/>
              </a:lnSpc>
              <a:buNone/>
            </a:pPr>
            <a:r>
              <a:rPr lang="en-US" sz="2550" b="1" spc="-25" kern="0" dirty="0">
                <a:solidFill>
                  <a:srgbClr val="0E1C30"/>
                </a:solidFill>
                <a:latin typeface="Space Grotesk" pitchFamily="34" charset="0"/>
                <a:ea typeface="Space Grotesk" pitchFamily="34" charset="-122"/>
                <a:cs typeface="Space Grotesk" pitchFamily="34" charset="-120"/>
              </a:rPr>
              <a:t>The case for change</a:t>
            </a:r>
            <a:endParaRPr lang="en-US" sz="2550" dirty="0"/>
          </a:p>
        </p:txBody>
      </p:sp>
      <p:sp>
        <p:nvSpPr>
          <p:cNvPr id="9" name="Text 7"/>
          <p:cNvSpPr/>
          <p:nvPr/>
        </p:nvSpPr>
        <p:spPr>
          <a:xfrm>
            <a:off x="1866900" y="2769076"/>
            <a:ext cx="15992856" cy="285750"/>
          </a:xfrm>
          <a:prstGeom prst="rect">
            <a:avLst/>
          </a:prstGeom>
          <a:noFill/>
          <a:ln/>
        </p:spPr>
        <p:txBody>
          <a:bodyPr wrap="square" lIns="25400" tIns="25400" rIns="25400" bIns="25400" rtlCol="0" anchor="t">
            <a:normAutofit/>
          </a:bodyPr>
          <a:lstStyle/>
          <a:p>
            <a:pPr algn="l" indent="0" marL="0">
              <a:buNone/>
            </a:pPr>
            <a:r>
              <a:rPr lang="en-US" sz="1500" dirty="0">
                <a:solidFill>
                  <a:srgbClr val="0E1C30">
                    <a:alpha val="55000"/>
                  </a:srgbClr>
                </a:solidFill>
                <a:latin typeface="IBM Plex Sans" pitchFamily="34" charset="0"/>
                <a:ea typeface="IBM Plex Sans" pitchFamily="34" charset="-122"/>
                <a:cs typeface="IBM Plex Sans" pitchFamily="34" charset="-120"/>
              </a:rPr>
              <a:t>Why AI-augmented isn’t enough</a:t>
            </a:r>
            <a:endParaRPr lang="en-US" sz="1500" dirty="0"/>
          </a:p>
        </p:txBody>
      </p:sp>
      <p:sp>
        <p:nvSpPr>
          <p:cNvPr id="10" name="Text 8"/>
          <p:cNvSpPr/>
          <p:nvPr/>
        </p:nvSpPr>
        <p:spPr>
          <a:xfrm>
            <a:off x="16710660" y="2470309"/>
            <a:ext cx="510540" cy="273050"/>
          </a:xfrm>
          <a:prstGeom prst="rect">
            <a:avLst/>
          </a:prstGeom>
          <a:noFill/>
          <a:ln/>
        </p:spPr>
        <p:txBody>
          <a:bodyPr wrap="square" lIns="25400" tIns="25400" rIns="25400" bIns="25400" rtlCol="0" anchor="t">
            <a:normAutofit/>
          </a:bodyPr>
          <a:lstStyle/>
          <a:p>
            <a:pPr algn="l" indent="0" marL="0">
              <a:buNone/>
            </a:pPr>
            <a:r>
              <a:rPr lang="en-US" sz="1425" dirty="0">
                <a:solidFill>
                  <a:srgbClr val="0E1C30">
                    <a:alpha val="40000"/>
                  </a:srgbClr>
                </a:solidFill>
                <a:latin typeface="IBM Plex Mono" pitchFamily="34" charset="0"/>
                <a:ea typeface="IBM Plex Mono" pitchFamily="34" charset="-122"/>
                <a:cs typeface="IBM Plex Mono" pitchFamily="34" charset="-120"/>
              </a:rPr>
              <a:t>p.03</a:t>
            </a:r>
            <a:endParaRPr lang="en-US" sz="1425" dirty="0"/>
          </a:p>
        </p:txBody>
      </p:sp>
      <p:sp>
        <p:nvSpPr>
          <p:cNvPr id="11" name="Shape 9"/>
          <p:cNvSpPr/>
          <p:nvPr/>
        </p:nvSpPr>
        <p:spPr>
          <a:xfrm>
            <a:off x="1143000" y="4303236"/>
            <a:ext cx="16002000" cy="9525"/>
          </a:xfrm>
          <a:prstGeom prst="rect">
            <a:avLst/>
          </a:prstGeom>
          <a:solidFill>
            <a:srgbClr val="0E1C30">
              <a:alpha val="12000"/>
            </a:srgbClr>
          </a:solidFill>
          <a:ln/>
        </p:spPr>
      </p:sp>
      <p:sp>
        <p:nvSpPr>
          <p:cNvPr id="12" name="Text 10"/>
          <p:cNvSpPr/>
          <p:nvPr/>
        </p:nvSpPr>
        <p:spPr>
          <a:xfrm>
            <a:off x="1143000" y="3534569"/>
            <a:ext cx="495300" cy="285750"/>
          </a:xfrm>
          <a:prstGeom prst="rect">
            <a:avLst/>
          </a:prstGeom>
          <a:noFill/>
          <a:ln/>
        </p:spPr>
        <p:txBody>
          <a:bodyPr wrap="square" lIns="25400" tIns="25400" rIns="25400" bIns="25400" rtlCol="0" anchor="t">
            <a:normAutofit/>
          </a:bodyPr>
          <a:lstStyle/>
          <a:p>
            <a:pPr algn="l" indent="0" marL="0">
              <a:buNone/>
            </a:pPr>
            <a:r>
              <a:rPr lang="en-US" sz="1500" dirty="0">
                <a:solidFill>
                  <a:srgbClr val="B78A00"/>
                </a:solidFill>
                <a:latin typeface="IBM Plex Mono" pitchFamily="34" charset="0"/>
                <a:ea typeface="IBM Plex Mono" pitchFamily="34" charset="-122"/>
                <a:cs typeface="IBM Plex Mono" pitchFamily="34" charset="-120"/>
              </a:rPr>
              <a:t>02</a:t>
            </a:r>
            <a:endParaRPr lang="en-US" sz="1500" dirty="0"/>
          </a:p>
        </p:txBody>
      </p:sp>
      <p:sp>
        <p:nvSpPr>
          <p:cNvPr id="13" name="Text 11"/>
          <p:cNvSpPr/>
          <p:nvPr/>
        </p:nvSpPr>
        <p:spPr>
          <a:xfrm>
            <a:off x="1866900" y="3442176"/>
            <a:ext cx="15992856" cy="394335"/>
          </a:xfrm>
          <a:prstGeom prst="rect">
            <a:avLst/>
          </a:prstGeom>
          <a:noFill/>
          <a:ln/>
        </p:spPr>
        <p:txBody>
          <a:bodyPr wrap="square" lIns="25400" tIns="25400" rIns="25400" bIns="25400" rtlCol="0" anchor="t">
            <a:normAutofit/>
          </a:bodyPr>
          <a:lstStyle/>
          <a:p>
            <a:pPr algn="l" indent="0" marL="0">
              <a:lnSpc>
                <a:spcPct val="86308"/>
              </a:lnSpc>
              <a:buNone/>
            </a:pPr>
            <a:r>
              <a:rPr lang="en-US" sz="2550" b="1" spc="-25" kern="0" dirty="0">
                <a:solidFill>
                  <a:srgbClr val="0E1C30"/>
                </a:solidFill>
                <a:latin typeface="Space Grotesk" pitchFamily="34" charset="0"/>
                <a:ea typeface="Space Grotesk" pitchFamily="34" charset="-122"/>
                <a:cs typeface="Space Grotesk" pitchFamily="34" charset="-120"/>
              </a:rPr>
              <a:t>Spec-driven development</a:t>
            </a:r>
            <a:endParaRPr lang="en-US" sz="2550" dirty="0"/>
          </a:p>
        </p:txBody>
      </p:sp>
      <p:sp>
        <p:nvSpPr>
          <p:cNvPr id="14" name="Text 12"/>
          <p:cNvSpPr/>
          <p:nvPr/>
        </p:nvSpPr>
        <p:spPr>
          <a:xfrm>
            <a:off x="1866900" y="3846036"/>
            <a:ext cx="15992856" cy="285750"/>
          </a:xfrm>
          <a:prstGeom prst="rect">
            <a:avLst/>
          </a:prstGeom>
          <a:noFill/>
          <a:ln/>
        </p:spPr>
        <p:txBody>
          <a:bodyPr wrap="square" lIns="25400" tIns="25400" rIns="25400" bIns="25400" rtlCol="0" anchor="t">
            <a:normAutofit/>
          </a:bodyPr>
          <a:lstStyle/>
          <a:p>
            <a:pPr algn="l" indent="0" marL="0">
              <a:buNone/>
            </a:pPr>
            <a:r>
              <a:rPr lang="en-US" sz="1500" dirty="0">
                <a:solidFill>
                  <a:srgbClr val="0E1C30">
                    <a:alpha val="55000"/>
                  </a:srgbClr>
                </a:solidFill>
                <a:latin typeface="IBM Plex Sans" pitchFamily="34" charset="0"/>
                <a:ea typeface="IBM Plex Sans" pitchFamily="34" charset="-122"/>
                <a:cs typeface="IBM Plex Sans" pitchFamily="34" charset="-120"/>
              </a:rPr>
              <a:t>The operating model — docs as the brain</a:t>
            </a:r>
            <a:endParaRPr lang="en-US" sz="1500" dirty="0"/>
          </a:p>
        </p:txBody>
      </p:sp>
      <p:sp>
        <p:nvSpPr>
          <p:cNvPr id="15" name="Text 13"/>
          <p:cNvSpPr/>
          <p:nvPr/>
        </p:nvSpPr>
        <p:spPr>
          <a:xfrm>
            <a:off x="16710660" y="3547269"/>
            <a:ext cx="510540" cy="273050"/>
          </a:xfrm>
          <a:prstGeom prst="rect">
            <a:avLst/>
          </a:prstGeom>
          <a:noFill/>
          <a:ln/>
        </p:spPr>
        <p:txBody>
          <a:bodyPr wrap="square" lIns="25400" tIns="25400" rIns="25400" bIns="25400" rtlCol="0" anchor="t">
            <a:normAutofit/>
          </a:bodyPr>
          <a:lstStyle/>
          <a:p>
            <a:pPr algn="l" indent="0" marL="0">
              <a:buNone/>
            </a:pPr>
            <a:r>
              <a:rPr lang="en-US" sz="1425" dirty="0">
                <a:solidFill>
                  <a:srgbClr val="0E1C30">
                    <a:alpha val="40000"/>
                  </a:srgbClr>
                </a:solidFill>
                <a:latin typeface="IBM Plex Mono" pitchFamily="34" charset="0"/>
                <a:ea typeface="IBM Plex Mono" pitchFamily="34" charset="-122"/>
                <a:cs typeface="IBM Plex Mono" pitchFamily="34" charset="-120"/>
              </a:rPr>
              <a:t>p.07</a:t>
            </a:r>
            <a:endParaRPr lang="en-US" sz="1425" dirty="0"/>
          </a:p>
        </p:txBody>
      </p:sp>
      <p:sp>
        <p:nvSpPr>
          <p:cNvPr id="16" name="Shape 14"/>
          <p:cNvSpPr/>
          <p:nvPr/>
        </p:nvSpPr>
        <p:spPr>
          <a:xfrm>
            <a:off x="1143000" y="5380196"/>
            <a:ext cx="16002000" cy="9525"/>
          </a:xfrm>
          <a:prstGeom prst="rect">
            <a:avLst/>
          </a:prstGeom>
          <a:solidFill>
            <a:srgbClr val="0E1C30">
              <a:alpha val="12000"/>
            </a:srgbClr>
          </a:solidFill>
          <a:ln/>
        </p:spPr>
      </p:sp>
      <p:sp>
        <p:nvSpPr>
          <p:cNvPr id="17" name="Text 15"/>
          <p:cNvSpPr/>
          <p:nvPr/>
        </p:nvSpPr>
        <p:spPr>
          <a:xfrm>
            <a:off x="1143000" y="4611529"/>
            <a:ext cx="495300" cy="285750"/>
          </a:xfrm>
          <a:prstGeom prst="rect">
            <a:avLst/>
          </a:prstGeom>
          <a:noFill/>
          <a:ln/>
        </p:spPr>
        <p:txBody>
          <a:bodyPr wrap="square" lIns="25400" tIns="25400" rIns="25400" bIns="25400" rtlCol="0" anchor="t">
            <a:normAutofit/>
          </a:bodyPr>
          <a:lstStyle/>
          <a:p>
            <a:pPr algn="l" indent="0" marL="0">
              <a:buNone/>
            </a:pPr>
            <a:r>
              <a:rPr lang="en-US" sz="1500" dirty="0">
                <a:solidFill>
                  <a:srgbClr val="B78A00"/>
                </a:solidFill>
                <a:latin typeface="IBM Plex Mono" pitchFamily="34" charset="0"/>
                <a:ea typeface="IBM Plex Mono" pitchFamily="34" charset="-122"/>
                <a:cs typeface="IBM Plex Mono" pitchFamily="34" charset="-120"/>
              </a:rPr>
              <a:t>03</a:t>
            </a:r>
            <a:endParaRPr lang="en-US" sz="1500" dirty="0"/>
          </a:p>
        </p:txBody>
      </p:sp>
      <p:sp>
        <p:nvSpPr>
          <p:cNvPr id="18" name="Text 16"/>
          <p:cNvSpPr/>
          <p:nvPr/>
        </p:nvSpPr>
        <p:spPr>
          <a:xfrm>
            <a:off x="1866900" y="4519136"/>
            <a:ext cx="15992856" cy="394335"/>
          </a:xfrm>
          <a:prstGeom prst="rect">
            <a:avLst/>
          </a:prstGeom>
          <a:noFill/>
          <a:ln/>
        </p:spPr>
        <p:txBody>
          <a:bodyPr wrap="square" lIns="25400" tIns="25400" rIns="25400" bIns="25400" rtlCol="0" anchor="t">
            <a:normAutofit/>
          </a:bodyPr>
          <a:lstStyle/>
          <a:p>
            <a:pPr algn="l" indent="0" marL="0">
              <a:lnSpc>
                <a:spcPct val="86308"/>
              </a:lnSpc>
              <a:buNone/>
            </a:pPr>
            <a:r>
              <a:rPr lang="en-US" sz="2550" b="1" spc="-25" kern="0" dirty="0">
                <a:solidFill>
                  <a:srgbClr val="0E1C30"/>
                </a:solidFill>
                <a:latin typeface="Space Grotesk" pitchFamily="34" charset="0"/>
                <a:ea typeface="Space Grotesk" pitchFamily="34" charset="-122"/>
                <a:cs typeface="Space Grotesk" pitchFamily="34" charset="-120"/>
              </a:rPr>
              <a:t>Choosing your framework</a:t>
            </a:r>
            <a:endParaRPr lang="en-US" sz="2550" dirty="0"/>
          </a:p>
        </p:txBody>
      </p:sp>
      <p:sp>
        <p:nvSpPr>
          <p:cNvPr id="19" name="Text 17"/>
          <p:cNvSpPr/>
          <p:nvPr/>
        </p:nvSpPr>
        <p:spPr>
          <a:xfrm>
            <a:off x="1866900" y="4922996"/>
            <a:ext cx="15992856" cy="285750"/>
          </a:xfrm>
          <a:prstGeom prst="rect">
            <a:avLst/>
          </a:prstGeom>
          <a:noFill/>
          <a:ln/>
        </p:spPr>
        <p:txBody>
          <a:bodyPr wrap="square" lIns="25400" tIns="25400" rIns="25400" bIns="25400" rtlCol="0" anchor="t">
            <a:normAutofit/>
          </a:bodyPr>
          <a:lstStyle/>
          <a:p>
            <a:pPr algn="l" indent="0" marL="0">
              <a:buNone/>
            </a:pPr>
            <a:r>
              <a:rPr lang="en-US" sz="1500" dirty="0">
                <a:solidFill>
                  <a:srgbClr val="0E1C30">
                    <a:alpha val="55000"/>
                  </a:srgbClr>
                </a:solidFill>
                <a:latin typeface="IBM Plex Sans" pitchFamily="34" charset="0"/>
                <a:ea typeface="IBM Plex Sans" pitchFamily="34" charset="-122"/>
                <a:cs typeface="IBM Plex Sans" pitchFamily="34" charset="-120"/>
              </a:rPr>
              <a:t>The SDD landscape, and why BMAD</a:t>
            </a:r>
            <a:endParaRPr lang="en-US" sz="1500" dirty="0"/>
          </a:p>
        </p:txBody>
      </p:sp>
      <p:sp>
        <p:nvSpPr>
          <p:cNvPr id="20" name="Text 18"/>
          <p:cNvSpPr/>
          <p:nvPr/>
        </p:nvSpPr>
        <p:spPr>
          <a:xfrm>
            <a:off x="16710660" y="4624229"/>
            <a:ext cx="510540" cy="273050"/>
          </a:xfrm>
          <a:prstGeom prst="rect">
            <a:avLst/>
          </a:prstGeom>
          <a:noFill/>
          <a:ln/>
        </p:spPr>
        <p:txBody>
          <a:bodyPr wrap="square" lIns="25400" tIns="25400" rIns="25400" bIns="25400" rtlCol="0" anchor="t">
            <a:normAutofit/>
          </a:bodyPr>
          <a:lstStyle/>
          <a:p>
            <a:pPr algn="l" indent="0" marL="0">
              <a:buNone/>
            </a:pPr>
            <a:r>
              <a:rPr lang="en-US" sz="1425" dirty="0">
                <a:solidFill>
                  <a:srgbClr val="0E1C30">
                    <a:alpha val="40000"/>
                  </a:srgbClr>
                </a:solidFill>
                <a:latin typeface="IBM Plex Mono" pitchFamily="34" charset="0"/>
                <a:ea typeface="IBM Plex Mono" pitchFamily="34" charset="-122"/>
                <a:cs typeface="IBM Plex Mono" pitchFamily="34" charset="-120"/>
              </a:rPr>
              <a:t>p.11</a:t>
            </a:r>
            <a:endParaRPr lang="en-US" sz="1425" dirty="0"/>
          </a:p>
        </p:txBody>
      </p:sp>
      <p:sp>
        <p:nvSpPr>
          <p:cNvPr id="21" name="Shape 19"/>
          <p:cNvSpPr/>
          <p:nvPr/>
        </p:nvSpPr>
        <p:spPr>
          <a:xfrm>
            <a:off x="1143000" y="6457156"/>
            <a:ext cx="16002000" cy="9525"/>
          </a:xfrm>
          <a:prstGeom prst="rect">
            <a:avLst/>
          </a:prstGeom>
          <a:solidFill>
            <a:srgbClr val="0E1C30">
              <a:alpha val="12000"/>
            </a:srgbClr>
          </a:solidFill>
          <a:ln/>
        </p:spPr>
      </p:sp>
      <p:sp>
        <p:nvSpPr>
          <p:cNvPr id="22" name="Text 20"/>
          <p:cNvSpPr/>
          <p:nvPr/>
        </p:nvSpPr>
        <p:spPr>
          <a:xfrm>
            <a:off x="1143000" y="5688489"/>
            <a:ext cx="495300" cy="285750"/>
          </a:xfrm>
          <a:prstGeom prst="rect">
            <a:avLst/>
          </a:prstGeom>
          <a:noFill/>
          <a:ln/>
        </p:spPr>
        <p:txBody>
          <a:bodyPr wrap="square" lIns="25400" tIns="25400" rIns="25400" bIns="25400" rtlCol="0" anchor="t">
            <a:normAutofit/>
          </a:bodyPr>
          <a:lstStyle/>
          <a:p>
            <a:pPr algn="l" indent="0" marL="0">
              <a:buNone/>
            </a:pPr>
            <a:r>
              <a:rPr lang="en-US" sz="1500" dirty="0">
                <a:solidFill>
                  <a:srgbClr val="B78A00"/>
                </a:solidFill>
                <a:latin typeface="IBM Plex Mono" pitchFamily="34" charset="0"/>
                <a:ea typeface="IBM Plex Mono" pitchFamily="34" charset="-122"/>
                <a:cs typeface="IBM Plex Mono" pitchFamily="34" charset="-120"/>
              </a:rPr>
              <a:t>04</a:t>
            </a:r>
            <a:endParaRPr lang="en-US" sz="1500" dirty="0"/>
          </a:p>
        </p:txBody>
      </p:sp>
      <p:sp>
        <p:nvSpPr>
          <p:cNvPr id="23" name="Text 21"/>
          <p:cNvSpPr/>
          <p:nvPr/>
        </p:nvSpPr>
        <p:spPr>
          <a:xfrm>
            <a:off x="1866900" y="5596096"/>
            <a:ext cx="15992856" cy="394335"/>
          </a:xfrm>
          <a:prstGeom prst="rect">
            <a:avLst/>
          </a:prstGeom>
          <a:noFill/>
          <a:ln/>
        </p:spPr>
        <p:txBody>
          <a:bodyPr wrap="square" lIns="25400" tIns="25400" rIns="25400" bIns="25400" rtlCol="0" anchor="t">
            <a:normAutofit/>
          </a:bodyPr>
          <a:lstStyle/>
          <a:p>
            <a:pPr algn="l" indent="0" marL="0">
              <a:lnSpc>
                <a:spcPct val="86308"/>
              </a:lnSpc>
              <a:buNone/>
            </a:pPr>
            <a:r>
              <a:rPr lang="en-US" sz="2550" b="1" spc="-25" kern="0" dirty="0">
                <a:solidFill>
                  <a:srgbClr val="0E1C30"/>
                </a:solidFill>
                <a:latin typeface="Space Grotesk" pitchFamily="34" charset="0"/>
                <a:ea typeface="Space Grotesk" pitchFamily="34" charset="-122"/>
                <a:cs typeface="Space Grotesk" pitchFamily="34" charset="-120"/>
              </a:rPr>
              <a:t>The BMAD agent team</a:t>
            </a:r>
            <a:endParaRPr lang="en-US" sz="2550" dirty="0"/>
          </a:p>
        </p:txBody>
      </p:sp>
      <p:sp>
        <p:nvSpPr>
          <p:cNvPr id="24" name="Text 22"/>
          <p:cNvSpPr/>
          <p:nvPr/>
        </p:nvSpPr>
        <p:spPr>
          <a:xfrm>
            <a:off x="1866900" y="5999956"/>
            <a:ext cx="15992856" cy="285750"/>
          </a:xfrm>
          <a:prstGeom prst="rect">
            <a:avLst/>
          </a:prstGeom>
          <a:noFill/>
          <a:ln/>
        </p:spPr>
        <p:txBody>
          <a:bodyPr wrap="square" lIns="25400" tIns="25400" rIns="25400" bIns="25400" rtlCol="0" anchor="t">
            <a:normAutofit/>
          </a:bodyPr>
          <a:lstStyle/>
          <a:p>
            <a:pPr algn="l" indent="0" marL="0">
              <a:buNone/>
            </a:pPr>
            <a:r>
              <a:rPr lang="en-US" sz="1500" dirty="0">
                <a:solidFill>
                  <a:srgbClr val="0E1C30">
                    <a:alpha val="55000"/>
                  </a:srgbClr>
                </a:solidFill>
                <a:latin typeface="IBM Plex Sans" pitchFamily="34" charset="0"/>
                <a:ea typeface="IBM Plex Sans" pitchFamily="34" charset="-122"/>
                <a:cs typeface="IBM Plex Sans" pitchFamily="34" charset="-120"/>
              </a:rPr>
              <a:t>Roles, party mode &amp; file-based artifacts</a:t>
            </a:r>
            <a:endParaRPr lang="en-US" sz="1500" dirty="0"/>
          </a:p>
        </p:txBody>
      </p:sp>
      <p:sp>
        <p:nvSpPr>
          <p:cNvPr id="25" name="Text 23"/>
          <p:cNvSpPr/>
          <p:nvPr/>
        </p:nvSpPr>
        <p:spPr>
          <a:xfrm>
            <a:off x="16710660" y="5701189"/>
            <a:ext cx="510540" cy="273050"/>
          </a:xfrm>
          <a:prstGeom prst="rect">
            <a:avLst/>
          </a:prstGeom>
          <a:noFill/>
          <a:ln/>
        </p:spPr>
        <p:txBody>
          <a:bodyPr wrap="square" lIns="25400" tIns="25400" rIns="25400" bIns="25400" rtlCol="0" anchor="t">
            <a:normAutofit/>
          </a:bodyPr>
          <a:lstStyle/>
          <a:p>
            <a:pPr algn="l" indent="0" marL="0">
              <a:buNone/>
            </a:pPr>
            <a:r>
              <a:rPr lang="en-US" sz="1425" dirty="0">
                <a:solidFill>
                  <a:srgbClr val="0E1C30">
                    <a:alpha val="40000"/>
                  </a:srgbClr>
                </a:solidFill>
                <a:latin typeface="IBM Plex Mono" pitchFamily="34" charset="0"/>
                <a:ea typeface="IBM Plex Mono" pitchFamily="34" charset="-122"/>
                <a:cs typeface="IBM Plex Mono" pitchFamily="34" charset="-120"/>
              </a:rPr>
              <a:t>p.16</a:t>
            </a:r>
            <a:endParaRPr lang="en-US" sz="1425" dirty="0"/>
          </a:p>
        </p:txBody>
      </p:sp>
      <p:sp>
        <p:nvSpPr>
          <p:cNvPr id="26" name="Shape 24"/>
          <p:cNvSpPr/>
          <p:nvPr/>
        </p:nvSpPr>
        <p:spPr>
          <a:xfrm>
            <a:off x="1143000" y="7534116"/>
            <a:ext cx="16002000" cy="9525"/>
          </a:xfrm>
          <a:prstGeom prst="rect">
            <a:avLst/>
          </a:prstGeom>
          <a:solidFill>
            <a:srgbClr val="0E1C30">
              <a:alpha val="12000"/>
            </a:srgbClr>
          </a:solidFill>
          <a:ln/>
        </p:spPr>
      </p:sp>
      <p:sp>
        <p:nvSpPr>
          <p:cNvPr id="27" name="Text 25"/>
          <p:cNvSpPr/>
          <p:nvPr/>
        </p:nvSpPr>
        <p:spPr>
          <a:xfrm>
            <a:off x="1143000" y="6765449"/>
            <a:ext cx="495300" cy="285750"/>
          </a:xfrm>
          <a:prstGeom prst="rect">
            <a:avLst/>
          </a:prstGeom>
          <a:noFill/>
          <a:ln/>
        </p:spPr>
        <p:txBody>
          <a:bodyPr wrap="square" lIns="25400" tIns="25400" rIns="25400" bIns="25400" rtlCol="0" anchor="t">
            <a:normAutofit/>
          </a:bodyPr>
          <a:lstStyle/>
          <a:p>
            <a:pPr algn="l" indent="0" marL="0">
              <a:buNone/>
            </a:pPr>
            <a:r>
              <a:rPr lang="en-US" sz="1500" dirty="0">
                <a:solidFill>
                  <a:srgbClr val="B78A00"/>
                </a:solidFill>
                <a:latin typeface="IBM Plex Mono" pitchFamily="34" charset="0"/>
                <a:ea typeface="IBM Plex Mono" pitchFamily="34" charset="-122"/>
                <a:cs typeface="IBM Plex Mono" pitchFamily="34" charset="-120"/>
              </a:rPr>
              <a:t>05</a:t>
            </a:r>
            <a:endParaRPr lang="en-US" sz="1500" dirty="0"/>
          </a:p>
        </p:txBody>
      </p:sp>
      <p:sp>
        <p:nvSpPr>
          <p:cNvPr id="28" name="Text 26"/>
          <p:cNvSpPr/>
          <p:nvPr/>
        </p:nvSpPr>
        <p:spPr>
          <a:xfrm>
            <a:off x="1866900" y="6673056"/>
            <a:ext cx="15992856" cy="394335"/>
          </a:xfrm>
          <a:prstGeom prst="rect">
            <a:avLst/>
          </a:prstGeom>
          <a:noFill/>
          <a:ln/>
        </p:spPr>
        <p:txBody>
          <a:bodyPr wrap="square" lIns="25400" tIns="25400" rIns="25400" bIns="25400" rtlCol="0" anchor="t">
            <a:normAutofit/>
          </a:bodyPr>
          <a:lstStyle/>
          <a:p>
            <a:pPr algn="l" indent="0" marL="0">
              <a:lnSpc>
                <a:spcPct val="86308"/>
              </a:lnSpc>
              <a:buNone/>
            </a:pPr>
            <a:r>
              <a:rPr lang="en-US" sz="2550" b="1" spc="-25" kern="0" dirty="0">
                <a:solidFill>
                  <a:srgbClr val="0E1C30"/>
                </a:solidFill>
                <a:latin typeface="Space Grotesk" pitchFamily="34" charset="0"/>
                <a:ea typeface="Space Grotesk" pitchFamily="34" charset="-122"/>
                <a:cs typeface="Space Grotesk" pitchFamily="34" charset="-120"/>
              </a:rPr>
              <a:t>The four phases</a:t>
            </a:r>
            <a:endParaRPr lang="en-US" sz="2550" dirty="0"/>
          </a:p>
        </p:txBody>
      </p:sp>
      <p:sp>
        <p:nvSpPr>
          <p:cNvPr id="29" name="Text 27"/>
          <p:cNvSpPr/>
          <p:nvPr/>
        </p:nvSpPr>
        <p:spPr>
          <a:xfrm>
            <a:off x="1866900" y="7076916"/>
            <a:ext cx="15992856" cy="285750"/>
          </a:xfrm>
          <a:prstGeom prst="rect">
            <a:avLst/>
          </a:prstGeom>
          <a:noFill/>
          <a:ln/>
        </p:spPr>
        <p:txBody>
          <a:bodyPr wrap="square" lIns="25400" tIns="25400" rIns="25400" bIns="25400" rtlCol="0" anchor="t">
            <a:normAutofit/>
          </a:bodyPr>
          <a:lstStyle/>
          <a:p>
            <a:pPr algn="l" indent="0" marL="0">
              <a:buNone/>
            </a:pPr>
            <a:r>
              <a:rPr lang="en-US" sz="1500" dirty="0">
                <a:solidFill>
                  <a:srgbClr val="0E1C30">
                    <a:alpha val="55000"/>
                  </a:srgbClr>
                </a:solidFill>
                <a:latin typeface="IBM Plex Sans" pitchFamily="34" charset="0"/>
                <a:ea typeface="IBM Plex Sans" pitchFamily="34" charset="-122"/>
                <a:cs typeface="IBM Plex Sans" pitchFamily="34" charset="-120"/>
              </a:rPr>
              <a:t>Analysis → planning → solutioning → build</a:t>
            </a:r>
            <a:endParaRPr lang="en-US" sz="1500" dirty="0"/>
          </a:p>
        </p:txBody>
      </p:sp>
      <p:sp>
        <p:nvSpPr>
          <p:cNvPr id="30" name="Text 28"/>
          <p:cNvSpPr/>
          <p:nvPr/>
        </p:nvSpPr>
        <p:spPr>
          <a:xfrm>
            <a:off x="16710660" y="6778149"/>
            <a:ext cx="510540" cy="273050"/>
          </a:xfrm>
          <a:prstGeom prst="rect">
            <a:avLst/>
          </a:prstGeom>
          <a:noFill/>
          <a:ln/>
        </p:spPr>
        <p:txBody>
          <a:bodyPr wrap="square" lIns="25400" tIns="25400" rIns="25400" bIns="25400" rtlCol="0" anchor="t">
            <a:normAutofit/>
          </a:bodyPr>
          <a:lstStyle/>
          <a:p>
            <a:pPr algn="l" indent="0" marL="0">
              <a:buNone/>
            </a:pPr>
            <a:r>
              <a:rPr lang="en-US" sz="1425" dirty="0">
                <a:solidFill>
                  <a:srgbClr val="0E1C30">
                    <a:alpha val="40000"/>
                  </a:srgbClr>
                </a:solidFill>
                <a:latin typeface="IBM Plex Mono" pitchFamily="34" charset="0"/>
                <a:ea typeface="IBM Plex Mono" pitchFamily="34" charset="-122"/>
                <a:cs typeface="IBM Plex Mono" pitchFamily="34" charset="-120"/>
              </a:rPr>
              <a:t>p.23</a:t>
            </a:r>
            <a:endParaRPr lang="en-US" sz="1425" dirty="0"/>
          </a:p>
        </p:txBody>
      </p:sp>
      <p:sp>
        <p:nvSpPr>
          <p:cNvPr id="31" name="Shape 29"/>
          <p:cNvSpPr/>
          <p:nvPr/>
        </p:nvSpPr>
        <p:spPr>
          <a:xfrm>
            <a:off x="1143000" y="8611076"/>
            <a:ext cx="16002000" cy="9525"/>
          </a:xfrm>
          <a:prstGeom prst="rect">
            <a:avLst/>
          </a:prstGeom>
          <a:solidFill>
            <a:srgbClr val="0E1C30">
              <a:alpha val="12000"/>
            </a:srgbClr>
          </a:solidFill>
          <a:ln/>
        </p:spPr>
      </p:sp>
      <p:sp>
        <p:nvSpPr>
          <p:cNvPr id="32" name="Text 30"/>
          <p:cNvSpPr/>
          <p:nvPr/>
        </p:nvSpPr>
        <p:spPr>
          <a:xfrm>
            <a:off x="1143000" y="7842409"/>
            <a:ext cx="495300" cy="285750"/>
          </a:xfrm>
          <a:prstGeom prst="rect">
            <a:avLst/>
          </a:prstGeom>
          <a:noFill/>
          <a:ln/>
        </p:spPr>
        <p:txBody>
          <a:bodyPr wrap="square" lIns="25400" tIns="25400" rIns="25400" bIns="25400" rtlCol="0" anchor="t">
            <a:normAutofit/>
          </a:bodyPr>
          <a:lstStyle/>
          <a:p>
            <a:pPr algn="l" indent="0" marL="0">
              <a:buNone/>
            </a:pPr>
            <a:r>
              <a:rPr lang="en-US" sz="1500" dirty="0">
                <a:solidFill>
                  <a:srgbClr val="B78A00"/>
                </a:solidFill>
                <a:latin typeface="IBM Plex Mono" pitchFamily="34" charset="0"/>
                <a:ea typeface="IBM Plex Mono" pitchFamily="34" charset="-122"/>
                <a:cs typeface="IBM Plex Mono" pitchFamily="34" charset="-120"/>
              </a:rPr>
              <a:t>06</a:t>
            </a:r>
            <a:endParaRPr lang="en-US" sz="1500" dirty="0"/>
          </a:p>
        </p:txBody>
      </p:sp>
      <p:sp>
        <p:nvSpPr>
          <p:cNvPr id="33" name="Text 31"/>
          <p:cNvSpPr/>
          <p:nvPr/>
        </p:nvSpPr>
        <p:spPr>
          <a:xfrm>
            <a:off x="1866900" y="7750016"/>
            <a:ext cx="15992856" cy="394335"/>
          </a:xfrm>
          <a:prstGeom prst="rect">
            <a:avLst/>
          </a:prstGeom>
          <a:noFill/>
          <a:ln/>
        </p:spPr>
        <p:txBody>
          <a:bodyPr wrap="square" lIns="25400" tIns="25400" rIns="25400" bIns="25400" rtlCol="0" anchor="t">
            <a:normAutofit/>
          </a:bodyPr>
          <a:lstStyle/>
          <a:p>
            <a:pPr algn="l" indent="0" marL="0">
              <a:lnSpc>
                <a:spcPct val="86308"/>
              </a:lnSpc>
              <a:buNone/>
            </a:pPr>
            <a:r>
              <a:rPr lang="en-US" sz="2550" b="1" spc="-25" kern="0" dirty="0">
                <a:solidFill>
                  <a:srgbClr val="0E1C30"/>
                </a:solidFill>
                <a:latin typeface="Space Grotesk" pitchFamily="34" charset="0"/>
                <a:ea typeface="Space Grotesk" pitchFamily="34" charset="-122"/>
                <a:cs typeface="Space Grotesk" pitchFamily="34" charset="-120"/>
              </a:rPr>
              <a:t>Scale, governance &amp; ecosystem</a:t>
            </a:r>
            <a:endParaRPr lang="en-US" sz="2550" dirty="0"/>
          </a:p>
        </p:txBody>
      </p:sp>
      <p:sp>
        <p:nvSpPr>
          <p:cNvPr id="34" name="Text 32"/>
          <p:cNvSpPr/>
          <p:nvPr/>
        </p:nvSpPr>
        <p:spPr>
          <a:xfrm>
            <a:off x="1866900" y="8153876"/>
            <a:ext cx="15992856" cy="285750"/>
          </a:xfrm>
          <a:prstGeom prst="rect">
            <a:avLst/>
          </a:prstGeom>
          <a:noFill/>
          <a:ln/>
        </p:spPr>
        <p:txBody>
          <a:bodyPr wrap="square" lIns="25400" tIns="25400" rIns="25400" bIns="25400" rtlCol="0" anchor="t">
            <a:normAutofit/>
          </a:bodyPr>
          <a:lstStyle/>
          <a:p>
            <a:pPr algn="l" indent="0" marL="0">
              <a:buNone/>
            </a:pPr>
            <a:r>
              <a:rPr lang="en-US" sz="1500" dirty="0">
                <a:solidFill>
                  <a:srgbClr val="0E1C30">
                    <a:alpha val="55000"/>
                  </a:srgbClr>
                </a:solidFill>
                <a:latin typeface="IBM Plex Sans" pitchFamily="34" charset="0"/>
                <a:ea typeface="IBM Plex Sans" pitchFamily="34" charset="-122"/>
                <a:cs typeface="IBM Plex Sans" pitchFamily="34" charset="-120"/>
              </a:rPr>
              <a:t>Adapting the method &amp; extending it</a:t>
            </a:r>
            <a:endParaRPr lang="en-US" sz="1500" dirty="0"/>
          </a:p>
        </p:txBody>
      </p:sp>
      <p:sp>
        <p:nvSpPr>
          <p:cNvPr id="35" name="Text 33"/>
          <p:cNvSpPr/>
          <p:nvPr/>
        </p:nvSpPr>
        <p:spPr>
          <a:xfrm>
            <a:off x="16710660" y="7855109"/>
            <a:ext cx="510540" cy="273050"/>
          </a:xfrm>
          <a:prstGeom prst="rect">
            <a:avLst/>
          </a:prstGeom>
          <a:noFill/>
          <a:ln/>
        </p:spPr>
        <p:txBody>
          <a:bodyPr wrap="square" lIns="25400" tIns="25400" rIns="25400" bIns="25400" rtlCol="0" anchor="t">
            <a:normAutofit/>
          </a:bodyPr>
          <a:lstStyle/>
          <a:p>
            <a:pPr algn="l" indent="0" marL="0">
              <a:buNone/>
            </a:pPr>
            <a:r>
              <a:rPr lang="en-US" sz="1425" dirty="0">
                <a:solidFill>
                  <a:srgbClr val="0E1C30">
                    <a:alpha val="40000"/>
                  </a:srgbClr>
                </a:solidFill>
                <a:latin typeface="IBM Plex Mono" pitchFamily="34" charset="0"/>
                <a:ea typeface="IBM Plex Mono" pitchFamily="34" charset="-122"/>
                <a:cs typeface="IBM Plex Mono" pitchFamily="34" charset="-120"/>
              </a:rPr>
              <a:t>p.32</a:t>
            </a:r>
            <a:endParaRPr lang="en-US" sz="1425" dirty="0"/>
          </a:p>
        </p:txBody>
      </p:sp>
      <p:sp>
        <p:nvSpPr>
          <p:cNvPr id="36" name="Text 34"/>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37" name="Text 35"/>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02 / 45</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626"/>
        </a:solidFill>
      </p:bgPr>
    </p:bg>
    <p:spTree>
      <p:nvGrpSpPr>
        <p:cNvPr id="1" name=""/>
        <p:cNvGrpSpPr/>
        <p:nvPr/>
      </p:nvGrpSpPr>
      <p:grpSpPr>
        <a:xfrm>
          <a:off x="0" y="0"/>
          <a:ext cx="0" cy="0"/>
          <a:chOff x="0" y="0"/>
          <a:chExt cx="0" cy="0"/>
        </a:xfrm>
      </p:grpSpPr>
      <p:sp>
        <p:nvSpPr>
          <p:cNvPr id="2" name="Shape 0"/>
          <p:cNvSpPr/>
          <p:nvPr/>
        </p:nvSpPr>
        <p:spPr>
          <a:xfrm>
            <a:off x="1143000" y="3838575"/>
            <a:ext cx="114300" cy="114300"/>
          </a:xfrm>
          <a:prstGeom prst="rect">
            <a:avLst/>
          </a:prstGeom>
          <a:solidFill>
            <a:srgbClr val="F4C233"/>
          </a:solidFill>
          <a:ln/>
        </p:spPr>
      </p:sp>
      <p:sp>
        <p:nvSpPr>
          <p:cNvPr id="3" name="Text 1"/>
          <p:cNvSpPr/>
          <p:nvPr/>
        </p:nvSpPr>
        <p:spPr>
          <a:xfrm>
            <a:off x="1409700" y="3784600"/>
            <a:ext cx="847725" cy="260350"/>
          </a:xfrm>
          <a:prstGeom prst="rect">
            <a:avLst/>
          </a:prstGeom>
          <a:noFill/>
          <a:ln/>
        </p:spPr>
        <p:txBody>
          <a:bodyPr wrap="square" lIns="0" tIns="0" rIns="0" bIns="0" rtlCol="0" anchor="t">
            <a:normAutofit/>
          </a:bodyPr>
          <a:lstStyle/>
          <a:p>
            <a:pPr algn="l" indent="0" marL="0">
              <a:buNone/>
            </a:pPr>
            <a:r>
              <a:rPr lang="en-US" sz="1350" spc="405" kern="0" dirty="0">
                <a:solidFill>
                  <a:srgbClr val="5BB3F5"/>
                </a:solidFill>
                <a:latin typeface="IBM Plex Mono" pitchFamily="34" charset="0"/>
                <a:ea typeface="IBM Plex Mono" pitchFamily="34" charset="-122"/>
                <a:cs typeface="IBM Plex Mono" pitchFamily="34" charset="-120"/>
              </a:rPr>
              <a:t>ACT I</a:t>
            </a:r>
            <a:endParaRPr lang="en-US" sz="1350" dirty="0"/>
          </a:p>
        </p:txBody>
      </p:sp>
      <p:sp>
        <p:nvSpPr>
          <p:cNvPr id="4" name="Text 2"/>
          <p:cNvSpPr/>
          <p:nvPr/>
        </p:nvSpPr>
        <p:spPr>
          <a:xfrm>
            <a:off x="1143000" y="4311650"/>
            <a:ext cx="15925800" cy="1028700"/>
          </a:xfrm>
          <a:prstGeom prst="rect">
            <a:avLst/>
          </a:prstGeom>
          <a:noFill/>
          <a:ln/>
        </p:spPr>
        <p:txBody>
          <a:bodyPr wrap="square" lIns="25400" tIns="25400" rIns="25400" bIns="25400" rtlCol="0" anchor="t">
            <a:normAutofit/>
          </a:bodyPr>
          <a:lstStyle/>
          <a:p>
            <a:pPr algn="l" indent="0" marL="0">
              <a:lnSpc>
                <a:spcPct val="78000"/>
              </a:lnSpc>
              <a:buNone/>
            </a:pPr>
            <a:r>
              <a:rPr lang="en-US" sz="7800" b="1" spc="-234" kern="0" dirty="0">
                <a:solidFill>
                  <a:srgbClr val="F6F4EE"/>
                </a:solidFill>
                <a:latin typeface="Space Grotesk" pitchFamily="34" charset="0"/>
                <a:ea typeface="Space Grotesk" pitchFamily="34" charset="-122"/>
                <a:cs typeface="Space Grotesk" pitchFamily="34" charset="-120"/>
              </a:rPr>
              <a:t>The case for change</a:t>
            </a:r>
            <a:endParaRPr lang="en-US" sz="7800" dirty="0"/>
          </a:p>
        </p:txBody>
      </p:sp>
      <p:sp>
        <p:nvSpPr>
          <p:cNvPr id="5" name="Text 3"/>
          <p:cNvSpPr/>
          <p:nvPr/>
        </p:nvSpPr>
        <p:spPr>
          <a:xfrm>
            <a:off x="1143000" y="5645150"/>
            <a:ext cx="11969115" cy="895350"/>
          </a:xfrm>
          <a:prstGeom prst="rect">
            <a:avLst/>
          </a:prstGeom>
          <a:noFill/>
          <a:ln/>
        </p:spPr>
        <p:txBody>
          <a:bodyPr wrap="square" lIns="25400" tIns="25400" rIns="25400" bIns="25400" rtlCol="0" anchor="t">
            <a:normAutofit/>
          </a:bodyPr>
          <a:lstStyle/>
          <a:p>
            <a:pPr algn="l" indent="0" marL="0">
              <a:lnSpc>
                <a:spcPct val="114407"/>
              </a:lnSpc>
              <a:buNone/>
            </a:pPr>
            <a:r>
              <a:rPr lang="en-US" sz="2250" dirty="0">
                <a:solidFill>
                  <a:srgbClr val="F6F4EE">
                    <a:alpha val="72000"/>
                  </a:srgbClr>
                </a:solidFill>
                <a:latin typeface="IBM Plex Sans" pitchFamily="34" charset="0"/>
                <a:ea typeface="IBM Plex Sans" pitchFamily="34" charset="-122"/>
                <a:cs typeface="IBM Plex Sans" pitchFamily="34" charset="-120"/>
              </a:rPr>
              <a:t>Why the AI-augmented SDLC most teams already run isn’t enough — and what </a:t>
            </a:r>
            <a:pPr algn="l" indent="0" marL="0">
              <a:lnSpc>
                <a:spcPct val="114407"/>
              </a:lnSpc>
              <a:buNone/>
            </a:pPr>
            <a:r>
              <a:rPr lang="en-US" sz="2250" i="1" dirty="0">
                <a:solidFill>
                  <a:srgbClr val="F6F4EE">
                    <a:alpha val="72000"/>
                  </a:srgbClr>
                </a:solidFill>
                <a:latin typeface="IBM Plex Sans" pitchFamily="34" charset="0"/>
                <a:ea typeface="IBM Plex Sans" pitchFamily="34" charset="-122"/>
                <a:cs typeface="IBM Plex Sans" pitchFamily="34" charset="-120"/>
              </a:rPr>
              <a:t>agentic </a:t>
            </a:r>
            <a:pPr algn="l" indent="0" marL="0">
              <a:lnSpc>
                <a:spcPct val="114407"/>
              </a:lnSpc>
              <a:buNone/>
            </a:pPr>
            <a:r>
              <a:rPr lang="en-US" sz="2250" dirty="0">
                <a:solidFill>
                  <a:srgbClr val="F6F4EE">
                    <a:alpha val="72000"/>
                  </a:srgbClr>
                </a:solidFill>
                <a:latin typeface="IBM Plex Sans" pitchFamily="34" charset="0"/>
                <a:ea typeface="IBM Plex Sans" pitchFamily="34" charset="-122"/>
                <a:cs typeface="IBM Plex Sans" pitchFamily="34" charset="-120"/>
              </a:rPr>
              <a:t>actually means.</a:t>
            </a:r>
            <a:endParaRPr lang="en-US" sz="2250" dirty="0"/>
          </a:p>
        </p:txBody>
      </p:sp>
      <p:sp>
        <p:nvSpPr>
          <p:cNvPr id="6" name="Text 4"/>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F6F4EE">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7" name="Text 5"/>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F6F4EE">
                    <a:alpha val="40000"/>
                  </a:srgbClr>
                </a:solidFill>
                <a:latin typeface="IBM Plex Mono" pitchFamily="34" charset="0"/>
                <a:ea typeface="IBM Plex Mono" pitchFamily="34" charset="-122"/>
                <a:cs typeface="IBM Plex Mono" pitchFamily="34" charset="-120"/>
              </a:rPr>
              <a:t>03 / 45</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1227772"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THE SHIFT</a:t>
            </a:r>
            <a:endParaRPr lang="en-US" sz="1200" dirty="0"/>
          </a:p>
        </p:txBody>
      </p:sp>
      <p:sp>
        <p:nvSpPr>
          <p:cNvPr id="4" name="Text 2"/>
          <p:cNvSpPr/>
          <p:nvPr/>
        </p:nvSpPr>
        <p:spPr>
          <a:xfrm>
            <a:off x="1143000" y="1403350"/>
            <a:ext cx="12753975" cy="2177891"/>
          </a:xfrm>
          <a:prstGeom prst="rect">
            <a:avLst/>
          </a:prstGeom>
          <a:noFill/>
          <a:ln/>
        </p:spPr>
        <p:txBody>
          <a:bodyPr wrap="square" lIns="25400" tIns="25400" rIns="25400" bIns="25400" rtlCol="0" anchor="t">
            <a:normAutofit/>
          </a:bodyPr>
          <a:lstStyle/>
          <a:p>
            <a:pPr algn="l" indent="0" marL="0">
              <a:lnSpc>
                <a:spcPct val="81395"/>
              </a:lnSpc>
              <a:buNone/>
            </a:pPr>
            <a:r>
              <a:rPr lang="en-US" sz="5400" b="1" spc="-108" kern="0" dirty="0">
                <a:solidFill>
                  <a:srgbClr val="0E1C30"/>
                </a:solidFill>
                <a:latin typeface="Space Grotesk" pitchFamily="34" charset="0"/>
                <a:ea typeface="Space Grotesk" pitchFamily="34" charset="-122"/>
                <a:cs typeface="Space Grotesk" pitchFamily="34" charset="-120"/>
              </a:rPr>
              <a:t>The problem isn't that AI writes bad code. It's that it makes decisions you never saw.</a:t>
            </a:r>
            <a:endParaRPr lang="en-US" sz="5400" dirty="0"/>
          </a:p>
        </p:txBody>
      </p:sp>
      <p:sp>
        <p:nvSpPr>
          <p:cNvPr id="5" name="Shape 3"/>
          <p:cNvSpPr/>
          <p:nvPr/>
        </p:nvSpPr>
        <p:spPr>
          <a:xfrm>
            <a:off x="1143000" y="4267041"/>
            <a:ext cx="16002000" cy="9525"/>
          </a:xfrm>
          <a:prstGeom prst="rect">
            <a:avLst/>
          </a:prstGeom>
          <a:solidFill>
            <a:srgbClr val="0E1C30">
              <a:alpha val="14000"/>
            </a:srgbClr>
          </a:solidFill>
          <a:ln/>
        </p:spPr>
      </p:sp>
      <p:sp>
        <p:nvSpPr>
          <p:cNvPr id="6" name="Shape 4"/>
          <p:cNvSpPr/>
          <p:nvPr/>
        </p:nvSpPr>
        <p:spPr>
          <a:xfrm>
            <a:off x="9137650" y="4273391"/>
            <a:ext cx="9525" cy="1970088"/>
          </a:xfrm>
          <a:prstGeom prst="rect">
            <a:avLst/>
          </a:prstGeom>
          <a:solidFill>
            <a:srgbClr val="0E1C30">
              <a:alpha val="14000"/>
            </a:srgbClr>
          </a:solidFill>
          <a:ln/>
        </p:spPr>
      </p:sp>
      <p:sp>
        <p:nvSpPr>
          <p:cNvPr id="7" name="Text 5"/>
          <p:cNvSpPr/>
          <p:nvPr/>
        </p:nvSpPr>
        <p:spPr>
          <a:xfrm>
            <a:off x="1143000" y="4692491"/>
            <a:ext cx="8207375" cy="222250"/>
          </a:xfrm>
          <a:prstGeom prst="rect">
            <a:avLst/>
          </a:prstGeom>
          <a:noFill/>
          <a:ln/>
        </p:spPr>
        <p:txBody>
          <a:bodyPr wrap="square" lIns="25400" tIns="25400" rIns="25400" bIns="25400" rtlCol="0" anchor="t">
            <a:normAutofit/>
          </a:bodyPr>
          <a:lstStyle/>
          <a:p>
            <a:pPr algn="l" indent="0" marL="0">
              <a:buNone/>
            </a:pPr>
            <a:r>
              <a:rPr lang="en-US" sz="1125" spc="225" kern="0" dirty="0">
                <a:solidFill>
                  <a:srgbClr val="0E1C30">
                    <a:alpha val="45000"/>
                  </a:srgbClr>
                </a:solidFill>
                <a:latin typeface="IBM Plex Mono" pitchFamily="34" charset="0"/>
                <a:ea typeface="IBM Plex Mono" pitchFamily="34" charset="-122"/>
                <a:cs typeface="IBM Plex Mono" pitchFamily="34" charset="-120"/>
              </a:rPr>
              <a:t>PROMPT-AND-PRAY</a:t>
            </a:r>
            <a:endParaRPr lang="en-US" sz="1125" dirty="0"/>
          </a:p>
        </p:txBody>
      </p:sp>
      <p:sp>
        <p:nvSpPr>
          <p:cNvPr id="8" name="Text 6"/>
          <p:cNvSpPr/>
          <p:nvPr/>
        </p:nvSpPr>
        <p:spPr>
          <a:xfrm>
            <a:off x="1143000" y="5086191"/>
            <a:ext cx="7685087" cy="1195388"/>
          </a:xfrm>
          <a:prstGeom prst="rect">
            <a:avLst/>
          </a:prstGeom>
          <a:noFill/>
          <a:ln/>
        </p:spPr>
        <p:txBody>
          <a:bodyPr wrap="square" lIns="25400" tIns="25400" rIns="25400" bIns="25400" rtlCol="0" anchor="t">
            <a:normAutofit/>
          </a:bodyPr>
          <a:lstStyle/>
          <a:p>
            <a:pPr algn="l" indent="0" marL="0">
              <a:lnSpc>
                <a:spcPct val="114623"/>
              </a:lnSpc>
              <a:buNone/>
            </a:pPr>
            <a:r>
              <a:rPr lang="en-US" sz="2025" dirty="0">
                <a:solidFill>
                  <a:srgbClr val="0E1C30">
                    <a:alpha val="72000"/>
                  </a:srgbClr>
                </a:solidFill>
                <a:latin typeface="IBM Plex Sans" pitchFamily="34" charset="0"/>
                <a:ea typeface="IBM Plex Sans" pitchFamily="34" charset="-122"/>
                <a:cs typeface="IBM Plex Sans" pitchFamily="34" charset="-120"/>
              </a:rPr>
              <a:t>You describe a feature, the model produces average code from vague context, and the architectural choices are buried inside the output. Great for a snippet. Fragile for a system.</a:t>
            </a:r>
            <a:endParaRPr lang="en-US" sz="2025" dirty="0"/>
          </a:p>
        </p:txBody>
      </p:sp>
      <p:sp>
        <p:nvSpPr>
          <p:cNvPr id="9" name="Text 7"/>
          <p:cNvSpPr/>
          <p:nvPr/>
        </p:nvSpPr>
        <p:spPr>
          <a:xfrm>
            <a:off x="9677400" y="4692491"/>
            <a:ext cx="8214360" cy="222250"/>
          </a:xfrm>
          <a:prstGeom prst="rect">
            <a:avLst/>
          </a:prstGeom>
          <a:noFill/>
          <a:ln/>
        </p:spPr>
        <p:txBody>
          <a:bodyPr wrap="square" lIns="25400" tIns="25400" rIns="25400" bIns="25400" rtlCol="0" anchor="t">
            <a:normAutofit/>
          </a:bodyPr>
          <a:lstStyle/>
          <a:p>
            <a:pPr algn="l" indent="0" marL="0">
              <a:buNone/>
            </a:pPr>
            <a:r>
              <a:rPr lang="en-US" sz="1125" spc="225" kern="0" dirty="0">
                <a:solidFill>
                  <a:srgbClr val="1E7FD6"/>
                </a:solidFill>
                <a:latin typeface="IBM Plex Mono" pitchFamily="34" charset="0"/>
                <a:ea typeface="IBM Plex Mono" pitchFamily="34" charset="-122"/>
                <a:cs typeface="IBM Plex Mono" pitchFamily="34" charset="-120"/>
              </a:rPr>
              <a:t>AGENTIC DEVELOPMENT</a:t>
            </a:r>
            <a:endParaRPr lang="en-US" sz="1125" dirty="0"/>
          </a:p>
        </p:txBody>
      </p:sp>
      <p:sp>
        <p:nvSpPr>
          <p:cNvPr id="10" name="Text 8"/>
          <p:cNvSpPr/>
          <p:nvPr/>
        </p:nvSpPr>
        <p:spPr>
          <a:xfrm>
            <a:off x="9677400" y="5086191"/>
            <a:ext cx="7691628" cy="1195388"/>
          </a:xfrm>
          <a:prstGeom prst="rect">
            <a:avLst/>
          </a:prstGeom>
          <a:noFill/>
          <a:ln/>
        </p:spPr>
        <p:txBody>
          <a:bodyPr wrap="square" lIns="25400" tIns="25400" rIns="25400" bIns="25400" rtlCol="0" anchor="t">
            <a:normAutofit/>
          </a:bodyPr>
          <a:lstStyle/>
          <a:p>
            <a:pPr algn="l" indent="0" marL="0">
              <a:lnSpc>
                <a:spcPct val="114623"/>
              </a:lnSpc>
              <a:buNone/>
            </a:pPr>
            <a:r>
              <a:rPr lang="en-US" sz="2025" dirty="0">
                <a:solidFill>
                  <a:srgbClr val="0E1C30">
                    <a:alpha val="82000"/>
                  </a:srgbClr>
                </a:solidFill>
                <a:latin typeface="IBM Plex Sans" pitchFamily="34" charset="0"/>
                <a:ea typeface="IBM Plex Sans" pitchFamily="34" charset="-122"/>
                <a:cs typeface="IBM Plex Sans" pitchFamily="34" charset="-120"/>
              </a:rPr>
              <a:t>Specialized agents guide you through a real process — analysis, planning, design, build — producing decisions and documents you can read, review, and reuse.</a:t>
            </a:r>
            <a:endParaRPr lang="en-US" sz="2025" dirty="0"/>
          </a:p>
        </p:txBody>
      </p:sp>
      <p:sp>
        <p:nvSpPr>
          <p:cNvPr id="11" name="Text 9"/>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12" name="Text 10"/>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04 / 45</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1355725"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DEFINITION</a:t>
            </a:r>
            <a:endParaRPr lang="en-US" sz="1200" dirty="0"/>
          </a:p>
        </p:txBody>
      </p:sp>
      <p:sp>
        <p:nvSpPr>
          <p:cNvPr id="4" name="Text 2"/>
          <p:cNvSpPr/>
          <p:nvPr/>
        </p:nvSpPr>
        <p:spPr>
          <a:xfrm>
            <a:off x="1143000" y="1403350"/>
            <a:ext cx="13620750" cy="751364"/>
          </a:xfrm>
          <a:prstGeom prst="rect">
            <a:avLst/>
          </a:prstGeom>
          <a:noFill/>
          <a:ln/>
        </p:spPr>
        <p:txBody>
          <a:bodyPr wrap="square" lIns="25400" tIns="25400" rIns="25400" bIns="25400" rtlCol="0" anchor="t">
            <a:normAutofit/>
          </a:bodyPr>
          <a:lstStyle/>
          <a:p>
            <a:pPr algn="l" indent="0" marL="0">
              <a:lnSpc>
                <a:spcPct val="81395"/>
              </a:lnSpc>
              <a:buNone/>
            </a:pPr>
            <a:r>
              <a:rPr lang="en-US" sz="5400" b="1" spc="-108" kern="0" dirty="0">
                <a:solidFill>
                  <a:srgbClr val="0E1C30"/>
                </a:solidFill>
                <a:latin typeface="Space Grotesk" pitchFamily="34" charset="0"/>
                <a:ea typeface="Space Grotesk" pitchFamily="34" charset="-122"/>
                <a:cs typeface="Space Grotesk" pitchFamily="34" charset="-120"/>
              </a:rPr>
              <a:t>What is the agentic AI‑SDLC?</a:t>
            </a:r>
            <a:endParaRPr lang="en-US" sz="5400" dirty="0"/>
          </a:p>
        </p:txBody>
      </p:sp>
      <p:sp>
        <p:nvSpPr>
          <p:cNvPr id="5" name="Text 3"/>
          <p:cNvSpPr/>
          <p:nvPr/>
        </p:nvSpPr>
        <p:spPr>
          <a:xfrm>
            <a:off x="1143000" y="2440464"/>
            <a:ext cx="13342620" cy="1322546"/>
          </a:xfrm>
          <a:prstGeom prst="rect">
            <a:avLst/>
          </a:prstGeom>
          <a:noFill/>
          <a:ln/>
        </p:spPr>
        <p:txBody>
          <a:bodyPr wrap="square" lIns="25400" tIns="25400" rIns="25400" bIns="25400" rtlCol="0" anchor="t">
            <a:normAutofit/>
          </a:bodyPr>
          <a:lstStyle/>
          <a:p>
            <a:pPr algn="l" indent="0" marL="0">
              <a:lnSpc>
                <a:spcPct val="118289"/>
              </a:lnSpc>
              <a:buNone/>
            </a:pPr>
            <a:r>
              <a:rPr lang="en-US" sz="2175" dirty="0">
                <a:solidFill>
                  <a:srgbClr val="0E1C30">
                    <a:alpha val="75000"/>
                  </a:srgbClr>
                </a:solidFill>
                <a:latin typeface="IBM Plex Sans" pitchFamily="34" charset="0"/>
                <a:ea typeface="IBM Plex Sans" pitchFamily="34" charset="-122"/>
                <a:cs typeface="IBM Plex Sans" pitchFamily="34" charset="-120"/>
              </a:rPr>
              <a:t>The software lifecycle you already know — </a:t>
            </a:r>
            <a:pPr algn="l" indent="0" marL="0">
              <a:lnSpc>
                <a:spcPct val="118289"/>
              </a:lnSpc>
              <a:buNone/>
            </a:pPr>
            <a:r>
              <a:rPr lang="en-US" sz="2175" b="1" dirty="0">
                <a:solidFill>
                  <a:srgbClr val="0E1C30"/>
                </a:solidFill>
                <a:latin typeface="IBM Plex Sans" pitchFamily="34" charset="0"/>
                <a:ea typeface="IBM Plex Sans" pitchFamily="34" charset="-122"/>
                <a:cs typeface="IBM Plex Sans" pitchFamily="34" charset="-120"/>
              </a:rPr>
              <a:t>analyze, plan, design, build, test, ship </a:t>
            </a:r>
            <a:pPr algn="l" indent="0" marL="0">
              <a:lnSpc>
                <a:spcPct val="118289"/>
              </a:lnSpc>
              <a:buNone/>
            </a:pPr>
            <a:r>
              <a:rPr lang="en-US" sz="2175" dirty="0">
                <a:solidFill>
                  <a:srgbClr val="0E1C30">
                    <a:alpha val="75000"/>
                  </a:srgbClr>
                </a:solidFill>
                <a:latin typeface="IBM Plex Sans" pitchFamily="34" charset="0"/>
                <a:ea typeface="IBM Plex Sans" pitchFamily="34" charset="-122"/>
                <a:cs typeface="IBM Plex Sans" pitchFamily="34" charset="-120"/>
              </a:rPr>
              <a:t>— with specialized AI agents doing the heavy lifting at every phase, coordinated through persistent specs, and humans owning judgment and approval.</a:t>
            </a:r>
            <a:endParaRPr lang="en-US" sz="2175" dirty="0"/>
          </a:p>
        </p:txBody>
      </p:sp>
      <p:sp>
        <p:nvSpPr>
          <p:cNvPr id="6" name="Shape 4"/>
          <p:cNvSpPr/>
          <p:nvPr/>
        </p:nvSpPr>
        <p:spPr>
          <a:xfrm>
            <a:off x="1143000" y="4334510"/>
            <a:ext cx="5156200" cy="2417762"/>
          </a:xfrm>
          <a:prstGeom prst="rect">
            <a:avLst/>
          </a:prstGeom>
          <a:solidFill>
            <a:srgbClr val="FFFFFF"/>
          </a:solidFill>
          <a:ln w="6350">
            <a:solidFill>
              <a:srgbClr val="0E1C30">
                <a:alpha val="12000"/>
              </a:srgbClr>
            </a:solidFill>
            <a:prstDash val="solid"/>
          </a:ln>
        </p:spPr>
      </p:sp>
      <p:sp>
        <p:nvSpPr>
          <p:cNvPr id="7" name="Text 5"/>
          <p:cNvSpPr/>
          <p:nvPr/>
        </p:nvSpPr>
        <p:spPr>
          <a:xfrm>
            <a:off x="1492250" y="4683760"/>
            <a:ext cx="490347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1E7FD6"/>
                </a:solidFill>
                <a:latin typeface="IBM Plex Mono" pitchFamily="34" charset="0"/>
                <a:ea typeface="IBM Plex Mono" pitchFamily="34" charset="-122"/>
                <a:cs typeface="IBM Plex Mono" pitchFamily="34" charset="-120"/>
              </a:rPr>
              <a:t>SAME PHASES</a:t>
            </a:r>
            <a:endParaRPr lang="en-US" sz="1050" dirty="0"/>
          </a:p>
        </p:txBody>
      </p:sp>
      <p:sp>
        <p:nvSpPr>
          <p:cNvPr id="8" name="Text 6"/>
          <p:cNvSpPr/>
          <p:nvPr/>
        </p:nvSpPr>
        <p:spPr>
          <a:xfrm>
            <a:off x="1492250" y="5013960"/>
            <a:ext cx="4903470" cy="393700"/>
          </a:xfrm>
          <a:prstGeom prst="rect">
            <a:avLst/>
          </a:prstGeom>
          <a:noFill/>
          <a:ln/>
        </p:spPr>
        <p:txBody>
          <a:bodyPr wrap="square" lIns="25400" tIns="25400" rIns="25400" bIns="25400" rtlCol="0" anchor="t">
            <a:normAutofit/>
          </a:bodyPr>
          <a:lstStyle/>
          <a:p>
            <a:pPr algn="l" indent="0" marL="0">
              <a:buNone/>
            </a:pPr>
            <a:r>
              <a:rPr lang="en-US" sz="2175" b="1" dirty="0">
                <a:solidFill>
                  <a:srgbClr val="0E1C30"/>
                </a:solidFill>
                <a:latin typeface="Space Grotesk" pitchFamily="34" charset="0"/>
                <a:ea typeface="Space Grotesk" pitchFamily="34" charset="-122"/>
                <a:cs typeface="Space Grotesk" pitchFamily="34" charset="-120"/>
              </a:rPr>
              <a:t>The lifecycle survives</a:t>
            </a:r>
            <a:endParaRPr lang="en-US" sz="2175" dirty="0"/>
          </a:p>
        </p:txBody>
      </p:sp>
      <p:sp>
        <p:nvSpPr>
          <p:cNvPr id="9" name="Text 7"/>
          <p:cNvSpPr/>
          <p:nvPr/>
        </p:nvSpPr>
        <p:spPr>
          <a:xfrm>
            <a:off x="1492250" y="5502910"/>
            <a:ext cx="4591431" cy="638175"/>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65000"/>
                  </a:srgbClr>
                </a:solidFill>
                <a:latin typeface="IBM Plex Sans" pitchFamily="34" charset="0"/>
                <a:ea typeface="IBM Plex Sans" pitchFamily="34" charset="-122"/>
                <a:cs typeface="IBM Plex Sans" pitchFamily="34" charset="-120"/>
              </a:rPr>
              <a:t>Decades of agile practice still apply — AI doesn’t replace the process, it runs inside it.</a:t>
            </a:r>
            <a:endParaRPr lang="en-US" sz="1575" dirty="0"/>
          </a:p>
        </p:txBody>
      </p:sp>
      <p:sp>
        <p:nvSpPr>
          <p:cNvPr id="10" name="Shape 8"/>
          <p:cNvSpPr/>
          <p:nvPr/>
        </p:nvSpPr>
        <p:spPr>
          <a:xfrm>
            <a:off x="6565900" y="4334510"/>
            <a:ext cx="5156200" cy="2417762"/>
          </a:xfrm>
          <a:prstGeom prst="rect">
            <a:avLst/>
          </a:prstGeom>
          <a:solidFill>
            <a:srgbClr val="FFFFFF"/>
          </a:solidFill>
          <a:ln w="6350">
            <a:solidFill>
              <a:srgbClr val="0E1C30">
                <a:alpha val="12000"/>
              </a:srgbClr>
            </a:solidFill>
            <a:prstDash val="solid"/>
          </a:ln>
        </p:spPr>
      </p:sp>
      <p:sp>
        <p:nvSpPr>
          <p:cNvPr id="11" name="Text 9"/>
          <p:cNvSpPr/>
          <p:nvPr/>
        </p:nvSpPr>
        <p:spPr>
          <a:xfrm>
            <a:off x="6915150" y="4683760"/>
            <a:ext cx="490347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1E7FD6"/>
                </a:solidFill>
                <a:latin typeface="IBM Plex Mono" pitchFamily="34" charset="0"/>
                <a:ea typeface="IBM Plex Mono" pitchFamily="34" charset="-122"/>
                <a:cs typeface="IBM Plex Mono" pitchFamily="34" charset="-120"/>
              </a:rPr>
              <a:t>NEW WORKERS</a:t>
            </a:r>
            <a:endParaRPr lang="en-US" sz="1050" dirty="0"/>
          </a:p>
        </p:txBody>
      </p:sp>
      <p:sp>
        <p:nvSpPr>
          <p:cNvPr id="12" name="Text 10"/>
          <p:cNvSpPr/>
          <p:nvPr/>
        </p:nvSpPr>
        <p:spPr>
          <a:xfrm>
            <a:off x="6915150" y="5013960"/>
            <a:ext cx="4903470" cy="393700"/>
          </a:xfrm>
          <a:prstGeom prst="rect">
            <a:avLst/>
          </a:prstGeom>
          <a:noFill/>
          <a:ln/>
        </p:spPr>
        <p:txBody>
          <a:bodyPr wrap="square" lIns="25400" tIns="25400" rIns="25400" bIns="25400" rtlCol="0" anchor="t">
            <a:normAutofit/>
          </a:bodyPr>
          <a:lstStyle/>
          <a:p>
            <a:pPr algn="l" indent="0" marL="0">
              <a:buNone/>
            </a:pPr>
            <a:r>
              <a:rPr lang="en-US" sz="2175" b="1" dirty="0">
                <a:solidFill>
                  <a:srgbClr val="0E1C30"/>
                </a:solidFill>
                <a:latin typeface="Space Grotesk" pitchFamily="34" charset="0"/>
                <a:ea typeface="Space Grotesk" pitchFamily="34" charset="-122"/>
                <a:cs typeface="Space Grotesk" pitchFamily="34" charset="-120"/>
              </a:rPr>
              <a:t>Agents execute, humans direct</a:t>
            </a:r>
            <a:endParaRPr lang="en-US" sz="2175" dirty="0"/>
          </a:p>
        </p:txBody>
      </p:sp>
      <p:sp>
        <p:nvSpPr>
          <p:cNvPr id="13" name="Text 11"/>
          <p:cNvSpPr/>
          <p:nvPr/>
        </p:nvSpPr>
        <p:spPr>
          <a:xfrm>
            <a:off x="6915150" y="5502910"/>
            <a:ext cx="4591431" cy="938213"/>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65000"/>
                  </a:srgbClr>
                </a:solidFill>
                <a:latin typeface="IBM Plex Sans" pitchFamily="34" charset="0"/>
                <a:ea typeface="IBM Plex Sans" pitchFamily="34" charset="-122"/>
                <a:cs typeface="IBM Plex Sans" pitchFamily="34" charset="-120"/>
              </a:rPr>
              <a:t>Specialist agents — analyst, PM, architect, developer — do each phase’s work; you review and decide.</a:t>
            </a:r>
            <a:endParaRPr lang="en-US" sz="1575" dirty="0"/>
          </a:p>
        </p:txBody>
      </p:sp>
      <p:sp>
        <p:nvSpPr>
          <p:cNvPr id="14" name="Shape 12"/>
          <p:cNvSpPr/>
          <p:nvPr/>
        </p:nvSpPr>
        <p:spPr>
          <a:xfrm>
            <a:off x="11988800" y="4334510"/>
            <a:ext cx="5156200" cy="2417762"/>
          </a:xfrm>
          <a:prstGeom prst="rect">
            <a:avLst/>
          </a:prstGeom>
          <a:solidFill>
            <a:srgbClr val="FFFFFF"/>
          </a:solidFill>
          <a:ln w="6350">
            <a:solidFill>
              <a:srgbClr val="0E1C30">
                <a:alpha val="12000"/>
              </a:srgbClr>
            </a:solidFill>
            <a:prstDash val="solid"/>
          </a:ln>
        </p:spPr>
      </p:sp>
      <p:sp>
        <p:nvSpPr>
          <p:cNvPr id="15" name="Text 13"/>
          <p:cNvSpPr/>
          <p:nvPr/>
        </p:nvSpPr>
        <p:spPr>
          <a:xfrm>
            <a:off x="12338050" y="4683760"/>
            <a:ext cx="490347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1E7FD6"/>
                </a:solidFill>
                <a:latin typeface="IBM Plex Mono" pitchFamily="34" charset="0"/>
                <a:ea typeface="IBM Plex Mono" pitchFamily="34" charset="-122"/>
                <a:cs typeface="IBM Plex Mono" pitchFamily="34" charset="-120"/>
              </a:rPr>
              <a:t>NEW CONTRACT</a:t>
            </a:r>
            <a:endParaRPr lang="en-US" sz="1050" dirty="0"/>
          </a:p>
        </p:txBody>
      </p:sp>
      <p:sp>
        <p:nvSpPr>
          <p:cNvPr id="16" name="Text 14"/>
          <p:cNvSpPr/>
          <p:nvPr/>
        </p:nvSpPr>
        <p:spPr>
          <a:xfrm>
            <a:off x="12338050" y="5013960"/>
            <a:ext cx="4903470" cy="393700"/>
          </a:xfrm>
          <a:prstGeom prst="rect">
            <a:avLst/>
          </a:prstGeom>
          <a:noFill/>
          <a:ln/>
        </p:spPr>
        <p:txBody>
          <a:bodyPr wrap="square" lIns="25400" tIns="25400" rIns="25400" bIns="25400" rtlCol="0" anchor="t">
            <a:normAutofit/>
          </a:bodyPr>
          <a:lstStyle/>
          <a:p>
            <a:pPr algn="l" indent="0" marL="0">
              <a:buNone/>
            </a:pPr>
            <a:r>
              <a:rPr lang="en-US" sz="2175" b="1" dirty="0">
                <a:solidFill>
                  <a:srgbClr val="0E1C30"/>
                </a:solidFill>
                <a:latin typeface="Space Grotesk" pitchFamily="34" charset="0"/>
                <a:ea typeface="Space Grotesk" pitchFamily="34" charset="-122"/>
                <a:cs typeface="Space Grotesk" pitchFamily="34" charset="-120"/>
              </a:rPr>
              <a:t>Specs carry the state</a:t>
            </a:r>
            <a:endParaRPr lang="en-US" sz="2175" dirty="0"/>
          </a:p>
        </p:txBody>
      </p:sp>
      <p:sp>
        <p:nvSpPr>
          <p:cNvPr id="17" name="Text 15"/>
          <p:cNvSpPr/>
          <p:nvPr/>
        </p:nvSpPr>
        <p:spPr>
          <a:xfrm>
            <a:off x="12338050" y="5502910"/>
            <a:ext cx="4591431" cy="638175"/>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65000"/>
                  </a:srgbClr>
                </a:solidFill>
                <a:latin typeface="IBM Plex Sans" pitchFamily="34" charset="0"/>
                <a:ea typeface="IBM Plex Sans" pitchFamily="34" charset="-122"/>
                <a:cs typeface="IBM Plex Sans" pitchFamily="34" charset="-120"/>
              </a:rPr>
              <a:t>Documents move context between phases — not meetings, not memory, not a chat scrollback.</a:t>
            </a:r>
            <a:endParaRPr lang="en-US" sz="1575" dirty="0"/>
          </a:p>
        </p:txBody>
      </p:sp>
      <p:sp>
        <p:nvSpPr>
          <p:cNvPr id="18" name="Text 16"/>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19" name="Text 17"/>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05 / 45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2767613"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THE MATURITY SPECTRUM</a:t>
            </a:r>
            <a:endParaRPr lang="en-US" sz="1200" dirty="0"/>
          </a:p>
        </p:txBody>
      </p:sp>
      <p:sp>
        <p:nvSpPr>
          <p:cNvPr id="4" name="Text 2"/>
          <p:cNvSpPr/>
          <p:nvPr/>
        </p:nvSpPr>
        <p:spPr>
          <a:xfrm>
            <a:off x="1143000" y="1384300"/>
            <a:ext cx="14225588" cy="1318260"/>
          </a:xfrm>
          <a:prstGeom prst="rect">
            <a:avLst/>
          </a:prstGeom>
          <a:noFill/>
          <a:ln/>
        </p:spPr>
        <p:txBody>
          <a:bodyPr wrap="square" lIns="25400" tIns="25400" rIns="25400" bIns="25400" rtlCol="0" anchor="t">
            <a:normAutofit/>
          </a:bodyPr>
          <a:lstStyle/>
          <a:p>
            <a:pPr algn="l" indent="0" marL="0">
              <a:lnSpc>
                <a:spcPct val="82623"/>
              </a:lnSpc>
              <a:buNone/>
            </a:pPr>
            <a:r>
              <a:rPr lang="en-US" sz="4800" b="1" spc="-96" kern="0" dirty="0">
                <a:solidFill>
                  <a:srgbClr val="0E1C30"/>
                </a:solidFill>
                <a:latin typeface="Space Grotesk" pitchFamily="34" charset="0"/>
                <a:ea typeface="Space Grotesk" pitchFamily="34" charset="-122"/>
                <a:cs typeface="Space Grotesk" pitchFamily="34" charset="-120"/>
              </a:rPr>
              <a:t>From AI-augmented to agentic: who executes the phase?</a:t>
            </a:r>
            <a:endParaRPr lang="en-US" sz="4800" dirty="0"/>
          </a:p>
        </p:txBody>
      </p:sp>
      <p:sp>
        <p:nvSpPr>
          <p:cNvPr id="5" name="Shape 3"/>
          <p:cNvSpPr/>
          <p:nvPr/>
        </p:nvSpPr>
        <p:spPr>
          <a:xfrm>
            <a:off x="1143000" y="3235960"/>
            <a:ext cx="3843338" cy="2692400"/>
          </a:xfrm>
          <a:prstGeom prst="rect">
            <a:avLst/>
          </a:prstGeom>
          <a:solidFill>
            <a:srgbClr val="FFFFFF"/>
          </a:solidFill>
          <a:ln w="6350">
            <a:solidFill>
              <a:srgbClr val="0E1C30">
                <a:alpha val="14000"/>
              </a:srgbClr>
            </a:solidFill>
            <a:prstDash val="solid"/>
          </a:ln>
        </p:spPr>
      </p:sp>
      <p:sp>
        <p:nvSpPr>
          <p:cNvPr id="6" name="Text 4"/>
          <p:cNvSpPr/>
          <p:nvPr/>
        </p:nvSpPr>
        <p:spPr>
          <a:xfrm>
            <a:off x="1435100" y="3566160"/>
            <a:ext cx="3585051"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5000"/>
                  </a:srgbClr>
                </a:solidFill>
                <a:latin typeface="IBM Plex Mono" pitchFamily="34" charset="0"/>
                <a:ea typeface="IBM Plex Mono" pitchFamily="34" charset="-122"/>
                <a:cs typeface="IBM Plex Mono" pitchFamily="34" charset="-120"/>
              </a:rPr>
              <a:t>1 · MANUAL</a:t>
            </a:r>
            <a:endParaRPr lang="en-US" sz="1050" dirty="0"/>
          </a:p>
        </p:txBody>
      </p:sp>
      <p:sp>
        <p:nvSpPr>
          <p:cNvPr id="7" name="Text 5"/>
          <p:cNvSpPr/>
          <p:nvPr/>
        </p:nvSpPr>
        <p:spPr>
          <a:xfrm>
            <a:off x="1435100" y="3896360"/>
            <a:ext cx="3585051"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0E1C30"/>
                </a:solidFill>
                <a:latin typeface="Space Grotesk" pitchFamily="34" charset="0"/>
                <a:ea typeface="Space Grotesk" pitchFamily="34" charset="-122"/>
                <a:cs typeface="Space Grotesk" pitchFamily="34" charset="-120"/>
              </a:rPr>
              <a:t>Humans do everything</a:t>
            </a:r>
            <a:endParaRPr lang="en-US" sz="2100" dirty="0"/>
          </a:p>
        </p:txBody>
      </p:sp>
      <p:sp>
        <p:nvSpPr>
          <p:cNvPr id="8" name="Text 6"/>
          <p:cNvSpPr/>
          <p:nvPr/>
        </p:nvSpPr>
        <p:spPr>
          <a:xfrm>
            <a:off x="1435100" y="4372610"/>
            <a:ext cx="3585051" cy="323850"/>
          </a:xfrm>
          <a:prstGeom prst="rect">
            <a:avLst/>
          </a:prstGeom>
          <a:noFill/>
          <a:ln/>
        </p:spPr>
        <p:txBody>
          <a:bodyPr wrap="square" lIns="25400" tIns="25400" rIns="25400" bIns="25400" rtlCol="0" anchor="t">
            <a:normAutofit/>
          </a:bodyPr>
          <a:lstStyle/>
          <a:p>
            <a:pPr algn="l" indent="0" marL="0">
              <a:lnSpc>
                <a:spcPct val="115385"/>
              </a:lnSpc>
              <a:buNone/>
            </a:pPr>
            <a:r>
              <a:rPr lang="en-US" sz="1500" dirty="0">
                <a:solidFill>
                  <a:srgbClr val="0E1C30">
                    <a:alpha val="65000"/>
                  </a:srgbClr>
                </a:solidFill>
                <a:latin typeface="IBM Plex Sans" pitchFamily="34" charset="0"/>
                <a:ea typeface="IBM Plex Sans" pitchFamily="34" charset="-122"/>
                <a:cs typeface="IBM Plex Sans" pitchFamily="34" charset="-120"/>
              </a:rPr>
              <a:t>The classic SDLC — no AI in the loop.</a:t>
            </a:r>
            <a:endParaRPr lang="en-US" sz="1500" dirty="0"/>
          </a:p>
        </p:txBody>
      </p:sp>
      <p:sp>
        <p:nvSpPr>
          <p:cNvPr id="9" name="Shape 7"/>
          <p:cNvSpPr/>
          <p:nvPr/>
        </p:nvSpPr>
        <p:spPr>
          <a:xfrm>
            <a:off x="5195888" y="3235960"/>
            <a:ext cx="3843338" cy="2692400"/>
          </a:xfrm>
          <a:prstGeom prst="rect">
            <a:avLst/>
          </a:prstGeom>
          <a:solidFill>
            <a:srgbClr val="FFFFFF"/>
          </a:solidFill>
          <a:ln w="6350">
            <a:solidFill>
              <a:srgbClr val="0E1C30">
                <a:alpha val="14000"/>
              </a:srgbClr>
            </a:solidFill>
            <a:prstDash val="solid"/>
          </a:ln>
        </p:spPr>
      </p:sp>
      <p:sp>
        <p:nvSpPr>
          <p:cNvPr id="10" name="Text 8"/>
          <p:cNvSpPr/>
          <p:nvPr/>
        </p:nvSpPr>
        <p:spPr>
          <a:xfrm>
            <a:off x="5487988" y="3566160"/>
            <a:ext cx="3585051"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1E7FD6"/>
                </a:solidFill>
                <a:latin typeface="IBM Plex Mono" pitchFamily="34" charset="0"/>
                <a:ea typeface="IBM Plex Mono" pitchFamily="34" charset="-122"/>
                <a:cs typeface="IBM Plex Mono" pitchFamily="34" charset="-120"/>
              </a:rPr>
              <a:t>2 · AI-AUGMENTED</a:t>
            </a:r>
            <a:endParaRPr lang="en-US" sz="1050" dirty="0"/>
          </a:p>
        </p:txBody>
      </p:sp>
      <p:sp>
        <p:nvSpPr>
          <p:cNvPr id="11" name="Text 9"/>
          <p:cNvSpPr/>
          <p:nvPr/>
        </p:nvSpPr>
        <p:spPr>
          <a:xfrm>
            <a:off x="5487988" y="3896360"/>
            <a:ext cx="3356912" cy="723900"/>
          </a:xfrm>
          <a:prstGeom prst="rect">
            <a:avLst/>
          </a:prstGeom>
          <a:noFill/>
          <a:ln/>
        </p:spPr>
        <p:txBody>
          <a:bodyPr wrap="square" lIns="25400" tIns="25400" rIns="25400" bIns="25400" rtlCol="0" anchor="t">
            <a:normAutofit/>
          </a:bodyPr>
          <a:lstStyle/>
          <a:p>
            <a:pPr algn="l" indent="0" marL="0">
              <a:buNone/>
            </a:pPr>
            <a:r>
              <a:rPr lang="en-US" sz="2100" b="1" dirty="0">
                <a:solidFill>
                  <a:srgbClr val="0E1C30"/>
                </a:solidFill>
                <a:latin typeface="Space Grotesk" pitchFamily="34" charset="0"/>
                <a:ea typeface="Space Grotesk" pitchFamily="34" charset="-122"/>
                <a:cs typeface="Space Grotesk" pitchFamily="34" charset="-120"/>
              </a:rPr>
              <a:t>Humans execute, AI assists</a:t>
            </a:r>
            <a:endParaRPr lang="en-US" sz="2100" dirty="0"/>
          </a:p>
        </p:txBody>
      </p:sp>
      <p:sp>
        <p:nvSpPr>
          <p:cNvPr id="12" name="Text 10"/>
          <p:cNvSpPr/>
          <p:nvPr/>
        </p:nvSpPr>
        <p:spPr>
          <a:xfrm>
            <a:off x="5487988" y="4715510"/>
            <a:ext cx="3356912" cy="895350"/>
          </a:xfrm>
          <a:prstGeom prst="rect">
            <a:avLst/>
          </a:prstGeom>
          <a:noFill/>
          <a:ln/>
        </p:spPr>
        <p:txBody>
          <a:bodyPr wrap="square" lIns="25400" tIns="25400" rIns="25400" bIns="25400" rtlCol="0" anchor="t">
            <a:normAutofit/>
          </a:bodyPr>
          <a:lstStyle/>
          <a:p>
            <a:pPr algn="l" indent="0" marL="0">
              <a:lnSpc>
                <a:spcPct val="115385"/>
              </a:lnSpc>
              <a:buNone/>
            </a:pPr>
            <a:r>
              <a:rPr lang="en-US" sz="1500" dirty="0">
                <a:solidFill>
                  <a:srgbClr val="0E1C30">
                    <a:alpha val="65000"/>
                  </a:srgbClr>
                </a:solidFill>
                <a:latin typeface="IBM Plex Sans" pitchFamily="34" charset="0"/>
                <a:ea typeface="IBM Plex Sans" pitchFamily="34" charset="-122"/>
                <a:cs typeface="IBM Plex Sans" pitchFamily="34" charset="-120"/>
              </a:rPr>
              <a:t>Autocomplete, generated tests you curate, review hints. Plans and decisions stay in heads and meetings.</a:t>
            </a:r>
            <a:endParaRPr lang="en-US" sz="1500" dirty="0"/>
          </a:p>
        </p:txBody>
      </p:sp>
      <p:sp>
        <p:nvSpPr>
          <p:cNvPr id="13" name="Shape 11"/>
          <p:cNvSpPr/>
          <p:nvPr/>
        </p:nvSpPr>
        <p:spPr>
          <a:xfrm>
            <a:off x="9248775" y="3235960"/>
            <a:ext cx="3843338" cy="2692400"/>
          </a:xfrm>
          <a:prstGeom prst="rect">
            <a:avLst/>
          </a:prstGeom>
          <a:solidFill>
            <a:srgbClr val="F4C233">
              <a:alpha val="8000"/>
            </a:srgbClr>
          </a:solidFill>
          <a:ln w="19050">
            <a:solidFill>
              <a:srgbClr val="F4C233"/>
            </a:solidFill>
            <a:prstDash val="solid"/>
          </a:ln>
        </p:spPr>
      </p:sp>
      <p:sp>
        <p:nvSpPr>
          <p:cNvPr id="14" name="Text 12"/>
          <p:cNvSpPr/>
          <p:nvPr/>
        </p:nvSpPr>
        <p:spPr>
          <a:xfrm>
            <a:off x="9553575" y="3578860"/>
            <a:ext cx="3557111"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F4C233"/>
                </a:solidFill>
                <a:latin typeface="IBM Plex Mono" pitchFamily="34" charset="0"/>
                <a:ea typeface="IBM Plex Mono" pitchFamily="34" charset="-122"/>
                <a:cs typeface="IBM Plex Mono" pitchFamily="34" charset="-120"/>
              </a:rPr>
              <a:t>3 · AGENTIC </a:t>
            </a:r>
            <a:pPr algn="l" indent="0" marL="0">
              <a:buNone/>
            </a:pPr>
            <a:r>
              <a:rPr lang="en-US" sz="1050" spc="147" kern="0" dirty="0">
                <a:solidFill>
                  <a:srgbClr val="0E1C30">
                    <a:alpha val="50000"/>
                  </a:srgbClr>
                </a:solidFill>
                <a:latin typeface="IBM Plex Mono" pitchFamily="34" charset="0"/>
                <a:ea typeface="IBM Plex Mono" pitchFamily="34" charset="-122"/>
                <a:cs typeface="IBM Plex Mono" pitchFamily="34" charset="-120"/>
              </a:rPr>
              <a:t>— THIS DECK</a:t>
            </a:r>
            <a:endParaRPr lang="en-US" sz="1050" dirty="0"/>
          </a:p>
        </p:txBody>
      </p:sp>
      <p:sp>
        <p:nvSpPr>
          <p:cNvPr id="15" name="Text 13"/>
          <p:cNvSpPr/>
          <p:nvPr/>
        </p:nvSpPr>
        <p:spPr>
          <a:xfrm>
            <a:off x="9553575" y="3909060"/>
            <a:ext cx="3330750" cy="723900"/>
          </a:xfrm>
          <a:prstGeom prst="rect">
            <a:avLst/>
          </a:prstGeom>
          <a:noFill/>
          <a:ln/>
        </p:spPr>
        <p:txBody>
          <a:bodyPr wrap="square" lIns="25400" tIns="25400" rIns="25400" bIns="25400" rtlCol="0" anchor="t">
            <a:normAutofit/>
          </a:bodyPr>
          <a:lstStyle/>
          <a:p>
            <a:pPr algn="l" indent="0" marL="0">
              <a:buNone/>
            </a:pPr>
            <a:r>
              <a:rPr lang="en-US" sz="2100" b="1" dirty="0">
                <a:solidFill>
                  <a:srgbClr val="0E1C30"/>
                </a:solidFill>
                <a:latin typeface="Space Grotesk" pitchFamily="34" charset="0"/>
                <a:ea typeface="Space Grotesk" pitchFamily="34" charset="-122"/>
                <a:cs typeface="Space Grotesk" pitchFamily="34" charset="-120"/>
              </a:rPr>
              <a:t>Agents execute, humans direct</a:t>
            </a:r>
            <a:endParaRPr lang="en-US" sz="2100" dirty="0"/>
          </a:p>
        </p:txBody>
      </p:sp>
      <p:sp>
        <p:nvSpPr>
          <p:cNvPr id="16" name="Text 14"/>
          <p:cNvSpPr/>
          <p:nvPr/>
        </p:nvSpPr>
        <p:spPr>
          <a:xfrm>
            <a:off x="9553575" y="4728210"/>
            <a:ext cx="3330750" cy="895350"/>
          </a:xfrm>
          <a:prstGeom prst="rect">
            <a:avLst/>
          </a:prstGeom>
          <a:noFill/>
          <a:ln/>
        </p:spPr>
        <p:txBody>
          <a:bodyPr wrap="square" lIns="25400" tIns="25400" rIns="25400" bIns="25400" rtlCol="0" anchor="t">
            <a:normAutofit/>
          </a:bodyPr>
          <a:lstStyle/>
          <a:p>
            <a:pPr algn="l" indent="0" marL="0">
              <a:lnSpc>
                <a:spcPct val="115385"/>
              </a:lnSpc>
              <a:buNone/>
            </a:pPr>
            <a:r>
              <a:rPr lang="en-US" sz="1500" dirty="0">
                <a:solidFill>
                  <a:srgbClr val="0E1C30">
                    <a:alpha val="75000"/>
                  </a:srgbClr>
                </a:solidFill>
                <a:latin typeface="IBM Plex Sans" pitchFamily="34" charset="0"/>
                <a:ea typeface="IBM Plex Sans" pitchFamily="34" charset="-122"/>
                <a:cs typeface="IBM Plex Sans" pitchFamily="34" charset="-120"/>
              </a:rPr>
              <a:t>Specialist agents run each phase; humans gate through specs and reviews.</a:t>
            </a:r>
            <a:endParaRPr lang="en-US" sz="1500" dirty="0"/>
          </a:p>
        </p:txBody>
      </p:sp>
      <p:sp>
        <p:nvSpPr>
          <p:cNvPr id="17" name="Shape 15"/>
          <p:cNvSpPr/>
          <p:nvPr/>
        </p:nvSpPr>
        <p:spPr>
          <a:xfrm>
            <a:off x="13301663" y="3235960"/>
            <a:ext cx="3843338" cy="2692400"/>
          </a:xfrm>
          <a:prstGeom prst="rect">
            <a:avLst/>
          </a:prstGeom>
          <a:solidFill>
            <a:srgbClr val="FFFFFF"/>
          </a:solidFill>
          <a:ln w="6350">
            <a:solidFill>
              <a:srgbClr val="0E1C30">
                <a:alpha val="14000"/>
              </a:srgbClr>
            </a:solidFill>
            <a:prstDash val="solid"/>
          </a:ln>
        </p:spPr>
      </p:sp>
      <p:sp>
        <p:nvSpPr>
          <p:cNvPr id="18" name="Text 16"/>
          <p:cNvSpPr/>
          <p:nvPr/>
        </p:nvSpPr>
        <p:spPr>
          <a:xfrm>
            <a:off x="13593762" y="3566160"/>
            <a:ext cx="3585051"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F58B6E"/>
                </a:solidFill>
                <a:latin typeface="IBM Plex Mono" pitchFamily="34" charset="0"/>
                <a:ea typeface="IBM Plex Mono" pitchFamily="34" charset="-122"/>
                <a:cs typeface="IBM Plex Mono" pitchFamily="34" charset="-120"/>
              </a:rPr>
              <a:t>4 · AUTONOMOUS</a:t>
            </a:r>
            <a:endParaRPr lang="en-US" sz="1050" dirty="0"/>
          </a:p>
        </p:txBody>
      </p:sp>
      <p:sp>
        <p:nvSpPr>
          <p:cNvPr id="19" name="Text 17"/>
          <p:cNvSpPr/>
          <p:nvPr/>
        </p:nvSpPr>
        <p:spPr>
          <a:xfrm>
            <a:off x="13593762" y="3896360"/>
            <a:ext cx="3585051"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0E1C30"/>
                </a:solidFill>
                <a:latin typeface="Space Grotesk" pitchFamily="34" charset="0"/>
                <a:ea typeface="Space Grotesk" pitchFamily="34" charset="-122"/>
                <a:cs typeface="Space Grotesk" pitchFamily="34" charset="-120"/>
              </a:rPr>
              <a:t>Unattended loops</a:t>
            </a:r>
            <a:endParaRPr lang="en-US" sz="2100" dirty="0"/>
          </a:p>
        </p:txBody>
      </p:sp>
      <p:sp>
        <p:nvSpPr>
          <p:cNvPr id="20" name="Text 18"/>
          <p:cNvSpPr/>
          <p:nvPr/>
        </p:nvSpPr>
        <p:spPr>
          <a:xfrm>
            <a:off x="13593762" y="4372610"/>
            <a:ext cx="3356912" cy="895350"/>
          </a:xfrm>
          <a:prstGeom prst="rect">
            <a:avLst/>
          </a:prstGeom>
          <a:noFill/>
          <a:ln/>
        </p:spPr>
        <p:txBody>
          <a:bodyPr wrap="square" lIns="25400" tIns="25400" rIns="25400" bIns="25400" rtlCol="0" anchor="t">
            <a:normAutofit/>
          </a:bodyPr>
          <a:lstStyle/>
          <a:p>
            <a:pPr algn="l" indent="0" marL="0">
              <a:lnSpc>
                <a:spcPct val="115385"/>
              </a:lnSpc>
              <a:buNone/>
            </a:pPr>
            <a:r>
              <a:rPr lang="en-US" sz="1500" dirty="0">
                <a:solidFill>
                  <a:srgbClr val="0E1C30">
                    <a:alpha val="65000"/>
                  </a:srgbClr>
                </a:solidFill>
                <a:latin typeface="IBM Plex Sans" pitchFamily="34" charset="0"/>
                <a:ea typeface="IBM Plex Sans" pitchFamily="34" charset="-122"/>
                <a:cs typeface="IBM Plex Sans" pitchFamily="34" charset="-120"/>
              </a:rPr>
              <a:t>Intent in, code out (dev-auto); humans set direction and review outcomes.</a:t>
            </a:r>
            <a:endParaRPr lang="en-US" sz="1500" dirty="0"/>
          </a:p>
        </p:txBody>
      </p:sp>
      <p:sp>
        <p:nvSpPr>
          <p:cNvPr id="21" name="Text 19"/>
          <p:cNvSpPr/>
          <p:nvPr/>
        </p:nvSpPr>
        <p:spPr>
          <a:xfrm>
            <a:off x="1143000" y="6461760"/>
            <a:ext cx="13735050" cy="781050"/>
          </a:xfrm>
          <a:prstGeom prst="rect">
            <a:avLst/>
          </a:prstGeom>
          <a:noFill/>
          <a:ln/>
        </p:spPr>
        <p:txBody>
          <a:bodyPr wrap="square" lIns="25400" tIns="25400" rIns="25400" bIns="25400" rtlCol="0" anchor="t">
            <a:normAutofit/>
          </a:bodyPr>
          <a:lstStyle/>
          <a:p>
            <a:pPr algn="l" indent="0" marL="0">
              <a:lnSpc>
                <a:spcPct val="114706"/>
              </a:lnSpc>
              <a:buNone/>
            </a:pPr>
            <a:r>
              <a:rPr lang="en-US" sz="1950" dirty="0">
                <a:solidFill>
                  <a:srgbClr val="0E1C30">
                    <a:alpha val="70000"/>
                  </a:srgbClr>
                </a:solidFill>
                <a:latin typeface="IBM Plex Sans" pitchFamily="34" charset="0"/>
                <a:ea typeface="IBM Plex Sans" pitchFamily="34" charset="-122"/>
                <a:cs typeface="IBM Plex Sans" pitchFamily="34" charset="-120"/>
              </a:rPr>
              <a:t>The jump from 2 to 3 isn’t better models — it’s </a:t>
            </a:r>
            <a:pPr algn="l" indent="0" marL="0">
              <a:lnSpc>
                <a:spcPct val="114706"/>
              </a:lnSpc>
              <a:buNone/>
            </a:pPr>
            <a:r>
              <a:rPr lang="en-US" sz="1950" b="1" dirty="0">
                <a:solidFill>
                  <a:srgbClr val="0E1C30"/>
                </a:solidFill>
                <a:latin typeface="IBM Plex Sans" pitchFamily="34" charset="0"/>
                <a:ea typeface="IBM Plex Sans" pitchFamily="34" charset="-122"/>
                <a:cs typeface="IBM Plex Sans" pitchFamily="34" charset="-120"/>
              </a:rPr>
              <a:t>where the context lives </a:t>
            </a:r>
            <a:pPr algn="l" indent="0" marL="0">
              <a:lnSpc>
                <a:spcPct val="114706"/>
              </a:lnSpc>
              <a:buNone/>
            </a:pPr>
            <a:r>
              <a:rPr lang="en-US" sz="1950" dirty="0">
                <a:solidFill>
                  <a:srgbClr val="0E1C30">
                    <a:alpha val="70000"/>
                  </a:srgbClr>
                </a:solidFill>
                <a:latin typeface="IBM Plex Sans" pitchFamily="34" charset="0"/>
                <a:ea typeface="IBM Plex Sans" pitchFamily="34" charset="-122"/>
                <a:cs typeface="IBM Plex Sans" pitchFamily="34" charset="-120"/>
              </a:rPr>
              <a:t>: out of your head and chat history, into documents agents read and write.</a:t>
            </a:r>
            <a:endParaRPr lang="en-US" sz="1950" dirty="0"/>
          </a:p>
        </p:txBody>
      </p:sp>
      <p:sp>
        <p:nvSpPr>
          <p:cNvPr id="22" name="Text 20"/>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23" name="Text 21"/>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06 / 45</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3227070"/>
            <a:ext cx="95250" cy="95250"/>
          </a:xfrm>
          <a:prstGeom prst="rect">
            <a:avLst/>
          </a:prstGeom>
          <a:solidFill>
            <a:srgbClr val="F4C233"/>
          </a:solidFill>
          <a:ln/>
        </p:spPr>
      </p:sp>
      <p:sp>
        <p:nvSpPr>
          <p:cNvPr id="3" name="Text 1"/>
          <p:cNvSpPr/>
          <p:nvPr/>
        </p:nvSpPr>
        <p:spPr>
          <a:xfrm>
            <a:off x="1371600" y="3173095"/>
            <a:ext cx="1739582"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THE CORE IDEA</a:t>
            </a:r>
            <a:endParaRPr lang="en-US" sz="1200" dirty="0"/>
          </a:p>
        </p:txBody>
      </p:sp>
      <p:sp>
        <p:nvSpPr>
          <p:cNvPr id="4" name="Text 2"/>
          <p:cNvSpPr/>
          <p:nvPr/>
        </p:nvSpPr>
        <p:spPr>
          <a:xfrm>
            <a:off x="1143000" y="3757295"/>
            <a:ext cx="15304770" cy="2061210"/>
          </a:xfrm>
          <a:prstGeom prst="rect">
            <a:avLst/>
          </a:prstGeom>
          <a:noFill/>
          <a:ln/>
        </p:spPr>
        <p:txBody>
          <a:bodyPr wrap="square" lIns="25400" tIns="25400" rIns="25400" bIns="25400" rtlCol="0" anchor="t">
            <a:normAutofit/>
          </a:bodyPr>
          <a:lstStyle/>
          <a:p>
            <a:pPr algn="l" indent="0" marL="0">
              <a:lnSpc>
                <a:spcPct val="92348"/>
              </a:lnSpc>
              <a:buNone/>
            </a:pPr>
            <a:r>
              <a:rPr lang="en-US" sz="4500" spc="-67" kern="0" dirty="0">
                <a:solidFill>
                  <a:srgbClr val="0E1C30"/>
                </a:solidFill>
                <a:latin typeface="Space Grotesk" pitchFamily="34" charset="0"/>
                <a:ea typeface="Space Grotesk" pitchFamily="34" charset="-122"/>
                <a:cs typeface="Space Grotesk" pitchFamily="34" charset="-120"/>
              </a:rPr>
              <a:t>Traditional AI tools do the thinking </a:t>
            </a:r>
            <a:pPr algn="l" indent="0" marL="0">
              <a:lnSpc>
                <a:spcPct val="92348"/>
              </a:lnSpc>
              <a:buNone/>
            </a:pPr>
            <a:r>
              <a:rPr lang="en-US" sz="4500" spc="-67" kern="0" dirty="0">
                <a:solidFill>
                  <a:srgbClr val="0E1C30">
                    <a:alpha val="40000"/>
                  </a:srgbClr>
                </a:solidFill>
                <a:latin typeface="Space Grotesk" pitchFamily="34" charset="0"/>
                <a:ea typeface="Space Grotesk" pitchFamily="34" charset="-122"/>
                <a:cs typeface="Space Grotesk" pitchFamily="34" charset="-120"/>
              </a:rPr>
              <a:t>for </a:t>
            </a:r>
            <a:pPr algn="l" indent="0" marL="0">
              <a:lnSpc>
                <a:spcPct val="92348"/>
              </a:lnSpc>
              <a:buNone/>
            </a:pPr>
            <a:r>
              <a:rPr lang="en-US" sz="4500" spc="-67" kern="0" dirty="0">
                <a:solidFill>
                  <a:srgbClr val="0E1C30"/>
                </a:solidFill>
                <a:latin typeface="Space Grotesk" pitchFamily="34" charset="0"/>
                <a:ea typeface="Space Grotesk" pitchFamily="34" charset="-122"/>
                <a:cs typeface="Space Grotesk" pitchFamily="34" charset="-120"/>
              </a:rPr>
              <a:t>you. Agentic workflows act as expert collaborators who bring the best thinking </a:t>
            </a:r>
            <a:pPr algn="l" indent="0" marL="0">
              <a:lnSpc>
                <a:spcPct val="92348"/>
              </a:lnSpc>
              <a:buNone/>
            </a:pPr>
            <a:r>
              <a:rPr lang="en-US" sz="4500" spc="-67" kern="0" dirty="0">
                <a:solidFill>
                  <a:srgbClr val="1E7FD6"/>
                </a:solidFill>
                <a:latin typeface="Space Grotesk" pitchFamily="34" charset="0"/>
                <a:ea typeface="Space Grotesk" pitchFamily="34" charset="-122"/>
                <a:cs typeface="Space Grotesk" pitchFamily="34" charset="-120"/>
              </a:rPr>
              <a:t>out </a:t>
            </a:r>
            <a:pPr algn="l" indent="0" marL="0">
              <a:lnSpc>
                <a:spcPct val="92348"/>
              </a:lnSpc>
              <a:buNone/>
            </a:pPr>
            <a:r>
              <a:rPr lang="en-US" sz="4500" spc="-67" kern="0" dirty="0">
                <a:solidFill>
                  <a:srgbClr val="0E1C30"/>
                </a:solidFill>
                <a:latin typeface="Space Grotesk" pitchFamily="34" charset="0"/>
                <a:ea typeface="Space Grotesk" pitchFamily="34" charset="-122"/>
                <a:cs typeface="Space Grotesk" pitchFamily="34" charset="-120"/>
              </a:rPr>
              <a:t>of you.</a:t>
            </a:r>
            <a:endParaRPr lang="en-US" sz="4500" dirty="0"/>
          </a:p>
        </p:txBody>
      </p:sp>
      <p:sp>
        <p:nvSpPr>
          <p:cNvPr id="5" name="Text 3"/>
          <p:cNvSpPr/>
          <p:nvPr/>
        </p:nvSpPr>
        <p:spPr>
          <a:xfrm>
            <a:off x="1143000" y="6313805"/>
            <a:ext cx="10988040" cy="838200"/>
          </a:xfrm>
          <a:prstGeom prst="rect">
            <a:avLst/>
          </a:prstGeom>
          <a:noFill/>
          <a:ln/>
        </p:spPr>
        <p:txBody>
          <a:bodyPr wrap="square" lIns="25400" tIns="25400" rIns="25400" bIns="25400" rtlCol="0" anchor="t">
            <a:normAutofit/>
          </a:bodyPr>
          <a:lstStyle/>
          <a:p>
            <a:pPr algn="l" indent="0" marL="0">
              <a:lnSpc>
                <a:spcPct val="114545"/>
              </a:lnSpc>
              <a:buNone/>
            </a:pPr>
            <a:r>
              <a:rPr lang="en-US" sz="2100" dirty="0">
                <a:solidFill>
                  <a:srgbClr val="0E1C30">
                    <a:alpha val="60000"/>
                  </a:srgbClr>
                </a:solidFill>
                <a:latin typeface="IBM Plex Sans" pitchFamily="34" charset="0"/>
                <a:ea typeface="IBM Plex Sans" pitchFamily="34" charset="-122"/>
                <a:cs typeface="IBM Plex Sans" pitchFamily="34" charset="-120"/>
              </a:rPr>
              <a:t>The output isn't just code. It's a chain of reviewable artifacts — a brief, a spec, an architecture, a story — each one grounding the next.</a:t>
            </a:r>
            <a:endParaRPr lang="en-US" sz="2100" dirty="0"/>
          </a:p>
        </p:txBody>
      </p:sp>
      <p:sp>
        <p:nvSpPr>
          <p:cNvPr id="6" name="Text 4"/>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7" name="Text 5"/>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07 / 45</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626"/>
        </a:solidFill>
      </p:bgPr>
    </p:bg>
    <p:spTree>
      <p:nvGrpSpPr>
        <p:cNvPr id="1" name=""/>
        <p:cNvGrpSpPr/>
        <p:nvPr/>
      </p:nvGrpSpPr>
      <p:grpSpPr>
        <a:xfrm>
          <a:off x="0" y="0"/>
          <a:ext cx="0" cy="0"/>
          <a:chOff x="0" y="0"/>
          <a:chExt cx="0" cy="0"/>
        </a:xfrm>
      </p:grpSpPr>
      <p:sp>
        <p:nvSpPr>
          <p:cNvPr id="2" name="Shape 0"/>
          <p:cNvSpPr/>
          <p:nvPr/>
        </p:nvSpPr>
        <p:spPr>
          <a:xfrm>
            <a:off x="1143000" y="4052888"/>
            <a:ext cx="114300" cy="114300"/>
          </a:xfrm>
          <a:prstGeom prst="rect">
            <a:avLst/>
          </a:prstGeom>
          <a:solidFill>
            <a:srgbClr val="F4C233"/>
          </a:solidFill>
          <a:ln/>
        </p:spPr>
      </p:sp>
      <p:sp>
        <p:nvSpPr>
          <p:cNvPr id="3" name="Text 1"/>
          <p:cNvSpPr/>
          <p:nvPr/>
        </p:nvSpPr>
        <p:spPr>
          <a:xfrm>
            <a:off x="1409700" y="3998912"/>
            <a:ext cx="1002030" cy="260350"/>
          </a:xfrm>
          <a:prstGeom prst="rect">
            <a:avLst/>
          </a:prstGeom>
          <a:noFill/>
          <a:ln/>
        </p:spPr>
        <p:txBody>
          <a:bodyPr wrap="square" lIns="0" tIns="0" rIns="0" bIns="0" rtlCol="0" anchor="t">
            <a:normAutofit/>
          </a:bodyPr>
          <a:lstStyle/>
          <a:p>
            <a:pPr algn="l" indent="0" marL="0">
              <a:buNone/>
            </a:pPr>
            <a:r>
              <a:rPr lang="en-US" sz="1350" spc="405" kern="0" dirty="0">
                <a:solidFill>
                  <a:srgbClr val="5BB3F5"/>
                </a:solidFill>
                <a:latin typeface="IBM Plex Mono" pitchFamily="34" charset="0"/>
                <a:ea typeface="IBM Plex Mono" pitchFamily="34" charset="-122"/>
                <a:cs typeface="IBM Plex Mono" pitchFamily="34" charset="-120"/>
              </a:rPr>
              <a:t>ACT II</a:t>
            </a:r>
            <a:endParaRPr lang="en-US" sz="1350" dirty="0"/>
          </a:p>
        </p:txBody>
      </p:sp>
      <p:sp>
        <p:nvSpPr>
          <p:cNvPr id="4" name="Text 2"/>
          <p:cNvSpPr/>
          <p:nvPr/>
        </p:nvSpPr>
        <p:spPr>
          <a:xfrm>
            <a:off x="1143000" y="4525963"/>
            <a:ext cx="15925800" cy="1028700"/>
          </a:xfrm>
          <a:prstGeom prst="rect">
            <a:avLst/>
          </a:prstGeom>
          <a:noFill/>
          <a:ln/>
        </p:spPr>
        <p:txBody>
          <a:bodyPr wrap="square" lIns="25400" tIns="25400" rIns="25400" bIns="25400" rtlCol="0" anchor="t">
            <a:normAutofit/>
          </a:bodyPr>
          <a:lstStyle/>
          <a:p>
            <a:pPr algn="l" indent="0" marL="0">
              <a:lnSpc>
                <a:spcPct val="78000"/>
              </a:lnSpc>
              <a:buNone/>
            </a:pPr>
            <a:r>
              <a:rPr lang="en-US" sz="7800" b="1" spc="-234" kern="0" dirty="0">
                <a:solidFill>
                  <a:srgbClr val="F6F4EE"/>
                </a:solidFill>
                <a:latin typeface="Space Grotesk" pitchFamily="34" charset="0"/>
                <a:ea typeface="Space Grotesk" pitchFamily="34" charset="-122"/>
                <a:cs typeface="Space Grotesk" pitchFamily="34" charset="-120"/>
              </a:rPr>
              <a:t>Spec-driven development</a:t>
            </a:r>
            <a:endParaRPr lang="en-US" sz="7800" dirty="0"/>
          </a:p>
        </p:txBody>
      </p:sp>
      <p:sp>
        <p:nvSpPr>
          <p:cNvPr id="5" name="Text 3"/>
          <p:cNvSpPr/>
          <p:nvPr/>
        </p:nvSpPr>
        <p:spPr>
          <a:xfrm>
            <a:off x="1143000" y="5859463"/>
            <a:ext cx="12782550" cy="466725"/>
          </a:xfrm>
          <a:prstGeom prst="rect">
            <a:avLst/>
          </a:prstGeom>
          <a:noFill/>
          <a:ln/>
        </p:spPr>
        <p:txBody>
          <a:bodyPr wrap="square" lIns="25400" tIns="25400" rIns="25400" bIns="25400" rtlCol="0" anchor="t">
            <a:normAutofit/>
          </a:bodyPr>
          <a:lstStyle/>
          <a:p>
            <a:pPr algn="l" indent="0" marL="0">
              <a:lnSpc>
                <a:spcPct val="114407"/>
              </a:lnSpc>
              <a:buNone/>
            </a:pPr>
            <a:r>
              <a:rPr lang="en-US" sz="2250" dirty="0">
                <a:solidFill>
                  <a:srgbClr val="F6F4EE">
                    <a:alpha val="72000"/>
                  </a:srgbClr>
                </a:solidFill>
                <a:latin typeface="IBM Plex Sans" pitchFamily="34" charset="0"/>
                <a:ea typeface="IBM Plex Sans" pitchFamily="34" charset="-122"/>
                <a:cs typeface="IBM Plex Sans" pitchFamily="34" charset="-120"/>
              </a:rPr>
              <a:t>The operating model: treat the documentation as the brain, agents as transient workers.</a:t>
            </a:r>
            <a:endParaRPr lang="en-US" sz="2250" dirty="0"/>
          </a:p>
        </p:txBody>
      </p:sp>
      <p:sp>
        <p:nvSpPr>
          <p:cNvPr id="6" name="Text 4"/>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F6F4EE">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7" name="Text 5"/>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F6F4EE">
                    <a:alpha val="40000"/>
                  </a:srgbClr>
                </a:solidFill>
                <a:latin typeface="IBM Plex Mono" pitchFamily="34" charset="0"/>
                <a:ea typeface="IBM Plex Mono" pitchFamily="34" charset="-122"/>
                <a:cs typeface="IBM Plex Mono" pitchFamily="34" charset="-120"/>
              </a:rPr>
              <a:t>08 / 45</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1355725"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DEFINITION</a:t>
            </a:r>
            <a:endParaRPr lang="en-US" sz="1200" dirty="0"/>
          </a:p>
        </p:txBody>
      </p:sp>
      <p:sp>
        <p:nvSpPr>
          <p:cNvPr id="4" name="Text 2"/>
          <p:cNvSpPr/>
          <p:nvPr/>
        </p:nvSpPr>
        <p:spPr>
          <a:xfrm>
            <a:off x="1143000" y="1403350"/>
            <a:ext cx="14668500" cy="731520"/>
          </a:xfrm>
          <a:prstGeom prst="rect">
            <a:avLst/>
          </a:prstGeom>
          <a:noFill/>
          <a:ln/>
        </p:spPr>
        <p:txBody>
          <a:bodyPr wrap="square" lIns="25400" tIns="25400" rIns="25400" bIns="25400" rtlCol="0" anchor="t">
            <a:normAutofit/>
          </a:bodyPr>
          <a:lstStyle/>
          <a:p>
            <a:pPr algn="l" indent="0" marL="0">
              <a:lnSpc>
                <a:spcPct val="81493"/>
              </a:lnSpc>
              <a:buNone/>
            </a:pPr>
            <a:r>
              <a:rPr lang="en-US" sz="5250" b="1" spc="-105" kern="0" dirty="0">
                <a:solidFill>
                  <a:srgbClr val="0E1C30"/>
                </a:solidFill>
                <a:latin typeface="Space Grotesk" pitchFamily="34" charset="0"/>
                <a:ea typeface="Space Grotesk" pitchFamily="34" charset="-122"/>
                <a:cs typeface="Space Grotesk" pitchFamily="34" charset="-120"/>
              </a:rPr>
              <a:t>What is spec‑driven development?</a:t>
            </a:r>
            <a:endParaRPr lang="en-US" sz="5250" dirty="0"/>
          </a:p>
        </p:txBody>
      </p:sp>
      <p:sp>
        <p:nvSpPr>
          <p:cNvPr id="5" name="Text 3"/>
          <p:cNvSpPr/>
          <p:nvPr/>
        </p:nvSpPr>
        <p:spPr>
          <a:xfrm>
            <a:off x="1143000" y="2401570"/>
            <a:ext cx="13538835" cy="864870"/>
          </a:xfrm>
          <a:prstGeom prst="rect">
            <a:avLst/>
          </a:prstGeom>
          <a:noFill/>
          <a:ln/>
        </p:spPr>
        <p:txBody>
          <a:bodyPr wrap="square" lIns="25400" tIns="25400" rIns="25400" bIns="25400" rtlCol="0" anchor="t">
            <a:normAutofit/>
          </a:bodyPr>
          <a:lstStyle/>
          <a:p>
            <a:pPr algn="l" indent="0" marL="0">
              <a:lnSpc>
                <a:spcPct val="118364"/>
              </a:lnSpc>
              <a:buNone/>
            </a:pPr>
            <a:r>
              <a:rPr lang="en-US" sz="2100" dirty="0">
                <a:solidFill>
                  <a:srgbClr val="0E1C30">
                    <a:alpha val="75000"/>
                  </a:srgbClr>
                </a:solidFill>
                <a:latin typeface="IBM Plex Sans" pitchFamily="34" charset="0"/>
                <a:ea typeface="IBM Plex Sans" pitchFamily="34" charset="-122"/>
                <a:cs typeface="IBM Plex Sans" pitchFamily="34" charset="-120"/>
              </a:rPr>
              <a:t>Write the specification </a:t>
            </a:r>
            <a:pPr algn="l" indent="0" marL="0">
              <a:lnSpc>
                <a:spcPct val="118364"/>
              </a:lnSpc>
              <a:buNone/>
            </a:pPr>
            <a:r>
              <a:rPr lang="en-US" sz="2100" b="1" dirty="0">
                <a:solidFill>
                  <a:srgbClr val="0E1C30"/>
                </a:solidFill>
                <a:latin typeface="IBM Plex Sans" pitchFamily="34" charset="0"/>
                <a:ea typeface="IBM Plex Sans" pitchFamily="34" charset="-122"/>
                <a:cs typeface="IBM Plex Sans" pitchFamily="34" charset="-120"/>
              </a:rPr>
              <a:t>first </a:t>
            </a:r>
            <a:pPr algn="l" indent="0" marL="0">
              <a:lnSpc>
                <a:spcPct val="118364"/>
              </a:lnSpc>
              <a:buNone/>
            </a:pPr>
            <a:r>
              <a:rPr lang="en-US" sz="2100" dirty="0">
                <a:solidFill>
                  <a:srgbClr val="0E1C30">
                    <a:alpha val="75000"/>
                  </a:srgbClr>
                </a:solidFill>
                <a:latin typeface="IBM Plex Sans" pitchFamily="34" charset="0"/>
                <a:ea typeface="IBM Plex Sans" pitchFamily="34" charset="-122"/>
                <a:cs typeface="IBM Plex Sans" pitchFamily="34" charset="-120"/>
              </a:rPr>
              <a:t>— a precise, versioned document of behavior, constraints, and acceptance criteria — then have AI generate and validate code </a:t>
            </a:r>
            <a:pPr algn="l" indent="0" marL="0">
              <a:lnSpc>
                <a:spcPct val="118364"/>
              </a:lnSpc>
              <a:buNone/>
            </a:pPr>
            <a:r>
              <a:rPr lang="en-US" sz="2100" b="1" dirty="0">
                <a:solidFill>
                  <a:srgbClr val="0E1C30"/>
                </a:solidFill>
                <a:latin typeface="IBM Plex Sans" pitchFamily="34" charset="0"/>
                <a:ea typeface="IBM Plex Sans" pitchFamily="34" charset="-122"/>
                <a:cs typeface="IBM Plex Sans" pitchFamily="34" charset="-120"/>
              </a:rPr>
              <a:t>against it</a:t>
            </a:r>
            <a:pPr algn="l" indent="0" marL="0">
              <a:lnSpc>
                <a:spcPct val="118364"/>
              </a:lnSpc>
              <a:buNone/>
            </a:pPr>
            <a:r>
              <a:rPr lang="en-US" sz="2100" dirty="0">
                <a:solidFill>
                  <a:srgbClr val="0E1C30">
                    <a:alpha val="75000"/>
                  </a:srgbClr>
                </a:solidFill>
                <a:latin typeface="IBM Plex Sans" pitchFamily="34" charset="0"/>
                <a:ea typeface="IBM Plex Sans" pitchFamily="34" charset="-122"/>
                <a:cs typeface="IBM Plex Sans" pitchFamily="34" charset="-120"/>
              </a:rPr>
              <a:t>. The spec is the contract; the code is its translation.</a:t>
            </a:r>
            <a:endParaRPr lang="en-US" sz="2100" dirty="0"/>
          </a:p>
        </p:txBody>
      </p:sp>
      <p:sp>
        <p:nvSpPr>
          <p:cNvPr id="6" name="Shape 4"/>
          <p:cNvSpPr/>
          <p:nvPr/>
        </p:nvSpPr>
        <p:spPr>
          <a:xfrm>
            <a:off x="1143000" y="3761740"/>
            <a:ext cx="16002000" cy="844550"/>
          </a:xfrm>
          <a:prstGeom prst="rect">
            <a:avLst/>
          </a:prstGeom>
          <a:solidFill>
            <a:srgbClr val="FFFFFF"/>
          </a:solidFill>
          <a:ln w="6350">
            <a:solidFill>
              <a:srgbClr val="C53030">
                <a:alpha val="30000"/>
              </a:srgbClr>
            </a:solidFill>
            <a:prstDash val="solid"/>
          </a:ln>
        </p:spPr>
      </p:sp>
      <p:sp>
        <p:nvSpPr>
          <p:cNvPr id="7" name="Text 5"/>
          <p:cNvSpPr/>
          <p:nvPr/>
        </p:nvSpPr>
        <p:spPr>
          <a:xfrm>
            <a:off x="1511300" y="4091940"/>
            <a:ext cx="2724150" cy="222250"/>
          </a:xfrm>
          <a:prstGeom prst="rect">
            <a:avLst/>
          </a:prstGeom>
          <a:noFill/>
          <a:ln/>
        </p:spPr>
        <p:txBody>
          <a:bodyPr wrap="square" lIns="25400" tIns="25400" rIns="25400" bIns="25400" rtlCol="0" anchor="t">
            <a:normAutofit/>
          </a:bodyPr>
          <a:lstStyle/>
          <a:p>
            <a:pPr algn="l" indent="0" marL="0">
              <a:buNone/>
            </a:pPr>
            <a:r>
              <a:rPr lang="en-US" sz="1125" spc="180" kern="0" dirty="0">
                <a:solidFill>
                  <a:srgbClr val="C53030"/>
                </a:solidFill>
                <a:latin typeface="IBM Plex Mono" pitchFamily="34" charset="0"/>
                <a:ea typeface="IBM Plex Mono" pitchFamily="34" charset="-122"/>
                <a:cs typeface="IBM Plex Mono" pitchFamily="34" charset="-120"/>
              </a:rPr>
              <a:t>VIBE CODING</a:t>
            </a:r>
            <a:endParaRPr lang="en-US" sz="1125" dirty="0"/>
          </a:p>
        </p:txBody>
      </p:sp>
      <p:sp>
        <p:nvSpPr>
          <p:cNvPr id="8" name="Text 6"/>
          <p:cNvSpPr/>
          <p:nvPr/>
        </p:nvSpPr>
        <p:spPr>
          <a:xfrm>
            <a:off x="4330700" y="4034790"/>
            <a:ext cx="13690600" cy="336550"/>
          </a:xfrm>
          <a:prstGeom prst="rect">
            <a:avLst/>
          </a:prstGeom>
          <a:noFill/>
          <a:ln/>
        </p:spPr>
        <p:txBody>
          <a:bodyPr wrap="square" lIns="25400" tIns="25400" rIns="25400" bIns="25400" rtlCol="0" anchor="t">
            <a:normAutofit/>
          </a:bodyPr>
          <a:lstStyle/>
          <a:p>
            <a:pPr algn="l" indent="0" marL="0">
              <a:buNone/>
            </a:pPr>
            <a:r>
              <a:rPr lang="en-US" sz="1800" dirty="0">
                <a:solidFill>
                  <a:srgbClr val="0E1C30">
                    <a:alpha val="75000"/>
                  </a:srgbClr>
                </a:solidFill>
                <a:latin typeface="IBM Plex Mono" pitchFamily="34" charset="0"/>
                <a:ea typeface="IBM Plex Mono" pitchFamily="34" charset="-122"/>
                <a:cs typeface="IBM Plex Mono" pitchFamily="34" charset="-120"/>
              </a:rPr>
              <a:t>prompt → code → </a:t>
            </a:r>
            <a:pPr algn="l" indent="0" marL="0">
              <a:buNone/>
            </a:pPr>
            <a:r>
              <a:rPr lang="en-US" sz="1800" dirty="0">
                <a:solidFill>
                  <a:srgbClr val="C53030"/>
                </a:solidFill>
                <a:latin typeface="IBM Plex Mono" pitchFamily="34" charset="0"/>
                <a:ea typeface="IBM Plex Mono" pitchFamily="34" charset="-122"/>
                <a:cs typeface="IBM Plex Mono" pitchFamily="34" charset="-120"/>
              </a:rPr>
              <a:t>hope</a:t>
            </a:r>
            <a:endParaRPr lang="en-US" sz="1800" dirty="0"/>
          </a:p>
        </p:txBody>
      </p:sp>
      <p:sp>
        <p:nvSpPr>
          <p:cNvPr id="9" name="Shape 7"/>
          <p:cNvSpPr/>
          <p:nvPr/>
        </p:nvSpPr>
        <p:spPr>
          <a:xfrm>
            <a:off x="1143000" y="4796790"/>
            <a:ext cx="16002000" cy="831850"/>
          </a:xfrm>
          <a:prstGeom prst="rect">
            <a:avLst/>
          </a:prstGeom>
          <a:solidFill>
            <a:srgbClr val="0B1626"/>
          </a:solidFill>
          <a:ln/>
        </p:spPr>
      </p:sp>
      <p:sp>
        <p:nvSpPr>
          <p:cNvPr id="10" name="Text 8"/>
          <p:cNvSpPr/>
          <p:nvPr/>
        </p:nvSpPr>
        <p:spPr>
          <a:xfrm>
            <a:off x="1504950" y="5120640"/>
            <a:ext cx="2724150" cy="222250"/>
          </a:xfrm>
          <a:prstGeom prst="rect">
            <a:avLst/>
          </a:prstGeom>
          <a:noFill/>
          <a:ln/>
        </p:spPr>
        <p:txBody>
          <a:bodyPr wrap="square" lIns="25400" tIns="25400" rIns="25400" bIns="25400" rtlCol="0" anchor="t">
            <a:normAutofit/>
          </a:bodyPr>
          <a:lstStyle/>
          <a:p>
            <a:pPr algn="l" indent="0" marL="0">
              <a:buNone/>
            </a:pPr>
            <a:r>
              <a:rPr lang="en-US" sz="1125" spc="180" kern="0" dirty="0">
                <a:solidFill>
                  <a:srgbClr val="F4C233"/>
                </a:solidFill>
                <a:latin typeface="IBM Plex Mono" pitchFamily="34" charset="0"/>
                <a:ea typeface="IBM Plex Mono" pitchFamily="34" charset="-122"/>
                <a:cs typeface="IBM Plex Mono" pitchFamily="34" charset="-120"/>
              </a:rPr>
              <a:t>SPEC-DRIVEN</a:t>
            </a:r>
            <a:endParaRPr lang="en-US" sz="1125" dirty="0"/>
          </a:p>
        </p:txBody>
      </p:sp>
      <p:sp>
        <p:nvSpPr>
          <p:cNvPr id="11" name="Text 9"/>
          <p:cNvSpPr/>
          <p:nvPr/>
        </p:nvSpPr>
        <p:spPr>
          <a:xfrm>
            <a:off x="4324350" y="5063490"/>
            <a:ext cx="13704570" cy="336550"/>
          </a:xfrm>
          <a:prstGeom prst="rect">
            <a:avLst/>
          </a:prstGeom>
          <a:noFill/>
          <a:ln/>
        </p:spPr>
        <p:txBody>
          <a:bodyPr wrap="square" lIns="25400" tIns="25400" rIns="25400" bIns="25400" rtlCol="0" anchor="t">
            <a:normAutofit/>
          </a:bodyPr>
          <a:lstStyle/>
          <a:p>
            <a:pPr algn="l" indent="0" marL="0">
              <a:buNone/>
            </a:pPr>
            <a:r>
              <a:rPr lang="en-US" sz="1800" dirty="0">
                <a:solidFill>
                  <a:srgbClr val="F6F4EE">
                    <a:alpha val="90000"/>
                  </a:srgbClr>
                </a:solidFill>
                <a:latin typeface="IBM Plex Mono" pitchFamily="34" charset="0"/>
                <a:ea typeface="IBM Plex Mono" pitchFamily="34" charset="-122"/>
                <a:cs typeface="IBM Plex Mono" pitchFamily="34" charset="-120"/>
              </a:rPr>
              <a:t>intent → spec → </a:t>
            </a:r>
            <a:pPr algn="l" indent="0" marL="0">
              <a:buNone/>
            </a:pPr>
            <a:r>
              <a:rPr lang="en-US" sz="1800" dirty="0">
                <a:solidFill>
                  <a:srgbClr val="5BB3F5"/>
                </a:solidFill>
                <a:latin typeface="IBM Plex Mono" pitchFamily="34" charset="0"/>
                <a:ea typeface="IBM Plex Mono" pitchFamily="34" charset="-122"/>
                <a:cs typeface="IBM Plex Mono" pitchFamily="34" charset="-120"/>
              </a:rPr>
              <a:t>human review </a:t>
            </a:r>
            <a:pPr algn="l" indent="0" marL="0">
              <a:buNone/>
            </a:pPr>
            <a:r>
              <a:rPr lang="en-US" sz="1800" dirty="0">
                <a:solidFill>
                  <a:srgbClr val="F6F4EE">
                    <a:alpha val="90000"/>
                  </a:srgbClr>
                </a:solidFill>
                <a:latin typeface="IBM Plex Mono" pitchFamily="34" charset="0"/>
                <a:ea typeface="IBM Plex Mono" pitchFamily="34" charset="-122"/>
                <a:cs typeface="IBM Plex Mono" pitchFamily="34" charset="-120"/>
              </a:rPr>
              <a:t>→ generate → validate</a:t>
            </a:r>
            <a:endParaRPr lang="en-US" sz="1800" dirty="0"/>
          </a:p>
        </p:txBody>
      </p:sp>
      <p:sp>
        <p:nvSpPr>
          <p:cNvPr id="12" name="Text 10"/>
          <p:cNvSpPr/>
          <p:nvPr/>
        </p:nvSpPr>
        <p:spPr>
          <a:xfrm>
            <a:off x="1143000" y="6123940"/>
            <a:ext cx="3924300" cy="991076"/>
          </a:xfrm>
          <a:prstGeom prst="rect">
            <a:avLst/>
          </a:prstGeom>
          <a:noFill/>
          <a:ln/>
        </p:spPr>
        <p:txBody>
          <a:bodyPr wrap="square" lIns="25400" tIns="25400" rIns="25400" bIns="25400" rtlCol="0" anchor="t">
            <a:normAutofit/>
          </a:bodyPr>
          <a:lstStyle/>
          <a:p>
            <a:pPr algn="l" indent="0" marL="0">
              <a:lnSpc>
                <a:spcPct val="111167"/>
              </a:lnSpc>
              <a:buNone/>
            </a:pPr>
            <a:r>
              <a:rPr lang="en-US" sz="1725" b="1" dirty="0">
                <a:solidFill>
                  <a:srgbClr val="0E1C30"/>
                </a:solidFill>
                <a:latin typeface="IBM Plex Sans" pitchFamily="34" charset="0"/>
                <a:ea typeface="IBM Plex Sans" pitchFamily="34" charset="-122"/>
                <a:cs typeface="IBM Plex Sans" pitchFamily="34" charset="-120"/>
              </a:rPr>
              <a:t>Written first. </a:t>
            </a:r>
            <a:pPr algn="l" indent="0" marL="0">
              <a:lnSpc>
                <a:spcPct val="111167"/>
              </a:lnSpc>
              <a:buNone/>
            </a:pPr>
            <a:r>
              <a:rPr lang="en-US" sz="1725" dirty="0">
                <a:solidFill>
                  <a:srgbClr val="0E1C30">
                    <a:alpha val="65000"/>
                  </a:srgbClr>
                </a:solidFill>
                <a:latin typeface="IBM Plex Sans" pitchFamily="34" charset="0"/>
                <a:ea typeface="IBM Plex Sans" pitchFamily="34" charset="-122"/>
                <a:cs typeface="IBM Plex Sans" pitchFamily="34" charset="-120"/>
              </a:rPr>
              <a:t>Nothing is built that wasn’t specified.</a:t>
            </a:r>
            <a:endParaRPr lang="en-US" sz="1725" dirty="0"/>
          </a:p>
        </p:txBody>
      </p:sp>
      <p:sp>
        <p:nvSpPr>
          <p:cNvPr id="13" name="Text 11"/>
          <p:cNvSpPr/>
          <p:nvPr/>
        </p:nvSpPr>
        <p:spPr>
          <a:xfrm>
            <a:off x="5486400" y="6123940"/>
            <a:ext cx="3924300" cy="991076"/>
          </a:xfrm>
          <a:prstGeom prst="rect">
            <a:avLst/>
          </a:prstGeom>
          <a:noFill/>
          <a:ln/>
        </p:spPr>
        <p:txBody>
          <a:bodyPr wrap="square" lIns="25400" tIns="25400" rIns="25400" bIns="25400" rtlCol="0" anchor="t">
            <a:normAutofit/>
          </a:bodyPr>
          <a:lstStyle/>
          <a:p>
            <a:pPr algn="l" indent="0" marL="0">
              <a:lnSpc>
                <a:spcPct val="111167"/>
              </a:lnSpc>
              <a:buNone/>
            </a:pPr>
            <a:r>
              <a:rPr lang="en-US" sz="1725" b="1" dirty="0">
                <a:solidFill>
                  <a:srgbClr val="0E1C30"/>
                </a:solidFill>
                <a:latin typeface="IBM Plex Sans" pitchFamily="34" charset="0"/>
                <a:ea typeface="IBM Plex Sans" pitchFamily="34" charset="-122"/>
                <a:cs typeface="IBM Plex Sans" pitchFamily="34" charset="-120"/>
              </a:rPr>
              <a:t>An executable contract. </a:t>
            </a:r>
            <a:pPr algn="l" indent="0" marL="0">
              <a:lnSpc>
                <a:spcPct val="111167"/>
              </a:lnSpc>
              <a:buNone/>
            </a:pPr>
            <a:r>
              <a:rPr lang="en-US" sz="1725" dirty="0">
                <a:solidFill>
                  <a:srgbClr val="0E1C30">
                    <a:alpha val="65000"/>
                  </a:srgbClr>
                </a:solidFill>
                <a:latin typeface="IBM Plex Sans" pitchFamily="34" charset="0"/>
                <a:ea typeface="IBM Plex Sans" pitchFamily="34" charset="-122"/>
                <a:cs typeface="IBM Plex Sans" pitchFamily="34" charset="-120"/>
              </a:rPr>
              <a:t>Tests and reviews validate against the spec.</a:t>
            </a:r>
            <a:endParaRPr lang="en-US" sz="1725" dirty="0"/>
          </a:p>
        </p:txBody>
      </p:sp>
      <p:sp>
        <p:nvSpPr>
          <p:cNvPr id="14" name="Text 12"/>
          <p:cNvSpPr/>
          <p:nvPr/>
        </p:nvSpPr>
        <p:spPr>
          <a:xfrm>
            <a:off x="9829800" y="6123940"/>
            <a:ext cx="3924300" cy="991076"/>
          </a:xfrm>
          <a:prstGeom prst="rect">
            <a:avLst/>
          </a:prstGeom>
          <a:noFill/>
          <a:ln/>
        </p:spPr>
        <p:txBody>
          <a:bodyPr wrap="square" lIns="25400" tIns="25400" rIns="25400" bIns="25400" rtlCol="0" anchor="t">
            <a:normAutofit/>
          </a:bodyPr>
          <a:lstStyle/>
          <a:p>
            <a:pPr algn="l" indent="0" marL="0">
              <a:lnSpc>
                <a:spcPct val="111167"/>
              </a:lnSpc>
              <a:buNone/>
            </a:pPr>
            <a:r>
              <a:rPr lang="en-US" sz="1725" b="1" dirty="0">
                <a:solidFill>
                  <a:srgbClr val="0E1C30"/>
                </a:solidFill>
                <a:latin typeface="IBM Plex Sans" pitchFamily="34" charset="0"/>
                <a:ea typeface="IBM Plex Sans" pitchFamily="34" charset="-122"/>
                <a:cs typeface="IBM Plex Sans" pitchFamily="34" charset="-120"/>
              </a:rPr>
              <a:t>Versioned in git. </a:t>
            </a:r>
            <a:pPr algn="l" indent="0" marL="0">
              <a:lnSpc>
                <a:spcPct val="111167"/>
              </a:lnSpc>
              <a:buNone/>
            </a:pPr>
            <a:r>
              <a:rPr lang="en-US" sz="1725" dirty="0">
                <a:solidFill>
                  <a:srgbClr val="0E1C30">
                    <a:alpha val="65000"/>
                  </a:srgbClr>
                </a:solidFill>
                <a:latin typeface="IBM Plex Sans" pitchFamily="34" charset="0"/>
                <a:ea typeface="IBM Plex Sans" pitchFamily="34" charset="-122"/>
                <a:cs typeface="IBM Plex Sans" pitchFamily="34" charset="-120"/>
              </a:rPr>
              <a:t>Specs evolve by amendment, next to the code they govern.</a:t>
            </a:r>
            <a:endParaRPr lang="en-US" sz="1725" dirty="0"/>
          </a:p>
        </p:txBody>
      </p:sp>
      <p:sp>
        <p:nvSpPr>
          <p:cNvPr id="15" name="Text 13"/>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16" name="Text 14"/>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09 / 45</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2507298"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THE OPERATING MODEL</a:t>
            </a:r>
            <a:endParaRPr lang="en-US" sz="1200" dirty="0"/>
          </a:p>
        </p:txBody>
      </p:sp>
      <p:sp>
        <p:nvSpPr>
          <p:cNvPr id="4" name="Text 2"/>
          <p:cNvSpPr/>
          <p:nvPr/>
        </p:nvSpPr>
        <p:spPr>
          <a:xfrm>
            <a:off x="1143000" y="1403350"/>
            <a:ext cx="13244513" cy="1424940"/>
          </a:xfrm>
          <a:prstGeom prst="rect">
            <a:avLst/>
          </a:prstGeom>
          <a:noFill/>
          <a:ln/>
        </p:spPr>
        <p:txBody>
          <a:bodyPr wrap="square" lIns="25400" tIns="25400" rIns="25400" bIns="25400" rtlCol="0" anchor="t">
            <a:normAutofit/>
          </a:bodyPr>
          <a:lstStyle/>
          <a:p>
            <a:pPr algn="l" indent="0" marL="0">
              <a:lnSpc>
                <a:spcPct val="81493"/>
              </a:lnSpc>
              <a:buNone/>
            </a:pPr>
            <a:r>
              <a:rPr lang="en-US" sz="5250" b="1" spc="-105" kern="0" dirty="0">
                <a:solidFill>
                  <a:srgbClr val="0E1C30"/>
                </a:solidFill>
                <a:latin typeface="Space Grotesk" pitchFamily="34" charset="0"/>
                <a:ea typeface="Space Grotesk" pitchFamily="34" charset="-122"/>
                <a:cs typeface="Space Grotesk" pitchFamily="34" charset="-120"/>
              </a:rPr>
              <a:t>Specs are code. Documentation is programmable infrastructure.</a:t>
            </a:r>
            <a:endParaRPr lang="en-US" sz="5250" dirty="0"/>
          </a:p>
        </p:txBody>
      </p:sp>
      <p:sp>
        <p:nvSpPr>
          <p:cNvPr id="5" name="Shape 3"/>
          <p:cNvSpPr/>
          <p:nvPr/>
        </p:nvSpPr>
        <p:spPr>
          <a:xfrm>
            <a:off x="1143000" y="3456940"/>
            <a:ext cx="5156200" cy="2690813"/>
          </a:xfrm>
          <a:prstGeom prst="rect">
            <a:avLst/>
          </a:prstGeom>
          <a:solidFill>
            <a:srgbClr val="FFFFFF"/>
          </a:solidFill>
          <a:ln w="6350">
            <a:solidFill>
              <a:srgbClr val="0E1C30">
                <a:alpha val="12000"/>
              </a:srgbClr>
            </a:solidFill>
            <a:prstDash val="solid"/>
          </a:ln>
        </p:spPr>
      </p:sp>
      <p:sp>
        <p:nvSpPr>
          <p:cNvPr id="6" name="Text 4"/>
          <p:cNvSpPr/>
          <p:nvPr/>
        </p:nvSpPr>
        <p:spPr>
          <a:xfrm>
            <a:off x="1492250" y="3825240"/>
            <a:ext cx="4903470" cy="450850"/>
          </a:xfrm>
          <a:prstGeom prst="rect">
            <a:avLst/>
          </a:prstGeom>
          <a:noFill/>
          <a:ln/>
        </p:spPr>
        <p:txBody>
          <a:bodyPr wrap="square" lIns="25400" tIns="25400" rIns="25400" bIns="25400" rtlCol="0" anchor="t">
            <a:normAutofit/>
          </a:bodyPr>
          <a:lstStyle/>
          <a:p>
            <a:pPr algn="l" indent="0" marL="0">
              <a:buNone/>
            </a:pPr>
            <a:r>
              <a:rPr lang="en-US" sz="2550" b="1" dirty="0">
                <a:solidFill>
                  <a:srgbClr val="F4C233"/>
                </a:solidFill>
                <a:latin typeface="Space Grotesk" pitchFamily="34" charset="0"/>
                <a:ea typeface="Space Grotesk" pitchFamily="34" charset="-122"/>
                <a:cs typeface="Space Grotesk" pitchFamily="34" charset="-120"/>
              </a:rPr>
              <a:t>01</a:t>
            </a:r>
            <a:endParaRPr lang="en-US" sz="2550" dirty="0"/>
          </a:p>
        </p:txBody>
      </p:sp>
      <p:sp>
        <p:nvSpPr>
          <p:cNvPr id="7" name="Text 5"/>
          <p:cNvSpPr/>
          <p:nvPr/>
        </p:nvSpPr>
        <p:spPr>
          <a:xfrm>
            <a:off x="1492250" y="4390390"/>
            <a:ext cx="4903470" cy="393700"/>
          </a:xfrm>
          <a:prstGeom prst="rect">
            <a:avLst/>
          </a:prstGeom>
          <a:noFill/>
          <a:ln/>
        </p:spPr>
        <p:txBody>
          <a:bodyPr wrap="square" lIns="25400" tIns="25400" rIns="25400" bIns="25400" rtlCol="0" anchor="t">
            <a:normAutofit/>
          </a:bodyPr>
          <a:lstStyle/>
          <a:p>
            <a:pPr algn="l" indent="0" marL="0">
              <a:buNone/>
            </a:pPr>
            <a:r>
              <a:rPr lang="en-US" sz="2175" b="1" dirty="0">
                <a:solidFill>
                  <a:srgbClr val="0E1C30"/>
                </a:solidFill>
                <a:latin typeface="Space Grotesk" pitchFamily="34" charset="0"/>
                <a:ea typeface="Space Grotesk" pitchFamily="34" charset="-122"/>
                <a:cs typeface="Space Grotesk" pitchFamily="34" charset="-120"/>
              </a:rPr>
              <a:t>Institutionalize knowledge</a:t>
            </a:r>
            <a:endParaRPr lang="en-US" sz="2175" dirty="0"/>
          </a:p>
        </p:txBody>
      </p:sp>
      <p:sp>
        <p:nvSpPr>
          <p:cNvPr id="8" name="Text 6"/>
          <p:cNvSpPr/>
          <p:nvPr/>
        </p:nvSpPr>
        <p:spPr>
          <a:xfrm>
            <a:off x="1492250" y="4879340"/>
            <a:ext cx="4591431" cy="938213"/>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65000"/>
                  </a:srgbClr>
                </a:solidFill>
                <a:latin typeface="IBM Plex Sans" pitchFamily="34" charset="0"/>
                <a:ea typeface="IBM Plex Sans" pitchFamily="34" charset="-122"/>
                <a:cs typeface="IBM Plex Sans" pitchFamily="34" charset="-120"/>
              </a:rPr>
              <a:t>Individual expertise becomes a permanent, accessible markdown asset — no key-person dependencies.</a:t>
            </a:r>
            <a:endParaRPr lang="en-US" sz="1575" dirty="0"/>
          </a:p>
        </p:txBody>
      </p:sp>
      <p:sp>
        <p:nvSpPr>
          <p:cNvPr id="9" name="Shape 7"/>
          <p:cNvSpPr/>
          <p:nvPr/>
        </p:nvSpPr>
        <p:spPr>
          <a:xfrm>
            <a:off x="6565900" y="3456940"/>
            <a:ext cx="5156200" cy="2690813"/>
          </a:xfrm>
          <a:prstGeom prst="rect">
            <a:avLst/>
          </a:prstGeom>
          <a:solidFill>
            <a:srgbClr val="FFFFFF"/>
          </a:solidFill>
          <a:ln w="6350">
            <a:solidFill>
              <a:srgbClr val="0E1C30">
                <a:alpha val="12000"/>
              </a:srgbClr>
            </a:solidFill>
            <a:prstDash val="solid"/>
          </a:ln>
        </p:spPr>
      </p:sp>
      <p:sp>
        <p:nvSpPr>
          <p:cNvPr id="10" name="Text 8"/>
          <p:cNvSpPr/>
          <p:nvPr/>
        </p:nvSpPr>
        <p:spPr>
          <a:xfrm>
            <a:off x="6915150" y="3825240"/>
            <a:ext cx="4903470" cy="450850"/>
          </a:xfrm>
          <a:prstGeom prst="rect">
            <a:avLst/>
          </a:prstGeom>
          <a:noFill/>
          <a:ln/>
        </p:spPr>
        <p:txBody>
          <a:bodyPr wrap="square" lIns="25400" tIns="25400" rIns="25400" bIns="25400" rtlCol="0" anchor="t">
            <a:normAutofit/>
          </a:bodyPr>
          <a:lstStyle/>
          <a:p>
            <a:pPr algn="l" indent="0" marL="0">
              <a:buNone/>
            </a:pPr>
            <a:r>
              <a:rPr lang="en-US" sz="2550" b="1" dirty="0">
                <a:solidFill>
                  <a:srgbClr val="F4C233"/>
                </a:solidFill>
                <a:latin typeface="Space Grotesk" pitchFamily="34" charset="0"/>
                <a:ea typeface="Space Grotesk" pitchFamily="34" charset="-122"/>
                <a:cs typeface="Space Grotesk" pitchFamily="34" charset="-120"/>
              </a:rPr>
              <a:t>02</a:t>
            </a:r>
            <a:endParaRPr lang="en-US" sz="2550" dirty="0"/>
          </a:p>
        </p:txBody>
      </p:sp>
      <p:sp>
        <p:nvSpPr>
          <p:cNvPr id="11" name="Text 9"/>
          <p:cNvSpPr/>
          <p:nvPr/>
        </p:nvSpPr>
        <p:spPr>
          <a:xfrm>
            <a:off x="6915150" y="4390390"/>
            <a:ext cx="4903470" cy="393700"/>
          </a:xfrm>
          <a:prstGeom prst="rect">
            <a:avLst/>
          </a:prstGeom>
          <a:noFill/>
          <a:ln/>
        </p:spPr>
        <p:txBody>
          <a:bodyPr wrap="square" lIns="25400" tIns="25400" rIns="25400" bIns="25400" rtlCol="0" anchor="t">
            <a:normAutofit/>
          </a:bodyPr>
          <a:lstStyle/>
          <a:p>
            <a:pPr algn="l" indent="0" marL="0">
              <a:buNone/>
            </a:pPr>
            <a:r>
              <a:rPr lang="en-US" sz="2175" b="1" dirty="0">
                <a:solidFill>
                  <a:srgbClr val="0E1C30"/>
                </a:solidFill>
                <a:latin typeface="Space Grotesk" pitchFamily="34" charset="0"/>
                <a:ea typeface="Space Grotesk" pitchFamily="34" charset="-122"/>
                <a:cs typeface="Space Grotesk" pitchFamily="34" charset="-120"/>
              </a:rPr>
              <a:t>Automate execution</a:t>
            </a:r>
            <a:endParaRPr lang="en-US" sz="2175" dirty="0"/>
          </a:p>
        </p:txBody>
      </p:sp>
      <p:sp>
        <p:nvSpPr>
          <p:cNvPr id="12" name="Text 10"/>
          <p:cNvSpPr/>
          <p:nvPr/>
        </p:nvSpPr>
        <p:spPr>
          <a:xfrm>
            <a:off x="6915150" y="4879340"/>
            <a:ext cx="4591431" cy="938213"/>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65000"/>
                  </a:srgbClr>
                </a:solidFill>
                <a:latin typeface="IBM Plex Sans" pitchFamily="34" charset="0"/>
                <a:ea typeface="IBM Plex Sans" pitchFamily="34" charset="-122"/>
                <a:cs typeface="IBM Plex Sans" pitchFamily="34" charset="-120"/>
              </a:rPr>
              <a:t>Structured specs become machine-readable instructions that drive tasks, processes, and procedures.</a:t>
            </a:r>
            <a:endParaRPr lang="en-US" sz="1575" dirty="0"/>
          </a:p>
        </p:txBody>
      </p:sp>
      <p:sp>
        <p:nvSpPr>
          <p:cNvPr id="13" name="Shape 11"/>
          <p:cNvSpPr/>
          <p:nvPr/>
        </p:nvSpPr>
        <p:spPr>
          <a:xfrm>
            <a:off x="11988800" y="3456940"/>
            <a:ext cx="5156200" cy="2690813"/>
          </a:xfrm>
          <a:prstGeom prst="rect">
            <a:avLst/>
          </a:prstGeom>
          <a:solidFill>
            <a:srgbClr val="FFFFFF"/>
          </a:solidFill>
          <a:ln w="6350">
            <a:solidFill>
              <a:srgbClr val="0E1C30">
                <a:alpha val="12000"/>
              </a:srgbClr>
            </a:solidFill>
            <a:prstDash val="solid"/>
          </a:ln>
        </p:spPr>
      </p:sp>
      <p:sp>
        <p:nvSpPr>
          <p:cNvPr id="14" name="Text 12"/>
          <p:cNvSpPr/>
          <p:nvPr/>
        </p:nvSpPr>
        <p:spPr>
          <a:xfrm>
            <a:off x="12338050" y="3825240"/>
            <a:ext cx="4903470" cy="450850"/>
          </a:xfrm>
          <a:prstGeom prst="rect">
            <a:avLst/>
          </a:prstGeom>
          <a:noFill/>
          <a:ln/>
        </p:spPr>
        <p:txBody>
          <a:bodyPr wrap="square" lIns="25400" tIns="25400" rIns="25400" bIns="25400" rtlCol="0" anchor="t">
            <a:normAutofit/>
          </a:bodyPr>
          <a:lstStyle/>
          <a:p>
            <a:pPr algn="l" indent="0" marL="0">
              <a:buNone/>
            </a:pPr>
            <a:r>
              <a:rPr lang="en-US" sz="2550" b="1" dirty="0">
                <a:solidFill>
                  <a:srgbClr val="F4C233"/>
                </a:solidFill>
                <a:latin typeface="Space Grotesk" pitchFamily="34" charset="0"/>
                <a:ea typeface="Space Grotesk" pitchFamily="34" charset="-122"/>
                <a:cs typeface="Space Grotesk" pitchFamily="34" charset="-120"/>
              </a:rPr>
              <a:t>03</a:t>
            </a:r>
            <a:endParaRPr lang="en-US" sz="2550" dirty="0"/>
          </a:p>
        </p:txBody>
      </p:sp>
      <p:sp>
        <p:nvSpPr>
          <p:cNvPr id="15" name="Text 13"/>
          <p:cNvSpPr/>
          <p:nvPr/>
        </p:nvSpPr>
        <p:spPr>
          <a:xfrm>
            <a:off x="12338050" y="4390390"/>
            <a:ext cx="4903470" cy="393700"/>
          </a:xfrm>
          <a:prstGeom prst="rect">
            <a:avLst/>
          </a:prstGeom>
          <a:noFill/>
          <a:ln/>
        </p:spPr>
        <p:txBody>
          <a:bodyPr wrap="square" lIns="25400" tIns="25400" rIns="25400" bIns="25400" rtlCol="0" anchor="t">
            <a:normAutofit/>
          </a:bodyPr>
          <a:lstStyle/>
          <a:p>
            <a:pPr algn="l" indent="0" marL="0">
              <a:buNone/>
            </a:pPr>
            <a:r>
              <a:rPr lang="en-US" sz="2175" b="1" dirty="0">
                <a:solidFill>
                  <a:srgbClr val="0E1C30"/>
                </a:solidFill>
                <a:latin typeface="Space Grotesk" pitchFamily="34" charset="0"/>
                <a:ea typeface="Space Grotesk" pitchFamily="34" charset="-122"/>
                <a:cs typeface="Space Grotesk" pitchFamily="34" charset="-120"/>
              </a:rPr>
              <a:t>Compound intelligence</a:t>
            </a:r>
            <a:endParaRPr lang="en-US" sz="2175" dirty="0"/>
          </a:p>
        </p:txBody>
      </p:sp>
      <p:sp>
        <p:nvSpPr>
          <p:cNvPr id="16" name="Text 14"/>
          <p:cNvSpPr/>
          <p:nvPr/>
        </p:nvSpPr>
        <p:spPr>
          <a:xfrm>
            <a:off x="12338050" y="4879340"/>
            <a:ext cx="4591431" cy="638175"/>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65000"/>
                  </a:srgbClr>
                </a:solidFill>
                <a:latin typeface="IBM Plex Sans" pitchFamily="34" charset="0"/>
                <a:ea typeface="IBM Plex Sans" pitchFamily="34" charset="-122"/>
                <a:cs typeface="IBM Plex Sans" pitchFamily="34" charset="-120"/>
              </a:rPr>
              <a:t>Every document is clean semantic context — each agent run makes the next one smarter.</a:t>
            </a:r>
            <a:endParaRPr lang="en-US" sz="1575" dirty="0"/>
          </a:p>
        </p:txBody>
      </p:sp>
      <p:sp>
        <p:nvSpPr>
          <p:cNvPr id="17" name="Text 15"/>
          <p:cNvSpPr/>
          <p:nvPr/>
        </p:nvSpPr>
        <p:spPr>
          <a:xfrm>
            <a:off x="1143000" y="6643053"/>
            <a:ext cx="12557760" cy="723900"/>
          </a:xfrm>
          <a:prstGeom prst="rect">
            <a:avLst/>
          </a:prstGeom>
          <a:noFill/>
          <a:ln/>
        </p:spPr>
        <p:txBody>
          <a:bodyPr wrap="square" lIns="25400" tIns="25400" rIns="25400" bIns="25400" rtlCol="0" anchor="t">
            <a:normAutofit/>
          </a:bodyPr>
          <a:lstStyle/>
          <a:p>
            <a:pPr algn="l" indent="0" marL="0">
              <a:lnSpc>
                <a:spcPct val="114894"/>
              </a:lnSpc>
              <a:buNone/>
            </a:pPr>
            <a:r>
              <a:rPr lang="en-US" sz="1800" dirty="0">
                <a:solidFill>
                  <a:srgbClr val="0E1C30">
                    <a:alpha val="60000"/>
                  </a:srgbClr>
                </a:solidFill>
                <a:latin typeface="IBM Plex Sans" pitchFamily="34" charset="0"/>
                <a:ea typeface="IBM Plex Sans" pitchFamily="34" charset="-122"/>
                <a:cs typeface="IBM Plex Sans" pitchFamily="34" charset="-120"/>
              </a:rPr>
              <a:t>Instead of sprawling monolithic documents, work is sharded into </a:t>
            </a:r>
            <a:pPr algn="l" indent="0" marL="0">
              <a:lnSpc>
                <a:spcPct val="114894"/>
              </a:lnSpc>
              <a:buNone/>
            </a:pPr>
            <a:r>
              <a:rPr lang="en-US" sz="1800" b="1" dirty="0">
                <a:solidFill>
                  <a:srgbClr val="0E1C30"/>
                </a:solidFill>
                <a:latin typeface="IBM Plex Sans" pitchFamily="34" charset="0"/>
                <a:ea typeface="IBM Plex Sans" pitchFamily="34" charset="-122"/>
                <a:cs typeface="IBM Plex Sans" pitchFamily="34" charset="-120"/>
              </a:rPr>
              <a:t>modular, atomic, versioned step-files </a:t>
            </a:r>
            <a:pPr algn="l" indent="0" marL="0">
              <a:lnSpc>
                <a:spcPct val="114894"/>
              </a:lnSpc>
              <a:buNone/>
            </a:pPr>
            <a:r>
              <a:rPr lang="en-US" sz="1800" dirty="0">
                <a:solidFill>
                  <a:srgbClr val="0E1C30">
                    <a:alpha val="60000"/>
                  </a:srgbClr>
                </a:solidFill>
                <a:latin typeface="IBM Plex Sans" pitchFamily="34" charset="0"/>
                <a:ea typeface="IBM Plex Sans" pitchFamily="34" charset="-122"/>
                <a:cs typeface="IBM Plex Sans" pitchFamily="34" charset="-120"/>
              </a:rPr>
              <a:t>in the repo — eliminating LLM context drift.</a:t>
            </a:r>
            <a:endParaRPr lang="en-US" sz="1800" dirty="0"/>
          </a:p>
        </p:txBody>
      </p:sp>
      <p:sp>
        <p:nvSpPr>
          <p:cNvPr id="18" name="Text 16"/>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19" name="Text 17"/>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10 / 45</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5008061"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THE MENTAL MODEL · CONTEXT ENGINEERING</a:t>
            </a:r>
            <a:endParaRPr lang="en-US" sz="1200" dirty="0"/>
          </a:p>
        </p:txBody>
      </p:sp>
      <p:sp>
        <p:nvSpPr>
          <p:cNvPr id="4" name="Text 2"/>
          <p:cNvSpPr/>
          <p:nvPr/>
        </p:nvSpPr>
        <p:spPr>
          <a:xfrm>
            <a:off x="1143000" y="1384300"/>
            <a:ext cx="14225588" cy="1398270"/>
          </a:xfrm>
          <a:prstGeom prst="rect">
            <a:avLst/>
          </a:prstGeom>
          <a:noFill/>
          <a:ln/>
        </p:spPr>
        <p:txBody>
          <a:bodyPr wrap="square" lIns="25400" tIns="25400" rIns="25400" bIns="25400" rtlCol="0" anchor="t">
            <a:normAutofit/>
          </a:bodyPr>
          <a:lstStyle/>
          <a:p>
            <a:pPr algn="l" indent="0" marL="0">
              <a:lnSpc>
                <a:spcPct val="82385"/>
              </a:lnSpc>
              <a:buNone/>
            </a:pPr>
            <a:r>
              <a:rPr lang="en-US" sz="5100" b="1" spc="-102" kern="0" dirty="0">
                <a:solidFill>
                  <a:srgbClr val="0E1C30"/>
                </a:solidFill>
                <a:latin typeface="Space Grotesk" pitchFamily="34" charset="0"/>
                <a:ea typeface="Space Grotesk" pitchFamily="34" charset="-122"/>
                <a:cs typeface="Space Grotesk" pitchFamily="34" charset="-120"/>
              </a:rPr>
              <a:t>The documentation is the brain. Agents are transient workers.</a:t>
            </a:r>
            <a:endParaRPr lang="en-US" sz="5100" dirty="0"/>
          </a:p>
        </p:txBody>
      </p:sp>
      <p:sp>
        <p:nvSpPr>
          <p:cNvPr id="5" name="Text 3"/>
          <p:cNvSpPr/>
          <p:nvPr/>
        </p:nvSpPr>
        <p:spPr>
          <a:xfrm>
            <a:off x="1143000" y="2992120"/>
            <a:ext cx="11772900" cy="781050"/>
          </a:xfrm>
          <a:prstGeom prst="rect">
            <a:avLst/>
          </a:prstGeom>
          <a:noFill/>
          <a:ln/>
        </p:spPr>
        <p:txBody>
          <a:bodyPr wrap="square" lIns="25400" tIns="25400" rIns="25400" bIns="25400" rtlCol="0" anchor="t">
            <a:normAutofit/>
          </a:bodyPr>
          <a:lstStyle/>
          <a:p>
            <a:pPr algn="l" indent="0" marL="0">
              <a:lnSpc>
                <a:spcPct val="114706"/>
              </a:lnSpc>
              <a:buNone/>
            </a:pPr>
            <a:r>
              <a:rPr lang="en-US" sz="1950" dirty="0">
                <a:solidFill>
                  <a:srgbClr val="0E1C30">
                    <a:alpha val="70000"/>
                  </a:srgbClr>
                </a:solidFill>
                <a:latin typeface="IBM Plex Sans" pitchFamily="34" charset="0"/>
                <a:ea typeface="IBM Plex Sans" pitchFamily="34" charset="-122"/>
                <a:cs typeface="IBM Plex Sans" pitchFamily="34" charset="-120"/>
              </a:rPr>
              <a:t>Agents read from and write to persistent docs — nothing relies on an LLM’s leaky chat memory. The lifecycle is a funnel of increasing resolution:</a:t>
            </a:r>
            <a:endParaRPr lang="en-US" sz="1950" dirty="0"/>
          </a:p>
        </p:txBody>
      </p:sp>
      <p:sp>
        <p:nvSpPr>
          <p:cNvPr id="6" name="Shape 4"/>
          <p:cNvSpPr/>
          <p:nvPr/>
        </p:nvSpPr>
        <p:spPr>
          <a:xfrm>
            <a:off x="1143000" y="4192270"/>
            <a:ext cx="16002000" cy="698500"/>
          </a:xfrm>
          <a:prstGeom prst="rect">
            <a:avLst/>
          </a:prstGeom>
          <a:solidFill>
            <a:srgbClr val="5BB3F5">
              <a:alpha val="14000"/>
            </a:srgbClr>
          </a:solidFill>
          <a:ln/>
        </p:spPr>
      </p:sp>
      <p:sp>
        <p:nvSpPr>
          <p:cNvPr id="7" name="Shape 5"/>
          <p:cNvSpPr/>
          <p:nvPr/>
        </p:nvSpPr>
        <p:spPr>
          <a:xfrm>
            <a:off x="1143000" y="4192270"/>
            <a:ext cx="44450" cy="698500"/>
          </a:xfrm>
          <a:prstGeom prst="rect">
            <a:avLst/>
          </a:prstGeom>
          <a:solidFill>
            <a:srgbClr val="5BB3F5"/>
          </a:solidFill>
          <a:ln/>
        </p:spPr>
      </p:sp>
      <p:sp>
        <p:nvSpPr>
          <p:cNvPr id="8" name="Text 6"/>
          <p:cNvSpPr/>
          <p:nvPr/>
        </p:nvSpPr>
        <p:spPr>
          <a:xfrm>
            <a:off x="1492250" y="4382770"/>
            <a:ext cx="1123950" cy="355600"/>
          </a:xfrm>
          <a:prstGeom prst="rect">
            <a:avLst/>
          </a:prstGeom>
          <a:noFill/>
          <a:ln/>
        </p:spPr>
        <p:txBody>
          <a:bodyPr wrap="square" lIns="25400" tIns="25400" rIns="25400" bIns="25400" rtlCol="0" anchor="t">
            <a:normAutofit/>
          </a:bodyPr>
          <a:lstStyle/>
          <a:p>
            <a:pPr algn="l" indent="0" marL="0">
              <a:buNone/>
            </a:pPr>
            <a:r>
              <a:rPr lang="en-US" sz="1950" b="1" dirty="0">
                <a:solidFill>
                  <a:srgbClr val="1E7FD6"/>
                </a:solidFill>
                <a:latin typeface="Space Grotesk" pitchFamily="34" charset="0"/>
                <a:ea typeface="Space Grotesk" pitchFamily="34" charset="-122"/>
                <a:cs typeface="Space Grotesk" pitchFamily="34" charset="-120"/>
              </a:rPr>
              <a:t>WHY</a:t>
            </a:r>
            <a:endParaRPr lang="en-US" sz="1950" dirty="0"/>
          </a:p>
        </p:txBody>
      </p:sp>
      <p:sp>
        <p:nvSpPr>
          <p:cNvPr id="9" name="Text 7"/>
          <p:cNvSpPr/>
          <p:nvPr/>
        </p:nvSpPr>
        <p:spPr>
          <a:xfrm>
            <a:off x="2768600" y="4401820"/>
            <a:ext cx="4504976" cy="323850"/>
          </a:xfrm>
          <a:prstGeom prst="rect">
            <a:avLst/>
          </a:prstGeom>
          <a:noFill/>
          <a:ln/>
        </p:spPr>
        <p:txBody>
          <a:bodyPr wrap="square" lIns="25400" tIns="25400" rIns="25400" bIns="25400" rtlCol="0" anchor="t">
            <a:normAutofit/>
          </a:bodyPr>
          <a:lstStyle/>
          <a:p>
            <a:pPr algn="l" indent="0" marL="0">
              <a:buNone/>
            </a:pPr>
            <a:r>
              <a:rPr lang="en-US" sz="1725" dirty="0">
                <a:solidFill>
                  <a:srgbClr val="0E1C30">
                    <a:alpha val="85000"/>
                  </a:srgbClr>
                </a:solidFill>
                <a:latin typeface="IBM Plex Sans" pitchFamily="34" charset="0"/>
                <a:ea typeface="IBM Plex Sans" pitchFamily="34" charset="-122"/>
                <a:cs typeface="IBM Plex Sans" pitchFamily="34" charset="-120"/>
              </a:rPr>
              <a:t>Analysis — stress-test the idea into a brief</a:t>
            </a:r>
            <a:endParaRPr lang="en-US" sz="1725" dirty="0"/>
          </a:p>
        </p:txBody>
      </p:sp>
      <p:sp>
        <p:nvSpPr>
          <p:cNvPr id="10" name="Shape 8"/>
          <p:cNvSpPr/>
          <p:nvPr/>
        </p:nvSpPr>
        <p:spPr>
          <a:xfrm>
            <a:off x="1143000" y="5024120"/>
            <a:ext cx="13121640" cy="698500"/>
          </a:xfrm>
          <a:prstGeom prst="rect">
            <a:avLst/>
          </a:prstGeom>
          <a:solidFill>
            <a:srgbClr val="F4C233">
              <a:alpha val="13000"/>
            </a:srgbClr>
          </a:solidFill>
          <a:ln/>
        </p:spPr>
      </p:sp>
      <p:sp>
        <p:nvSpPr>
          <p:cNvPr id="11" name="Shape 9"/>
          <p:cNvSpPr/>
          <p:nvPr/>
        </p:nvSpPr>
        <p:spPr>
          <a:xfrm>
            <a:off x="1143000" y="5024120"/>
            <a:ext cx="44450" cy="698500"/>
          </a:xfrm>
          <a:prstGeom prst="rect">
            <a:avLst/>
          </a:prstGeom>
          <a:solidFill>
            <a:srgbClr val="F4C233"/>
          </a:solidFill>
          <a:ln/>
        </p:spPr>
      </p:sp>
      <p:sp>
        <p:nvSpPr>
          <p:cNvPr id="12" name="Text 10"/>
          <p:cNvSpPr/>
          <p:nvPr/>
        </p:nvSpPr>
        <p:spPr>
          <a:xfrm>
            <a:off x="1492250" y="5214620"/>
            <a:ext cx="1123950" cy="355600"/>
          </a:xfrm>
          <a:prstGeom prst="rect">
            <a:avLst/>
          </a:prstGeom>
          <a:noFill/>
          <a:ln/>
        </p:spPr>
        <p:txBody>
          <a:bodyPr wrap="square" lIns="25400" tIns="25400" rIns="25400" bIns="25400" rtlCol="0" anchor="t">
            <a:normAutofit/>
          </a:bodyPr>
          <a:lstStyle/>
          <a:p>
            <a:pPr algn="l" indent="0" marL="0">
              <a:buNone/>
            </a:pPr>
            <a:r>
              <a:rPr lang="en-US" sz="1950" b="1" dirty="0">
                <a:solidFill>
                  <a:srgbClr val="F4C233"/>
                </a:solidFill>
                <a:latin typeface="Space Grotesk" pitchFamily="34" charset="0"/>
                <a:ea typeface="Space Grotesk" pitchFamily="34" charset="-122"/>
                <a:cs typeface="Space Grotesk" pitchFamily="34" charset="-120"/>
              </a:rPr>
              <a:t>WHAT</a:t>
            </a:r>
            <a:endParaRPr lang="en-US" sz="1950" dirty="0"/>
          </a:p>
        </p:txBody>
      </p:sp>
      <p:sp>
        <p:nvSpPr>
          <p:cNvPr id="13" name="Text 11"/>
          <p:cNvSpPr/>
          <p:nvPr/>
        </p:nvSpPr>
        <p:spPr>
          <a:xfrm>
            <a:off x="2768600" y="5233670"/>
            <a:ext cx="7784783" cy="323850"/>
          </a:xfrm>
          <a:prstGeom prst="rect">
            <a:avLst/>
          </a:prstGeom>
          <a:noFill/>
          <a:ln/>
        </p:spPr>
        <p:txBody>
          <a:bodyPr wrap="square" lIns="25400" tIns="25400" rIns="25400" bIns="25400" rtlCol="0" anchor="t">
            <a:normAutofit/>
          </a:bodyPr>
          <a:lstStyle/>
          <a:p>
            <a:pPr algn="l" indent="0" marL="0">
              <a:buNone/>
            </a:pPr>
            <a:r>
              <a:rPr lang="en-US" sz="1725" dirty="0">
                <a:solidFill>
                  <a:srgbClr val="0E1C30">
                    <a:alpha val="85000"/>
                  </a:srgbClr>
                </a:solidFill>
                <a:latin typeface="IBM Plex Sans" pitchFamily="34" charset="0"/>
                <a:ea typeface="IBM Plex Sans" pitchFamily="34" charset="-122"/>
                <a:cs typeface="IBM Plex Sans" pitchFamily="34" charset="-120"/>
              </a:rPr>
              <a:t>Planning — the PRD is the source of truth; if it’s not there, it doesn’t exist</a:t>
            </a:r>
            <a:endParaRPr lang="en-US" sz="1725" dirty="0"/>
          </a:p>
        </p:txBody>
      </p:sp>
      <p:sp>
        <p:nvSpPr>
          <p:cNvPr id="14" name="Shape 12"/>
          <p:cNvSpPr/>
          <p:nvPr/>
        </p:nvSpPr>
        <p:spPr>
          <a:xfrm>
            <a:off x="1143000" y="5855970"/>
            <a:ext cx="10241280" cy="698500"/>
          </a:xfrm>
          <a:prstGeom prst="rect">
            <a:avLst/>
          </a:prstGeom>
          <a:solidFill>
            <a:srgbClr val="4FD1A6">
              <a:alpha val="13000"/>
            </a:srgbClr>
          </a:solidFill>
          <a:ln/>
        </p:spPr>
      </p:sp>
      <p:sp>
        <p:nvSpPr>
          <p:cNvPr id="15" name="Shape 13"/>
          <p:cNvSpPr/>
          <p:nvPr/>
        </p:nvSpPr>
        <p:spPr>
          <a:xfrm>
            <a:off x="1143000" y="5855970"/>
            <a:ext cx="44450" cy="698500"/>
          </a:xfrm>
          <a:prstGeom prst="rect">
            <a:avLst/>
          </a:prstGeom>
          <a:solidFill>
            <a:srgbClr val="4FD1A6"/>
          </a:solidFill>
          <a:ln/>
        </p:spPr>
      </p:sp>
      <p:sp>
        <p:nvSpPr>
          <p:cNvPr id="16" name="Text 14"/>
          <p:cNvSpPr/>
          <p:nvPr/>
        </p:nvSpPr>
        <p:spPr>
          <a:xfrm>
            <a:off x="1492250" y="6046470"/>
            <a:ext cx="1123950" cy="355600"/>
          </a:xfrm>
          <a:prstGeom prst="rect">
            <a:avLst/>
          </a:prstGeom>
          <a:noFill/>
          <a:ln/>
        </p:spPr>
        <p:txBody>
          <a:bodyPr wrap="square" lIns="25400" tIns="25400" rIns="25400" bIns="25400" rtlCol="0" anchor="t">
            <a:normAutofit/>
          </a:bodyPr>
          <a:lstStyle/>
          <a:p>
            <a:pPr algn="l" indent="0" marL="0">
              <a:buNone/>
            </a:pPr>
            <a:r>
              <a:rPr lang="en-US" sz="1950" b="1" dirty="0">
                <a:solidFill>
                  <a:srgbClr val="4FD1A6"/>
                </a:solidFill>
                <a:latin typeface="Space Grotesk" pitchFamily="34" charset="0"/>
                <a:ea typeface="Space Grotesk" pitchFamily="34" charset="-122"/>
                <a:cs typeface="Space Grotesk" pitchFamily="34" charset="-120"/>
              </a:rPr>
              <a:t>HOW</a:t>
            </a:r>
            <a:endParaRPr lang="en-US" sz="1950" dirty="0"/>
          </a:p>
        </p:txBody>
      </p:sp>
      <p:sp>
        <p:nvSpPr>
          <p:cNvPr id="17" name="Text 15"/>
          <p:cNvSpPr/>
          <p:nvPr/>
        </p:nvSpPr>
        <p:spPr>
          <a:xfrm>
            <a:off x="2768600" y="6065520"/>
            <a:ext cx="6068218" cy="323850"/>
          </a:xfrm>
          <a:prstGeom prst="rect">
            <a:avLst/>
          </a:prstGeom>
          <a:noFill/>
          <a:ln/>
        </p:spPr>
        <p:txBody>
          <a:bodyPr wrap="square" lIns="25400" tIns="25400" rIns="25400" bIns="25400" rtlCol="0" anchor="t">
            <a:normAutofit/>
          </a:bodyPr>
          <a:lstStyle/>
          <a:p>
            <a:pPr algn="l" indent="0" marL="0">
              <a:buNone/>
            </a:pPr>
            <a:r>
              <a:rPr lang="en-US" sz="1725" dirty="0">
                <a:solidFill>
                  <a:srgbClr val="0E1C30">
                    <a:alpha val="85000"/>
                  </a:srgbClr>
                </a:solidFill>
                <a:latin typeface="IBM Plex Sans" pitchFamily="34" charset="0"/>
                <a:ea typeface="IBM Plex Sans" pitchFamily="34" charset="-122"/>
                <a:cs typeface="IBM Plex Sans" pitchFamily="34" charset="-120"/>
              </a:rPr>
              <a:t>Solutioning — architecture and tasks, frozen before code</a:t>
            </a:r>
            <a:endParaRPr lang="en-US" sz="1725" dirty="0"/>
          </a:p>
        </p:txBody>
      </p:sp>
      <p:sp>
        <p:nvSpPr>
          <p:cNvPr id="18" name="Shape 16"/>
          <p:cNvSpPr/>
          <p:nvPr/>
        </p:nvSpPr>
        <p:spPr>
          <a:xfrm>
            <a:off x="1143000" y="6687820"/>
            <a:ext cx="7360920" cy="698500"/>
          </a:xfrm>
          <a:prstGeom prst="rect">
            <a:avLst/>
          </a:prstGeom>
          <a:solidFill>
            <a:srgbClr val="F58B6E">
              <a:alpha val="13000"/>
            </a:srgbClr>
          </a:solidFill>
          <a:ln/>
        </p:spPr>
      </p:sp>
      <p:sp>
        <p:nvSpPr>
          <p:cNvPr id="19" name="Shape 17"/>
          <p:cNvSpPr/>
          <p:nvPr/>
        </p:nvSpPr>
        <p:spPr>
          <a:xfrm>
            <a:off x="1143000" y="6687820"/>
            <a:ext cx="44450" cy="698500"/>
          </a:xfrm>
          <a:prstGeom prst="rect">
            <a:avLst/>
          </a:prstGeom>
          <a:solidFill>
            <a:srgbClr val="F58B6E"/>
          </a:solidFill>
          <a:ln/>
        </p:spPr>
      </p:sp>
      <p:sp>
        <p:nvSpPr>
          <p:cNvPr id="20" name="Text 18"/>
          <p:cNvSpPr/>
          <p:nvPr/>
        </p:nvSpPr>
        <p:spPr>
          <a:xfrm>
            <a:off x="1492250" y="6878320"/>
            <a:ext cx="1123950" cy="355600"/>
          </a:xfrm>
          <a:prstGeom prst="rect">
            <a:avLst/>
          </a:prstGeom>
          <a:noFill/>
          <a:ln/>
        </p:spPr>
        <p:txBody>
          <a:bodyPr wrap="square" lIns="25400" tIns="25400" rIns="25400" bIns="25400" rtlCol="0" anchor="t">
            <a:normAutofit/>
          </a:bodyPr>
          <a:lstStyle/>
          <a:p>
            <a:pPr algn="l" indent="0" marL="0">
              <a:buNone/>
            </a:pPr>
            <a:r>
              <a:rPr lang="en-US" sz="1950" b="1" dirty="0">
                <a:solidFill>
                  <a:srgbClr val="F58B6E"/>
                </a:solidFill>
                <a:latin typeface="Space Grotesk" pitchFamily="34" charset="0"/>
                <a:ea typeface="Space Grotesk" pitchFamily="34" charset="-122"/>
                <a:cs typeface="Space Grotesk" pitchFamily="34" charset="-120"/>
              </a:rPr>
              <a:t>BUILD</a:t>
            </a:r>
            <a:endParaRPr lang="en-US" sz="1950" dirty="0"/>
          </a:p>
        </p:txBody>
      </p:sp>
      <p:sp>
        <p:nvSpPr>
          <p:cNvPr id="21" name="Text 19"/>
          <p:cNvSpPr/>
          <p:nvPr/>
        </p:nvSpPr>
        <p:spPr>
          <a:xfrm>
            <a:off x="2768600" y="6897370"/>
            <a:ext cx="5234384" cy="323850"/>
          </a:xfrm>
          <a:prstGeom prst="rect">
            <a:avLst/>
          </a:prstGeom>
          <a:noFill/>
          <a:ln/>
        </p:spPr>
        <p:txBody>
          <a:bodyPr wrap="square" lIns="25400" tIns="25400" rIns="25400" bIns="25400" rtlCol="0" anchor="t">
            <a:normAutofit/>
          </a:bodyPr>
          <a:lstStyle/>
          <a:p>
            <a:pPr algn="l" indent="0" marL="0">
              <a:buNone/>
            </a:pPr>
            <a:r>
              <a:rPr lang="en-US" sz="1725" dirty="0">
                <a:solidFill>
                  <a:srgbClr val="0E1C30">
                    <a:alpha val="85000"/>
                  </a:srgbClr>
                </a:solidFill>
                <a:latin typeface="IBM Plex Sans" pitchFamily="34" charset="0"/>
                <a:ea typeface="IBM Plex Sans" pitchFamily="34" charset="-122"/>
                <a:cs typeface="IBM Plex Sans" pitchFamily="34" charset="-120"/>
              </a:rPr>
              <a:t>Implementation — translate the spec into syntax</a:t>
            </a:r>
            <a:endParaRPr lang="en-US" sz="1725" dirty="0"/>
          </a:p>
        </p:txBody>
      </p:sp>
      <p:sp>
        <p:nvSpPr>
          <p:cNvPr id="22" name="Text 20"/>
          <p:cNvSpPr/>
          <p:nvPr/>
        </p:nvSpPr>
        <p:spPr>
          <a:xfrm>
            <a:off x="1143000" y="7767320"/>
            <a:ext cx="12557760" cy="723900"/>
          </a:xfrm>
          <a:prstGeom prst="rect">
            <a:avLst/>
          </a:prstGeom>
          <a:noFill/>
          <a:ln/>
        </p:spPr>
        <p:txBody>
          <a:bodyPr wrap="square" lIns="25400" tIns="25400" rIns="25400" bIns="25400" rtlCol="0" anchor="t">
            <a:normAutofit/>
          </a:bodyPr>
          <a:lstStyle/>
          <a:p>
            <a:pPr algn="l" indent="0" marL="0">
              <a:lnSpc>
                <a:spcPct val="114894"/>
              </a:lnSpc>
              <a:buNone/>
            </a:pPr>
            <a:r>
              <a:rPr lang="en-US" sz="1800" dirty="0">
                <a:solidFill>
                  <a:srgbClr val="0E1C30">
                    <a:alpha val="55000"/>
                  </a:srgbClr>
                </a:solidFill>
                <a:latin typeface="IBM Plex Sans" pitchFamily="34" charset="0"/>
                <a:ea typeface="IBM Plex Sans" pitchFamily="34" charset="-122"/>
                <a:cs typeface="IBM Plex Sans" pitchFamily="34" charset="-120"/>
              </a:rPr>
              <a:t>Each document becomes the input to the next, so every agent inherits the decisions already made — and no agent touches code until the </a:t>
            </a:r>
            <a:pPr algn="l" indent="0" marL="0">
              <a:lnSpc>
                <a:spcPct val="114894"/>
              </a:lnSpc>
              <a:buNone/>
            </a:pPr>
            <a:r>
              <a:rPr lang="en-US" sz="1800" b="1" dirty="0">
                <a:solidFill>
                  <a:srgbClr val="0E1C30"/>
                </a:solidFill>
                <a:latin typeface="IBM Plex Sans" pitchFamily="34" charset="0"/>
                <a:ea typeface="IBM Plex Sans" pitchFamily="34" charset="-122"/>
                <a:cs typeface="IBM Plex Sans" pitchFamily="34" charset="-120"/>
              </a:rPr>
              <a:t>what </a:t>
            </a:r>
            <a:pPr algn="l" indent="0" marL="0">
              <a:lnSpc>
                <a:spcPct val="114894"/>
              </a:lnSpc>
              <a:buNone/>
            </a:pPr>
            <a:r>
              <a:rPr lang="en-US" sz="1800" dirty="0">
                <a:solidFill>
                  <a:srgbClr val="0E1C30">
                    <a:alpha val="55000"/>
                  </a:srgbClr>
                </a:solidFill>
                <a:latin typeface="IBM Plex Sans" pitchFamily="34" charset="0"/>
                <a:ea typeface="IBM Plex Sans" pitchFamily="34" charset="-122"/>
                <a:cs typeface="IBM Plex Sans" pitchFamily="34" charset="-120"/>
              </a:rPr>
              <a:t>and the </a:t>
            </a:r>
            <a:pPr algn="l" indent="0" marL="0">
              <a:lnSpc>
                <a:spcPct val="114894"/>
              </a:lnSpc>
              <a:buNone/>
            </a:pPr>
            <a:r>
              <a:rPr lang="en-US" sz="1800" b="1" dirty="0">
                <a:solidFill>
                  <a:srgbClr val="0E1C30"/>
                </a:solidFill>
                <a:latin typeface="IBM Plex Sans" pitchFamily="34" charset="0"/>
                <a:ea typeface="IBM Plex Sans" pitchFamily="34" charset="-122"/>
                <a:cs typeface="IBM Plex Sans" pitchFamily="34" charset="-120"/>
              </a:rPr>
              <a:t>how </a:t>
            </a:r>
            <a:pPr algn="l" indent="0" marL="0">
              <a:lnSpc>
                <a:spcPct val="114894"/>
              </a:lnSpc>
              <a:buNone/>
            </a:pPr>
            <a:r>
              <a:rPr lang="en-US" sz="1800" dirty="0">
                <a:solidFill>
                  <a:srgbClr val="0E1C30">
                    <a:alpha val="55000"/>
                  </a:srgbClr>
                </a:solidFill>
                <a:latin typeface="IBM Plex Sans" pitchFamily="34" charset="0"/>
                <a:ea typeface="IBM Plex Sans" pitchFamily="34" charset="-122"/>
                <a:cs typeface="IBM Plex Sans" pitchFamily="34" charset="-120"/>
              </a:rPr>
              <a:t>are frozen in a text file.</a:t>
            </a:r>
            <a:endParaRPr lang="en-US" sz="1800" dirty="0"/>
          </a:p>
        </p:txBody>
      </p:sp>
      <p:sp>
        <p:nvSpPr>
          <p:cNvPr id="23" name="Text 21"/>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24" name="Text 22"/>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11 / 45</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626"/>
        </a:solidFill>
      </p:bgPr>
    </p:bg>
    <p:spTree>
      <p:nvGrpSpPr>
        <p:cNvPr id="1" name=""/>
        <p:cNvGrpSpPr/>
        <p:nvPr/>
      </p:nvGrpSpPr>
      <p:grpSpPr>
        <a:xfrm>
          <a:off x="0" y="0"/>
          <a:ext cx="0" cy="0"/>
          <a:chOff x="0" y="0"/>
          <a:chExt cx="0" cy="0"/>
        </a:xfrm>
      </p:grpSpPr>
      <p:sp>
        <p:nvSpPr>
          <p:cNvPr id="2" name="Shape 0"/>
          <p:cNvSpPr/>
          <p:nvPr/>
        </p:nvSpPr>
        <p:spPr>
          <a:xfrm>
            <a:off x="1143000" y="4052888"/>
            <a:ext cx="114300" cy="114300"/>
          </a:xfrm>
          <a:prstGeom prst="rect">
            <a:avLst/>
          </a:prstGeom>
          <a:solidFill>
            <a:srgbClr val="F4C233"/>
          </a:solidFill>
          <a:ln/>
        </p:spPr>
      </p:sp>
      <p:sp>
        <p:nvSpPr>
          <p:cNvPr id="3" name="Text 1"/>
          <p:cNvSpPr/>
          <p:nvPr/>
        </p:nvSpPr>
        <p:spPr>
          <a:xfrm>
            <a:off x="1409700" y="3998912"/>
            <a:ext cx="1156335" cy="260350"/>
          </a:xfrm>
          <a:prstGeom prst="rect">
            <a:avLst/>
          </a:prstGeom>
          <a:noFill/>
          <a:ln/>
        </p:spPr>
        <p:txBody>
          <a:bodyPr wrap="square" lIns="0" tIns="0" rIns="0" bIns="0" rtlCol="0" anchor="t">
            <a:normAutofit/>
          </a:bodyPr>
          <a:lstStyle/>
          <a:p>
            <a:pPr algn="l" indent="0" marL="0">
              <a:buNone/>
            </a:pPr>
            <a:r>
              <a:rPr lang="en-US" sz="1350" spc="405" kern="0" dirty="0">
                <a:solidFill>
                  <a:srgbClr val="5BB3F5"/>
                </a:solidFill>
                <a:latin typeface="IBM Plex Mono" pitchFamily="34" charset="0"/>
                <a:ea typeface="IBM Plex Mono" pitchFamily="34" charset="-122"/>
                <a:cs typeface="IBM Plex Mono" pitchFamily="34" charset="-120"/>
              </a:rPr>
              <a:t>ACT III</a:t>
            </a:r>
            <a:endParaRPr lang="en-US" sz="1350" dirty="0"/>
          </a:p>
        </p:txBody>
      </p:sp>
      <p:sp>
        <p:nvSpPr>
          <p:cNvPr id="4" name="Text 2"/>
          <p:cNvSpPr/>
          <p:nvPr/>
        </p:nvSpPr>
        <p:spPr>
          <a:xfrm>
            <a:off x="1143000" y="4525963"/>
            <a:ext cx="15925800" cy="1028700"/>
          </a:xfrm>
          <a:prstGeom prst="rect">
            <a:avLst/>
          </a:prstGeom>
          <a:noFill/>
          <a:ln/>
        </p:spPr>
        <p:txBody>
          <a:bodyPr wrap="square" lIns="25400" tIns="25400" rIns="25400" bIns="25400" rtlCol="0" anchor="t">
            <a:normAutofit/>
          </a:bodyPr>
          <a:lstStyle/>
          <a:p>
            <a:pPr algn="l" indent="0" marL="0">
              <a:lnSpc>
                <a:spcPct val="78000"/>
              </a:lnSpc>
              <a:buNone/>
            </a:pPr>
            <a:r>
              <a:rPr lang="en-US" sz="7800" b="1" spc="-234" kern="0" dirty="0">
                <a:solidFill>
                  <a:srgbClr val="F6F4EE"/>
                </a:solidFill>
                <a:latin typeface="Space Grotesk" pitchFamily="34" charset="0"/>
                <a:ea typeface="Space Grotesk" pitchFamily="34" charset="-122"/>
                <a:cs typeface="Space Grotesk" pitchFamily="34" charset="-120"/>
              </a:rPr>
              <a:t>Choosing your framework</a:t>
            </a:r>
            <a:endParaRPr lang="en-US" sz="7800" dirty="0"/>
          </a:p>
        </p:txBody>
      </p:sp>
      <p:sp>
        <p:nvSpPr>
          <p:cNvPr id="5" name="Text 3"/>
          <p:cNvSpPr/>
          <p:nvPr/>
        </p:nvSpPr>
        <p:spPr>
          <a:xfrm>
            <a:off x="1143000" y="5859463"/>
            <a:ext cx="12782550" cy="466725"/>
          </a:xfrm>
          <a:prstGeom prst="rect">
            <a:avLst/>
          </a:prstGeom>
          <a:noFill/>
          <a:ln/>
        </p:spPr>
        <p:txBody>
          <a:bodyPr wrap="square" lIns="25400" tIns="25400" rIns="25400" bIns="25400" rtlCol="0" anchor="t">
            <a:normAutofit/>
          </a:bodyPr>
          <a:lstStyle/>
          <a:p>
            <a:pPr algn="l" indent="0" marL="0">
              <a:lnSpc>
                <a:spcPct val="114407"/>
              </a:lnSpc>
              <a:buNone/>
            </a:pPr>
            <a:r>
              <a:rPr lang="en-US" sz="2250" dirty="0">
                <a:solidFill>
                  <a:srgbClr val="F6F4EE">
                    <a:alpha val="72000"/>
                  </a:srgbClr>
                </a:solidFill>
                <a:latin typeface="IBM Plex Sans" pitchFamily="34" charset="0"/>
                <a:ea typeface="IBM Plex Sans" pitchFamily="34" charset="-122"/>
                <a:cs typeface="IBM Plex Sans" pitchFamily="34" charset="-120"/>
              </a:rPr>
              <a:t>The spec-driven landscape in 2026 — and why we settle on BMAD.</a:t>
            </a:r>
            <a:endParaRPr lang="en-US" sz="2250" dirty="0"/>
          </a:p>
        </p:txBody>
      </p:sp>
      <p:sp>
        <p:nvSpPr>
          <p:cNvPr id="6" name="Text 4"/>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F6F4EE">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7" name="Text 5"/>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F6F4EE">
                    <a:alpha val="40000"/>
                  </a:srgbClr>
                </a:solidFill>
                <a:latin typeface="IBM Plex Mono" pitchFamily="34" charset="0"/>
                <a:ea typeface="IBM Plex Mono" pitchFamily="34" charset="-122"/>
                <a:cs typeface="IBM Plex Mono" pitchFamily="34" charset="-120"/>
              </a:rPr>
              <a:t>12 / 45</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892175"/>
            <a:ext cx="95250" cy="95250"/>
          </a:xfrm>
          <a:prstGeom prst="rect">
            <a:avLst/>
          </a:prstGeom>
          <a:solidFill>
            <a:srgbClr val="F4C233"/>
          </a:solidFill>
          <a:ln/>
        </p:spPr>
      </p:sp>
      <p:sp>
        <p:nvSpPr>
          <p:cNvPr id="3" name="Text 1"/>
          <p:cNvSpPr/>
          <p:nvPr/>
        </p:nvSpPr>
        <p:spPr>
          <a:xfrm>
            <a:off x="1371600" y="838200"/>
            <a:ext cx="2635822"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THE LANDSCAPE · 2026</a:t>
            </a:r>
            <a:endParaRPr lang="en-US" sz="1200" dirty="0"/>
          </a:p>
        </p:txBody>
      </p:sp>
      <p:sp>
        <p:nvSpPr>
          <p:cNvPr id="4" name="Text 2"/>
          <p:cNvSpPr/>
          <p:nvPr/>
        </p:nvSpPr>
        <p:spPr>
          <a:xfrm>
            <a:off x="1143000" y="1289050"/>
            <a:ext cx="14668500" cy="612616"/>
          </a:xfrm>
          <a:prstGeom prst="rect">
            <a:avLst/>
          </a:prstGeom>
          <a:noFill/>
          <a:ln/>
        </p:spPr>
        <p:txBody>
          <a:bodyPr wrap="square" lIns="25400" tIns="25400" rIns="25400" bIns="25400" rtlCol="0" anchor="t">
            <a:normAutofit/>
          </a:bodyPr>
          <a:lstStyle/>
          <a:p>
            <a:pPr algn="l" indent="0" marL="0">
              <a:lnSpc>
                <a:spcPct val="81509"/>
              </a:lnSpc>
              <a:buNone/>
            </a:pPr>
            <a:r>
              <a:rPr lang="en-US" sz="4350" b="1" spc="-87" kern="0" dirty="0">
                <a:solidFill>
                  <a:srgbClr val="0E1C30"/>
                </a:solidFill>
                <a:latin typeface="Space Grotesk" pitchFamily="34" charset="0"/>
                <a:ea typeface="Space Grotesk" pitchFamily="34" charset="-122"/>
                <a:cs typeface="Space Grotesk" pitchFamily="34" charset="-120"/>
              </a:rPr>
              <a:t>SDD is a category now — three families of tools</a:t>
            </a:r>
            <a:endParaRPr lang="en-US" sz="4350" dirty="0"/>
          </a:p>
        </p:txBody>
      </p:sp>
      <p:sp>
        <p:nvSpPr>
          <p:cNvPr id="5" name="Shape 3"/>
          <p:cNvSpPr/>
          <p:nvPr/>
        </p:nvSpPr>
        <p:spPr>
          <a:xfrm>
            <a:off x="1143000" y="2320766"/>
            <a:ext cx="5181600" cy="4752340"/>
          </a:xfrm>
          <a:prstGeom prst="rect">
            <a:avLst/>
          </a:prstGeom>
          <a:solidFill>
            <a:srgbClr val="FFFFFF"/>
          </a:solidFill>
          <a:ln/>
        </p:spPr>
      </p:sp>
      <p:sp>
        <p:nvSpPr>
          <p:cNvPr id="6" name="Shape 4"/>
          <p:cNvSpPr/>
          <p:nvPr/>
        </p:nvSpPr>
        <p:spPr>
          <a:xfrm>
            <a:off x="1143000" y="7066756"/>
            <a:ext cx="5181600" cy="9525"/>
          </a:xfrm>
          <a:prstGeom prst="rect">
            <a:avLst/>
          </a:prstGeom>
          <a:solidFill>
            <a:srgbClr val="0E1C30">
              <a:alpha val="12000"/>
            </a:srgbClr>
          </a:solidFill>
          <a:ln/>
        </p:spPr>
      </p:sp>
      <p:sp>
        <p:nvSpPr>
          <p:cNvPr id="7" name="Shape 5"/>
          <p:cNvSpPr/>
          <p:nvPr/>
        </p:nvSpPr>
        <p:spPr>
          <a:xfrm>
            <a:off x="1143000" y="2320766"/>
            <a:ext cx="5181600" cy="38100"/>
          </a:xfrm>
          <a:prstGeom prst="rect">
            <a:avLst/>
          </a:prstGeom>
          <a:solidFill>
            <a:srgbClr val="F4C233"/>
          </a:solidFill>
          <a:ln/>
        </p:spPr>
      </p:sp>
      <p:sp>
        <p:nvSpPr>
          <p:cNvPr id="8" name="Shape 6"/>
          <p:cNvSpPr/>
          <p:nvPr/>
        </p:nvSpPr>
        <p:spPr>
          <a:xfrm>
            <a:off x="1143000" y="2320766"/>
            <a:ext cx="9525" cy="4752340"/>
          </a:xfrm>
          <a:prstGeom prst="rect">
            <a:avLst/>
          </a:prstGeom>
          <a:solidFill>
            <a:srgbClr val="0E1C30">
              <a:alpha val="12000"/>
            </a:srgbClr>
          </a:solidFill>
          <a:ln/>
        </p:spPr>
      </p:sp>
      <p:sp>
        <p:nvSpPr>
          <p:cNvPr id="9" name="Shape 7"/>
          <p:cNvSpPr/>
          <p:nvPr/>
        </p:nvSpPr>
        <p:spPr>
          <a:xfrm>
            <a:off x="6318250" y="2320766"/>
            <a:ext cx="9525" cy="4752340"/>
          </a:xfrm>
          <a:prstGeom prst="rect">
            <a:avLst/>
          </a:prstGeom>
          <a:solidFill>
            <a:srgbClr val="0E1C30">
              <a:alpha val="12000"/>
            </a:srgbClr>
          </a:solidFill>
          <a:ln/>
        </p:spPr>
      </p:sp>
      <p:sp>
        <p:nvSpPr>
          <p:cNvPr id="10" name="Text 8"/>
          <p:cNvSpPr/>
          <p:nvPr/>
        </p:nvSpPr>
        <p:spPr>
          <a:xfrm>
            <a:off x="1435100" y="2644616"/>
            <a:ext cx="5057140" cy="19685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0E1C30">
                    <a:alpha val="50000"/>
                  </a:srgbClr>
                </a:solidFill>
                <a:latin typeface="IBM Plex Mono" pitchFamily="34" charset="0"/>
                <a:ea typeface="IBM Plex Mono" pitchFamily="34" charset="-122"/>
                <a:cs typeface="IBM Plex Mono" pitchFamily="34" charset="-120"/>
              </a:rPr>
              <a:t>AGENT-TEAM FRAMEWORKS</a:t>
            </a:r>
            <a:endParaRPr lang="en-US" sz="975" dirty="0"/>
          </a:p>
        </p:txBody>
      </p:sp>
      <p:sp>
        <p:nvSpPr>
          <p:cNvPr id="11" name="Text 9"/>
          <p:cNvSpPr/>
          <p:nvPr/>
        </p:nvSpPr>
        <p:spPr>
          <a:xfrm>
            <a:off x="1435100" y="2917666"/>
            <a:ext cx="4735322" cy="590550"/>
          </a:xfrm>
          <a:prstGeom prst="rect">
            <a:avLst/>
          </a:prstGeom>
          <a:noFill/>
          <a:ln/>
        </p:spPr>
        <p:txBody>
          <a:bodyPr wrap="square" lIns="25400" tIns="25400" rIns="25400" bIns="25400" rtlCol="0" anchor="t">
            <a:normAutofit/>
          </a:bodyPr>
          <a:lstStyle/>
          <a:p>
            <a:pPr algn="l" indent="0" marL="0">
              <a:lnSpc>
                <a:spcPct val="111538"/>
              </a:lnSpc>
              <a:buNone/>
            </a:pPr>
            <a:r>
              <a:rPr lang="en-US" sz="1500" dirty="0">
                <a:solidFill>
                  <a:srgbClr val="0E1C30">
                    <a:alpha val="60000"/>
                  </a:srgbClr>
                </a:solidFill>
                <a:latin typeface="IBM Plex Sans" pitchFamily="34" charset="0"/>
                <a:ea typeface="IBM Plex Sans" pitchFamily="34" charset="-122"/>
                <a:cs typeface="IBM Plex Sans" pitchFamily="34" charset="-120"/>
              </a:rPr>
              <a:t>A simulated agile team — role personas, file-based handoffs, full lifecycle.</a:t>
            </a:r>
            <a:endParaRPr lang="en-US" sz="1500" dirty="0"/>
          </a:p>
        </p:txBody>
      </p:sp>
      <p:sp>
        <p:nvSpPr>
          <p:cNvPr id="12" name="Shape 10"/>
          <p:cNvSpPr/>
          <p:nvPr/>
        </p:nvSpPr>
        <p:spPr>
          <a:xfrm>
            <a:off x="1435100" y="3679666"/>
            <a:ext cx="4597400" cy="1172210"/>
          </a:xfrm>
          <a:prstGeom prst="rect">
            <a:avLst/>
          </a:prstGeom>
          <a:solidFill>
            <a:srgbClr val="0B1626"/>
          </a:solidFill>
          <a:ln/>
        </p:spPr>
      </p:sp>
      <p:sp>
        <p:nvSpPr>
          <p:cNvPr id="13" name="Text 11"/>
          <p:cNvSpPr/>
          <p:nvPr/>
        </p:nvSpPr>
        <p:spPr>
          <a:xfrm>
            <a:off x="1644650" y="3851116"/>
            <a:ext cx="4596130" cy="330200"/>
          </a:xfrm>
          <a:prstGeom prst="rect">
            <a:avLst/>
          </a:prstGeom>
          <a:noFill/>
          <a:ln/>
        </p:spPr>
        <p:txBody>
          <a:bodyPr wrap="square" lIns="25400" tIns="25400" rIns="25400" bIns="25400" rtlCol="0" anchor="t">
            <a:normAutofit/>
          </a:bodyPr>
          <a:lstStyle/>
          <a:p>
            <a:pPr algn="l" indent="0" marL="0">
              <a:buNone/>
            </a:pPr>
            <a:r>
              <a:rPr lang="en-US" sz="1800" b="1" dirty="0">
                <a:solidFill>
                  <a:srgbClr val="F4C233"/>
                </a:solidFill>
                <a:latin typeface="Space Grotesk" pitchFamily="34" charset="0"/>
                <a:ea typeface="Space Grotesk" pitchFamily="34" charset="-122"/>
                <a:cs typeface="Space Grotesk" pitchFamily="34" charset="-120"/>
              </a:rPr>
              <a:t>BMAD-METHOD</a:t>
            </a:r>
            <a:endParaRPr lang="en-US" sz="1800" dirty="0"/>
          </a:p>
        </p:txBody>
      </p:sp>
      <p:sp>
        <p:nvSpPr>
          <p:cNvPr id="14" name="Text 12"/>
          <p:cNvSpPr/>
          <p:nvPr/>
        </p:nvSpPr>
        <p:spPr>
          <a:xfrm>
            <a:off x="1644650" y="4200366"/>
            <a:ext cx="4303649" cy="518160"/>
          </a:xfrm>
          <a:prstGeom prst="rect">
            <a:avLst/>
          </a:prstGeom>
          <a:noFill/>
          <a:ln/>
        </p:spPr>
        <p:txBody>
          <a:bodyPr wrap="square" lIns="25400" tIns="25400" rIns="25400" bIns="25400" rtlCol="0" anchor="t">
            <a:normAutofit/>
          </a:bodyPr>
          <a:lstStyle/>
          <a:p>
            <a:pPr algn="l" indent="0" marL="0">
              <a:lnSpc>
                <a:spcPct val="108000"/>
              </a:lnSpc>
              <a:buNone/>
            </a:pPr>
            <a:r>
              <a:rPr lang="en-US" sz="1350" dirty="0">
                <a:solidFill>
                  <a:srgbClr val="F6F4EE">
                    <a:alpha val="70000"/>
                  </a:srgbClr>
                </a:solidFill>
                <a:latin typeface="IBM Plex Sans" pitchFamily="34" charset="0"/>
                <a:ea typeface="IBM Plex Sans" pitchFamily="34" charset="-122"/>
                <a:cs typeface="IBM Plex Sans" pitchFamily="34" charset="-120"/>
              </a:rPr>
              <a:t>The archetype — 12+ agents, MIT, this deck’s framework</a:t>
            </a:r>
            <a:endParaRPr lang="en-US" sz="1350" dirty="0"/>
          </a:p>
        </p:txBody>
      </p:sp>
      <p:sp>
        <p:nvSpPr>
          <p:cNvPr id="15" name="Shape 13"/>
          <p:cNvSpPr/>
          <p:nvPr/>
        </p:nvSpPr>
        <p:spPr>
          <a:xfrm>
            <a:off x="1435100" y="4985226"/>
            <a:ext cx="4597400" cy="944880"/>
          </a:xfrm>
          <a:prstGeom prst="rect">
            <a:avLst/>
          </a:prstGeom>
          <a:ln w="6350">
            <a:solidFill>
              <a:srgbClr val="0E1C30">
                <a:alpha val="12000"/>
              </a:srgbClr>
            </a:solidFill>
            <a:prstDash val="solid"/>
          </a:ln>
        </p:spPr>
      </p:sp>
      <p:sp>
        <p:nvSpPr>
          <p:cNvPr id="16" name="Text 14"/>
          <p:cNvSpPr/>
          <p:nvPr/>
        </p:nvSpPr>
        <p:spPr>
          <a:xfrm>
            <a:off x="1651000" y="5163026"/>
            <a:ext cx="4582160" cy="330200"/>
          </a:xfrm>
          <a:prstGeom prst="rect">
            <a:avLst/>
          </a:prstGeom>
          <a:noFill/>
          <a:ln/>
        </p:spPr>
        <p:txBody>
          <a:bodyPr wrap="square" lIns="25400" tIns="25400" rIns="25400" bIns="25400" rtlCol="0" anchor="t">
            <a:normAutofit/>
          </a:bodyPr>
          <a:lstStyle/>
          <a:p>
            <a:pPr algn="l" indent="0" marL="0">
              <a:buNone/>
            </a:pPr>
            <a:r>
              <a:rPr lang="en-US" sz="1800" b="1" dirty="0">
                <a:solidFill>
                  <a:srgbClr val="0E1C30"/>
                </a:solidFill>
                <a:latin typeface="Space Grotesk" pitchFamily="34" charset="0"/>
                <a:ea typeface="Space Grotesk" pitchFamily="34" charset="-122"/>
                <a:cs typeface="Space Grotesk" pitchFamily="34" charset="-120"/>
              </a:rPr>
              <a:t>Agent OS</a:t>
            </a:r>
            <a:endParaRPr lang="en-US" sz="1800" dirty="0"/>
          </a:p>
        </p:txBody>
      </p:sp>
      <p:sp>
        <p:nvSpPr>
          <p:cNvPr id="17" name="Text 15"/>
          <p:cNvSpPr/>
          <p:nvPr/>
        </p:nvSpPr>
        <p:spPr>
          <a:xfrm>
            <a:off x="1651000" y="5512276"/>
            <a:ext cx="4582160" cy="278130"/>
          </a:xfrm>
          <a:prstGeom prst="rect">
            <a:avLst/>
          </a:prstGeom>
          <a:noFill/>
          <a:ln/>
        </p:spPr>
        <p:txBody>
          <a:bodyPr wrap="square" lIns="25400" tIns="25400" rIns="25400" bIns="25400" rtlCol="0" anchor="t">
            <a:normAutofit/>
          </a:bodyPr>
          <a:lstStyle/>
          <a:p>
            <a:pPr algn="l" indent="0" marL="0">
              <a:lnSpc>
                <a:spcPct val="108000"/>
              </a:lnSpc>
              <a:buNone/>
            </a:pPr>
            <a:r>
              <a:rPr lang="en-US" sz="1350" dirty="0">
                <a:solidFill>
                  <a:srgbClr val="0E1C30">
                    <a:alpha val="55000"/>
                  </a:srgbClr>
                </a:solidFill>
                <a:latin typeface="IBM Plex Sans" pitchFamily="34" charset="0"/>
                <a:ea typeface="IBM Plex Sans" pitchFamily="34" charset="-122"/>
                <a:cs typeface="IBM Plex Sans" pitchFamily="34" charset="-120"/>
              </a:rPr>
              <a:t>Standards injection for house conventions</a:t>
            </a:r>
            <a:endParaRPr lang="en-US" sz="1350" dirty="0"/>
          </a:p>
        </p:txBody>
      </p:sp>
      <p:sp>
        <p:nvSpPr>
          <p:cNvPr id="18" name="Shape 16"/>
          <p:cNvSpPr/>
          <p:nvPr/>
        </p:nvSpPr>
        <p:spPr>
          <a:xfrm>
            <a:off x="6553200" y="2320766"/>
            <a:ext cx="5181600" cy="4752340"/>
          </a:xfrm>
          <a:prstGeom prst="rect">
            <a:avLst/>
          </a:prstGeom>
          <a:solidFill>
            <a:srgbClr val="FFFFFF"/>
          </a:solidFill>
          <a:ln/>
        </p:spPr>
      </p:sp>
      <p:sp>
        <p:nvSpPr>
          <p:cNvPr id="19" name="Shape 17"/>
          <p:cNvSpPr/>
          <p:nvPr/>
        </p:nvSpPr>
        <p:spPr>
          <a:xfrm>
            <a:off x="6553200" y="7066756"/>
            <a:ext cx="5181600" cy="9525"/>
          </a:xfrm>
          <a:prstGeom prst="rect">
            <a:avLst/>
          </a:prstGeom>
          <a:solidFill>
            <a:srgbClr val="0E1C30">
              <a:alpha val="12000"/>
            </a:srgbClr>
          </a:solidFill>
          <a:ln/>
        </p:spPr>
      </p:sp>
      <p:sp>
        <p:nvSpPr>
          <p:cNvPr id="20" name="Shape 18"/>
          <p:cNvSpPr/>
          <p:nvPr/>
        </p:nvSpPr>
        <p:spPr>
          <a:xfrm>
            <a:off x="6553200" y="2320766"/>
            <a:ext cx="5181600" cy="38100"/>
          </a:xfrm>
          <a:prstGeom prst="rect">
            <a:avLst/>
          </a:prstGeom>
          <a:solidFill>
            <a:srgbClr val="1E7FD6"/>
          </a:solidFill>
          <a:ln/>
        </p:spPr>
      </p:sp>
      <p:sp>
        <p:nvSpPr>
          <p:cNvPr id="21" name="Shape 19"/>
          <p:cNvSpPr/>
          <p:nvPr/>
        </p:nvSpPr>
        <p:spPr>
          <a:xfrm>
            <a:off x="6553200" y="2320766"/>
            <a:ext cx="9525" cy="4752340"/>
          </a:xfrm>
          <a:prstGeom prst="rect">
            <a:avLst/>
          </a:prstGeom>
          <a:solidFill>
            <a:srgbClr val="0E1C30">
              <a:alpha val="12000"/>
            </a:srgbClr>
          </a:solidFill>
          <a:ln/>
        </p:spPr>
      </p:sp>
      <p:sp>
        <p:nvSpPr>
          <p:cNvPr id="22" name="Shape 20"/>
          <p:cNvSpPr/>
          <p:nvPr/>
        </p:nvSpPr>
        <p:spPr>
          <a:xfrm>
            <a:off x="11728450" y="2320766"/>
            <a:ext cx="9525" cy="4752340"/>
          </a:xfrm>
          <a:prstGeom prst="rect">
            <a:avLst/>
          </a:prstGeom>
          <a:solidFill>
            <a:srgbClr val="0E1C30">
              <a:alpha val="12000"/>
            </a:srgbClr>
          </a:solidFill>
          <a:ln/>
        </p:spPr>
      </p:sp>
      <p:sp>
        <p:nvSpPr>
          <p:cNvPr id="23" name="Text 21"/>
          <p:cNvSpPr/>
          <p:nvPr/>
        </p:nvSpPr>
        <p:spPr>
          <a:xfrm>
            <a:off x="6845300" y="2644616"/>
            <a:ext cx="5057140" cy="19685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0E1C30">
                    <a:alpha val="50000"/>
                  </a:srgbClr>
                </a:solidFill>
                <a:latin typeface="IBM Plex Mono" pitchFamily="34" charset="0"/>
                <a:ea typeface="IBM Plex Mono" pitchFamily="34" charset="-122"/>
                <a:cs typeface="IBM Plex Mono" pitchFamily="34" charset="-120"/>
              </a:rPr>
              <a:t>SPEC-FIRST SCAFFOLDING</a:t>
            </a:r>
            <a:endParaRPr lang="en-US" sz="975" dirty="0"/>
          </a:p>
        </p:txBody>
      </p:sp>
      <p:sp>
        <p:nvSpPr>
          <p:cNvPr id="24" name="Text 22"/>
          <p:cNvSpPr/>
          <p:nvPr/>
        </p:nvSpPr>
        <p:spPr>
          <a:xfrm>
            <a:off x="6845300" y="2917666"/>
            <a:ext cx="4735322" cy="590550"/>
          </a:xfrm>
          <a:prstGeom prst="rect">
            <a:avLst/>
          </a:prstGeom>
          <a:noFill/>
          <a:ln/>
        </p:spPr>
        <p:txBody>
          <a:bodyPr wrap="square" lIns="25400" tIns="25400" rIns="25400" bIns="25400" rtlCol="0" anchor="t">
            <a:normAutofit/>
          </a:bodyPr>
          <a:lstStyle/>
          <a:p>
            <a:pPr algn="l" indent="0" marL="0">
              <a:lnSpc>
                <a:spcPct val="111538"/>
              </a:lnSpc>
              <a:buNone/>
            </a:pPr>
            <a:r>
              <a:rPr lang="en-US" sz="1500" dirty="0">
                <a:solidFill>
                  <a:srgbClr val="0E1C30">
                    <a:alpha val="60000"/>
                  </a:srgbClr>
                </a:solidFill>
                <a:latin typeface="IBM Plex Sans" pitchFamily="34" charset="0"/>
                <a:ea typeface="IBM Plex Sans" pitchFamily="34" charset="-122"/>
                <a:cs typeface="IBM Plex Sans" pitchFamily="34" charset="-120"/>
              </a:rPr>
              <a:t>Specify → plan → tasks structure bolted onto a coding session.</a:t>
            </a:r>
            <a:endParaRPr lang="en-US" sz="1500" dirty="0"/>
          </a:p>
        </p:txBody>
      </p:sp>
      <p:sp>
        <p:nvSpPr>
          <p:cNvPr id="25" name="Shape 23"/>
          <p:cNvSpPr/>
          <p:nvPr/>
        </p:nvSpPr>
        <p:spPr>
          <a:xfrm>
            <a:off x="6845300" y="3679666"/>
            <a:ext cx="4597400" cy="944880"/>
          </a:xfrm>
          <a:prstGeom prst="rect">
            <a:avLst/>
          </a:prstGeom>
          <a:ln w="6350">
            <a:solidFill>
              <a:srgbClr val="0E1C30">
                <a:alpha val="12000"/>
              </a:srgbClr>
            </a:solidFill>
            <a:prstDash val="solid"/>
          </a:ln>
        </p:spPr>
      </p:sp>
      <p:sp>
        <p:nvSpPr>
          <p:cNvPr id="26" name="Text 24"/>
          <p:cNvSpPr/>
          <p:nvPr/>
        </p:nvSpPr>
        <p:spPr>
          <a:xfrm>
            <a:off x="7061200" y="3857466"/>
            <a:ext cx="4582160" cy="330200"/>
          </a:xfrm>
          <a:prstGeom prst="rect">
            <a:avLst/>
          </a:prstGeom>
          <a:noFill/>
          <a:ln/>
        </p:spPr>
        <p:txBody>
          <a:bodyPr wrap="square" lIns="25400" tIns="25400" rIns="25400" bIns="25400" rtlCol="0" anchor="t">
            <a:normAutofit/>
          </a:bodyPr>
          <a:lstStyle/>
          <a:p>
            <a:pPr algn="l" indent="0" marL="0">
              <a:buNone/>
            </a:pPr>
            <a:r>
              <a:rPr lang="en-US" sz="1800" b="1" dirty="0">
                <a:solidFill>
                  <a:srgbClr val="0E1C30"/>
                </a:solidFill>
                <a:latin typeface="Space Grotesk" pitchFamily="34" charset="0"/>
                <a:ea typeface="Space Grotesk" pitchFamily="34" charset="-122"/>
                <a:cs typeface="Space Grotesk" pitchFamily="34" charset="-120"/>
              </a:rPr>
              <a:t>GitHub Spec Kit</a:t>
            </a:r>
            <a:endParaRPr lang="en-US" sz="1800" dirty="0"/>
          </a:p>
        </p:txBody>
      </p:sp>
      <p:sp>
        <p:nvSpPr>
          <p:cNvPr id="27" name="Text 25"/>
          <p:cNvSpPr/>
          <p:nvPr/>
        </p:nvSpPr>
        <p:spPr>
          <a:xfrm>
            <a:off x="7061200" y="4206716"/>
            <a:ext cx="4582160" cy="278130"/>
          </a:xfrm>
          <a:prstGeom prst="rect">
            <a:avLst/>
          </a:prstGeom>
          <a:noFill/>
          <a:ln/>
        </p:spPr>
        <p:txBody>
          <a:bodyPr wrap="square" lIns="25400" tIns="25400" rIns="25400" bIns="25400" rtlCol="0" anchor="t">
            <a:normAutofit/>
          </a:bodyPr>
          <a:lstStyle/>
          <a:p>
            <a:pPr algn="l" indent="0" marL="0">
              <a:lnSpc>
                <a:spcPct val="108000"/>
              </a:lnSpc>
              <a:buNone/>
            </a:pPr>
            <a:r>
              <a:rPr lang="en-US" sz="1350" dirty="0">
                <a:solidFill>
                  <a:srgbClr val="0E1C30">
                    <a:alpha val="55000"/>
                  </a:srgbClr>
                </a:solidFill>
                <a:latin typeface="IBM Plex Sans" pitchFamily="34" charset="0"/>
                <a:ea typeface="IBM Plex Sans" pitchFamily="34" charset="-122"/>
                <a:cs typeface="IBM Plex Sans" pitchFamily="34" charset="-120"/>
              </a:rPr>
              <a:t>Constitution-driven; broadest agent support</a:t>
            </a:r>
            <a:endParaRPr lang="en-US" sz="1350" dirty="0"/>
          </a:p>
        </p:txBody>
      </p:sp>
      <p:sp>
        <p:nvSpPr>
          <p:cNvPr id="28" name="Shape 26"/>
          <p:cNvSpPr/>
          <p:nvPr/>
        </p:nvSpPr>
        <p:spPr>
          <a:xfrm>
            <a:off x="6845300" y="4757896"/>
            <a:ext cx="4597400" cy="944880"/>
          </a:xfrm>
          <a:prstGeom prst="rect">
            <a:avLst/>
          </a:prstGeom>
          <a:ln w="6350">
            <a:solidFill>
              <a:srgbClr val="0E1C30">
                <a:alpha val="12000"/>
              </a:srgbClr>
            </a:solidFill>
            <a:prstDash val="solid"/>
          </a:ln>
        </p:spPr>
      </p:sp>
      <p:sp>
        <p:nvSpPr>
          <p:cNvPr id="29" name="Text 27"/>
          <p:cNvSpPr/>
          <p:nvPr/>
        </p:nvSpPr>
        <p:spPr>
          <a:xfrm>
            <a:off x="7061200" y="4935696"/>
            <a:ext cx="4582160" cy="330200"/>
          </a:xfrm>
          <a:prstGeom prst="rect">
            <a:avLst/>
          </a:prstGeom>
          <a:noFill/>
          <a:ln/>
        </p:spPr>
        <p:txBody>
          <a:bodyPr wrap="square" lIns="25400" tIns="25400" rIns="25400" bIns="25400" rtlCol="0" anchor="t">
            <a:normAutofit/>
          </a:bodyPr>
          <a:lstStyle/>
          <a:p>
            <a:pPr algn="l" indent="0" marL="0">
              <a:buNone/>
            </a:pPr>
            <a:r>
              <a:rPr lang="en-US" sz="1800" b="1" dirty="0">
                <a:solidFill>
                  <a:srgbClr val="0E1C30"/>
                </a:solidFill>
                <a:latin typeface="Space Grotesk" pitchFamily="34" charset="0"/>
                <a:ea typeface="Space Grotesk" pitchFamily="34" charset="-122"/>
                <a:cs typeface="Space Grotesk" pitchFamily="34" charset="-120"/>
              </a:rPr>
              <a:t>AWS Kiro</a:t>
            </a:r>
            <a:endParaRPr lang="en-US" sz="1800" dirty="0"/>
          </a:p>
        </p:txBody>
      </p:sp>
      <p:sp>
        <p:nvSpPr>
          <p:cNvPr id="30" name="Text 28"/>
          <p:cNvSpPr/>
          <p:nvPr/>
        </p:nvSpPr>
        <p:spPr>
          <a:xfrm>
            <a:off x="7061200" y="5284946"/>
            <a:ext cx="4582160" cy="278130"/>
          </a:xfrm>
          <a:prstGeom prst="rect">
            <a:avLst/>
          </a:prstGeom>
          <a:noFill/>
          <a:ln/>
        </p:spPr>
        <p:txBody>
          <a:bodyPr wrap="square" lIns="25400" tIns="25400" rIns="25400" bIns="25400" rtlCol="0" anchor="t">
            <a:normAutofit/>
          </a:bodyPr>
          <a:lstStyle/>
          <a:p>
            <a:pPr algn="l" indent="0" marL="0">
              <a:lnSpc>
                <a:spcPct val="108000"/>
              </a:lnSpc>
              <a:buNone/>
            </a:pPr>
            <a:r>
              <a:rPr lang="en-US" sz="1350" dirty="0">
                <a:solidFill>
                  <a:srgbClr val="0E1C30">
                    <a:alpha val="55000"/>
                  </a:srgbClr>
                </a:solidFill>
                <a:latin typeface="IBM Plex Sans" pitchFamily="34" charset="0"/>
                <a:ea typeface="IBM Plex Sans" pitchFamily="34" charset="-122"/>
                <a:cs typeface="IBM Plex Sans" pitchFamily="34" charset="-120"/>
              </a:rPr>
              <a:t>Spec-native IDE; EARS requirements built in</a:t>
            </a:r>
            <a:endParaRPr lang="en-US" sz="1350" dirty="0"/>
          </a:p>
        </p:txBody>
      </p:sp>
      <p:sp>
        <p:nvSpPr>
          <p:cNvPr id="31" name="Shape 29"/>
          <p:cNvSpPr/>
          <p:nvPr/>
        </p:nvSpPr>
        <p:spPr>
          <a:xfrm>
            <a:off x="6845300" y="5836126"/>
            <a:ext cx="4597400" cy="944880"/>
          </a:xfrm>
          <a:prstGeom prst="rect">
            <a:avLst/>
          </a:prstGeom>
          <a:ln w="6350">
            <a:solidFill>
              <a:srgbClr val="0E1C30">
                <a:alpha val="12000"/>
              </a:srgbClr>
            </a:solidFill>
            <a:prstDash val="solid"/>
          </a:ln>
        </p:spPr>
      </p:sp>
      <p:sp>
        <p:nvSpPr>
          <p:cNvPr id="32" name="Text 30"/>
          <p:cNvSpPr/>
          <p:nvPr/>
        </p:nvSpPr>
        <p:spPr>
          <a:xfrm>
            <a:off x="7061200" y="6013926"/>
            <a:ext cx="4582160" cy="330200"/>
          </a:xfrm>
          <a:prstGeom prst="rect">
            <a:avLst/>
          </a:prstGeom>
          <a:noFill/>
          <a:ln/>
        </p:spPr>
        <p:txBody>
          <a:bodyPr wrap="square" lIns="25400" tIns="25400" rIns="25400" bIns="25400" rtlCol="0" anchor="t">
            <a:normAutofit/>
          </a:bodyPr>
          <a:lstStyle/>
          <a:p>
            <a:pPr algn="l" indent="0" marL="0">
              <a:buNone/>
            </a:pPr>
            <a:r>
              <a:rPr lang="en-US" sz="1800" b="1" dirty="0">
                <a:solidFill>
                  <a:srgbClr val="0E1C30"/>
                </a:solidFill>
                <a:latin typeface="Space Grotesk" pitchFamily="34" charset="0"/>
                <a:ea typeface="Space Grotesk" pitchFamily="34" charset="-122"/>
                <a:cs typeface="Space Grotesk" pitchFamily="34" charset="-120"/>
              </a:rPr>
              <a:t>GSD</a:t>
            </a:r>
            <a:endParaRPr lang="en-US" sz="1800" dirty="0"/>
          </a:p>
        </p:txBody>
      </p:sp>
      <p:sp>
        <p:nvSpPr>
          <p:cNvPr id="33" name="Text 31"/>
          <p:cNvSpPr/>
          <p:nvPr/>
        </p:nvSpPr>
        <p:spPr>
          <a:xfrm>
            <a:off x="7061200" y="6363176"/>
            <a:ext cx="4582160" cy="278130"/>
          </a:xfrm>
          <a:prstGeom prst="rect">
            <a:avLst/>
          </a:prstGeom>
          <a:noFill/>
          <a:ln/>
        </p:spPr>
        <p:txBody>
          <a:bodyPr wrap="square" lIns="25400" tIns="25400" rIns="25400" bIns="25400" rtlCol="0" anchor="t">
            <a:normAutofit/>
          </a:bodyPr>
          <a:lstStyle/>
          <a:p>
            <a:pPr algn="l" indent="0" marL="0">
              <a:lnSpc>
                <a:spcPct val="108000"/>
              </a:lnSpc>
              <a:buNone/>
            </a:pPr>
            <a:r>
              <a:rPr lang="en-US" sz="1350" dirty="0">
                <a:solidFill>
                  <a:srgbClr val="0E1C30">
                    <a:alpha val="55000"/>
                  </a:srgbClr>
                </a:solidFill>
                <a:latin typeface="IBM Plex Sans" pitchFamily="34" charset="0"/>
                <a:ea typeface="IBM Plex Sans" pitchFamily="34" charset="-122"/>
                <a:cs typeface="IBM Plex Sans" pitchFamily="34" charset="-120"/>
              </a:rPr>
              <a:t>Lightweight meta-prompting for solo work</a:t>
            </a:r>
            <a:endParaRPr lang="en-US" sz="1350" dirty="0"/>
          </a:p>
        </p:txBody>
      </p:sp>
      <p:sp>
        <p:nvSpPr>
          <p:cNvPr id="34" name="Shape 32"/>
          <p:cNvSpPr/>
          <p:nvPr/>
        </p:nvSpPr>
        <p:spPr>
          <a:xfrm>
            <a:off x="11963400" y="2320766"/>
            <a:ext cx="5181600" cy="4752340"/>
          </a:xfrm>
          <a:prstGeom prst="rect">
            <a:avLst/>
          </a:prstGeom>
          <a:solidFill>
            <a:srgbClr val="FFFFFF"/>
          </a:solidFill>
          <a:ln/>
        </p:spPr>
      </p:sp>
      <p:sp>
        <p:nvSpPr>
          <p:cNvPr id="35" name="Shape 33"/>
          <p:cNvSpPr/>
          <p:nvPr/>
        </p:nvSpPr>
        <p:spPr>
          <a:xfrm>
            <a:off x="11963400" y="7066756"/>
            <a:ext cx="5181600" cy="9525"/>
          </a:xfrm>
          <a:prstGeom prst="rect">
            <a:avLst/>
          </a:prstGeom>
          <a:solidFill>
            <a:srgbClr val="0E1C30">
              <a:alpha val="12000"/>
            </a:srgbClr>
          </a:solidFill>
          <a:ln/>
        </p:spPr>
      </p:sp>
      <p:sp>
        <p:nvSpPr>
          <p:cNvPr id="36" name="Shape 34"/>
          <p:cNvSpPr/>
          <p:nvPr/>
        </p:nvSpPr>
        <p:spPr>
          <a:xfrm>
            <a:off x="11963400" y="2320766"/>
            <a:ext cx="5181600" cy="38100"/>
          </a:xfrm>
          <a:prstGeom prst="rect">
            <a:avLst/>
          </a:prstGeom>
          <a:solidFill>
            <a:srgbClr val="4FD1A6"/>
          </a:solidFill>
          <a:ln/>
        </p:spPr>
      </p:sp>
      <p:sp>
        <p:nvSpPr>
          <p:cNvPr id="37" name="Shape 35"/>
          <p:cNvSpPr/>
          <p:nvPr/>
        </p:nvSpPr>
        <p:spPr>
          <a:xfrm>
            <a:off x="11963400" y="2320766"/>
            <a:ext cx="9525" cy="4752340"/>
          </a:xfrm>
          <a:prstGeom prst="rect">
            <a:avLst/>
          </a:prstGeom>
          <a:solidFill>
            <a:srgbClr val="0E1C30">
              <a:alpha val="12000"/>
            </a:srgbClr>
          </a:solidFill>
          <a:ln/>
        </p:spPr>
      </p:sp>
      <p:sp>
        <p:nvSpPr>
          <p:cNvPr id="38" name="Shape 36"/>
          <p:cNvSpPr/>
          <p:nvPr/>
        </p:nvSpPr>
        <p:spPr>
          <a:xfrm>
            <a:off x="17138650" y="2320766"/>
            <a:ext cx="9525" cy="4752340"/>
          </a:xfrm>
          <a:prstGeom prst="rect">
            <a:avLst/>
          </a:prstGeom>
          <a:solidFill>
            <a:srgbClr val="0E1C30">
              <a:alpha val="12000"/>
            </a:srgbClr>
          </a:solidFill>
          <a:ln/>
        </p:spPr>
      </p:sp>
      <p:sp>
        <p:nvSpPr>
          <p:cNvPr id="39" name="Text 37"/>
          <p:cNvSpPr/>
          <p:nvPr/>
        </p:nvSpPr>
        <p:spPr>
          <a:xfrm>
            <a:off x="12255500" y="2644616"/>
            <a:ext cx="5057140" cy="19685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0E1C30">
                    <a:alpha val="50000"/>
                  </a:srgbClr>
                </a:solidFill>
                <a:latin typeface="IBM Plex Mono" pitchFamily="34" charset="0"/>
                <a:ea typeface="IBM Plex Mono" pitchFamily="34" charset="-122"/>
                <a:cs typeface="IBM Plex Mono" pitchFamily="34" charset="-120"/>
              </a:rPr>
              <a:t>LIVING SPECS</a:t>
            </a:r>
            <a:endParaRPr lang="en-US" sz="975" dirty="0"/>
          </a:p>
        </p:txBody>
      </p:sp>
      <p:sp>
        <p:nvSpPr>
          <p:cNvPr id="40" name="Text 38"/>
          <p:cNvSpPr/>
          <p:nvPr/>
        </p:nvSpPr>
        <p:spPr>
          <a:xfrm>
            <a:off x="12255500" y="2917666"/>
            <a:ext cx="4735322" cy="590550"/>
          </a:xfrm>
          <a:prstGeom prst="rect">
            <a:avLst/>
          </a:prstGeom>
          <a:noFill/>
          <a:ln/>
        </p:spPr>
        <p:txBody>
          <a:bodyPr wrap="square" lIns="25400" tIns="25400" rIns="25400" bIns="25400" rtlCol="0" anchor="t">
            <a:normAutofit/>
          </a:bodyPr>
          <a:lstStyle/>
          <a:p>
            <a:pPr algn="l" indent="0" marL="0">
              <a:lnSpc>
                <a:spcPct val="111538"/>
              </a:lnSpc>
              <a:buNone/>
            </a:pPr>
            <a:r>
              <a:rPr lang="en-US" sz="1500" dirty="0">
                <a:solidFill>
                  <a:srgbClr val="0E1C30">
                    <a:alpha val="60000"/>
                  </a:srgbClr>
                </a:solidFill>
                <a:latin typeface="IBM Plex Sans" pitchFamily="34" charset="0"/>
                <a:ea typeface="IBM Plex Sans" pitchFamily="34" charset="-122"/>
                <a:cs typeface="IBM Plex Sans" pitchFamily="34" charset="-120"/>
              </a:rPr>
              <a:t>The spec is the evolving source of truth, synced with the code.</a:t>
            </a:r>
            <a:endParaRPr lang="en-US" sz="1500" dirty="0"/>
          </a:p>
        </p:txBody>
      </p:sp>
      <p:sp>
        <p:nvSpPr>
          <p:cNvPr id="41" name="Shape 39"/>
          <p:cNvSpPr/>
          <p:nvPr/>
        </p:nvSpPr>
        <p:spPr>
          <a:xfrm>
            <a:off x="12255500" y="3679666"/>
            <a:ext cx="4597400" cy="944880"/>
          </a:xfrm>
          <a:prstGeom prst="rect">
            <a:avLst/>
          </a:prstGeom>
          <a:ln w="6350">
            <a:solidFill>
              <a:srgbClr val="0E1C30">
                <a:alpha val="12000"/>
              </a:srgbClr>
            </a:solidFill>
            <a:prstDash val="solid"/>
          </a:ln>
        </p:spPr>
      </p:sp>
      <p:sp>
        <p:nvSpPr>
          <p:cNvPr id="42" name="Text 40"/>
          <p:cNvSpPr/>
          <p:nvPr/>
        </p:nvSpPr>
        <p:spPr>
          <a:xfrm>
            <a:off x="12471400" y="3857466"/>
            <a:ext cx="4582160" cy="330200"/>
          </a:xfrm>
          <a:prstGeom prst="rect">
            <a:avLst/>
          </a:prstGeom>
          <a:noFill/>
          <a:ln/>
        </p:spPr>
        <p:txBody>
          <a:bodyPr wrap="square" lIns="25400" tIns="25400" rIns="25400" bIns="25400" rtlCol="0" anchor="t">
            <a:normAutofit/>
          </a:bodyPr>
          <a:lstStyle/>
          <a:p>
            <a:pPr algn="l" indent="0" marL="0">
              <a:buNone/>
            </a:pPr>
            <a:r>
              <a:rPr lang="en-US" sz="1800" b="1" dirty="0">
                <a:solidFill>
                  <a:srgbClr val="0E1C30"/>
                </a:solidFill>
                <a:latin typeface="Space Grotesk" pitchFamily="34" charset="0"/>
                <a:ea typeface="Space Grotesk" pitchFamily="34" charset="-122"/>
                <a:cs typeface="Space Grotesk" pitchFamily="34" charset="-120"/>
              </a:rPr>
              <a:t>OpenSpec</a:t>
            </a:r>
            <a:endParaRPr lang="en-US" sz="1800" dirty="0"/>
          </a:p>
        </p:txBody>
      </p:sp>
      <p:sp>
        <p:nvSpPr>
          <p:cNvPr id="43" name="Text 41"/>
          <p:cNvSpPr/>
          <p:nvPr/>
        </p:nvSpPr>
        <p:spPr>
          <a:xfrm>
            <a:off x="12471400" y="4206716"/>
            <a:ext cx="4582160" cy="278130"/>
          </a:xfrm>
          <a:prstGeom prst="rect">
            <a:avLst/>
          </a:prstGeom>
          <a:noFill/>
          <a:ln/>
        </p:spPr>
        <p:txBody>
          <a:bodyPr wrap="square" lIns="25400" tIns="25400" rIns="25400" bIns="25400" rtlCol="0" anchor="t">
            <a:normAutofit/>
          </a:bodyPr>
          <a:lstStyle/>
          <a:p>
            <a:pPr algn="l" indent="0" marL="0">
              <a:lnSpc>
                <a:spcPct val="108000"/>
              </a:lnSpc>
              <a:buNone/>
            </a:pPr>
            <a:r>
              <a:rPr lang="en-US" sz="1350" dirty="0">
                <a:solidFill>
                  <a:srgbClr val="0E1C30">
                    <a:alpha val="55000"/>
                  </a:srgbClr>
                </a:solidFill>
                <a:latin typeface="IBM Plex Sans" pitchFamily="34" charset="0"/>
                <a:ea typeface="IBM Plex Sans" pitchFamily="34" charset="-122"/>
                <a:cs typeface="IBM Plex Sans" pitchFamily="34" charset="-120"/>
              </a:rPr>
              <a:t>Delta specs; lightest fit for brownfield change</a:t>
            </a:r>
            <a:endParaRPr lang="en-US" sz="1350" dirty="0"/>
          </a:p>
        </p:txBody>
      </p:sp>
      <p:sp>
        <p:nvSpPr>
          <p:cNvPr id="44" name="Shape 42"/>
          <p:cNvSpPr/>
          <p:nvPr/>
        </p:nvSpPr>
        <p:spPr>
          <a:xfrm>
            <a:off x="12255500" y="4757896"/>
            <a:ext cx="4597400" cy="944880"/>
          </a:xfrm>
          <a:prstGeom prst="rect">
            <a:avLst/>
          </a:prstGeom>
          <a:ln w="6350">
            <a:solidFill>
              <a:srgbClr val="0E1C30">
                <a:alpha val="12000"/>
              </a:srgbClr>
            </a:solidFill>
            <a:prstDash val="solid"/>
          </a:ln>
        </p:spPr>
      </p:sp>
      <p:sp>
        <p:nvSpPr>
          <p:cNvPr id="45" name="Text 43"/>
          <p:cNvSpPr/>
          <p:nvPr/>
        </p:nvSpPr>
        <p:spPr>
          <a:xfrm>
            <a:off x="12471400" y="4935696"/>
            <a:ext cx="4582160" cy="330200"/>
          </a:xfrm>
          <a:prstGeom prst="rect">
            <a:avLst/>
          </a:prstGeom>
          <a:noFill/>
          <a:ln/>
        </p:spPr>
        <p:txBody>
          <a:bodyPr wrap="square" lIns="25400" tIns="25400" rIns="25400" bIns="25400" rtlCol="0" anchor="t">
            <a:normAutofit/>
          </a:bodyPr>
          <a:lstStyle/>
          <a:p>
            <a:pPr algn="l" indent="0" marL="0">
              <a:buNone/>
            </a:pPr>
            <a:r>
              <a:rPr lang="en-US" sz="1800" b="1" dirty="0">
                <a:solidFill>
                  <a:srgbClr val="0E1C30"/>
                </a:solidFill>
                <a:latin typeface="Space Grotesk" pitchFamily="34" charset="0"/>
                <a:ea typeface="Space Grotesk" pitchFamily="34" charset="-122"/>
                <a:cs typeface="Space Grotesk" pitchFamily="34" charset="-120"/>
              </a:rPr>
              <a:t>Tessl</a:t>
            </a:r>
            <a:endParaRPr lang="en-US" sz="1800" dirty="0"/>
          </a:p>
        </p:txBody>
      </p:sp>
      <p:sp>
        <p:nvSpPr>
          <p:cNvPr id="46" name="Text 44"/>
          <p:cNvSpPr/>
          <p:nvPr/>
        </p:nvSpPr>
        <p:spPr>
          <a:xfrm>
            <a:off x="12471400" y="5284946"/>
            <a:ext cx="4582160" cy="278130"/>
          </a:xfrm>
          <a:prstGeom prst="rect">
            <a:avLst/>
          </a:prstGeom>
          <a:noFill/>
          <a:ln/>
        </p:spPr>
        <p:txBody>
          <a:bodyPr wrap="square" lIns="25400" tIns="25400" rIns="25400" bIns="25400" rtlCol="0" anchor="t">
            <a:normAutofit/>
          </a:bodyPr>
          <a:lstStyle/>
          <a:p>
            <a:pPr algn="l" indent="0" marL="0">
              <a:lnSpc>
                <a:spcPct val="108000"/>
              </a:lnSpc>
              <a:buNone/>
            </a:pPr>
            <a:r>
              <a:rPr lang="en-US" sz="1350" dirty="0">
                <a:solidFill>
                  <a:srgbClr val="0E1C30">
                    <a:alpha val="55000"/>
                  </a:srgbClr>
                </a:solidFill>
                <a:latin typeface="IBM Plex Sans" pitchFamily="34" charset="0"/>
                <a:ea typeface="IBM Plex Sans" pitchFamily="34" charset="-122"/>
                <a:cs typeface="IBM Plex Sans" pitchFamily="34" charset="-120"/>
              </a:rPr>
              <a:t>Betting on spec-as-source</a:t>
            </a:r>
            <a:endParaRPr lang="en-US" sz="1350" dirty="0"/>
          </a:p>
        </p:txBody>
      </p:sp>
      <p:sp>
        <p:nvSpPr>
          <p:cNvPr id="47" name="Shape 45"/>
          <p:cNvSpPr/>
          <p:nvPr/>
        </p:nvSpPr>
        <p:spPr>
          <a:xfrm>
            <a:off x="12255500" y="5836126"/>
            <a:ext cx="4597400" cy="944880"/>
          </a:xfrm>
          <a:prstGeom prst="rect">
            <a:avLst/>
          </a:prstGeom>
          <a:ln w="6350">
            <a:solidFill>
              <a:srgbClr val="0E1C30">
                <a:alpha val="12000"/>
              </a:srgbClr>
            </a:solidFill>
            <a:prstDash val="solid"/>
          </a:ln>
        </p:spPr>
      </p:sp>
      <p:sp>
        <p:nvSpPr>
          <p:cNvPr id="48" name="Text 46"/>
          <p:cNvSpPr/>
          <p:nvPr/>
        </p:nvSpPr>
        <p:spPr>
          <a:xfrm>
            <a:off x="12471400" y="6013926"/>
            <a:ext cx="4582160" cy="330200"/>
          </a:xfrm>
          <a:prstGeom prst="rect">
            <a:avLst/>
          </a:prstGeom>
          <a:noFill/>
          <a:ln/>
        </p:spPr>
        <p:txBody>
          <a:bodyPr wrap="square" lIns="25400" tIns="25400" rIns="25400" bIns="25400" rtlCol="0" anchor="t">
            <a:normAutofit/>
          </a:bodyPr>
          <a:lstStyle/>
          <a:p>
            <a:pPr algn="l" indent="0" marL="0">
              <a:buNone/>
            </a:pPr>
            <a:r>
              <a:rPr lang="en-US" sz="1800" b="1" dirty="0">
                <a:solidFill>
                  <a:srgbClr val="0E1C30"/>
                </a:solidFill>
                <a:latin typeface="Space Grotesk" pitchFamily="34" charset="0"/>
                <a:ea typeface="Space Grotesk" pitchFamily="34" charset="-122"/>
                <a:cs typeface="Space Grotesk" pitchFamily="34" charset="-120"/>
              </a:rPr>
              <a:t>Augment Intent</a:t>
            </a:r>
            <a:endParaRPr lang="en-US" sz="1800" dirty="0"/>
          </a:p>
        </p:txBody>
      </p:sp>
      <p:sp>
        <p:nvSpPr>
          <p:cNvPr id="49" name="Text 47"/>
          <p:cNvSpPr/>
          <p:nvPr/>
        </p:nvSpPr>
        <p:spPr>
          <a:xfrm>
            <a:off x="12471400" y="6363176"/>
            <a:ext cx="4582160" cy="278130"/>
          </a:xfrm>
          <a:prstGeom prst="rect">
            <a:avLst/>
          </a:prstGeom>
          <a:noFill/>
          <a:ln/>
        </p:spPr>
        <p:txBody>
          <a:bodyPr wrap="square" lIns="25400" tIns="25400" rIns="25400" bIns="25400" rtlCol="0" anchor="t">
            <a:normAutofit/>
          </a:bodyPr>
          <a:lstStyle/>
          <a:p>
            <a:pPr algn="l" indent="0" marL="0">
              <a:lnSpc>
                <a:spcPct val="108000"/>
              </a:lnSpc>
              <a:buNone/>
            </a:pPr>
            <a:r>
              <a:rPr lang="en-US" sz="1350" dirty="0">
                <a:solidFill>
                  <a:srgbClr val="0E1C30">
                    <a:alpha val="55000"/>
                  </a:srgbClr>
                </a:solidFill>
                <a:latin typeface="IBM Plex Sans" pitchFamily="34" charset="0"/>
                <a:ea typeface="IBM Plex Sans" pitchFamily="34" charset="-122"/>
                <a:cs typeface="IBM Plex Sans" pitchFamily="34" charset="-120"/>
              </a:rPr>
              <a:t>Agents write changes back to the spec</a:t>
            </a:r>
            <a:endParaRPr lang="en-US" sz="1350" dirty="0"/>
          </a:p>
        </p:txBody>
      </p:sp>
      <p:sp>
        <p:nvSpPr>
          <p:cNvPr id="50" name="Shape 48"/>
          <p:cNvSpPr/>
          <p:nvPr/>
        </p:nvSpPr>
        <p:spPr>
          <a:xfrm>
            <a:off x="1143000" y="7320756"/>
            <a:ext cx="16002000" cy="9525"/>
          </a:xfrm>
          <a:prstGeom prst="rect">
            <a:avLst/>
          </a:prstGeom>
          <a:solidFill>
            <a:srgbClr val="0E1C30">
              <a:alpha val="14000"/>
            </a:srgbClr>
          </a:solidFill>
          <a:ln/>
        </p:spPr>
      </p:sp>
      <p:sp>
        <p:nvSpPr>
          <p:cNvPr id="51" name="Text 49"/>
          <p:cNvSpPr/>
          <p:nvPr/>
        </p:nvSpPr>
        <p:spPr>
          <a:xfrm>
            <a:off x="1143000" y="7606506"/>
            <a:ext cx="2015172" cy="196850"/>
          </a:xfrm>
          <a:prstGeom prst="rect">
            <a:avLst/>
          </a:prstGeom>
          <a:noFill/>
          <a:ln/>
        </p:spPr>
        <p:txBody>
          <a:bodyPr wrap="none" lIns="25400" tIns="25400" rIns="25400" bIns="25400" rtlCol="0" anchor="t">
            <a:normAutofit/>
          </a:bodyPr>
          <a:lstStyle/>
          <a:p>
            <a:pPr algn="l" indent="0" marL="0">
              <a:buNone/>
            </a:pPr>
            <a:r>
              <a:rPr lang="en-US" sz="975" spc="137" kern="0" dirty="0">
                <a:solidFill>
                  <a:srgbClr val="0E1C30">
                    <a:alpha val="50000"/>
                  </a:srgbClr>
                </a:solidFill>
                <a:latin typeface="IBM Plex Mono" pitchFamily="34" charset="0"/>
                <a:ea typeface="IBM Plex Mono" pitchFamily="34" charset="-122"/>
                <a:cs typeface="IBM Plex Mono" pitchFamily="34" charset="-120"/>
              </a:rPr>
              <a:t>AGENT INFRASTRUCTURE</a:t>
            </a:r>
            <a:endParaRPr lang="en-US" sz="975" dirty="0"/>
          </a:p>
        </p:txBody>
      </p:sp>
      <p:sp>
        <p:nvSpPr>
          <p:cNvPr id="52" name="Text 50"/>
          <p:cNvSpPr/>
          <p:nvPr/>
        </p:nvSpPr>
        <p:spPr>
          <a:xfrm>
            <a:off x="3222625" y="7517606"/>
            <a:ext cx="14515878" cy="323850"/>
          </a:xfrm>
          <a:prstGeom prst="rect">
            <a:avLst/>
          </a:prstGeom>
          <a:noFill/>
          <a:ln/>
        </p:spPr>
        <p:txBody>
          <a:bodyPr wrap="square" lIns="25400" tIns="25400" rIns="25400" bIns="25400" rtlCol="0" anchor="t">
            <a:normAutofit/>
          </a:bodyPr>
          <a:lstStyle/>
          <a:p>
            <a:pPr algn="l" indent="0" marL="0">
              <a:lnSpc>
                <a:spcPct val="115385"/>
              </a:lnSpc>
              <a:buNone/>
            </a:pPr>
            <a:r>
              <a:rPr lang="en-US" sz="1500" b="1" dirty="0">
                <a:solidFill>
                  <a:srgbClr val="0E1C30"/>
                </a:solidFill>
                <a:latin typeface="IBM Plex Sans" pitchFamily="34" charset="0"/>
                <a:ea typeface="IBM Plex Sans" pitchFamily="34" charset="-122"/>
                <a:cs typeface="IBM Plex Sans" pitchFamily="34" charset="-120"/>
              </a:rPr>
              <a:t>CrewAI · Agno · LangGraph · AutoGen </a:t>
            </a:r>
            <a:pPr algn="l" indent="0" marL="0">
              <a:lnSpc>
                <a:spcPct val="115385"/>
              </a:lnSpc>
              <a:buNone/>
            </a:pPr>
            <a:r>
              <a:rPr lang="en-US" sz="1500" dirty="0">
                <a:solidFill>
                  <a:srgbClr val="0E1C30">
                    <a:alpha val="65000"/>
                  </a:srgbClr>
                </a:solidFill>
                <a:latin typeface="IBM Plex Sans" pitchFamily="34" charset="0"/>
                <a:ea typeface="IBM Plex Sans" pitchFamily="34" charset="-122"/>
                <a:cs typeface="IBM Plex Sans" pitchFamily="34" charset="-120"/>
              </a:rPr>
              <a:t>— orchestration SDKs, not methodologies. They provide the multi-agent machinery an SDD pipeline can be built on.</a:t>
            </a:r>
            <a:endParaRPr lang="en-US" sz="1500" dirty="0"/>
          </a:p>
        </p:txBody>
      </p:sp>
      <p:sp>
        <p:nvSpPr>
          <p:cNvPr id="53" name="Text 51"/>
          <p:cNvSpPr/>
          <p:nvPr/>
        </p:nvSpPr>
        <p:spPr>
          <a:xfrm>
            <a:off x="1143000" y="8012906"/>
            <a:ext cx="15716250" cy="338138"/>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60000"/>
                  </a:srgbClr>
                </a:solidFill>
                <a:latin typeface="IBM Plex Sans" pitchFamily="34" charset="0"/>
                <a:ea typeface="IBM Plex Sans" pitchFamily="34" charset="-122"/>
                <a:cs typeface="IBM Plex Sans" pitchFamily="34" charset="-120"/>
              </a:rPr>
              <a:t>Rules of thumb: complex greenfield with a paper trail → </a:t>
            </a:r>
            <a:pPr algn="l" indent="0" marL="0">
              <a:lnSpc>
                <a:spcPct val="115244"/>
              </a:lnSpc>
              <a:buNone/>
            </a:pPr>
            <a:r>
              <a:rPr lang="en-US" sz="1575" b="1" dirty="0">
                <a:solidFill>
                  <a:srgbClr val="0E1C30"/>
                </a:solidFill>
                <a:latin typeface="IBM Plex Sans" pitchFamily="34" charset="0"/>
                <a:ea typeface="IBM Plex Sans" pitchFamily="34" charset="-122"/>
                <a:cs typeface="IBM Plex Sans" pitchFamily="34" charset="-120"/>
              </a:rPr>
              <a:t>BMAD </a:t>
            </a:r>
            <a:pPr algn="l" indent="0" marL="0">
              <a:lnSpc>
                <a:spcPct val="115244"/>
              </a:lnSpc>
              <a:buNone/>
            </a:pPr>
            <a:r>
              <a:rPr lang="en-US" sz="1575" dirty="0">
                <a:solidFill>
                  <a:srgbClr val="0E1C30">
                    <a:alpha val="60000"/>
                  </a:srgbClr>
                </a:solidFill>
                <a:latin typeface="IBM Plex Sans" pitchFamily="34" charset="0"/>
                <a:ea typeface="IBM Plex Sans" pitchFamily="34" charset="-122"/>
                <a:cs typeface="IBM Plex Sans" pitchFamily="34" charset="-120"/>
              </a:rPr>
              <a:t>· brownfield, lightweight → </a:t>
            </a:r>
            <a:pPr algn="l" indent="0" marL="0">
              <a:lnSpc>
                <a:spcPct val="115244"/>
              </a:lnSpc>
              <a:buNone/>
            </a:pPr>
            <a:r>
              <a:rPr lang="en-US" sz="1575" b="1" dirty="0">
                <a:solidFill>
                  <a:srgbClr val="0E1C30"/>
                </a:solidFill>
                <a:latin typeface="IBM Plex Sans" pitchFamily="34" charset="0"/>
                <a:ea typeface="IBM Plex Sans" pitchFamily="34" charset="-122"/>
                <a:cs typeface="IBM Plex Sans" pitchFamily="34" charset="-120"/>
              </a:rPr>
              <a:t>OpenSpec </a:t>
            </a:r>
            <a:pPr algn="l" indent="0" marL="0">
              <a:lnSpc>
                <a:spcPct val="115244"/>
              </a:lnSpc>
              <a:buNone/>
            </a:pPr>
            <a:r>
              <a:rPr lang="en-US" sz="1575" dirty="0">
                <a:solidFill>
                  <a:srgbClr val="0E1C30">
                    <a:alpha val="60000"/>
                  </a:srgbClr>
                </a:solidFill>
                <a:latin typeface="IBM Plex Sans" pitchFamily="34" charset="0"/>
                <a:ea typeface="IBM Plex Sans" pitchFamily="34" charset="-122"/>
                <a:cs typeface="IBM Plex Sans" pitchFamily="34" charset="-120"/>
              </a:rPr>
              <a:t>· broad default → </a:t>
            </a:r>
            <a:pPr algn="l" indent="0" marL="0">
              <a:lnSpc>
                <a:spcPct val="115244"/>
              </a:lnSpc>
              <a:buNone/>
            </a:pPr>
            <a:r>
              <a:rPr lang="en-US" sz="1575" b="1" dirty="0">
                <a:solidFill>
                  <a:srgbClr val="0E1C30"/>
                </a:solidFill>
                <a:latin typeface="IBM Plex Sans" pitchFamily="34" charset="0"/>
                <a:ea typeface="IBM Plex Sans" pitchFamily="34" charset="-122"/>
                <a:cs typeface="IBM Plex Sans" pitchFamily="34" charset="-120"/>
              </a:rPr>
              <a:t>Spec Kit </a:t>
            </a:r>
            <a:pPr algn="l" indent="0" marL="0">
              <a:lnSpc>
                <a:spcPct val="115244"/>
              </a:lnSpc>
              <a:buNone/>
            </a:pPr>
            <a:r>
              <a:rPr lang="en-US" sz="1575" dirty="0">
                <a:solidFill>
                  <a:srgbClr val="0E1C30">
                    <a:alpha val="60000"/>
                  </a:srgbClr>
                </a:solidFill>
                <a:latin typeface="IBM Plex Sans" pitchFamily="34" charset="0"/>
                <a:ea typeface="IBM Plex Sans" pitchFamily="34" charset="-122"/>
                <a:cs typeface="IBM Plex Sans" pitchFamily="34" charset="-120"/>
              </a:rPr>
              <a:t>· AWS-native IDE → </a:t>
            </a:r>
            <a:pPr algn="l" indent="0" marL="0">
              <a:lnSpc>
                <a:spcPct val="115244"/>
              </a:lnSpc>
              <a:buNone/>
            </a:pPr>
            <a:r>
              <a:rPr lang="en-US" sz="1575" b="1" dirty="0">
                <a:solidFill>
                  <a:srgbClr val="0E1C30"/>
                </a:solidFill>
                <a:latin typeface="IBM Plex Sans" pitchFamily="34" charset="0"/>
                <a:ea typeface="IBM Plex Sans" pitchFamily="34" charset="-122"/>
                <a:cs typeface="IBM Plex Sans" pitchFamily="34" charset="-120"/>
              </a:rPr>
              <a:t>Kiro</a:t>
            </a:r>
            <a:endParaRPr lang="en-US" sz="1575" dirty="0"/>
          </a:p>
        </p:txBody>
      </p:sp>
      <p:sp>
        <p:nvSpPr>
          <p:cNvPr id="54" name="Text 52"/>
          <p:cNvSpPr/>
          <p:nvPr/>
        </p:nvSpPr>
        <p:spPr>
          <a:xfrm>
            <a:off x="1143000" y="96520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55" name="Text 53"/>
          <p:cNvSpPr/>
          <p:nvPr/>
        </p:nvSpPr>
        <p:spPr>
          <a:xfrm>
            <a:off x="16453803" y="96520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13 / 45</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2379345"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METHOD × MACHINERY</a:t>
            </a:r>
            <a:endParaRPr lang="en-US" sz="1200" dirty="0"/>
          </a:p>
        </p:txBody>
      </p:sp>
      <p:sp>
        <p:nvSpPr>
          <p:cNvPr id="4" name="Text 2"/>
          <p:cNvSpPr/>
          <p:nvPr/>
        </p:nvSpPr>
        <p:spPr>
          <a:xfrm>
            <a:off x="1143000" y="1365250"/>
            <a:ext cx="14878050" cy="652304"/>
          </a:xfrm>
          <a:prstGeom prst="rect">
            <a:avLst/>
          </a:prstGeom>
          <a:noFill/>
          <a:ln/>
        </p:spPr>
        <p:txBody>
          <a:bodyPr wrap="square" lIns="25400" tIns="25400" rIns="25400" bIns="25400" rtlCol="0" anchor="t">
            <a:normAutofit/>
          </a:bodyPr>
          <a:lstStyle/>
          <a:p>
            <a:pPr algn="l" indent="0" marL="0">
              <a:lnSpc>
                <a:spcPct val="81281"/>
              </a:lnSpc>
              <a:buNone/>
            </a:pPr>
            <a:r>
              <a:rPr lang="en-US" sz="4650" b="1" spc="-93" kern="0" dirty="0">
                <a:solidFill>
                  <a:srgbClr val="0E1C30"/>
                </a:solidFill>
                <a:latin typeface="Space Grotesk" pitchFamily="34" charset="0"/>
                <a:ea typeface="Space Grotesk" pitchFamily="34" charset="-122"/>
                <a:cs typeface="Space Grotesk" pitchFamily="34" charset="-120"/>
              </a:rPr>
              <a:t>Method and machinery are different layers</a:t>
            </a:r>
            <a:endParaRPr lang="en-US" sz="4650" dirty="0"/>
          </a:p>
        </p:txBody>
      </p:sp>
      <p:sp>
        <p:nvSpPr>
          <p:cNvPr id="5" name="Shape 3"/>
          <p:cNvSpPr/>
          <p:nvPr/>
        </p:nvSpPr>
        <p:spPr>
          <a:xfrm>
            <a:off x="1143000" y="2417604"/>
            <a:ext cx="7858125" cy="2655887"/>
          </a:xfrm>
          <a:prstGeom prst="rect">
            <a:avLst/>
          </a:prstGeom>
          <a:solidFill>
            <a:srgbClr val="FFFFFF"/>
          </a:solidFill>
          <a:ln/>
        </p:spPr>
      </p:sp>
      <p:sp>
        <p:nvSpPr>
          <p:cNvPr id="6" name="Shape 4"/>
          <p:cNvSpPr/>
          <p:nvPr/>
        </p:nvSpPr>
        <p:spPr>
          <a:xfrm>
            <a:off x="1143000" y="5067141"/>
            <a:ext cx="7858125" cy="9525"/>
          </a:xfrm>
          <a:prstGeom prst="rect">
            <a:avLst/>
          </a:prstGeom>
          <a:solidFill>
            <a:srgbClr val="0E1C30">
              <a:alpha val="16000"/>
            </a:srgbClr>
          </a:solidFill>
          <a:ln/>
        </p:spPr>
      </p:sp>
      <p:sp>
        <p:nvSpPr>
          <p:cNvPr id="7" name="Shape 5"/>
          <p:cNvSpPr/>
          <p:nvPr/>
        </p:nvSpPr>
        <p:spPr>
          <a:xfrm>
            <a:off x="1143000" y="2417604"/>
            <a:ext cx="7858125" cy="38100"/>
          </a:xfrm>
          <a:prstGeom prst="rect">
            <a:avLst/>
          </a:prstGeom>
          <a:solidFill>
            <a:srgbClr val="F4C233"/>
          </a:solidFill>
          <a:ln/>
        </p:spPr>
      </p:sp>
      <p:sp>
        <p:nvSpPr>
          <p:cNvPr id="8" name="Shape 6"/>
          <p:cNvSpPr/>
          <p:nvPr/>
        </p:nvSpPr>
        <p:spPr>
          <a:xfrm>
            <a:off x="1143000" y="2417604"/>
            <a:ext cx="9525" cy="2655887"/>
          </a:xfrm>
          <a:prstGeom prst="rect">
            <a:avLst/>
          </a:prstGeom>
          <a:solidFill>
            <a:srgbClr val="0E1C30">
              <a:alpha val="16000"/>
            </a:srgbClr>
          </a:solidFill>
          <a:ln/>
        </p:spPr>
      </p:sp>
      <p:sp>
        <p:nvSpPr>
          <p:cNvPr id="9" name="Shape 7"/>
          <p:cNvSpPr/>
          <p:nvPr/>
        </p:nvSpPr>
        <p:spPr>
          <a:xfrm>
            <a:off x="8994775" y="2417604"/>
            <a:ext cx="9525" cy="2655887"/>
          </a:xfrm>
          <a:prstGeom prst="rect">
            <a:avLst/>
          </a:prstGeom>
          <a:solidFill>
            <a:srgbClr val="0E1C30">
              <a:alpha val="16000"/>
            </a:srgbClr>
          </a:solidFill>
          <a:ln/>
        </p:spPr>
      </p:sp>
      <p:sp>
        <p:nvSpPr>
          <p:cNvPr id="10" name="Text 8"/>
          <p:cNvSpPr/>
          <p:nvPr/>
        </p:nvSpPr>
        <p:spPr>
          <a:xfrm>
            <a:off x="1511300" y="2779554"/>
            <a:ext cx="7833677"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F4C233"/>
                </a:solidFill>
                <a:latin typeface="IBM Plex Mono" pitchFamily="34" charset="0"/>
                <a:ea typeface="IBM Plex Mono" pitchFamily="34" charset="-122"/>
                <a:cs typeface="IBM Plex Mono" pitchFamily="34" charset="-120"/>
              </a:rPr>
              <a:t>NEED AN SDK </a:t>
            </a:r>
            <a:pPr algn="l" indent="0" marL="0">
              <a:buNone/>
            </a:pPr>
            <a:r>
              <a:rPr lang="en-US" sz="1050" i="1" spc="168" kern="0" dirty="0">
                <a:solidFill>
                  <a:srgbClr val="F4C233"/>
                </a:solidFill>
                <a:latin typeface="IBM Plex Mono" pitchFamily="34" charset="0"/>
                <a:ea typeface="IBM Plex Mono" pitchFamily="34" charset="-122"/>
                <a:cs typeface="IBM Plex Mono" pitchFamily="34" charset="-120"/>
              </a:rPr>
              <a:t>WITH </a:t>
            </a:r>
            <a:pPr algn="l" indent="0" marL="0">
              <a:buNone/>
            </a:pPr>
            <a:r>
              <a:rPr lang="en-US" sz="1050" spc="168" kern="0" dirty="0">
                <a:solidFill>
                  <a:srgbClr val="F4C233"/>
                </a:solidFill>
                <a:latin typeface="IBM Plex Mono" pitchFamily="34" charset="0"/>
                <a:ea typeface="IBM Plex Mono" pitchFamily="34" charset="-122"/>
                <a:cs typeface="IBM Plex Mono" pitchFamily="34" charset="-120"/>
              </a:rPr>
              <a:t>BMAD? — USUALLY NOT</a:t>
            </a:r>
            <a:endParaRPr lang="en-US" sz="1050" dirty="0"/>
          </a:p>
        </p:txBody>
      </p:sp>
      <p:sp>
        <p:nvSpPr>
          <p:cNvPr id="11" name="Text 9"/>
          <p:cNvSpPr/>
          <p:nvPr/>
        </p:nvSpPr>
        <p:spPr>
          <a:xfrm>
            <a:off x="1511300" y="3109754"/>
            <a:ext cx="7335170" cy="638175"/>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74000"/>
                  </a:srgbClr>
                </a:solidFill>
                <a:latin typeface="IBM Plex Sans" pitchFamily="34" charset="0"/>
                <a:ea typeface="IBM Plex Sans" pitchFamily="34" charset="-122"/>
                <a:cs typeface="IBM Plex Sans" pitchFamily="34" charset="-120"/>
              </a:rPr>
              <a:t>BMAD installs as skills into Claude Code, Cursor, or Codex — the host is already the runtime (tool calling, files, context) and humans drive the checkpoints.</a:t>
            </a:r>
            <a:endParaRPr lang="en-US" sz="1575" dirty="0"/>
          </a:p>
        </p:txBody>
      </p:sp>
      <p:sp>
        <p:nvSpPr>
          <p:cNvPr id="12" name="Text 10"/>
          <p:cNvSpPr/>
          <p:nvPr/>
        </p:nvSpPr>
        <p:spPr>
          <a:xfrm>
            <a:off x="1511300" y="3843179"/>
            <a:ext cx="7335170" cy="938213"/>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74000"/>
                  </a:srgbClr>
                </a:solidFill>
                <a:latin typeface="IBM Plex Sans" pitchFamily="34" charset="0"/>
                <a:ea typeface="IBM Plex Sans" pitchFamily="34" charset="-122"/>
                <a:cs typeface="IBM Plex Sans" pitchFamily="34" charset="-120"/>
              </a:rPr>
              <a:t>Reach for CrewAI or LangGraph only to build your own </a:t>
            </a:r>
            <a:pPr algn="l" indent="0" marL="0">
              <a:lnSpc>
                <a:spcPct val="115244"/>
              </a:lnSpc>
              <a:buNone/>
            </a:pPr>
            <a:r>
              <a:rPr lang="en-US" sz="1575" b="1" dirty="0">
                <a:solidFill>
                  <a:srgbClr val="0E1C30"/>
                </a:solidFill>
                <a:latin typeface="IBM Plex Sans" pitchFamily="34" charset="0"/>
                <a:ea typeface="IBM Plex Sans" pitchFamily="34" charset="-122"/>
                <a:cs typeface="IBM Plex Sans" pitchFamily="34" charset="-120"/>
              </a:rPr>
              <a:t>pipeline product </a:t>
            </a:r>
            <a:pPr algn="l" indent="0" marL="0">
              <a:lnSpc>
                <a:spcPct val="115244"/>
              </a:lnSpc>
              <a:buNone/>
            </a:pPr>
            <a:r>
              <a:rPr lang="en-US" sz="1575" dirty="0">
                <a:solidFill>
                  <a:srgbClr val="0E1C30">
                    <a:alpha val="74000"/>
                  </a:srgbClr>
                </a:solidFill>
                <a:latin typeface="IBM Plex Sans" pitchFamily="34" charset="0"/>
                <a:ea typeface="IBM Plex Sans" pitchFamily="34" charset="-122"/>
                <a:cs typeface="IBM Plex Sans" pitchFamily="34" charset="-120"/>
              </a:rPr>
              <a:t>— unattended CI loops, parallel story agents. Then personas become crews or nodes, and BMAD’s artifacts stay the contracts.</a:t>
            </a:r>
            <a:endParaRPr lang="en-US" sz="1575" dirty="0"/>
          </a:p>
        </p:txBody>
      </p:sp>
      <p:sp>
        <p:nvSpPr>
          <p:cNvPr id="13" name="Shape 11"/>
          <p:cNvSpPr/>
          <p:nvPr/>
        </p:nvSpPr>
        <p:spPr>
          <a:xfrm>
            <a:off x="9286875" y="2417604"/>
            <a:ext cx="7858125" cy="2655887"/>
          </a:xfrm>
          <a:prstGeom prst="rect">
            <a:avLst/>
          </a:prstGeom>
          <a:solidFill>
            <a:srgbClr val="FFFFFF"/>
          </a:solidFill>
          <a:ln/>
        </p:spPr>
      </p:sp>
      <p:sp>
        <p:nvSpPr>
          <p:cNvPr id="14" name="Shape 12"/>
          <p:cNvSpPr/>
          <p:nvPr/>
        </p:nvSpPr>
        <p:spPr>
          <a:xfrm>
            <a:off x="9286875" y="5067141"/>
            <a:ext cx="7858125" cy="9525"/>
          </a:xfrm>
          <a:prstGeom prst="rect">
            <a:avLst/>
          </a:prstGeom>
          <a:solidFill>
            <a:srgbClr val="0E1C30">
              <a:alpha val="16000"/>
            </a:srgbClr>
          </a:solidFill>
          <a:ln/>
        </p:spPr>
      </p:sp>
      <p:sp>
        <p:nvSpPr>
          <p:cNvPr id="15" name="Shape 13"/>
          <p:cNvSpPr/>
          <p:nvPr/>
        </p:nvSpPr>
        <p:spPr>
          <a:xfrm>
            <a:off x="9286875" y="2417604"/>
            <a:ext cx="7858125" cy="38100"/>
          </a:xfrm>
          <a:prstGeom prst="rect">
            <a:avLst/>
          </a:prstGeom>
          <a:solidFill>
            <a:srgbClr val="5BB3F5"/>
          </a:solidFill>
          <a:ln/>
        </p:spPr>
      </p:sp>
      <p:sp>
        <p:nvSpPr>
          <p:cNvPr id="16" name="Shape 14"/>
          <p:cNvSpPr/>
          <p:nvPr/>
        </p:nvSpPr>
        <p:spPr>
          <a:xfrm>
            <a:off x="9286875" y="2417604"/>
            <a:ext cx="9525" cy="2655887"/>
          </a:xfrm>
          <a:prstGeom prst="rect">
            <a:avLst/>
          </a:prstGeom>
          <a:solidFill>
            <a:srgbClr val="0E1C30">
              <a:alpha val="16000"/>
            </a:srgbClr>
          </a:solidFill>
          <a:ln/>
        </p:spPr>
      </p:sp>
      <p:sp>
        <p:nvSpPr>
          <p:cNvPr id="17" name="Shape 15"/>
          <p:cNvSpPr/>
          <p:nvPr/>
        </p:nvSpPr>
        <p:spPr>
          <a:xfrm>
            <a:off x="17138650" y="2417604"/>
            <a:ext cx="9525" cy="2655887"/>
          </a:xfrm>
          <a:prstGeom prst="rect">
            <a:avLst/>
          </a:prstGeom>
          <a:solidFill>
            <a:srgbClr val="0E1C30">
              <a:alpha val="16000"/>
            </a:srgbClr>
          </a:solidFill>
          <a:ln/>
        </p:spPr>
      </p:sp>
      <p:sp>
        <p:nvSpPr>
          <p:cNvPr id="18" name="Text 16"/>
          <p:cNvSpPr/>
          <p:nvPr/>
        </p:nvSpPr>
        <p:spPr>
          <a:xfrm>
            <a:off x="9655175" y="2779554"/>
            <a:ext cx="7833677"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1E7FD6"/>
                </a:solidFill>
                <a:latin typeface="IBM Plex Mono" pitchFamily="34" charset="0"/>
                <a:ea typeface="IBM Plex Mono" pitchFamily="34" charset="-122"/>
                <a:cs typeface="IBM Plex Mono" pitchFamily="34" charset="-120"/>
              </a:rPr>
              <a:t>NEED A METHOD </a:t>
            </a:r>
            <a:pPr algn="l" indent="0" marL="0">
              <a:buNone/>
            </a:pPr>
            <a:r>
              <a:rPr lang="en-US" sz="1050" i="1" spc="168" kern="0" dirty="0">
                <a:solidFill>
                  <a:srgbClr val="1E7FD6"/>
                </a:solidFill>
                <a:latin typeface="IBM Plex Mono" pitchFamily="34" charset="0"/>
                <a:ea typeface="IBM Plex Mono" pitchFamily="34" charset="-122"/>
                <a:cs typeface="IBM Plex Mono" pitchFamily="34" charset="-120"/>
              </a:rPr>
              <a:t>WITH </a:t>
            </a:r>
            <a:pPr algn="l" indent="0" marL="0">
              <a:buNone/>
            </a:pPr>
            <a:r>
              <a:rPr lang="en-US" sz="1050" spc="168" kern="0" dirty="0">
                <a:solidFill>
                  <a:srgbClr val="1E7FD6"/>
                </a:solidFill>
                <a:latin typeface="IBM Plex Mono" pitchFamily="34" charset="0"/>
                <a:ea typeface="IBM Plex Mono" pitchFamily="34" charset="-122"/>
                <a:cs typeface="IBM Plex Mono" pitchFamily="34" charset="-120"/>
              </a:rPr>
              <a:t>AN SDK? — FOR SOFTWARE, YES</a:t>
            </a:r>
            <a:endParaRPr lang="en-US" sz="1050" dirty="0"/>
          </a:p>
        </p:txBody>
      </p:sp>
      <p:sp>
        <p:nvSpPr>
          <p:cNvPr id="19" name="Text 17"/>
          <p:cNvSpPr/>
          <p:nvPr/>
        </p:nvSpPr>
        <p:spPr>
          <a:xfrm>
            <a:off x="9655175" y="3109754"/>
            <a:ext cx="7335170" cy="938213"/>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74000"/>
                  </a:srgbClr>
                </a:solidFill>
                <a:latin typeface="IBM Plex Sans" pitchFamily="34" charset="0"/>
                <a:ea typeface="IBM Plex Sans" pitchFamily="34" charset="-122"/>
                <a:cs typeface="IBM Plex Sans" pitchFamily="34" charset="-120"/>
              </a:rPr>
              <a:t>Orchestration SDKs are empty machinery — no roles, no artifacts, no gates. Building software? </a:t>
            </a:r>
            <a:pPr algn="l" indent="0" marL="0">
              <a:lnSpc>
                <a:spcPct val="115244"/>
              </a:lnSpc>
              <a:buNone/>
            </a:pPr>
            <a:r>
              <a:rPr lang="en-US" sz="1575" b="1" dirty="0">
                <a:solidFill>
                  <a:srgbClr val="0E1C30"/>
                </a:solidFill>
                <a:latin typeface="IBM Plex Sans" pitchFamily="34" charset="0"/>
                <a:ea typeface="IBM Plex Sans" pitchFamily="34" charset="-122"/>
                <a:cs typeface="IBM Plex Sans" pitchFamily="34" charset="-120"/>
              </a:rPr>
              <a:t>Borrow </a:t>
            </a:r>
            <a:pPr algn="l" indent="0" marL="0">
              <a:lnSpc>
                <a:spcPct val="115244"/>
              </a:lnSpc>
              <a:buNone/>
            </a:pPr>
            <a:r>
              <a:rPr lang="en-US" sz="1575" dirty="0">
                <a:solidFill>
                  <a:srgbClr val="0E1C30">
                    <a:alpha val="74000"/>
                  </a:srgbClr>
                </a:solidFill>
                <a:latin typeface="IBM Plex Sans" pitchFamily="34" charset="0"/>
                <a:ea typeface="IBM Plex Sans" pitchFamily="34" charset="-122"/>
                <a:cs typeface="IBM Plex Sans" pitchFamily="34" charset="-120"/>
              </a:rPr>
              <a:t>BMAD (personas→roles, artifacts→messages, gates→edges) or reinvent every piece.</a:t>
            </a:r>
            <a:endParaRPr lang="en-US" sz="1575" dirty="0"/>
          </a:p>
        </p:txBody>
      </p:sp>
      <p:sp>
        <p:nvSpPr>
          <p:cNvPr id="20" name="Text 18"/>
          <p:cNvSpPr/>
          <p:nvPr/>
        </p:nvSpPr>
        <p:spPr>
          <a:xfrm>
            <a:off x="9655175" y="4143216"/>
            <a:ext cx="7335170" cy="638175"/>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74000"/>
                  </a:srgbClr>
                </a:solidFill>
                <a:latin typeface="IBM Plex Sans" pitchFamily="34" charset="0"/>
                <a:ea typeface="IBM Plex Sans" pitchFamily="34" charset="-122"/>
                <a:cs typeface="IBM Plex Sans" pitchFamily="34" charset="-120"/>
              </a:rPr>
              <a:t>Not building software — research crews, bots, data pipelines? SDD is irrelevant; the SDK plus your own workflow is all there is.</a:t>
            </a:r>
            <a:endParaRPr lang="en-US" sz="1575" dirty="0"/>
          </a:p>
        </p:txBody>
      </p:sp>
      <p:sp>
        <p:nvSpPr>
          <p:cNvPr id="21" name="Shape 19"/>
          <p:cNvSpPr/>
          <p:nvPr/>
        </p:nvSpPr>
        <p:spPr>
          <a:xfrm>
            <a:off x="1143000" y="5454491"/>
            <a:ext cx="16002000" cy="1493838"/>
          </a:xfrm>
          <a:prstGeom prst="rect">
            <a:avLst/>
          </a:prstGeom>
          <a:solidFill>
            <a:srgbClr val="F4C233">
              <a:alpha val="10000"/>
            </a:srgbClr>
          </a:solidFill>
          <a:ln w="6350">
            <a:solidFill>
              <a:srgbClr val="F4C233">
                <a:alpha val="35000"/>
              </a:srgbClr>
            </a:solidFill>
            <a:prstDash val="solid"/>
          </a:ln>
        </p:spPr>
      </p:sp>
      <p:sp>
        <p:nvSpPr>
          <p:cNvPr id="22" name="Text 20"/>
          <p:cNvSpPr/>
          <p:nvPr/>
        </p:nvSpPr>
        <p:spPr>
          <a:xfrm>
            <a:off x="1473200" y="5828348"/>
            <a:ext cx="1266984" cy="196850"/>
          </a:xfrm>
          <a:prstGeom prst="rect">
            <a:avLst/>
          </a:prstGeom>
          <a:noFill/>
          <a:ln/>
        </p:spPr>
        <p:txBody>
          <a:bodyPr wrap="none" lIns="25400" tIns="25400" rIns="25400" bIns="25400" rtlCol="0" anchor="t">
            <a:normAutofit/>
          </a:bodyPr>
          <a:lstStyle/>
          <a:p>
            <a:pPr algn="l" indent="0" marL="0">
              <a:buNone/>
            </a:pPr>
            <a:r>
              <a:rPr lang="en-US" sz="975" spc="137" kern="0" dirty="0">
                <a:solidFill>
                  <a:srgbClr val="F4C233"/>
                </a:solidFill>
                <a:latin typeface="IBM Plex Mono" pitchFamily="34" charset="0"/>
                <a:ea typeface="IBM Plex Mono" pitchFamily="34" charset="-122"/>
                <a:cs typeface="IBM Plex Mono" pitchFamily="34" charset="-120"/>
              </a:rPr>
              <a:t>THE ASYMMETRY</a:t>
            </a:r>
            <a:endParaRPr lang="en-US" sz="975" dirty="0"/>
          </a:p>
        </p:txBody>
      </p:sp>
      <p:sp>
        <p:nvSpPr>
          <p:cNvPr id="23" name="Text 21"/>
          <p:cNvSpPr/>
          <p:nvPr/>
        </p:nvSpPr>
        <p:spPr>
          <a:xfrm>
            <a:off x="2911634" y="5708491"/>
            <a:ext cx="12753975" cy="1023938"/>
          </a:xfrm>
          <a:prstGeom prst="rect">
            <a:avLst/>
          </a:prstGeom>
          <a:noFill/>
          <a:ln/>
        </p:spPr>
        <p:txBody>
          <a:bodyPr wrap="square" lIns="25400" tIns="25400" rIns="25400" bIns="25400" rtlCol="0" anchor="t">
            <a:normAutofit/>
          </a:bodyPr>
          <a:lstStyle/>
          <a:p>
            <a:pPr algn="l" indent="0" marL="0">
              <a:lnSpc>
                <a:spcPct val="115000"/>
              </a:lnSpc>
              <a:buNone/>
            </a:pPr>
            <a:r>
              <a:rPr lang="en-US" sz="1725" dirty="0">
                <a:solidFill>
                  <a:srgbClr val="0E1C30">
                    <a:alpha val="88000"/>
                  </a:srgbClr>
                </a:solidFill>
                <a:latin typeface="IBM Plex Sans" pitchFamily="34" charset="0"/>
                <a:ea typeface="IBM Plex Sans" pitchFamily="34" charset="-122"/>
                <a:cs typeface="IBM Plex Sans" pitchFamily="34" charset="-120"/>
              </a:rPr>
              <a:t>The methodology defines </a:t>
            </a:r>
            <a:pPr algn="l" indent="0" marL="0">
              <a:lnSpc>
                <a:spcPct val="115000"/>
              </a:lnSpc>
              <a:buNone/>
            </a:pPr>
            <a:r>
              <a:rPr lang="en-US" sz="1725" b="1" dirty="0">
                <a:solidFill>
                  <a:srgbClr val="F4C233"/>
                </a:solidFill>
                <a:latin typeface="IBM Plex Sans" pitchFamily="34" charset="0"/>
                <a:ea typeface="IBM Plex Sans" pitchFamily="34" charset="-122"/>
                <a:cs typeface="IBM Plex Sans" pitchFamily="34" charset="-120"/>
              </a:rPr>
              <a:t>what </a:t>
            </a:r>
            <a:pPr algn="l" indent="0" marL="0">
              <a:lnSpc>
                <a:spcPct val="115000"/>
              </a:lnSpc>
              <a:buNone/>
            </a:pPr>
            <a:r>
              <a:rPr lang="en-US" sz="1725" dirty="0">
                <a:solidFill>
                  <a:srgbClr val="0E1C30">
                    <a:alpha val="88000"/>
                  </a:srgbClr>
                </a:solidFill>
                <a:latin typeface="IBM Plex Sans" pitchFamily="34" charset="0"/>
                <a:ea typeface="IBM Plex Sans" pitchFamily="34" charset="-122"/>
                <a:cs typeface="IBM Plex Sans" pitchFamily="34" charset="-120"/>
              </a:rPr>
              <a:t>agents do and hand off; the SDK only changes </a:t>
            </a:r>
            <a:pPr algn="l" indent="0" marL="0">
              <a:lnSpc>
                <a:spcPct val="115000"/>
              </a:lnSpc>
              <a:buNone/>
            </a:pPr>
            <a:r>
              <a:rPr lang="en-US" sz="1725" b="1" dirty="0">
                <a:solidFill>
                  <a:srgbClr val="1E7FD6"/>
                </a:solidFill>
                <a:latin typeface="IBM Plex Sans" pitchFamily="34" charset="0"/>
                <a:ea typeface="IBM Plex Sans" pitchFamily="34" charset="-122"/>
                <a:cs typeface="IBM Plex Sans" pitchFamily="34" charset="-120"/>
              </a:rPr>
              <a:t>where </a:t>
            </a:r>
            <a:pPr algn="l" indent="0" marL="0">
              <a:lnSpc>
                <a:spcPct val="115000"/>
              </a:lnSpc>
              <a:buNone/>
            </a:pPr>
            <a:r>
              <a:rPr lang="en-US" sz="1725" dirty="0">
                <a:solidFill>
                  <a:srgbClr val="0E1C30">
                    <a:alpha val="88000"/>
                  </a:srgbClr>
                </a:solidFill>
                <a:latin typeface="IBM Plex Sans" pitchFamily="34" charset="0"/>
                <a:ea typeface="IBM Plex Sans" pitchFamily="34" charset="-122"/>
                <a:cs typeface="IBM Plex Sans" pitchFamily="34" charset="-120"/>
              </a:rPr>
              <a:t>they run. Method without SDK works out of the box — SDK without method only when you’re not shipping software. The process layer is non-negotiable; the SDK is optional plumbing.</a:t>
            </a:r>
            <a:endParaRPr lang="en-US" sz="1725" dirty="0"/>
          </a:p>
        </p:txBody>
      </p:sp>
      <p:sp>
        <p:nvSpPr>
          <p:cNvPr id="24" name="Text 22"/>
          <p:cNvSpPr/>
          <p:nvPr/>
        </p:nvSpPr>
        <p:spPr>
          <a:xfrm>
            <a:off x="1143000" y="96139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25" name="Text 23"/>
          <p:cNvSpPr/>
          <p:nvPr/>
        </p:nvSpPr>
        <p:spPr>
          <a:xfrm>
            <a:off x="16453803" y="96139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14 / 45</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2379345"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WHY THIS FRAMEWORK</a:t>
            </a:r>
            <a:endParaRPr lang="en-US" sz="1200" dirty="0"/>
          </a:p>
        </p:txBody>
      </p:sp>
      <p:sp>
        <p:nvSpPr>
          <p:cNvPr id="4" name="Text 2"/>
          <p:cNvSpPr/>
          <p:nvPr/>
        </p:nvSpPr>
        <p:spPr>
          <a:xfrm>
            <a:off x="1143000" y="1384300"/>
            <a:ext cx="14144625" cy="678180"/>
          </a:xfrm>
          <a:prstGeom prst="rect">
            <a:avLst/>
          </a:prstGeom>
          <a:noFill/>
          <a:ln/>
        </p:spPr>
        <p:txBody>
          <a:bodyPr wrap="square" lIns="25400" tIns="25400" rIns="25400" bIns="25400" rtlCol="0" anchor="t">
            <a:normAutofit/>
          </a:bodyPr>
          <a:lstStyle/>
          <a:p>
            <a:pPr algn="l" indent="0" marL="0">
              <a:lnSpc>
                <a:spcPct val="82623"/>
              </a:lnSpc>
              <a:buNone/>
            </a:pPr>
            <a:r>
              <a:rPr lang="en-US" sz="4800" b="1" spc="-96" kern="0" dirty="0">
                <a:solidFill>
                  <a:srgbClr val="0E1C30"/>
                </a:solidFill>
                <a:latin typeface="Space Grotesk" pitchFamily="34" charset="0"/>
                <a:ea typeface="Space Grotesk" pitchFamily="34" charset="-122"/>
                <a:cs typeface="Space Grotesk" pitchFamily="34" charset="-120"/>
              </a:rPr>
              <a:t>Four reasons BMAD earns the choice</a:t>
            </a:r>
            <a:endParaRPr lang="en-US" sz="4800" dirty="0"/>
          </a:p>
        </p:txBody>
      </p:sp>
      <p:sp>
        <p:nvSpPr>
          <p:cNvPr id="5" name="Shape 3"/>
          <p:cNvSpPr/>
          <p:nvPr/>
        </p:nvSpPr>
        <p:spPr>
          <a:xfrm>
            <a:off x="1143000" y="2557780"/>
            <a:ext cx="7877175" cy="2244725"/>
          </a:xfrm>
          <a:prstGeom prst="rect">
            <a:avLst/>
          </a:prstGeom>
          <a:solidFill>
            <a:srgbClr val="FFFFFF"/>
          </a:solidFill>
          <a:ln w="6350">
            <a:solidFill>
              <a:srgbClr val="0E1C30">
                <a:alpha val="12000"/>
              </a:srgbClr>
            </a:solidFill>
            <a:prstDash val="solid"/>
          </a:ln>
        </p:spPr>
      </p:sp>
      <p:sp>
        <p:nvSpPr>
          <p:cNvPr id="6" name="Text 4"/>
          <p:cNvSpPr/>
          <p:nvPr/>
        </p:nvSpPr>
        <p:spPr>
          <a:xfrm>
            <a:off x="1511300" y="2907030"/>
            <a:ext cx="7854632"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F4C233"/>
                </a:solidFill>
                <a:latin typeface="Space Grotesk" pitchFamily="34" charset="0"/>
                <a:ea typeface="Space Grotesk" pitchFamily="34" charset="-122"/>
                <a:cs typeface="Space Grotesk" pitchFamily="34" charset="-120"/>
              </a:rPr>
              <a:t>01</a:t>
            </a:r>
            <a:endParaRPr lang="en-US" sz="2250" dirty="0"/>
          </a:p>
        </p:txBody>
      </p:sp>
      <p:sp>
        <p:nvSpPr>
          <p:cNvPr id="7" name="Text 5"/>
          <p:cNvSpPr/>
          <p:nvPr/>
        </p:nvSpPr>
        <p:spPr>
          <a:xfrm>
            <a:off x="1511300" y="3383280"/>
            <a:ext cx="7854632" cy="393700"/>
          </a:xfrm>
          <a:prstGeom prst="rect">
            <a:avLst/>
          </a:prstGeom>
          <a:noFill/>
          <a:ln/>
        </p:spPr>
        <p:txBody>
          <a:bodyPr wrap="square" lIns="25400" tIns="25400" rIns="25400" bIns="25400" rtlCol="0" anchor="t">
            <a:normAutofit/>
          </a:bodyPr>
          <a:lstStyle/>
          <a:p>
            <a:pPr algn="l" indent="0" marL="0">
              <a:buNone/>
            </a:pPr>
            <a:r>
              <a:rPr lang="en-US" sz="2175" b="1" dirty="0">
                <a:solidFill>
                  <a:srgbClr val="0E1C30"/>
                </a:solidFill>
                <a:latin typeface="Space Grotesk" pitchFamily="34" charset="0"/>
                <a:ea typeface="Space Grotesk" pitchFamily="34" charset="-122"/>
                <a:cs typeface="Space Grotesk" pitchFamily="34" charset="-120"/>
              </a:rPr>
              <a:t>Structure without rigidity</a:t>
            </a:r>
            <a:endParaRPr lang="en-US" sz="2175" dirty="0"/>
          </a:p>
        </p:txBody>
      </p:sp>
      <p:sp>
        <p:nvSpPr>
          <p:cNvPr id="8" name="Text 6"/>
          <p:cNvSpPr/>
          <p:nvPr/>
        </p:nvSpPr>
        <p:spPr>
          <a:xfrm>
            <a:off x="1511300" y="3853180"/>
            <a:ext cx="7354792" cy="638175"/>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65000"/>
                  </a:srgbClr>
                </a:solidFill>
                <a:latin typeface="IBM Plex Sans" pitchFamily="34" charset="0"/>
                <a:ea typeface="IBM Plex Sans" pitchFamily="34" charset="-122"/>
                <a:cs typeface="IBM Plex Sans" pitchFamily="34" charset="-120"/>
              </a:rPr>
              <a:t>Guardrails, not gates: skip optional phases, load agents directly, reorder workflows once you know the flow.</a:t>
            </a:r>
            <a:endParaRPr lang="en-US" sz="1575" dirty="0"/>
          </a:p>
        </p:txBody>
      </p:sp>
      <p:sp>
        <p:nvSpPr>
          <p:cNvPr id="9" name="Shape 7"/>
          <p:cNvSpPr/>
          <p:nvPr/>
        </p:nvSpPr>
        <p:spPr>
          <a:xfrm>
            <a:off x="9267825" y="2557780"/>
            <a:ext cx="7877175" cy="2244725"/>
          </a:xfrm>
          <a:prstGeom prst="rect">
            <a:avLst/>
          </a:prstGeom>
          <a:solidFill>
            <a:srgbClr val="FFFFFF"/>
          </a:solidFill>
          <a:ln w="6350">
            <a:solidFill>
              <a:srgbClr val="0E1C30">
                <a:alpha val="12000"/>
              </a:srgbClr>
            </a:solidFill>
            <a:prstDash val="solid"/>
          </a:ln>
        </p:spPr>
      </p:sp>
      <p:sp>
        <p:nvSpPr>
          <p:cNvPr id="10" name="Text 8"/>
          <p:cNvSpPr/>
          <p:nvPr/>
        </p:nvSpPr>
        <p:spPr>
          <a:xfrm>
            <a:off x="9636125" y="2907030"/>
            <a:ext cx="7854632"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F4C233"/>
                </a:solidFill>
                <a:latin typeface="Space Grotesk" pitchFamily="34" charset="0"/>
                <a:ea typeface="Space Grotesk" pitchFamily="34" charset="-122"/>
                <a:cs typeface="Space Grotesk" pitchFamily="34" charset="-120"/>
              </a:rPr>
              <a:t>02</a:t>
            </a:r>
            <a:endParaRPr lang="en-US" sz="2250" dirty="0"/>
          </a:p>
        </p:txBody>
      </p:sp>
      <p:sp>
        <p:nvSpPr>
          <p:cNvPr id="11" name="Text 9"/>
          <p:cNvSpPr/>
          <p:nvPr/>
        </p:nvSpPr>
        <p:spPr>
          <a:xfrm>
            <a:off x="9636125" y="3383280"/>
            <a:ext cx="7854632" cy="393700"/>
          </a:xfrm>
          <a:prstGeom prst="rect">
            <a:avLst/>
          </a:prstGeom>
          <a:noFill/>
          <a:ln/>
        </p:spPr>
        <p:txBody>
          <a:bodyPr wrap="square" lIns="25400" tIns="25400" rIns="25400" bIns="25400" rtlCol="0" anchor="t">
            <a:normAutofit/>
          </a:bodyPr>
          <a:lstStyle/>
          <a:p>
            <a:pPr algn="l" indent="0" marL="0">
              <a:buNone/>
            </a:pPr>
            <a:r>
              <a:rPr lang="en-US" sz="2175" b="1" dirty="0">
                <a:solidFill>
                  <a:srgbClr val="0E1C30"/>
                </a:solidFill>
                <a:latin typeface="Space Grotesk" pitchFamily="34" charset="0"/>
                <a:ea typeface="Space Grotesk" pitchFamily="34" charset="-122"/>
                <a:cs typeface="Space Grotesk" pitchFamily="34" charset="-120"/>
              </a:rPr>
              <a:t>Context persistence</a:t>
            </a:r>
            <a:endParaRPr lang="en-US" sz="2175" dirty="0"/>
          </a:p>
        </p:txBody>
      </p:sp>
      <p:sp>
        <p:nvSpPr>
          <p:cNvPr id="12" name="Text 10"/>
          <p:cNvSpPr/>
          <p:nvPr/>
        </p:nvSpPr>
        <p:spPr>
          <a:xfrm>
            <a:off x="9636125" y="3853180"/>
            <a:ext cx="7354792" cy="638175"/>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65000"/>
                  </a:srgbClr>
                </a:solidFill>
                <a:latin typeface="IBM Plex Sans" pitchFamily="34" charset="0"/>
                <a:ea typeface="IBM Plex Sans" pitchFamily="34" charset="-122"/>
                <a:cs typeface="IBM Plex Sans" pitchFamily="34" charset="-120"/>
              </a:rPr>
              <a:t>Every plan is a file in git. Start a fresh chat and agents pick up where you left off; the whole team sees the same artifacts.</a:t>
            </a:r>
            <a:endParaRPr lang="en-US" sz="1575" dirty="0"/>
          </a:p>
        </p:txBody>
      </p:sp>
      <p:sp>
        <p:nvSpPr>
          <p:cNvPr id="13" name="Shape 11"/>
          <p:cNvSpPr/>
          <p:nvPr/>
        </p:nvSpPr>
        <p:spPr>
          <a:xfrm>
            <a:off x="1143000" y="5050155"/>
            <a:ext cx="7877175" cy="2244725"/>
          </a:xfrm>
          <a:prstGeom prst="rect">
            <a:avLst/>
          </a:prstGeom>
          <a:solidFill>
            <a:srgbClr val="FFFFFF"/>
          </a:solidFill>
          <a:ln w="6350">
            <a:solidFill>
              <a:srgbClr val="0E1C30">
                <a:alpha val="12000"/>
              </a:srgbClr>
            </a:solidFill>
            <a:prstDash val="solid"/>
          </a:ln>
        </p:spPr>
      </p:sp>
      <p:sp>
        <p:nvSpPr>
          <p:cNvPr id="14" name="Text 12"/>
          <p:cNvSpPr/>
          <p:nvPr/>
        </p:nvSpPr>
        <p:spPr>
          <a:xfrm>
            <a:off x="1511300" y="5399405"/>
            <a:ext cx="7854632"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F4C233"/>
                </a:solidFill>
                <a:latin typeface="Space Grotesk" pitchFamily="34" charset="0"/>
                <a:ea typeface="Space Grotesk" pitchFamily="34" charset="-122"/>
                <a:cs typeface="Space Grotesk" pitchFamily="34" charset="-120"/>
              </a:rPr>
              <a:t>03</a:t>
            </a:r>
            <a:endParaRPr lang="en-US" sz="2250" dirty="0"/>
          </a:p>
        </p:txBody>
      </p:sp>
      <p:sp>
        <p:nvSpPr>
          <p:cNvPr id="15" name="Text 13"/>
          <p:cNvSpPr/>
          <p:nvPr/>
        </p:nvSpPr>
        <p:spPr>
          <a:xfrm>
            <a:off x="1511300" y="5875655"/>
            <a:ext cx="7854632" cy="393700"/>
          </a:xfrm>
          <a:prstGeom prst="rect">
            <a:avLst/>
          </a:prstGeom>
          <a:noFill/>
          <a:ln/>
        </p:spPr>
        <p:txBody>
          <a:bodyPr wrap="square" lIns="25400" tIns="25400" rIns="25400" bIns="25400" rtlCol="0" anchor="t">
            <a:normAutofit/>
          </a:bodyPr>
          <a:lstStyle/>
          <a:p>
            <a:pPr algn="l" indent="0" marL="0">
              <a:buNone/>
            </a:pPr>
            <a:r>
              <a:rPr lang="en-US" sz="2175" b="1" dirty="0">
                <a:solidFill>
                  <a:srgbClr val="0E1C30"/>
                </a:solidFill>
                <a:latin typeface="Space Grotesk" pitchFamily="34" charset="0"/>
                <a:ea typeface="Space Grotesk" pitchFamily="34" charset="-122"/>
                <a:cs typeface="Space Grotesk" pitchFamily="34" charset="-120"/>
              </a:rPr>
              <a:t>Scale-domain-adaptive</a:t>
            </a:r>
            <a:endParaRPr lang="en-US" sz="2175" dirty="0"/>
          </a:p>
        </p:txBody>
      </p:sp>
      <p:sp>
        <p:nvSpPr>
          <p:cNvPr id="16" name="Text 14"/>
          <p:cNvSpPr/>
          <p:nvPr/>
        </p:nvSpPr>
        <p:spPr>
          <a:xfrm>
            <a:off x="1511300" y="6345555"/>
            <a:ext cx="7354792" cy="638175"/>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65000"/>
                  </a:srgbClr>
                </a:solidFill>
                <a:latin typeface="IBM Plex Sans" pitchFamily="34" charset="0"/>
                <a:ea typeface="IBM Plex Sans" pitchFamily="34" charset="-122"/>
                <a:cs typeface="IBM Plex Sans" pitchFamily="34" charset="-120"/>
              </a:rPr>
              <a:t>A bug fix gets 3 commands; an enterprise system gets security &amp; compliance reviews. A dating app and a medical device don’t get the same planning.</a:t>
            </a:r>
            <a:endParaRPr lang="en-US" sz="1575" dirty="0"/>
          </a:p>
        </p:txBody>
      </p:sp>
      <p:sp>
        <p:nvSpPr>
          <p:cNvPr id="17" name="Shape 15"/>
          <p:cNvSpPr/>
          <p:nvPr/>
        </p:nvSpPr>
        <p:spPr>
          <a:xfrm>
            <a:off x="9267825" y="5050155"/>
            <a:ext cx="7877175" cy="2244725"/>
          </a:xfrm>
          <a:prstGeom prst="rect">
            <a:avLst/>
          </a:prstGeom>
          <a:solidFill>
            <a:srgbClr val="FFFFFF"/>
          </a:solidFill>
          <a:ln w="6350">
            <a:solidFill>
              <a:srgbClr val="0E1C30">
                <a:alpha val="12000"/>
              </a:srgbClr>
            </a:solidFill>
            <a:prstDash val="solid"/>
          </a:ln>
        </p:spPr>
      </p:sp>
      <p:sp>
        <p:nvSpPr>
          <p:cNvPr id="18" name="Text 16"/>
          <p:cNvSpPr/>
          <p:nvPr/>
        </p:nvSpPr>
        <p:spPr>
          <a:xfrm>
            <a:off x="9636125" y="5399405"/>
            <a:ext cx="7854632"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F4C233"/>
                </a:solidFill>
                <a:latin typeface="Space Grotesk" pitchFamily="34" charset="0"/>
                <a:ea typeface="Space Grotesk" pitchFamily="34" charset="-122"/>
                <a:cs typeface="Space Grotesk" pitchFamily="34" charset="-120"/>
              </a:rPr>
              <a:t>04</a:t>
            </a:r>
            <a:endParaRPr lang="en-US" sz="2250" dirty="0"/>
          </a:p>
        </p:txBody>
      </p:sp>
      <p:sp>
        <p:nvSpPr>
          <p:cNvPr id="19" name="Text 17"/>
          <p:cNvSpPr/>
          <p:nvPr/>
        </p:nvSpPr>
        <p:spPr>
          <a:xfrm>
            <a:off x="9636125" y="5875655"/>
            <a:ext cx="7854632" cy="393700"/>
          </a:xfrm>
          <a:prstGeom prst="rect">
            <a:avLst/>
          </a:prstGeom>
          <a:noFill/>
          <a:ln/>
        </p:spPr>
        <p:txBody>
          <a:bodyPr wrap="square" lIns="25400" tIns="25400" rIns="25400" bIns="25400" rtlCol="0" anchor="t">
            <a:normAutofit/>
          </a:bodyPr>
          <a:lstStyle/>
          <a:p>
            <a:pPr algn="l" indent="0" marL="0">
              <a:buNone/>
            </a:pPr>
            <a:r>
              <a:rPr lang="en-US" sz="2175" b="1" dirty="0">
                <a:solidFill>
                  <a:srgbClr val="0E1C30"/>
                </a:solidFill>
                <a:latin typeface="Space Grotesk" pitchFamily="34" charset="0"/>
                <a:ea typeface="Space Grotesk" pitchFamily="34" charset="-122"/>
                <a:cs typeface="Space Grotesk" pitchFamily="34" charset="-120"/>
              </a:rPr>
              <a:t>100% free &amp; open</a:t>
            </a:r>
            <a:endParaRPr lang="en-US" sz="2175" dirty="0"/>
          </a:p>
        </p:txBody>
      </p:sp>
      <p:sp>
        <p:nvSpPr>
          <p:cNvPr id="20" name="Text 18"/>
          <p:cNvSpPr/>
          <p:nvPr/>
        </p:nvSpPr>
        <p:spPr>
          <a:xfrm>
            <a:off x="9636125" y="6345555"/>
            <a:ext cx="7354792" cy="638175"/>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65000"/>
                  </a:srgbClr>
                </a:solidFill>
                <a:latin typeface="IBM Plex Sans" pitchFamily="34" charset="0"/>
                <a:ea typeface="IBM Plex Sans" pitchFamily="34" charset="-122"/>
                <a:cs typeface="IBM Plex Sans" pitchFamily="34" charset="-120"/>
              </a:rPr>
              <a:t>MIT license. No paywalls, no gated content, no premium tiers — and an ecosystem of modules on top.</a:t>
            </a:r>
            <a:endParaRPr lang="en-US" sz="1575" dirty="0"/>
          </a:p>
        </p:txBody>
      </p:sp>
      <p:sp>
        <p:nvSpPr>
          <p:cNvPr id="21" name="Text 19"/>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22" name="Text 20"/>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15 / 45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62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0B1626">
                  <a:alpha val="50000"/>
                </a:srgbClr>
              </a:gs>
              <a:gs pos="34000">
                <a:srgbClr val="0B1626">
                  <a:alpha val="18000"/>
                </a:srgbClr>
              </a:gs>
              <a:gs pos="64000">
                <a:srgbClr val="0B1626">
                  <a:alpha val="50000"/>
                </a:srgbClr>
              </a:gs>
              <a:gs pos="100000">
                <a:srgbClr val="0B1626">
                  <a:alpha val="92000"/>
                </a:srgbClr>
              </a:gs>
            </a:gsLst>
            <a:lin ang="5400000" scaled="0"/>
          </a:gradFill>
          <a:ln/>
        </p:spPr>
      </p:sp>
      <p:sp>
        <p:nvSpPr>
          <p:cNvPr id="4" name="Shape 1"/>
          <p:cNvSpPr/>
          <p:nvPr/>
        </p:nvSpPr>
        <p:spPr>
          <a:xfrm>
            <a:off x="1143000" y="6910864"/>
            <a:ext cx="95250" cy="95250"/>
          </a:xfrm>
          <a:prstGeom prst="rect">
            <a:avLst/>
          </a:prstGeom>
          <a:solidFill>
            <a:srgbClr val="F4C233"/>
          </a:solidFill>
          <a:ln/>
        </p:spPr>
      </p:sp>
      <p:sp>
        <p:nvSpPr>
          <p:cNvPr id="5" name="Text 2"/>
          <p:cNvSpPr/>
          <p:nvPr/>
        </p:nvSpPr>
        <p:spPr>
          <a:xfrm>
            <a:off x="1371600" y="6856888"/>
            <a:ext cx="862965" cy="241300"/>
          </a:xfrm>
          <a:prstGeom prst="rect">
            <a:avLst/>
          </a:prstGeom>
          <a:noFill/>
          <a:ln/>
        </p:spPr>
        <p:txBody>
          <a:bodyPr wrap="square" lIns="0" tIns="0" rIns="0" bIns="0" rtlCol="0" anchor="t">
            <a:normAutofit/>
          </a:bodyPr>
          <a:lstStyle/>
          <a:p>
            <a:pPr algn="l" indent="0" marL="0">
              <a:buNone/>
            </a:pPr>
            <a:r>
              <a:rPr lang="en-US" sz="1200" spc="312" kern="0" dirty="0">
                <a:solidFill>
                  <a:srgbClr val="F4C233"/>
                </a:solidFill>
                <a:latin typeface="IBM Plex Mono" pitchFamily="34" charset="0"/>
                <a:ea typeface="IBM Plex Mono" pitchFamily="34" charset="-122"/>
                <a:cs typeface="IBM Plex Mono" pitchFamily="34" charset="-120"/>
              </a:rPr>
              <a:t>ACT IV</a:t>
            </a:r>
            <a:endParaRPr lang="en-US" sz="1200" dirty="0"/>
          </a:p>
        </p:txBody>
      </p:sp>
      <p:sp>
        <p:nvSpPr>
          <p:cNvPr id="6" name="Text 3"/>
          <p:cNvSpPr/>
          <p:nvPr/>
        </p:nvSpPr>
        <p:spPr>
          <a:xfrm>
            <a:off x="1143000" y="7231539"/>
            <a:ext cx="14668500" cy="834708"/>
          </a:xfrm>
          <a:prstGeom prst="rect">
            <a:avLst/>
          </a:prstGeom>
          <a:noFill/>
          <a:ln/>
          <a:effectLst>
            <a:outerShdw sx="100000" sy="100000" kx="0" ky="0" algn="bl" rotWithShape="0" blurRad="323850" dist="19050" dir="5400000">
              <a:srgbClr val="000000">
                <a:alpha val="60000"/>
              </a:srgbClr>
            </a:outerShdw>
          </a:effectLst>
        </p:spPr>
        <p:txBody>
          <a:bodyPr wrap="square" lIns="25400" tIns="25400" rIns="25400" bIns="25400" rtlCol="0" anchor="t">
            <a:normAutofit/>
          </a:bodyPr>
          <a:lstStyle/>
          <a:p>
            <a:pPr algn="l" indent="0" marL="0">
              <a:lnSpc>
                <a:spcPct val="79904"/>
              </a:lnSpc>
              <a:buNone/>
            </a:pPr>
            <a:r>
              <a:rPr lang="en-US" sz="6150" b="1" spc="-154" kern="0" dirty="0">
                <a:solidFill>
                  <a:srgbClr val="F6F4EE"/>
                </a:solidFill>
                <a:latin typeface="Space Grotesk" pitchFamily="34" charset="0"/>
                <a:ea typeface="Space Grotesk" pitchFamily="34" charset="-122"/>
                <a:cs typeface="Space Grotesk" pitchFamily="34" charset="-120"/>
              </a:rPr>
              <a:t>The BMAD agent team</a:t>
            </a:r>
            <a:endParaRPr lang="en-US" sz="6150" dirty="0"/>
          </a:p>
        </p:txBody>
      </p:sp>
      <p:sp>
        <p:nvSpPr>
          <p:cNvPr id="7" name="Text 4"/>
          <p:cNvSpPr/>
          <p:nvPr/>
        </p:nvSpPr>
        <p:spPr>
          <a:xfrm>
            <a:off x="1143000" y="8199596"/>
            <a:ext cx="11734800" cy="411004"/>
          </a:xfrm>
          <a:prstGeom prst="rect">
            <a:avLst/>
          </a:prstGeom>
          <a:noFill/>
          <a:ln/>
          <a:effectLst>
            <a:outerShdw sx="100000" sy="100000" kx="0" ky="0" algn="bl" rotWithShape="0" blurRad="209550" dist="19050" dir="5400000">
              <a:srgbClr val="000000">
                <a:alpha val="70000"/>
              </a:srgbClr>
            </a:outerShdw>
          </a:effectLst>
        </p:spPr>
        <p:txBody>
          <a:bodyPr wrap="square" lIns="25400" tIns="25400" rIns="25400" bIns="25400" rtlCol="0" anchor="t">
            <a:normAutofit/>
          </a:bodyPr>
          <a:lstStyle/>
          <a:p>
            <a:pPr algn="l" indent="0" marL="0">
              <a:lnSpc>
                <a:spcPct val="110802"/>
              </a:lnSpc>
              <a:buNone/>
            </a:pPr>
            <a:r>
              <a:rPr lang="en-US" sz="2025" dirty="0">
                <a:solidFill>
                  <a:srgbClr val="F6F4EE">
                    <a:alpha val="90000"/>
                  </a:srgbClr>
                </a:solidFill>
                <a:latin typeface="IBM Plex Sans" pitchFamily="34" charset="0"/>
                <a:ea typeface="IBM Plex Sans" pitchFamily="34" charset="-122"/>
                <a:cs typeface="IBM Plex Sans" pitchFamily="34" charset="-120"/>
              </a:rPr>
              <a:t>A team of named specialists — spec-driven, document-anchored, phase-gated.</a:t>
            </a:r>
            <a:endParaRPr lang="en-US" sz="2025" dirty="0"/>
          </a:p>
        </p:txBody>
      </p:sp>
      <p:sp>
        <p:nvSpPr>
          <p:cNvPr id="8" name="Text 5"/>
          <p:cNvSpPr/>
          <p:nvPr/>
        </p:nvSpPr>
        <p:spPr>
          <a:xfrm>
            <a:off x="1143000" y="8782050"/>
            <a:ext cx="17602200" cy="285750"/>
          </a:xfrm>
          <a:prstGeom prst="rect">
            <a:avLst/>
          </a:prstGeom>
          <a:noFill/>
          <a:ln/>
          <a:effectLst>
            <a:outerShdw sx="100000" sy="100000" kx="0" ky="0" algn="bl" rotWithShape="0" blurRad="171450" dist="19050" dir="5400000">
              <a:srgbClr val="000000">
                <a:alpha val="85000"/>
              </a:srgbClr>
            </a:outerShdw>
          </a:effectLst>
        </p:spPr>
        <p:txBody>
          <a:bodyPr wrap="square" lIns="25400" tIns="25400" rIns="25400" bIns="25400" rtlCol="0" anchor="t">
            <a:normAutofit/>
          </a:bodyPr>
          <a:lstStyle/>
          <a:p>
            <a:pPr algn="l" indent="0" marL="0">
              <a:buNone/>
            </a:pPr>
            <a:r>
              <a:rPr lang="en-US" sz="1500" spc="75" kern="0" dirty="0">
                <a:solidFill>
                  <a:srgbClr val="F6F4EE">
                    <a:alpha val="90000"/>
                  </a:srgbClr>
                </a:solidFill>
                <a:latin typeface="IBM Plex Mono" pitchFamily="34" charset="0"/>
                <a:ea typeface="IBM Plex Mono" pitchFamily="34" charset="-122"/>
                <a:cs typeface="IBM Plex Mono" pitchFamily="34" charset="-120"/>
              </a:rPr>
              <a:t>MIT · 12+ agents · 34+ workflows · runs in your coding agent</a:t>
            </a:r>
            <a:endParaRPr lang="en-US" sz="1500" dirty="0"/>
          </a:p>
        </p:txBody>
      </p:sp>
      <p:sp>
        <p:nvSpPr>
          <p:cNvPr id="9" name="Text 6"/>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F6F4EE">
                    <a:alpha val="6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10" name="Text 7"/>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F6F4EE">
                    <a:alpha val="60000"/>
                  </a:srgbClr>
                </a:solidFill>
                <a:latin typeface="IBM Plex Mono" pitchFamily="34" charset="0"/>
                <a:ea typeface="IBM Plex Mono" pitchFamily="34" charset="-122"/>
                <a:cs typeface="IBM Plex Mono" pitchFamily="34" charset="-120"/>
              </a:rPr>
              <a:t>16 / 45</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3031195"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THE CREW · NAMED AGENTS</a:t>
            </a:r>
            <a:endParaRPr lang="en-US" sz="1200" dirty="0"/>
          </a:p>
        </p:txBody>
      </p:sp>
      <p:sp>
        <p:nvSpPr>
          <p:cNvPr id="4" name="Text 2"/>
          <p:cNvSpPr/>
          <p:nvPr/>
        </p:nvSpPr>
        <p:spPr>
          <a:xfrm>
            <a:off x="1143000" y="1384300"/>
            <a:ext cx="13096875" cy="672147"/>
          </a:xfrm>
          <a:prstGeom prst="rect">
            <a:avLst/>
          </a:prstGeom>
          <a:noFill/>
          <a:ln/>
        </p:spPr>
        <p:txBody>
          <a:bodyPr wrap="square" lIns="25400" tIns="25400" rIns="25400" bIns="25400" rtlCol="0" anchor="t">
            <a:normAutofit/>
          </a:bodyPr>
          <a:lstStyle/>
          <a:p>
            <a:pPr algn="l" indent="0" marL="0">
              <a:lnSpc>
                <a:spcPct val="81844"/>
              </a:lnSpc>
              <a:buNone/>
            </a:pPr>
            <a:r>
              <a:rPr lang="en-US" sz="4800" b="1" spc="-96" kern="0" dirty="0">
                <a:solidFill>
                  <a:srgbClr val="0E1C30"/>
                </a:solidFill>
                <a:latin typeface="Space Grotesk" pitchFamily="34" charset="0"/>
                <a:ea typeface="Space Grotesk" pitchFamily="34" charset="-122"/>
                <a:cs typeface="Space Grotesk" pitchFamily="34" charset="-120"/>
              </a:rPr>
              <a:t>A team of specialists, one per phase</a:t>
            </a:r>
            <a:endParaRPr lang="en-US" sz="4800" dirty="0"/>
          </a:p>
        </p:txBody>
      </p:sp>
      <p:sp>
        <p:nvSpPr>
          <p:cNvPr id="5" name="Shape 3"/>
          <p:cNvSpPr/>
          <p:nvPr/>
        </p:nvSpPr>
        <p:spPr>
          <a:xfrm>
            <a:off x="1143000" y="2589847"/>
            <a:ext cx="5181600" cy="1786414"/>
          </a:xfrm>
          <a:prstGeom prst="rect">
            <a:avLst/>
          </a:prstGeom>
          <a:solidFill>
            <a:srgbClr val="FFFFFF"/>
          </a:solidFill>
          <a:ln w="6350">
            <a:solidFill>
              <a:srgbClr val="0E1C30">
                <a:alpha val="12000"/>
              </a:srgbClr>
            </a:solidFill>
            <a:prstDash val="solid"/>
          </a:ln>
        </p:spPr>
      </p:sp>
      <p:sp>
        <p:nvSpPr>
          <p:cNvPr id="6" name="Text 4"/>
          <p:cNvSpPr/>
          <p:nvPr/>
        </p:nvSpPr>
        <p:spPr>
          <a:xfrm>
            <a:off x="1454150" y="2920047"/>
            <a:ext cx="782637"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0E1C30"/>
                </a:solidFill>
                <a:latin typeface="Space Grotesk" pitchFamily="34" charset="0"/>
                <a:ea typeface="Space Grotesk" pitchFamily="34" charset="-122"/>
                <a:cs typeface="Space Grotesk" pitchFamily="34" charset="-120"/>
              </a:rPr>
              <a:t>Mary</a:t>
            </a:r>
            <a:endParaRPr lang="en-US" sz="2250" dirty="0"/>
          </a:p>
        </p:txBody>
      </p:sp>
      <p:sp>
        <p:nvSpPr>
          <p:cNvPr id="7" name="Text 5"/>
          <p:cNvSpPr/>
          <p:nvPr/>
        </p:nvSpPr>
        <p:spPr>
          <a:xfrm>
            <a:off x="2293937" y="3059748"/>
            <a:ext cx="822960" cy="215900"/>
          </a:xfrm>
          <a:prstGeom prst="rect">
            <a:avLst/>
          </a:prstGeom>
          <a:noFill/>
          <a:ln/>
        </p:spPr>
        <p:txBody>
          <a:bodyPr wrap="square" lIns="25400" tIns="25400" rIns="25400" bIns="25400" rtlCol="0" anchor="t">
            <a:normAutofit/>
          </a:bodyPr>
          <a:lstStyle/>
          <a:p>
            <a:pPr algn="l" indent="0" marL="0">
              <a:buNone/>
            </a:pPr>
            <a:r>
              <a:rPr lang="en-US" sz="1050" spc="105" kern="0" dirty="0">
                <a:solidFill>
                  <a:srgbClr val="1E7FD6"/>
                </a:solidFill>
                <a:latin typeface="IBM Plex Mono" pitchFamily="34" charset="0"/>
                <a:ea typeface="IBM Plex Mono" pitchFamily="34" charset="-122"/>
                <a:cs typeface="IBM Plex Mono" pitchFamily="34" charset="-120"/>
              </a:rPr>
              <a:t>ANALYSIS</a:t>
            </a:r>
            <a:endParaRPr lang="en-US" sz="1050" dirty="0"/>
          </a:p>
        </p:txBody>
      </p:sp>
      <p:sp>
        <p:nvSpPr>
          <p:cNvPr id="8" name="Text 6"/>
          <p:cNvSpPr/>
          <p:nvPr/>
        </p:nvSpPr>
        <p:spPr>
          <a:xfrm>
            <a:off x="1454150" y="3377247"/>
            <a:ext cx="5015230" cy="311150"/>
          </a:xfrm>
          <a:prstGeom prst="rect">
            <a:avLst/>
          </a:prstGeom>
          <a:noFill/>
          <a:ln/>
        </p:spPr>
        <p:txBody>
          <a:bodyPr wrap="square" lIns="25400" tIns="25400" rIns="25400" bIns="25400" rtlCol="0" anchor="t">
            <a:normAutofit/>
          </a:bodyPr>
          <a:lstStyle/>
          <a:p>
            <a:pPr algn="l" indent="0" marL="0">
              <a:buNone/>
            </a:pPr>
            <a:r>
              <a:rPr lang="en-US" sz="1650" dirty="0">
                <a:solidFill>
                  <a:srgbClr val="0E1C30">
                    <a:alpha val="62000"/>
                  </a:srgbClr>
                </a:solidFill>
                <a:latin typeface="IBM Plex Sans" pitchFamily="34" charset="0"/>
                <a:ea typeface="IBM Plex Sans" pitchFamily="34" charset="-122"/>
                <a:cs typeface="IBM Plex Sans" pitchFamily="34" charset="-120"/>
              </a:rPr>
              <a:t>Business Analyst</a:t>
            </a:r>
            <a:endParaRPr lang="en-US" sz="1650" dirty="0"/>
          </a:p>
        </p:txBody>
      </p:sp>
      <p:sp>
        <p:nvSpPr>
          <p:cNvPr id="9" name="Text 7"/>
          <p:cNvSpPr/>
          <p:nvPr/>
        </p:nvSpPr>
        <p:spPr>
          <a:xfrm>
            <a:off x="1454150" y="3783648"/>
            <a:ext cx="5015230" cy="300514"/>
          </a:xfrm>
          <a:prstGeom prst="rect">
            <a:avLst/>
          </a:prstGeom>
          <a:noFill/>
          <a:ln/>
        </p:spPr>
        <p:txBody>
          <a:bodyPr wrap="square" lIns="25400" tIns="25400" rIns="25400" bIns="25400" rtlCol="0" anchor="t">
            <a:normAutofit/>
          </a:bodyPr>
          <a:lstStyle/>
          <a:p>
            <a:pPr algn="l" indent="0" marL="0">
              <a:lnSpc>
                <a:spcPct val="111689"/>
              </a:lnSpc>
              <a:buNone/>
            </a:pPr>
            <a:r>
              <a:rPr lang="en-US" sz="1425" dirty="0">
                <a:solidFill>
                  <a:srgbClr val="0E1C30">
                    <a:alpha val="50000"/>
                  </a:srgbClr>
                </a:solidFill>
                <a:latin typeface="IBM Plex Sans" pitchFamily="34" charset="0"/>
                <a:ea typeface="IBM Plex Sans" pitchFamily="34" charset="-122"/>
                <a:cs typeface="IBM Plex Sans" pitchFamily="34" charset="-120"/>
              </a:rPr>
              <a:t>Brainstorming, research, briefs, PRFAQs</a:t>
            </a:r>
            <a:endParaRPr lang="en-US" sz="1425" dirty="0"/>
          </a:p>
        </p:txBody>
      </p:sp>
      <p:sp>
        <p:nvSpPr>
          <p:cNvPr id="10" name="Shape 8"/>
          <p:cNvSpPr/>
          <p:nvPr/>
        </p:nvSpPr>
        <p:spPr>
          <a:xfrm>
            <a:off x="6553200" y="2589847"/>
            <a:ext cx="5181600" cy="1786414"/>
          </a:xfrm>
          <a:prstGeom prst="rect">
            <a:avLst/>
          </a:prstGeom>
          <a:solidFill>
            <a:srgbClr val="FFFFFF"/>
          </a:solidFill>
          <a:ln w="6350">
            <a:solidFill>
              <a:srgbClr val="0E1C30">
                <a:alpha val="12000"/>
              </a:srgbClr>
            </a:solidFill>
            <a:prstDash val="solid"/>
          </a:ln>
        </p:spPr>
      </p:sp>
      <p:sp>
        <p:nvSpPr>
          <p:cNvPr id="11" name="Text 9"/>
          <p:cNvSpPr/>
          <p:nvPr/>
        </p:nvSpPr>
        <p:spPr>
          <a:xfrm>
            <a:off x="6864350" y="2920047"/>
            <a:ext cx="834231"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0E1C30"/>
                </a:solidFill>
                <a:latin typeface="Space Grotesk" pitchFamily="34" charset="0"/>
                <a:ea typeface="Space Grotesk" pitchFamily="34" charset="-122"/>
                <a:cs typeface="Space Grotesk" pitchFamily="34" charset="-120"/>
              </a:rPr>
              <a:t>Paige</a:t>
            </a:r>
            <a:endParaRPr lang="en-US" sz="2250" dirty="0"/>
          </a:p>
        </p:txBody>
      </p:sp>
      <p:sp>
        <p:nvSpPr>
          <p:cNvPr id="12" name="Text 10"/>
          <p:cNvSpPr/>
          <p:nvPr/>
        </p:nvSpPr>
        <p:spPr>
          <a:xfrm>
            <a:off x="7755731" y="3059748"/>
            <a:ext cx="822960" cy="215900"/>
          </a:xfrm>
          <a:prstGeom prst="rect">
            <a:avLst/>
          </a:prstGeom>
          <a:noFill/>
          <a:ln/>
        </p:spPr>
        <p:txBody>
          <a:bodyPr wrap="square" lIns="25400" tIns="25400" rIns="25400" bIns="25400" rtlCol="0" anchor="t">
            <a:normAutofit/>
          </a:bodyPr>
          <a:lstStyle/>
          <a:p>
            <a:pPr algn="l" indent="0" marL="0">
              <a:buNone/>
            </a:pPr>
            <a:r>
              <a:rPr lang="en-US" sz="1050" spc="105" kern="0" dirty="0">
                <a:solidFill>
                  <a:srgbClr val="1E7FD6"/>
                </a:solidFill>
                <a:latin typeface="IBM Plex Mono" pitchFamily="34" charset="0"/>
                <a:ea typeface="IBM Plex Mono" pitchFamily="34" charset="-122"/>
                <a:cs typeface="IBM Plex Mono" pitchFamily="34" charset="-120"/>
              </a:rPr>
              <a:t>ANALYSIS</a:t>
            </a:r>
            <a:endParaRPr lang="en-US" sz="1050" dirty="0"/>
          </a:p>
        </p:txBody>
      </p:sp>
      <p:sp>
        <p:nvSpPr>
          <p:cNvPr id="13" name="Text 11"/>
          <p:cNvSpPr/>
          <p:nvPr/>
        </p:nvSpPr>
        <p:spPr>
          <a:xfrm>
            <a:off x="6864350" y="3377247"/>
            <a:ext cx="5015230" cy="311150"/>
          </a:xfrm>
          <a:prstGeom prst="rect">
            <a:avLst/>
          </a:prstGeom>
          <a:noFill/>
          <a:ln/>
        </p:spPr>
        <p:txBody>
          <a:bodyPr wrap="square" lIns="25400" tIns="25400" rIns="25400" bIns="25400" rtlCol="0" anchor="t">
            <a:normAutofit/>
          </a:bodyPr>
          <a:lstStyle/>
          <a:p>
            <a:pPr algn="l" indent="0" marL="0">
              <a:buNone/>
            </a:pPr>
            <a:r>
              <a:rPr lang="en-US" sz="1650" dirty="0">
                <a:solidFill>
                  <a:srgbClr val="0E1C30">
                    <a:alpha val="62000"/>
                  </a:srgbClr>
                </a:solidFill>
                <a:latin typeface="IBM Plex Sans" pitchFamily="34" charset="0"/>
                <a:ea typeface="IBM Plex Sans" pitchFamily="34" charset="-122"/>
                <a:cs typeface="IBM Plex Sans" pitchFamily="34" charset="-120"/>
              </a:rPr>
              <a:t>Technical Writer</a:t>
            </a:r>
            <a:endParaRPr lang="en-US" sz="1650" dirty="0"/>
          </a:p>
        </p:txBody>
      </p:sp>
      <p:sp>
        <p:nvSpPr>
          <p:cNvPr id="14" name="Text 12"/>
          <p:cNvSpPr/>
          <p:nvPr/>
        </p:nvSpPr>
        <p:spPr>
          <a:xfrm>
            <a:off x="6864350" y="3783648"/>
            <a:ext cx="5015230" cy="300514"/>
          </a:xfrm>
          <a:prstGeom prst="rect">
            <a:avLst/>
          </a:prstGeom>
          <a:noFill/>
          <a:ln/>
        </p:spPr>
        <p:txBody>
          <a:bodyPr wrap="square" lIns="25400" tIns="25400" rIns="25400" bIns="25400" rtlCol="0" anchor="t">
            <a:normAutofit/>
          </a:bodyPr>
          <a:lstStyle/>
          <a:p>
            <a:pPr algn="l" indent="0" marL="0">
              <a:lnSpc>
                <a:spcPct val="111689"/>
              </a:lnSpc>
              <a:buNone/>
            </a:pPr>
            <a:r>
              <a:rPr lang="en-US" sz="1425" dirty="0">
                <a:solidFill>
                  <a:srgbClr val="0E1C30">
                    <a:alpha val="50000"/>
                  </a:srgbClr>
                </a:solidFill>
                <a:latin typeface="IBM Plex Sans" pitchFamily="34" charset="0"/>
                <a:ea typeface="IBM Plex Sans" pitchFamily="34" charset="-122"/>
                <a:cs typeface="IBM Plex Sans" pitchFamily="34" charset="-120"/>
              </a:rPr>
              <a:t>Docs, diagrams, doc validation</a:t>
            </a:r>
            <a:endParaRPr lang="en-US" sz="1425" dirty="0"/>
          </a:p>
        </p:txBody>
      </p:sp>
      <p:sp>
        <p:nvSpPr>
          <p:cNvPr id="15" name="Shape 13"/>
          <p:cNvSpPr/>
          <p:nvPr/>
        </p:nvSpPr>
        <p:spPr>
          <a:xfrm>
            <a:off x="11963400" y="2589847"/>
            <a:ext cx="5181600" cy="1786414"/>
          </a:xfrm>
          <a:prstGeom prst="rect">
            <a:avLst/>
          </a:prstGeom>
          <a:solidFill>
            <a:srgbClr val="FFFFFF"/>
          </a:solidFill>
          <a:ln w="6350">
            <a:solidFill>
              <a:srgbClr val="0E1C30">
                <a:alpha val="12000"/>
              </a:srgbClr>
            </a:solidFill>
            <a:prstDash val="solid"/>
          </a:ln>
        </p:spPr>
      </p:sp>
      <p:sp>
        <p:nvSpPr>
          <p:cNvPr id="16" name="Text 14"/>
          <p:cNvSpPr/>
          <p:nvPr/>
        </p:nvSpPr>
        <p:spPr>
          <a:xfrm>
            <a:off x="12274550" y="2920047"/>
            <a:ext cx="766763"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0E1C30"/>
                </a:solidFill>
                <a:latin typeface="Space Grotesk" pitchFamily="34" charset="0"/>
                <a:ea typeface="Space Grotesk" pitchFamily="34" charset="-122"/>
                <a:cs typeface="Space Grotesk" pitchFamily="34" charset="-120"/>
              </a:rPr>
              <a:t>John</a:t>
            </a:r>
            <a:endParaRPr lang="en-US" sz="2250" dirty="0"/>
          </a:p>
        </p:txBody>
      </p:sp>
      <p:sp>
        <p:nvSpPr>
          <p:cNvPr id="17" name="Text 15"/>
          <p:cNvSpPr/>
          <p:nvPr/>
        </p:nvSpPr>
        <p:spPr>
          <a:xfrm>
            <a:off x="13098462" y="3059748"/>
            <a:ext cx="822960" cy="215900"/>
          </a:xfrm>
          <a:prstGeom prst="rect">
            <a:avLst/>
          </a:prstGeom>
          <a:noFill/>
          <a:ln/>
        </p:spPr>
        <p:txBody>
          <a:bodyPr wrap="square" lIns="25400" tIns="25400" rIns="25400" bIns="25400" rtlCol="0" anchor="t">
            <a:normAutofit/>
          </a:bodyPr>
          <a:lstStyle/>
          <a:p>
            <a:pPr algn="l" indent="0" marL="0">
              <a:buNone/>
            </a:pPr>
            <a:r>
              <a:rPr lang="en-US" sz="1050" spc="105" kern="0" dirty="0">
                <a:solidFill>
                  <a:srgbClr val="B78A00"/>
                </a:solidFill>
                <a:latin typeface="IBM Plex Mono" pitchFamily="34" charset="0"/>
                <a:ea typeface="IBM Plex Mono" pitchFamily="34" charset="-122"/>
                <a:cs typeface="IBM Plex Mono" pitchFamily="34" charset="-120"/>
              </a:rPr>
              <a:t>PLANNING</a:t>
            </a:r>
            <a:endParaRPr lang="en-US" sz="1050" dirty="0"/>
          </a:p>
        </p:txBody>
      </p:sp>
      <p:sp>
        <p:nvSpPr>
          <p:cNvPr id="18" name="Text 16"/>
          <p:cNvSpPr/>
          <p:nvPr/>
        </p:nvSpPr>
        <p:spPr>
          <a:xfrm>
            <a:off x="12274550" y="3377247"/>
            <a:ext cx="5015230" cy="311150"/>
          </a:xfrm>
          <a:prstGeom prst="rect">
            <a:avLst/>
          </a:prstGeom>
          <a:noFill/>
          <a:ln/>
        </p:spPr>
        <p:txBody>
          <a:bodyPr wrap="square" lIns="25400" tIns="25400" rIns="25400" bIns="25400" rtlCol="0" anchor="t">
            <a:normAutofit/>
          </a:bodyPr>
          <a:lstStyle/>
          <a:p>
            <a:pPr algn="l" indent="0" marL="0">
              <a:buNone/>
            </a:pPr>
            <a:r>
              <a:rPr lang="en-US" sz="1650" dirty="0">
                <a:solidFill>
                  <a:srgbClr val="0E1C30">
                    <a:alpha val="62000"/>
                  </a:srgbClr>
                </a:solidFill>
                <a:latin typeface="IBM Plex Sans" pitchFamily="34" charset="0"/>
                <a:ea typeface="IBM Plex Sans" pitchFamily="34" charset="-122"/>
                <a:cs typeface="IBM Plex Sans" pitchFamily="34" charset="-120"/>
              </a:rPr>
              <a:t>Product Manager</a:t>
            </a:r>
            <a:endParaRPr lang="en-US" sz="1650" dirty="0"/>
          </a:p>
        </p:txBody>
      </p:sp>
      <p:sp>
        <p:nvSpPr>
          <p:cNvPr id="19" name="Text 17"/>
          <p:cNvSpPr/>
          <p:nvPr/>
        </p:nvSpPr>
        <p:spPr>
          <a:xfrm>
            <a:off x="12274550" y="3783648"/>
            <a:ext cx="5015230" cy="300514"/>
          </a:xfrm>
          <a:prstGeom prst="rect">
            <a:avLst/>
          </a:prstGeom>
          <a:noFill/>
          <a:ln/>
        </p:spPr>
        <p:txBody>
          <a:bodyPr wrap="square" lIns="25400" tIns="25400" rIns="25400" bIns="25400" rtlCol="0" anchor="t">
            <a:normAutofit/>
          </a:bodyPr>
          <a:lstStyle/>
          <a:p>
            <a:pPr algn="l" indent="0" marL="0">
              <a:lnSpc>
                <a:spcPct val="111689"/>
              </a:lnSpc>
              <a:buNone/>
            </a:pPr>
            <a:r>
              <a:rPr lang="en-US" sz="1425" dirty="0">
                <a:solidFill>
                  <a:srgbClr val="0E1C30">
                    <a:alpha val="50000"/>
                  </a:srgbClr>
                </a:solidFill>
                <a:latin typeface="IBM Plex Sans" pitchFamily="34" charset="0"/>
                <a:ea typeface="IBM Plex Sans" pitchFamily="34" charset="-122"/>
                <a:cs typeface="IBM Plex Sans" pitchFamily="34" charset="-120"/>
              </a:rPr>
              <a:t>PRDs, epics &amp; stories, readiness</a:t>
            </a:r>
            <a:endParaRPr lang="en-US" sz="1425" dirty="0"/>
          </a:p>
        </p:txBody>
      </p:sp>
      <p:sp>
        <p:nvSpPr>
          <p:cNvPr id="20" name="Shape 18"/>
          <p:cNvSpPr/>
          <p:nvPr/>
        </p:nvSpPr>
        <p:spPr>
          <a:xfrm>
            <a:off x="1143000" y="4604861"/>
            <a:ext cx="5181600" cy="1786414"/>
          </a:xfrm>
          <a:prstGeom prst="rect">
            <a:avLst/>
          </a:prstGeom>
          <a:solidFill>
            <a:srgbClr val="FFFFFF"/>
          </a:solidFill>
          <a:ln w="6350">
            <a:solidFill>
              <a:srgbClr val="0E1C30">
                <a:alpha val="12000"/>
              </a:srgbClr>
            </a:solidFill>
            <a:prstDash val="solid"/>
          </a:ln>
        </p:spPr>
      </p:sp>
      <p:sp>
        <p:nvSpPr>
          <p:cNvPr id="21" name="Text 19"/>
          <p:cNvSpPr/>
          <p:nvPr/>
        </p:nvSpPr>
        <p:spPr>
          <a:xfrm>
            <a:off x="1454150" y="4935062"/>
            <a:ext cx="742632"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0E1C30"/>
                </a:solidFill>
                <a:latin typeface="Space Grotesk" pitchFamily="34" charset="0"/>
                <a:ea typeface="Space Grotesk" pitchFamily="34" charset="-122"/>
                <a:cs typeface="Space Grotesk" pitchFamily="34" charset="-120"/>
              </a:rPr>
              <a:t>Sally</a:t>
            </a:r>
            <a:endParaRPr lang="en-US" sz="2250" dirty="0"/>
          </a:p>
        </p:txBody>
      </p:sp>
      <p:sp>
        <p:nvSpPr>
          <p:cNvPr id="22" name="Text 20"/>
          <p:cNvSpPr/>
          <p:nvPr/>
        </p:nvSpPr>
        <p:spPr>
          <a:xfrm>
            <a:off x="2253932" y="5074761"/>
            <a:ext cx="822960" cy="215900"/>
          </a:xfrm>
          <a:prstGeom prst="rect">
            <a:avLst/>
          </a:prstGeom>
          <a:noFill/>
          <a:ln/>
        </p:spPr>
        <p:txBody>
          <a:bodyPr wrap="square" lIns="25400" tIns="25400" rIns="25400" bIns="25400" rtlCol="0" anchor="t">
            <a:normAutofit/>
          </a:bodyPr>
          <a:lstStyle/>
          <a:p>
            <a:pPr algn="l" indent="0" marL="0">
              <a:buNone/>
            </a:pPr>
            <a:r>
              <a:rPr lang="en-US" sz="1050" spc="105" kern="0" dirty="0">
                <a:solidFill>
                  <a:srgbClr val="B78A00"/>
                </a:solidFill>
                <a:latin typeface="IBM Plex Mono" pitchFamily="34" charset="0"/>
                <a:ea typeface="IBM Plex Mono" pitchFamily="34" charset="-122"/>
                <a:cs typeface="IBM Plex Mono" pitchFamily="34" charset="-120"/>
              </a:rPr>
              <a:t>PLANNING</a:t>
            </a:r>
            <a:endParaRPr lang="en-US" sz="1050" dirty="0"/>
          </a:p>
        </p:txBody>
      </p:sp>
      <p:sp>
        <p:nvSpPr>
          <p:cNvPr id="23" name="Text 21"/>
          <p:cNvSpPr/>
          <p:nvPr/>
        </p:nvSpPr>
        <p:spPr>
          <a:xfrm>
            <a:off x="1454150" y="5392262"/>
            <a:ext cx="5015230" cy="311150"/>
          </a:xfrm>
          <a:prstGeom prst="rect">
            <a:avLst/>
          </a:prstGeom>
          <a:noFill/>
          <a:ln/>
        </p:spPr>
        <p:txBody>
          <a:bodyPr wrap="square" lIns="25400" tIns="25400" rIns="25400" bIns="25400" rtlCol="0" anchor="t">
            <a:normAutofit/>
          </a:bodyPr>
          <a:lstStyle/>
          <a:p>
            <a:pPr algn="l" indent="0" marL="0">
              <a:buNone/>
            </a:pPr>
            <a:r>
              <a:rPr lang="en-US" sz="1650" dirty="0">
                <a:solidFill>
                  <a:srgbClr val="0E1C30">
                    <a:alpha val="62000"/>
                  </a:srgbClr>
                </a:solidFill>
                <a:latin typeface="IBM Plex Sans" pitchFamily="34" charset="0"/>
                <a:ea typeface="IBM Plex Sans" pitchFamily="34" charset="-122"/>
                <a:cs typeface="IBM Plex Sans" pitchFamily="34" charset="-120"/>
              </a:rPr>
              <a:t>UX Designer</a:t>
            </a:r>
            <a:endParaRPr lang="en-US" sz="1650" dirty="0"/>
          </a:p>
        </p:txBody>
      </p:sp>
      <p:sp>
        <p:nvSpPr>
          <p:cNvPr id="24" name="Text 22"/>
          <p:cNvSpPr/>
          <p:nvPr/>
        </p:nvSpPr>
        <p:spPr>
          <a:xfrm>
            <a:off x="1454150" y="5798661"/>
            <a:ext cx="5015230" cy="300514"/>
          </a:xfrm>
          <a:prstGeom prst="rect">
            <a:avLst/>
          </a:prstGeom>
          <a:noFill/>
          <a:ln/>
        </p:spPr>
        <p:txBody>
          <a:bodyPr wrap="square" lIns="25400" tIns="25400" rIns="25400" bIns="25400" rtlCol="0" anchor="t">
            <a:normAutofit/>
          </a:bodyPr>
          <a:lstStyle/>
          <a:p>
            <a:pPr algn="l" indent="0" marL="0">
              <a:lnSpc>
                <a:spcPct val="111689"/>
              </a:lnSpc>
              <a:buNone/>
            </a:pPr>
            <a:r>
              <a:rPr lang="en-US" sz="1425" dirty="0">
                <a:solidFill>
                  <a:srgbClr val="0E1C30">
                    <a:alpha val="50000"/>
                  </a:srgbClr>
                </a:solidFill>
                <a:latin typeface="IBM Plex Sans" pitchFamily="34" charset="0"/>
                <a:ea typeface="IBM Plex Sans" pitchFamily="34" charset="-122"/>
                <a:cs typeface="IBM Plex Sans" pitchFamily="34" charset="-120"/>
              </a:rPr>
              <a:t>Experience &amp; design specs</a:t>
            </a:r>
            <a:endParaRPr lang="en-US" sz="1425" dirty="0"/>
          </a:p>
        </p:txBody>
      </p:sp>
      <p:sp>
        <p:nvSpPr>
          <p:cNvPr id="25" name="Shape 23"/>
          <p:cNvSpPr/>
          <p:nvPr/>
        </p:nvSpPr>
        <p:spPr>
          <a:xfrm>
            <a:off x="6553200" y="4604861"/>
            <a:ext cx="5181600" cy="1786414"/>
          </a:xfrm>
          <a:prstGeom prst="rect">
            <a:avLst/>
          </a:prstGeom>
          <a:solidFill>
            <a:srgbClr val="FFFFFF"/>
          </a:solidFill>
          <a:ln w="6350">
            <a:solidFill>
              <a:srgbClr val="0E1C30">
                <a:alpha val="12000"/>
              </a:srgbClr>
            </a:solidFill>
            <a:prstDash val="solid"/>
          </a:ln>
        </p:spPr>
      </p:sp>
      <p:sp>
        <p:nvSpPr>
          <p:cNvPr id="26" name="Text 24"/>
          <p:cNvSpPr/>
          <p:nvPr/>
        </p:nvSpPr>
        <p:spPr>
          <a:xfrm>
            <a:off x="6864350" y="4935062"/>
            <a:ext cx="1207770"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0E1C30"/>
                </a:solidFill>
                <a:latin typeface="Space Grotesk" pitchFamily="34" charset="0"/>
                <a:ea typeface="Space Grotesk" pitchFamily="34" charset="-122"/>
                <a:cs typeface="Space Grotesk" pitchFamily="34" charset="-120"/>
              </a:rPr>
              <a:t>Winston</a:t>
            </a:r>
            <a:endParaRPr lang="en-US" sz="2250" dirty="0"/>
          </a:p>
        </p:txBody>
      </p:sp>
      <p:sp>
        <p:nvSpPr>
          <p:cNvPr id="27" name="Text 25"/>
          <p:cNvSpPr/>
          <p:nvPr/>
        </p:nvSpPr>
        <p:spPr>
          <a:xfrm>
            <a:off x="8129270" y="5074761"/>
            <a:ext cx="1102995" cy="215900"/>
          </a:xfrm>
          <a:prstGeom prst="rect">
            <a:avLst/>
          </a:prstGeom>
          <a:noFill/>
          <a:ln/>
        </p:spPr>
        <p:txBody>
          <a:bodyPr wrap="square" lIns="25400" tIns="25400" rIns="25400" bIns="25400" rtlCol="0" anchor="t">
            <a:normAutofit/>
          </a:bodyPr>
          <a:lstStyle/>
          <a:p>
            <a:pPr algn="l" indent="0" marL="0">
              <a:buNone/>
            </a:pPr>
            <a:r>
              <a:rPr lang="en-US" sz="1050" spc="105" kern="0" dirty="0">
                <a:solidFill>
                  <a:srgbClr val="1F9E77"/>
                </a:solidFill>
                <a:latin typeface="IBM Plex Mono" pitchFamily="34" charset="0"/>
                <a:ea typeface="IBM Plex Mono" pitchFamily="34" charset="-122"/>
                <a:cs typeface="IBM Plex Mono" pitchFamily="34" charset="-120"/>
              </a:rPr>
              <a:t>SOLUTIONING</a:t>
            </a:r>
            <a:endParaRPr lang="en-US" sz="1050" dirty="0"/>
          </a:p>
        </p:txBody>
      </p:sp>
      <p:sp>
        <p:nvSpPr>
          <p:cNvPr id="28" name="Text 26"/>
          <p:cNvSpPr/>
          <p:nvPr/>
        </p:nvSpPr>
        <p:spPr>
          <a:xfrm>
            <a:off x="6864350" y="5392262"/>
            <a:ext cx="5015230" cy="311150"/>
          </a:xfrm>
          <a:prstGeom prst="rect">
            <a:avLst/>
          </a:prstGeom>
          <a:noFill/>
          <a:ln/>
        </p:spPr>
        <p:txBody>
          <a:bodyPr wrap="square" lIns="25400" tIns="25400" rIns="25400" bIns="25400" rtlCol="0" anchor="t">
            <a:normAutofit/>
          </a:bodyPr>
          <a:lstStyle/>
          <a:p>
            <a:pPr algn="l" indent="0" marL="0">
              <a:buNone/>
            </a:pPr>
            <a:r>
              <a:rPr lang="en-US" sz="1650" dirty="0">
                <a:solidFill>
                  <a:srgbClr val="0E1C30">
                    <a:alpha val="62000"/>
                  </a:srgbClr>
                </a:solidFill>
                <a:latin typeface="IBM Plex Sans" pitchFamily="34" charset="0"/>
                <a:ea typeface="IBM Plex Sans" pitchFamily="34" charset="-122"/>
                <a:cs typeface="IBM Plex Sans" pitchFamily="34" charset="-120"/>
              </a:rPr>
              <a:t>System Architect</a:t>
            </a:r>
            <a:endParaRPr lang="en-US" sz="1650" dirty="0"/>
          </a:p>
        </p:txBody>
      </p:sp>
      <p:sp>
        <p:nvSpPr>
          <p:cNvPr id="29" name="Text 27"/>
          <p:cNvSpPr/>
          <p:nvPr/>
        </p:nvSpPr>
        <p:spPr>
          <a:xfrm>
            <a:off x="6864350" y="5798661"/>
            <a:ext cx="5015230" cy="300514"/>
          </a:xfrm>
          <a:prstGeom prst="rect">
            <a:avLst/>
          </a:prstGeom>
          <a:noFill/>
          <a:ln/>
        </p:spPr>
        <p:txBody>
          <a:bodyPr wrap="square" lIns="25400" tIns="25400" rIns="25400" bIns="25400" rtlCol="0" anchor="t">
            <a:normAutofit/>
          </a:bodyPr>
          <a:lstStyle/>
          <a:p>
            <a:pPr algn="l" indent="0" marL="0">
              <a:lnSpc>
                <a:spcPct val="111689"/>
              </a:lnSpc>
              <a:buNone/>
            </a:pPr>
            <a:r>
              <a:rPr lang="en-US" sz="1425" dirty="0">
                <a:solidFill>
                  <a:srgbClr val="0E1C30">
                    <a:alpha val="50000"/>
                  </a:srgbClr>
                </a:solidFill>
                <a:latin typeface="IBM Plex Sans" pitchFamily="34" charset="0"/>
                <a:ea typeface="IBM Plex Sans" pitchFamily="34" charset="-122"/>
                <a:cs typeface="IBM Plex Sans" pitchFamily="34" charset="-120"/>
              </a:rPr>
              <a:t>Technical architecture, alignment</a:t>
            </a:r>
            <a:endParaRPr lang="en-US" sz="1425" dirty="0"/>
          </a:p>
        </p:txBody>
      </p:sp>
      <p:sp>
        <p:nvSpPr>
          <p:cNvPr id="30" name="Shape 28"/>
          <p:cNvSpPr/>
          <p:nvPr/>
        </p:nvSpPr>
        <p:spPr>
          <a:xfrm>
            <a:off x="11963400" y="4604861"/>
            <a:ext cx="5181600" cy="1786414"/>
          </a:xfrm>
          <a:prstGeom prst="rect">
            <a:avLst/>
          </a:prstGeom>
          <a:solidFill>
            <a:srgbClr val="0B1626"/>
          </a:solidFill>
          <a:ln w="6350">
            <a:solidFill>
              <a:srgbClr val="0B1626"/>
            </a:solidFill>
            <a:prstDash val="solid"/>
          </a:ln>
        </p:spPr>
      </p:sp>
      <p:sp>
        <p:nvSpPr>
          <p:cNvPr id="31" name="Text 29"/>
          <p:cNvSpPr/>
          <p:nvPr/>
        </p:nvSpPr>
        <p:spPr>
          <a:xfrm>
            <a:off x="12274550" y="4935062"/>
            <a:ext cx="983456"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F6F4EE"/>
                </a:solidFill>
                <a:latin typeface="Space Grotesk" pitchFamily="34" charset="0"/>
                <a:ea typeface="Space Grotesk" pitchFamily="34" charset="-122"/>
                <a:cs typeface="Space Grotesk" pitchFamily="34" charset="-120"/>
              </a:rPr>
              <a:t>Amelia</a:t>
            </a:r>
            <a:endParaRPr lang="en-US" sz="2250" dirty="0"/>
          </a:p>
        </p:txBody>
      </p:sp>
      <p:sp>
        <p:nvSpPr>
          <p:cNvPr id="32" name="Text 30"/>
          <p:cNvSpPr/>
          <p:nvPr/>
        </p:nvSpPr>
        <p:spPr>
          <a:xfrm>
            <a:off x="13315156" y="5074761"/>
            <a:ext cx="1437513" cy="215900"/>
          </a:xfrm>
          <a:prstGeom prst="rect">
            <a:avLst/>
          </a:prstGeom>
          <a:noFill/>
          <a:ln/>
        </p:spPr>
        <p:txBody>
          <a:bodyPr wrap="square" lIns="25400" tIns="25400" rIns="25400" bIns="25400" rtlCol="0" anchor="t">
            <a:normAutofit/>
          </a:bodyPr>
          <a:lstStyle/>
          <a:p>
            <a:pPr algn="l" indent="0" marL="0">
              <a:buNone/>
            </a:pPr>
            <a:r>
              <a:rPr lang="en-US" sz="1050" spc="105" kern="0" dirty="0">
                <a:solidFill>
                  <a:srgbClr val="F58B6E"/>
                </a:solidFill>
                <a:latin typeface="IBM Plex Mono" pitchFamily="34" charset="0"/>
                <a:ea typeface="IBM Plex Mono" pitchFamily="34" charset="-122"/>
                <a:cs typeface="IBM Plex Mono" pitchFamily="34" charset="-120"/>
              </a:rPr>
              <a:t>IMPLEMENTATION</a:t>
            </a:r>
            <a:endParaRPr lang="en-US" sz="1050" dirty="0"/>
          </a:p>
        </p:txBody>
      </p:sp>
      <p:sp>
        <p:nvSpPr>
          <p:cNvPr id="33" name="Text 31"/>
          <p:cNvSpPr/>
          <p:nvPr/>
        </p:nvSpPr>
        <p:spPr>
          <a:xfrm>
            <a:off x="12274550" y="5392262"/>
            <a:ext cx="5015230" cy="311150"/>
          </a:xfrm>
          <a:prstGeom prst="rect">
            <a:avLst/>
          </a:prstGeom>
          <a:noFill/>
          <a:ln/>
        </p:spPr>
        <p:txBody>
          <a:bodyPr wrap="square" lIns="25400" tIns="25400" rIns="25400" bIns="25400" rtlCol="0" anchor="t">
            <a:normAutofit/>
          </a:bodyPr>
          <a:lstStyle/>
          <a:p>
            <a:pPr algn="l" indent="0" marL="0">
              <a:buNone/>
            </a:pPr>
            <a:r>
              <a:rPr lang="en-US" sz="1650" dirty="0">
                <a:solidFill>
                  <a:srgbClr val="F6F4EE">
                    <a:alpha val="70000"/>
                  </a:srgbClr>
                </a:solidFill>
                <a:latin typeface="IBM Plex Sans" pitchFamily="34" charset="0"/>
                <a:ea typeface="IBM Plex Sans" pitchFamily="34" charset="-122"/>
                <a:cs typeface="IBM Plex Sans" pitchFamily="34" charset="-120"/>
              </a:rPr>
              <a:t>Senior Engineer</a:t>
            </a:r>
            <a:endParaRPr lang="en-US" sz="1650" dirty="0"/>
          </a:p>
        </p:txBody>
      </p:sp>
      <p:sp>
        <p:nvSpPr>
          <p:cNvPr id="34" name="Text 32"/>
          <p:cNvSpPr/>
          <p:nvPr/>
        </p:nvSpPr>
        <p:spPr>
          <a:xfrm>
            <a:off x="12274550" y="5798661"/>
            <a:ext cx="5015230" cy="300514"/>
          </a:xfrm>
          <a:prstGeom prst="rect">
            <a:avLst/>
          </a:prstGeom>
          <a:noFill/>
          <a:ln/>
        </p:spPr>
        <p:txBody>
          <a:bodyPr wrap="square" lIns="25400" tIns="25400" rIns="25400" bIns="25400" rtlCol="0" anchor="t">
            <a:normAutofit/>
          </a:bodyPr>
          <a:lstStyle/>
          <a:p>
            <a:pPr algn="l" indent="0" marL="0">
              <a:lnSpc>
                <a:spcPct val="111689"/>
              </a:lnSpc>
              <a:buNone/>
            </a:pPr>
            <a:r>
              <a:rPr lang="en-US" sz="1425" dirty="0">
                <a:solidFill>
                  <a:srgbClr val="F6F4EE">
                    <a:alpha val="55000"/>
                  </a:srgbClr>
                </a:solidFill>
                <a:latin typeface="IBM Plex Sans" pitchFamily="34" charset="0"/>
                <a:ea typeface="IBM Plex Sans" pitchFamily="34" charset="-122"/>
                <a:cs typeface="IBM Plex Sans" pitchFamily="34" charset="-120"/>
              </a:rPr>
              <a:t>Story execution, code review, sprints</a:t>
            </a:r>
            <a:endParaRPr lang="en-US" sz="1425" dirty="0"/>
          </a:p>
        </p:txBody>
      </p:sp>
      <p:sp>
        <p:nvSpPr>
          <p:cNvPr id="35" name="Text 33"/>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36" name="Text 34"/>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17 / 45</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1611630"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WHY PERSONAS</a:t>
            </a:r>
            <a:endParaRPr lang="en-US" sz="1200" dirty="0"/>
          </a:p>
        </p:txBody>
      </p:sp>
      <p:sp>
        <p:nvSpPr>
          <p:cNvPr id="4" name="Text 2"/>
          <p:cNvSpPr/>
          <p:nvPr/>
        </p:nvSpPr>
        <p:spPr>
          <a:xfrm>
            <a:off x="1143000" y="1384300"/>
            <a:ext cx="12557760" cy="1238250"/>
          </a:xfrm>
          <a:prstGeom prst="rect">
            <a:avLst/>
          </a:prstGeom>
          <a:noFill/>
          <a:ln/>
        </p:spPr>
        <p:txBody>
          <a:bodyPr wrap="square" lIns="25400" tIns="25400" rIns="25400" bIns="25400" rtlCol="0" anchor="t">
            <a:normAutofit/>
          </a:bodyPr>
          <a:lstStyle/>
          <a:p>
            <a:pPr algn="l" indent="0" marL="0">
              <a:lnSpc>
                <a:spcPct val="82174"/>
              </a:lnSpc>
              <a:buNone/>
            </a:pPr>
            <a:r>
              <a:rPr lang="en-US" sz="4500" b="1" spc="-90" kern="0" dirty="0">
                <a:solidFill>
                  <a:srgbClr val="0E1C30"/>
                </a:solidFill>
                <a:latin typeface="Space Grotesk" pitchFamily="34" charset="0"/>
                <a:ea typeface="Space Grotesk" pitchFamily="34" charset="-122"/>
                <a:cs typeface="Space Grotesk" pitchFamily="34" charset="-120"/>
              </a:rPr>
              <a:t>“Hey Mary, let’s brainstorm.” And she just gets on with it.</a:t>
            </a:r>
            <a:endParaRPr lang="en-US" sz="4500" dirty="0"/>
          </a:p>
        </p:txBody>
      </p:sp>
      <p:sp>
        <p:nvSpPr>
          <p:cNvPr id="5" name="Shape 3"/>
          <p:cNvSpPr/>
          <p:nvPr/>
        </p:nvSpPr>
        <p:spPr>
          <a:xfrm>
            <a:off x="1143000" y="3194050"/>
            <a:ext cx="5168900" cy="2002473"/>
          </a:xfrm>
          <a:prstGeom prst="rect">
            <a:avLst/>
          </a:prstGeom>
          <a:solidFill>
            <a:srgbClr val="FFFFFF"/>
          </a:solidFill>
          <a:ln w="6350">
            <a:solidFill>
              <a:srgbClr val="0E1C30">
                <a:alpha val="12000"/>
              </a:srgbClr>
            </a:solidFill>
            <a:prstDash val="solid"/>
          </a:ln>
        </p:spPr>
      </p:sp>
      <p:sp>
        <p:nvSpPr>
          <p:cNvPr id="6" name="Text 4"/>
          <p:cNvSpPr/>
          <p:nvPr/>
        </p:nvSpPr>
        <p:spPr>
          <a:xfrm>
            <a:off x="1454150" y="3524250"/>
            <a:ext cx="5001260"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50000"/>
                  </a:srgbClr>
                </a:solidFill>
                <a:latin typeface="IBM Plex Mono" pitchFamily="34" charset="0"/>
                <a:ea typeface="IBM Plex Mono" pitchFamily="34" charset="-122"/>
                <a:cs typeface="IBM Plex Mono" pitchFamily="34" charset="-120"/>
              </a:rPr>
              <a:t>MENU</a:t>
            </a:r>
            <a:endParaRPr lang="en-US" sz="1050" dirty="0"/>
          </a:p>
        </p:txBody>
      </p:sp>
      <p:sp>
        <p:nvSpPr>
          <p:cNvPr id="7" name="Text 5"/>
          <p:cNvSpPr/>
          <p:nvPr/>
        </p:nvSpPr>
        <p:spPr>
          <a:xfrm>
            <a:off x="1454150" y="3835400"/>
            <a:ext cx="5001260" cy="355600"/>
          </a:xfrm>
          <a:prstGeom prst="rect">
            <a:avLst/>
          </a:prstGeom>
          <a:noFill/>
          <a:ln/>
        </p:spPr>
        <p:txBody>
          <a:bodyPr wrap="square" lIns="25400" tIns="25400" rIns="25400" bIns="25400" rtlCol="0" anchor="t">
            <a:normAutofit/>
          </a:bodyPr>
          <a:lstStyle/>
          <a:p>
            <a:pPr algn="l" indent="0" marL="0">
              <a:buNone/>
            </a:pPr>
            <a:r>
              <a:rPr lang="en-US" sz="1950" b="1" dirty="0">
                <a:solidFill>
                  <a:srgbClr val="0E1C30"/>
                </a:solidFill>
                <a:latin typeface="Space Grotesk" pitchFamily="34" charset="0"/>
                <a:ea typeface="Space Grotesk" pitchFamily="34" charset="-122"/>
                <a:cs typeface="Space Grotesk" pitchFamily="34" charset="-120"/>
              </a:rPr>
              <a:t>You meet the tool halfway</a:t>
            </a:r>
            <a:endParaRPr lang="en-US" sz="1950" dirty="0"/>
          </a:p>
        </p:txBody>
      </p:sp>
      <p:sp>
        <p:nvSpPr>
          <p:cNvPr id="8" name="Text 6"/>
          <p:cNvSpPr/>
          <p:nvPr/>
        </p:nvSpPr>
        <p:spPr>
          <a:xfrm>
            <a:off x="1454150" y="4286250"/>
            <a:ext cx="4682998" cy="618172"/>
          </a:xfrm>
          <a:prstGeom prst="rect">
            <a:avLst/>
          </a:prstGeom>
          <a:noFill/>
          <a:ln/>
        </p:spPr>
        <p:txBody>
          <a:bodyPr wrap="square" lIns="25400" tIns="25400" rIns="25400" bIns="25400" rtlCol="0" anchor="t">
            <a:normAutofit/>
          </a:bodyPr>
          <a:lstStyle/>
          <a:p>
            <a:pPr algn="l" indent="0" marL="0">
              <a:lnSpc>
                <a:spcPct val="111402"/>
              </a:lnSpc>
              <a:buNone/>
            </a:pPr>
            <a:r>
              <a:rPr lang="en-US" sz="1575" dirty="0">
                <a:solidFill>
                  <a:srgbClr val="0E1C30">
                    <a:alpha val="60000"/>
                  </a:srgbClr>
                </a:solidFill>
                <a:latin typeface="IBM Plex Sans" pitchFamily="34" charset="0"/>
                <a:ea typeface="IBM Plex Sans" pitchFamily="34" charset="-122"/>
                <a:cs typeface="IBM Plex Sans" pitchFamily="34" charset="-120"/>
              </a:rPr>
              <a:t>Memorize that brainstorming is a skill on the analyst, not the PM.</a:t>
            </a:r>
            <a:endParaRPr lang="en-US" sz="1575" dirty="0"/>
          </a:p>
        </p:txBody>
      </p:sp>
      <p:sp>
        <p:nvSpPr>
          <p:cNvPr id="9" name="Shape 7"/>
          <p:cNvSpPr/>
          <p:nvPr/>
        </p:nvSpPr>
        <p:spPr>
          <a:xfrm>
            <a:off x="6559550" y="3194050"/>
            <a:ext cx="5168900" cy="2002473"/>
          </a:xfrm>
          <a:prstGeom prst="rect">
            <a:avLst/>
          </a:prstGeom>
          <a:solidFill>
            <a:srgbClr val="FFFFFF"/>
          </a:solidFill>
          <a:ln w="6350">
            <a:solidFill>
              <a:srgbClr val="0E1C30">
                <a:alpha val="12000"/>
              </a:srgbClr>
            </a:solidFill>
            <a:prstDash val="solid"/>
          </a:ln>
        </p:spPr>
      </p:sp>
      <p:sp>
        <p:nvSpPr>
          <p:cNvPr id="10" name="Text 8"/>
          <p:cNvSpPr/>
          <p:nvPr/>
        </p:nvSpPr>
        <p:spPr>
          <a:xfrm>
            <a:off x="6870700" y="3524250"/>
            <a:ext cx="5001260"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50000"/>
                  </a:srgbClr>
                </a:solidFill>
                <a:latin typeface="IBM Plex Mono" pitchFamily="34" charset="0"/>
                <a:ea typeface="IBM Plex Mono" pitchFamily="34" charset="-122"/>
                <a:cs typeface="IBM Plex Mono" pitchFamily="34" charset="-120"/>
              </a:rPr>
              <a:t>BLANK PROMPT</a:t>
            </a:r>
            <a:endParaRPr lang="en-US" sz="1050" dirty="0"/>
          </a:p>
        </p:txBody>
      </p:sp>
      <p:sp>
        <p:nvSpPr>
          <p:cNvPr id="11" name="Text 9"/>
          <p:cNvSpPr/>
          <p:nvPr/>
        </p:nvSpPr>
        <p:spPr>
          <a:xfrm>
            <a:off x="6870700" y="3835400"/>
            <a:ext cx="5001260" cy="355600"/>
          </a:xfrm>
          <a:prstGeom prst="rect">
            <a:avLst/>
          </a:prstGeom>
          <a:noFill/>
          <a:ln/>
        </p:spPr>
        <p:txBody>
          <a:bodyPr wrap="square" lIns="25400" tIns="25400" rIns="25400" bIns="25400" rtlCol="0" anchor="t">
            <a:normAutofit/>
          </a:bodyPr>
          <a:lstStyle/>
          <a:p>
            <a:pPr algn="l" indent="0" marL="0">
              <a:buNone/>
            </a:pPr>
            <a:r>
              <a:rPr lang="en-US" sz="1950" b="1" dirty="0">
                <a:solidFill>
                  <a:srgbClr val="0E1C30"/>
                </a:solidFill>
                <a:latin typeface="Space Grotesk" pitchFamily="34" charset="0"/>
                <a:ea typeface="Space Grotesk" pitchFamily="34" charset="-122"/>
                <a:cs typeface="Space Grotesk" pitchFamily="34" charset="-120"/>
              </a:rPr>
              <a:t>You guess the magic words</a:t>
            </a:r>
            <a:endParaRPr lang="en-US" sz="1950" dirty="0"/>
          </a:p>
        </p:txBody>
      </p:sp>
      <p:sp>
        <p:nvSpPr>
          <p:cNvPr id="12" name="Text 10"/>
          <p:cNvSpPr/>
          <p:nvPr/>
        </p:nvSpPr>
        <p:spPr>
          <a:xfrm>
            <a:off x="6870700" y="4286250"/>
            <a:ext cx="4682998" cy="618172"/>
          </a:xfrm>
          <a:prstGeom prst="rect">
            <a:avLst/>
          </a:prstGeom>
          <a:noFill/>
          <a:ln/>
        </p:spPr>
        <p:txBody>
          <a:bodyPr wrap="square" lIns="25400" tIns="25400" rIns="25400" bIns="25400" rtlCol="0" anchor="t">
            <a:normAutofit/>
          </a:bodyPr>
          <a:lstStyle/>
          <a:p>
            <a:pPr algn="l" indent="0" marL="0">
              <a:lnSpc>
                <a:spcPct val="111402"/>
              </a:lnSpc>
              <a:buNone/>
            </a:pPr>
            <a:r>
              <a:rPr lang="en-US" sz="1575" dirty="0">
                <a:solidFill>
                  <a:srgbClr val="0E1C30">
                    <a:alpha val="60000"/>
                  </a:srgbClr>
                </a:solidFill>
                <a:latin typeface="IBM Plex Sans" pitchFamily="34" charset="0"/>
                <a:ea typeface="IBM Plex Sans" pitchFamily="34" charset="-122"/>
                <a:cs typeface="IBM Plex Sans" pitchFamily="34" charset="-120"/>
              </a:rPr>
              <a:t>Results depend on how you happened to phrase the ask.</a:t>
            </a:r>
            <a:endParaRPr lang="en-US" sz="1575" dirty="0"/>
          </a:p>
        </p:txBody>
      </p:sp>
      <p:sp>
        <p:nvSpPr>
          <p:cNvPr id="13" name="Shape 11"/>
          <p:cNvSpPr/>
          <p:nvPr/>
        </p:nvSpPr>
        <p:spPr>
          <a:xfrm>
            <a:off x="11976100" y="3194050"/>
            <a:ext cx="5168900" cy="2002473"/>
          </a:xfrm>
          <a:prstGeom prst="rect">
            <a:avLst/>
          </a:prstGeom>
          <a:solidFill>
            <a:srgbClr val="0B1626"/>
          </a:solidFill>
          <a:ln w="6350">
            <a:solidFill>
              <a:srgbClr val="0B1626"/>
            </a:solidFill>
            <a:prstDash val="solid"/>
          </a:ln>
        </p:spPr>
      </p:sp>
      <p:sp>
        <p:nvSpPr>
          <p:cNvPr id="14" name="Text 12"/>
          <p:cNvSpPr/>
          <p:nvPr/>
        </p:nvSpPr>
        <p:spPr>
          <a:xfrm>
            <a:off x="12287250" y="3524250"/>
            <a:ext cx="5001260"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F4C233"/>
                </a:solidFill>
                <a:latin typeface="IBM Plex Mono" pitchFamily="34" charset="0"/>
                <a:ea typeface="IBM Plex Mono" pitchFamily="34" charset="-122"/>
                <a:cs typeface="IBM Plex Mono" pitchFamily="34" charset="-120"/>
              </a:rPr>
              <a:t>NAMED AGENT</a:t>
            </a:r>
            <a:endParaRPr lang="en-US" sz="1050" dirty="0"/>
          </a:p>
        </p:txBody>
      </p:sp>
      <p:sp>
        <p:nvSpPr>
          <p:cNvPr id="15" name="Text 13"/>
          <p:cNvSpPr/>
          <p:nvPr/>
        </p:nvSpPr>
        <p:spPr>
          <a:xfrm>
            <a:off x="12287250" y="3835400"/>
            <a:ext cx="5001260" cy="355600"/>
          </a:xfrm>
          <a:prstGeom prst="rect">
            <a:avLst/>
          </a:prstGeom>
          <a:noFill/>
          <a:ln/>
        </p:spPr>
        <p:txBody>
          <a:bodyPr wrap="square" lIns="25400" tIns="25400" rIns="25400" bIns="25400" rtlCol="0" anchor="t">
            <a:normAutofit/>
          </a:bodyPr>
          <a:lstStyle/>
          <a:p>
            <a:pPr algn="l" indent="0" marL="0">
              <a:buNone/>
            </a:pPr>
            <a:r>
              <a:rPr lang="en-US" sz="1950" b="1" dirty="0">
                <a:solidFill>
                  <a:srgbClr val="F6F4EE"/>
                </a:solidFill>
                <a:latin typeface="Space Grotesk" pitchFamily="34" charset="0"/>
                <a:ea typeface="Space Grotesk" pitchFamily="34" charset="-122"/>
                <a:cs typeface="Space Grotesk" pitchFamily="34" charset="-120"/>
              </a:rPr>
              <a:t>You talk to a teammate</a:t>
            </a:r>
            <a:endParaRPr lang="en-US" sz="1950" dirty="0"/>
          </a:p>
        </p:txBody>
      </p:sp>
      <p:sp>
        <p:nvSpPr>
          <p:cNvPr id="16" name="Text 14"/>
          <p:cNvSpPr/>
          <p:nvPr/>
        </p:nvSpPr>
        <p:spPr>
          <a:xfrm>
            <a:off x="12287250" y="4286250"/>
            <a:ext cx="4682998" cy="618172"/>
          </a:xfrm>
          <a:prstGeom prst="rect">
            <a:avLst/>
          </a:prstGeom>
          <a:noFill/>
          <a:ln/>
        </p:spPr>
        <p:txBody>
          <a:bodyPr wrap="square" lIns="25400" tIns="25400" rIns="25400" bIns="25400" rtlCol="0" anchor="t">
            <a:normAutofit/>
          </a:bodyPr>
          <a:lstStyle/>
          <a:p>
            <a:pPr algn="l" indent="0" marL="0">
              <a:lnSpc>
                <a:spcPct val="111402"/>
              </a:lnSpc>
              <a:buNone/>
            </a:pPr>
            <a:r>
              <a:rPr lang="en-US" sz="1575" dirty="0">
                <a:solidFill>
                  <a:srgbClr val="F6F4EE">
                    <a:alpha val="65000"/>
                  </a:srgbClr>
                </a:solidFill>
                <a:latin typeface="IBM Plex Sans" pitchFamily="34" charset="0"/>
                <a:ea typeface="IBM Plex Sans" pitchFamily="34" charset="-122"/>
                <a:cs typeface="IBM Plex Sans" pitchFamily="34" charset="-120"/>
              </a:rPr>
              <a:t>Consistent persona, discoverable skills, menu as fallback.</a:t>
            </a:r>
            <a:endParaRPr lang="en-US" sz="1575" dirty="0"/>
          </a:p>
        </p:txBody>
      </p:sp>
      <p:sp>
        <p:nvSpPr>
          <p:cNvPr id="17" name="Text 15"/>
          <p:cNvSpPr/>
          <p:nvPr/>
        </p:nvSpPr>
        <p:spPr>
          <a:xfrm>
            <a:off x="1143000" y="5653722"/>
            <a:ext cx="12165330" cy="752475"/>
          </a:xfrm>
          <a:prstGeom prst="rect">
            <a:avLst/>
          </a:prstGeom>
          <a:noFill/>
          <a:ln/>
        </p:spPr>
        <p:txBody>
          <a:bodyPr wrap="square" lIns="25400" tIns="25400" rIns="25400" bIns="25400" rtlCol="0" anchor="t">
            <a:normAutofit/>
          </a:bodyPr>
          <a:lstStyle/>
          <a:p>
            <a:pPr algn="l" indent="0" marL="0">
              <a:lnSpc>
                <a:spcPct val="114796"/>
              </a:lnSpc>
              <a:buNone/>
            </a:pPr>
            <a:r>
              <a:rPr lang="en-US" sz="1875" dirty="0">
                <a:solidFill>
                  <a:srgbClr val="0E1C30">
                    <a:alpha val="62000"/>
                  </a:srgbClr>
                </a:solidFill>
                <a:latin typeface="IBM Plex Sans" pitchFamily="34" charset="0"/>
                <a:ea typeface="IBM Plex Sans" pitchFamily="34" charset="-122"/>
                <a:cs typeface="IBM Plex Sans" pitchFamily="34" charset="-120"/>
              </a:rPr>
              <a:t>Identity is fixed, behavior is customizable — teams reshape an agent’s principles, integrations, and templates without forking the framework.</a:t>
            </a:r>
            <a:endParaRPr lang="en-US" sz="1875" dirty="0"/>
          </a:p>
        </p:txBody>
      </p:sp>
      <p:sp>
        <p:nvSpPr>
          <p:cNvPr id="18" name="Text 16"/>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19" name="Text 17"/>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18 / 45</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3294777"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MULTI-AGENT COLLABORATION</a:t>
            </a:r>
            <a:endParaRPr lang="en-US" sz="1200" dirty="0"/>
          </a:p>
        </p:txBody>
      </p:sp>
      <p:sp>
        <p:nvSpPr>
          <p:cNvPr id="4" name="Text 2"/>
          <p:cNvSpPr/>
          <p:nvPr/>
        </p:nvSpPr>
        <p:spPr>
          <a:xfrm>
            <a:off x="1143000" y="1384300"/>
            <a:ext cx="13735050" cy="1358265"/>
          </a:xfrm>
          <a:prstGeom prst="rect">
            <a:avLst/>
          </a:prstGeom>
          <a:noFill/>
          <a:ln/>
        </p:spPr>
        <p:txBody>
          <a:bodyPr wrap="square" lIns="25400" tIns="25400" rIns="25400" bIns="25400" rtlCol="0" anchor="t">
            <a:normAutofit/>
          </a:bodyPr>
          <a:lstStyle/>
          <a:p>
            <a:pPr algn="l" indent="0" marL="0">
              <a:lnSpc>
                <a:spcPct val="82500"/>
              </a:lnSpc>
              <a:buNone/>
            </a:pPr>
            <a:r>
              <a:rPr lang="en-US" sz="4950" b="1" spc="-99" kern="0" dirty="0">
                <a:solidFill>
                  <a:srgbClr val="0E1C30"/>
                </a:solidFill>
                <a:latin typeface="Space Grotesk" pitchFamily="34" charset="0"/>
                <a:ea typeface="Space Grotesk" pitchFamily="34" charset="-122"/>
                <a:cs typeface="Space Grotesk" pitchFamily="34" charset="-120"/>
              </a:rPr>
              <a:t>Party mode: the whiteboard meeting, minus the scheduling</a:t>
            </a:r>
            <a:endParaRPr lang="en-US" sz="4950" dirty="0"/>
          </a:p>
        </p:txBody>
      </p:sp>
      <p:sp>
        <p:nvSpPr>
          <p:cNvPr id="5" name="Shape 3"/>
          <p:cNvSpPr/>
          <p:nvPr/>
        </p:nvSpPr>
        <p:spPr>
          <a:xfrm>
            <a:off x="1143000" y="3161665"/>
            <a:ext cx="16002000" cy="2336800"/>
          </a:xfrm>
          <a:prstGeom prst="rect">
            <a:avLst/>
          </a:prstGeom>
          <a:solidFill>
            <a:srgbClr val="FFFFFF"/>
          </a:solidFill>
          <a:ln w="6350">
            <a:solidFill>
              <a:srgbClr val="0E1C30">
                <a:alpha val="14000"/>
              </a:srgbClr>
            </a:solidFill>
            <a:prstDash val="solid"/>
          </a:ln>
        </p:spPr>
      </p:sp>
      <p:sp>
        <p:nvSpPr>
          <p:cNvPr id="6" name="Text 4"/>
          <p:cNvSpPr/>
          <p:nvPr/>
        </p:nvSpPr>
        <p:spPr>
          <a:xfrm>
            <a:off x="1530350" y="3491865"/>
            <a:ext cx="15684119" cy="457200"/>
          </a:xfrm>
          <a:prstGeom prst="rect">
            <a:avLst/>
          </a:prstGeom>
          <a:noFill/>
          <a:ln/>
        </p:spPr>
        <p:txBody>
          <a:bodyPr wrap="square" lIns="25400" tIns="25400" rIns="25400" bIns="25400" rtlCol="0" anchor="t">
            <a:normAutofit/>
          </a:bodyPr>
          <a:lstStyle/>
          <a:p>
            <a:pPr algn="l" indent="0" marL="0">
              <a:lnSpc>
                <a:spcPct val="153488"/>
              </a:lnSpc>
              <a:buNone/>
            </a:pPr>
            <a:r>
              <a:rPr lang="en-US" sz="1650" dirty="0">
                <a:solidFill>
                  <a:srgbClr val="1E7FD6"/>
                </a:solidFill>
                <a:latin typeface="IBM Plex Mono" pitchFamily="34" charset="0"/>
                <a:ea typeface="IBM Plex Mono" pitchFamily="34" charset="-122"/>
                <a:cs typeface="IBM Plex Mono" pitchFamily="34" charset="-120"/>
              </a:rPr>
              <a:t>you: </a:t>
            </a:r>
            <a:pPr algn="l" indent="0" marL="0">
              <a:lnSpc>
                <a:spcPct val="153488"/>
              </a:lnSpc>
              <a:buNone/>
            </a:pPr>
            <a:r>
              <a:rPr lang="en-US" sz="1650" dirty="0">
                <a:solidFill>
                  <a:srgbClr val="0E1C30">
                    <a:alpha val="85000"/>
                  </a:srgbClr>
                </a:solidFill>
                <a:latin typeface="IBM Plex Mono" pitchFamily="34" charset="0"/>
                <a:ea typeface="IBM Plex Mono" pitchFamily="34" charset="-122"/>
                <a:cs typeface="IBM Plex Mono" pitchFamily="34" charset="-120"/>
              </a:rPr>
              <a:t>bmad-party-mode PM, Architect, Security — we’re adding payments</a:t>
            </a:r>
            <a:endParaRPr lang="en-US" sz="1650" dirty="0"/>
          </a:p>
        </p:txBody>
      </p:sp>
      <p:sp>
        <p:nvSpPr>
          <p:cNvPr id="7" name="Text 5"/>
          <p:cNvSpPr/>
          <p:nvPr/>
        </p:nvSpPr>
        <p:spPr>
          <a:xfrm>
            <a:off x="1530350" y="3910965"/>
            <a:ext cx="15684119" cy="457200"/>
          </a:xfrm>
          <a:prstGeom prst="rect">
            <a:avLst/>
          </a:prstGeom>
          <a:noFill/>
          <a:ln/>
        </p:spPr>
        <p:txBody>
          <a:bodyPr wrap="square" lIns="25400" tIns="25400" rIns="25400" bIns="25400" rtlCol="0" anchor="t">
            <a:normAutofit/>
          </a:bodyPr>
          <a:lstStyle/>
          <a:p>
            <a:pPr algn="l" indent="0" marL="0">
              <a:lnSpc>
                <a:spcPct val="153488"/>
              </a:lnSpc>
              <a:buNone/>
            </a:pPr>
            <a:r>
              <a:rPr lang="en-US" sz="1650" dirty="0">
                <a:solidFill>
                  <a:srgbClr val="F4C233"/>
                </a:solidFill>
                <a:latin typeface="IBM Plex Mono" pitchFamily="34" charset="0"/>
                <a:ea typeface="IBM Plex Mono" pitchFamily="34" charset="-122"/>
                <a:cs typeface="IBM Plex Mono" pitchFamily="34" charset="-120"/>
              </a:rPr>
              <a:t>PM: </a:t>
            </a:r>
            <a:pPr algn="l" indent="0" marL="0">
              <a:lnSpc>
                <a:spcPct val="153488"/>
              </a:lnSpc>
              <a:buNone/>
            </a:pPr>
            <a:r>
              <a:rPr lang="en-US" sz="1650" dirty="0">
                <a:solidFill>
                  <a:srgbClr val="0E1C30">
                    <a:alpha val="85000"/>
                  </a:srgbClr>
                </a:solidFill>
                <a:latin typeface="IBM Plex Mono" pitchFamily="34" charset="0"/>
                <a:ea typeface="IBM Plex Mono" pitchFamily="34" charset="-122"/>
                <a:cs typeface="IBM Plex Mono" pitchFamily="34" charset="-120"/>
              </a:rPr>
              <a:t>what payment methods do users actually expect?</a:t>
            </a:r>
            <a:endParaRPr lang="en-US" sz="1650" dirty="0"/>
          </a:p>
        </p:txBody>
      </p:sp>
      <p:sp>
        <p:nvSpPr>
          <p:cNvPr id="8" name="Text 6"/>
          <p:cNvSpPr/>
          <p:nvPr/>
        </p:nvSpPr>
        <p:spPr>
          <a:xfrm>
            <a:off x="1530350" y="4330065"/>
            <a:ext cx="15684119" cy="457200"/>
          </a:xfrm>
          <a:prstGeom prst="rect">
            <a:avLst/>
          </a:prstGeom>
          <a:noFill/>
          <a:ln/>
        </p:spPr>
        <p:txBody>
          <a:bodyPr wrap="square" lIns="25400" tIns="25400" rIns="25400" bIns="25400" rtlCol="0" anchor="t">
            <a:normAutofit/>
          </a:bodyPr>
          <a:lstStyle/>
          <a:p>
            <a:pPr algn="l" indent="0" marL="0">
              <a:lnSpc>
                <a:spcPct val="153488"/>
              </a:lnSpc>
              <a:buNone/>
            </a:pPr>
            <a:r>
              <a:rPr lang="en-US" sz="1650" dirty="0">
                <a:solidFill>
                  <a:srgbClr val="4FD1A6"/>
                </a:solidFill>
                <a:latin typeface="IBM Plex Mono" pitchFamily="34" charset="0"/>
                <a:ea typeface="IBM Plex Mono" pitchFamily="34" charset="-122"/>
                <a:cs typeface="IBM Plex Mono" pitchFamily="34" charset="-120"/>
              </a:rPr>
              <a:t>Architect: </a:t>
            </a:r>
            <a:pPr algn="l" indent="0" marL="0">
              <a:lnSpc>
                <a:spcPct val="153488"/>
              </a:lnSpc>
              <a:buNone/>
            </a:pPr>
            <a:r>
              <a:rPr lang="en-US" sz="1650" dirty="0">
                <a:solidFill>
                  <a:srgbClr val="0E1C30">
                    <a:alpha val="85000"/>
                  </a:srgbClr>
                </a:solidFill>
                <a:latin typeface="IBM Plex Mono" pitchFamily="34" charset="0"/>
                <a:ea typeface="IBM Plex Mono" pitchFamily="34" charset="-122"/>
                <a:cs typeface="IBM Plex Mono" pitchFamily="34" charset="-120"/>
              </a:rPr>
              <a:t>Stripe for PCI scope; idempotent webhooks for reliability</a:t>
            </a:r>
            <a:endParaRPr lang="en-US" sz="1650" dirty="0"/>
          </a:p>
        </p:txBody>
      </p:sp>
      <p:sp>
        <p:nvSpPr>
          <p:cNvPr id="9" name="Text 7"/>
          <p:cNvSpPr/>
          <p:nvPr/>
        </p:nvSpPr>
        <p:spPr>
          <a:xfrm>
            <a:off x="1530350" y="4749165"/>
            <a:ext cx="15684119" cy="457200"/>
          </a:xfrm>
          <a:prstGeom prst="rect">
            <a:avLst/>
          </a:prstGeom>
          <a:noFill/>
          <a:ln/>
        </p:spPr>
        <p:txBody>
          <a:bodyPr wrap="square" lIns="25400" tIns="25400" rIns="25400" bIns="25400" rtlCol="0" anchor="t">
            <a:normAutofit/>
          </a:bodyPr>
          <a:lstStyle/>
          <a:p>
            <a:pPr algn="l" indent="0" marL="0">
              <a:lnSpc>
                <a:spcPct val="153488"/>
              </a:lnSpc>
              <a:buNone/>
            </a:pPr>
            <a:r>
              <a:rPr lang="en-US" sz="1650" dirty="0">
                <a:solidFill>
                  <a:srgbClr val="F58B6E"/>
                </a:solidFill>
                <a:latin typeface="IBM Plex Mono" pitchFamily="34" charset="0"/>
                <a:ea typeface="IBM Plex Mono" pitchFamily="34" charset="-122"/>
                <a:cs typeface="IBM Plex Mono" pitchFamily="34" charset="-120"/>
              </a:rPr>
              <a:t>Security: </a:t>
            </a:r>
            <a:pPr algn="l" indent="0" marL="0">
              <a:lnSpc>
                <a:spcPct val="153488"/>
              </a:lnSpc>
              <a:buNone/>
            </a:pPr>
            <a:r>
              <a:rPr lang="en-US" sz="1650" dirty="0">
                <a:solidFill>
                  <a:srgbClr val="0E1C30">
                    <a:alpha val="85000"/>
                  </a:srgbClr>
                </a:solidFill>
                <a:latin typeface="IBM Plex Mono" pitchFamily="34" charset="0"/>
                <a:ea typeface="IBM Plex Mono" pitchFamily="34" charset="-122"/>
                <a:cs typeface="IBM Plex Mono" pitchFamily="34" charset="-120"/>
              </a:rPr>
              <a:t>never store raw cards; rate-limit and audit-log every transaction</a:t>
            </a:r>
            <a:endParaRPr lang="en-US" sz="1650" dirty="0"/>
          </a:p>
        </p:txBody>
      </p:sp>
      <p:sp>
        <p:nvSpPr>
          <p:cNvPr id="10" name="Text 8"/>
          <p:cNvSpPr/>
          <p:nvPr/>
        </p:nvSpPr>
        <p:spPr>
          <a:xfrm>
            <a:off x="1143000" y="5955665"/>
            <a:ext cx="5206238" cy="666750"/>
          </a:xfrm>
          <a:prstGeom prst="rect">
            <a:avLst/>
          </a:prstGeom>
          <a:noFill/>
          <a:ln/>
        </p:spPr>
        <p:txBody>
          <a:bodyPr wrap="square" lIns="25400" tIns="25400" rIns="25400" bIns="25400" rtlCol="0" anchor="t">
            <a:normAutofit/>
          </a:bodyPr>
          <a:lstStyle/>
          <a:p>
            <a:pPr algn="l" indent="0" marL="0">
              <a:lnSpc>
                <a:spcPct val="115116"/>
              </a:lnSpc>
              <a:buNone/>
            </a:pPr>
            <a:r>
              <a:rPr lang="en-US" sz="1650" b="1" dirty="0">
                <a:solidFill>
                  <a:srgbClr val="0E1C30"/>
                </a:solidFill>
                <a:latin typeface="IBM Plex Sans" pitchFamily="34" charset="0"/>
                <a:ea typeface="IBM Plex Sans" pitchFamily="34" charset="-122"/>
                <a:cs typeface="IBM Plex Sans" pitchFamily="34" charset="-120"/>
              </a:rPr>
              <a:t>Design reviews </a:t>
            </a:r>
            <a:pPr algn="l" indent="0" marL="0">
              <a:lnSpc>
                <a:spcPct val="115116"/>
              </a:lnSpc>
              <a:buNone/>
            </a:pPr>
            <a:r>
              <a:rPr lang="en-US" sz="1650" dirty="0">
                <a:solidFill>
                  <a:srgbClr val="0E1C30">
                    <a:alpha val="70000"/>
                  </a:srgbClr>
                </a:solidFill>
                <a:latin typeface="IBM Plex Sans" pitchFamily="34" charset="0"/>
                <a:ea typeface="IBM Plex Sans" pitchFamily="34" charset="-122"/>
                <a:cs typeface="IBM Plex Sans" pitchFamily="34" charset="-120"/>
              </a:rPr>
              <a:t>— UX, architect, and developer weigh a screen together.</a:t>
            </a:r>
            <a:endParaRPr lang="en-US" sz="1650" dirty="0"/>
          </a:p>
        </p:txBody>
      </p:sp>
      <p:sp>
        <p:nvSpPr>
          <p:cNvPr id="11" name="Text 9"/>
          <p:cNvSpPr/>
          <p:nvPr/>
        </p:nvSpPr>
        <p:spPr>
          <a:xfrm>
            <a:off x="6616700" y="5955665"/>
            <a:ext cx="5206238" cy="666750"/>
          </a:xfrm>
          <a:prstGeom prst="rect">
            <a:avLst/>
          </a:prstGeom>
          <a:noFill/>
          <a:ln/>
        </p:spPr>
        <p:txBody>
          <a:bodyPr wrap="square" lIns="25400" tIns="25400" rIns="25400" bIns="25400" rtlCol="0" anchor="t">
            <a:normAutofit/>
          </a:bodyPr>
          <a:lstStyle/>
          <a:p>
            <a:pPr algn="l" indent="0" marL="0">
              <a:lnSpc>
                <a:spcPct val="115116"/>
              </a:lnSpc>
              <a:buNone/>
            </a:pPr>
            <a:r>
              <a:rPr lang="en-US" sz="1650" b="1" dirty="0">
                <a:solidFill>
                  <a:srgbClr val="0E1C30"/>
                </a:solidFill>
                <a:latin typeface="IBM Plex Sans" pitchFamily="34" charset="0"/>
                <a:ea typeface="IBM Plex Sans" pitchFamily="34" charset="-122"/>
                <a:cs typeface="IBM Plex Sans" pitchFamily="34" charset="-120"/>
              </a:rPr>
              <a:t>Troubleshooting </a:t>
            </a:r>
            <a:pPr algn="l" indent="0" marL="0">
              <a:lnSpc>
                <a:spcPct val="115116"/>
              </a:lnSpc>
              <a:buNone/>
            </a:pPr>
            <a:r>
              <a:rPr lang="en-US" sz="1650" dirty="0">
                <a:solidFill>
                  <a:srgbClr val="0E1C30">
                    <a:alpha val="70000"/>
                  </a:srgbClr>
                </a:solidFill>
                <a:latin typeface="IBM Plex Sans" pitchFamily="34" charset="0"/>
                <a:ea typeface="IBM Plex Sans" pitchFamily="34" charset="-122"/>
                <a:cs typeface="IBM Plex Sans" pitchFamily="34" charset="-120"/>
              </a:rPr>
              <a:t>— dev, DevOps, and DBA triangulate a production issue.</a:t>
            </a:r>
            <a:endParaRPr lang="en-US" sz="1650" dirty="0"/>
          </a:p>
        </p:txBody>
      </p:sp>
      <p:sp>
        <p:nvSpPr>
          <p:cNvPr id="12" name="Text 10"/>
          <p:cNvSpPr/>
          <p:nvPr/>
        </p:nvSpPr>
        <p:spPr>
          <a:xfrm>
            <a:off x="12090400" y="5955665"/>
            <a:ext cx="5206238" cy="666750"/>
          </a:xfrm>
          <a:prstGeom prst="rect">
            <a:avLst/>
          </a:prstGeom>
          <a:noFill/>
          <a:ln/>
        </p:spPr>
        <p:txBody>
          <a:bodyPr wrap="square" lIns="25400" tIns="25400" rIns="25400" bIns="25400" rtlCol="0" anchor="t">
            <a:normAutofit/>
          </a:bodyPr>
          <a:lstStyle/>
          <a:p>
            <a:pPr algn="l" indent="0" marL="0">
              <a:lnSpc>
                <a:spcPct val="115116"/>
              </a:lnSpc>
              <a:buNone/>
            </a:pPr>
            <a:r>
              <a:rPr lang="en-US" sz="1650" b="1" dirty="0">
                <a:solidFill>
                  <a:srgbClr val="0E1C30"/>
                </a:solidFill>
                <a:latin typeface="IBM Plex Sans" pitchFamily="34" charset="0"/>
                <a:ea typeface="IBM Plex Sans" pitchFamily="34" charset="-122"/>
                <a:cs typeface="IBM Plex Sans" pitchFamily="34" charset="-120"/>
              </a:rPr>
              <a:t>Architecture calls </a:t>
            </a:r>
            <a:pPr algn="l" indent="0" marL="0">
              <a:lnSpc>
                <a:spcPct val="115116"/>
              </a:lnSpc>
              <a:buNone/>
            </a:pPr>
            <a:r>
              <a:rPr lang="en-US" sz="1650" dirty="0">
                <a:solidFill>
                  <a:srgbClr val="0E1C30">
                    <a:alpha val="70000"/>
                  </a:srgbClr>
                </a:solidFill>
                <a:latin typeface="IBM Plex Sans" pitchFamily="34" charset="0"/>
                <a:ea typeface="IBM Plex Sans" pitchFamily="34" charset="-122"/>
                <a:cs typeface="IBM Plex Sans" pitchFamily="34" charset="-120"/>
              </a:rPr>
              <a:t>— trade-offs argued from three seats before you commit.</a:t>
            </a:r>
            <a:endParaRPr lang="en-US" sz="1650" dirty="0"/>
          </a:p>
        </p:txBody>
      </p:sp>
      <p:sp>
        <p:nvSpPr>
          <p:cNvPr id="13" name="Text 11"/>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14" name="Text 12"/>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19 / 45</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1995488"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QUICK REFERENCE</a:t>
            </a:r>
            <a:endParaRPr lang="en-US" sz="1200" dirty="0"/>
          </a:p>
        </p:txBody>
      </p:sp>
      <p:sp>
        <p:nvSpPr>
          <p:cNvPr id="4" name="Text 2"/>
          <p:cNvSpPr/>
          <p:nvPr/>
        </p:nvSpPr>
        <p:spPr>
          <a:xfrm>
            <a:off x="1143000" y="1384300"/>
            <a:ext cx="17602200" cy="672147"/>
          </a:xfrm>
          <a:prstGeom prst="rect">
            <a:avLst/>
          </a:prstGeom>
          <a:noFill/>
          <a:ln/>
        </p:spPr>
        <p:txBody>
          <a:bodyPr wrap="square" lIns="25400" tIns="25400" rIns="25400" bIns="25400" rtlCol="0" anchor="t">
            <a:normAutofit/>
          </a:bodyPr>
          <a:lstStyle/>
          <a:p>
            <a:pPr algn="l" indent="0" marL="0">
              <a:lnSpc>
                <a:spcPct val="81844"/>
              </a:lnSpc>
              <a:buNone/>
            </a:pPr>
            <a:r>
              <a:rPr lang="en-US" sz="4800" b="1" spc="-96" kern="0" dirty="0">
                <a:solidFill>
                  <a:srgbClr val="0E1C30"/>
                </a:solidFill>
                <a:latin typeface="Space Grotesk" pitchFamily="34" charset="0"/>
                <a:ea typeface="Space Grotesk" pitchFamily="34" charset="-122"/>
                <a:cs typeface="Space Grotesk" pitchFamily="34" charset="-120"/>
              </a:rPr>
              <a:t>The execution matrix</a:t>
            </a:r>
            <a:endParaRPr lang="en-US" sz="4800" dirty="0"/>
          </a:p>
        </p:txBody>
      </p:sp>
      <p:sp>
        <p:nvSpPr>
          <p:cNvPr id="5" name="Shape 3"/>
          <p:cNvSpPr/>
          <p:nvPr/>
        </p:nvSpPr>
        <p:spPr>
          <a:xfrm>
            <a:off x="1143000" y="2907348"/>
            <a:ext cx="16002000" cy="19050"/>
          </a:xfrm>
          <a:prstGeom prst="rect">
            <a:avLst/>
          </a:prstGeom>
          <a:solidFill>
            <a:srgbClr val="0E1C30"/>
          </a:solidFill>
          <a:ln/>
        </p:spPr>
      </p:sp>
      <p:sp>
        <p:nvSpPr>
          <p:cNvPr id="6" name="Text 4"/>
          <p:cNvSpPr/>
          <p:nvPr/>
        </p:nvSpPr>
        <p:spPr>
          <a:xfrm>
            <a:off x="1143000" y="2551747"/>
            <a:ext cx="3829003" cy="222250"/>
          </a:xfrm>
          <a:prstGeom prst="rect">
            <a:avLst/>
          </a:prstGeom>
          <a:noFill/>
          <a:ln/>
        </p:spPr>
        <p:txBody>
          <a:bodyPr wrap="square" lIns="25400" tIns="25400" rIns="25400" bIns="25400" rtlCol="0" anchor="t">
            <a:normAutofit/>
          </a:bodyPr>
          <a:lstStyle/>
          <a:p>
            <a:pPr algn="l" indent="0" marL="0">
              <a:buNone/>
            </a:pPr>
            <a:r>
              <a:rPr lang="en-US" sz="1125" spc="158" kern="0" dirty="0">
                <a:solidFill>
                  <a:srgbClr val="0E1C30">
                    <a:alpha val="50000"/>
                  </a:srgbClr>
                </a:solidFill>
                <a:latin typeface="IBM Plex Mono" pitchFamily="34" charset="0"/>
                <a:ea typeface="IBM Plex Mono" pitchFamily="34" charset="-122"/>
                <a:cs typeface="IBM Plex Mono" pitchFamily="34" charset="-120"/>
              </a:rPr>
              <a:t>PHASE</a:t>
            </a:r>
            <a:endParaRPr lang="en-US" sz="1125" dirty="0"/>
          </a:p>
        </p:txBody>
      </p:sp>
      <p:sp>
        <p:nvSpPr>
          <p:cNvPr id="7" name="Text 5"/>
          <p:cNvSpPr/>
          <p:nvPr/>
        </p:nvSpPr>
        <p:spPr>
          <a:xfrm>
            <a:off x="4852511" y="2551747"/>
            <a:ext cx="3829003" cy="222250"/>
          </a:xfrm>
          <a:prstGeom prst="rect">
            <a:avLst/>
          </a:prstGeom>
          <a:noFill/>
          <a:ln/>
        </p:spPr>
        <p:txBody>
          <a:bodyPr wrap="square" lIns="25400" tIns="25400" rIns="25400" bIns="25400" rtlCol="0" anchor="t">
            <a:normAutofit/>
          </a:bodyPr>
          <a:lstStyle/>
          <a:p>
            <a:pPr algn="l" indent="0" marL="0">
              <a:buNone/>
            </a:pPr>
            <a:r>
              <a:rPr lang="en-US" sz="1125" spc="158" kern="0" dirty="0">
                <a:solidFill>
                  <a:srgbClr val="0E1C30">
                    <a:alpha val="50000"/>
                  </a:srgbClr>
                </a:solidFill>
                <a:latin typeface="IBM Plex Mono" pitchFamily="34" charset="0"/>
                <a:ea typeface="IBM Plex Mono" pitchFamily="34" charset="-122"/>
                <a:cs typeface="IBM Plex Mono" pitchFamily="34" charset="-120"/>
              </a:rPr>
              <a:t>PERSONA</a:t>
            </a:r>
            <a:endParaRPr lang="en-US" sz="1125" dirty="0"/>
          </a:p>
        </p:txBody>
      </p:sp>
      <p:sp>
        <p:nvSpPr>
          <p:cNvPr id="8" name="Text 6"/>
          <p:cNvSpPr/>
          <p:nvPr/>
        </p:nvSpPr>
        <p:spPr>
          <a:xfrm>
            <a:off x="8562023" y="2551747"/>
            <a:ext cx="4594907" cy="222250"/>
          </a:xfrm>
          <a:prstGeom prst="rect">
            <a:avLst/>
          </a:prstGeom>
          <a:noFill/>
          <a:ln/>
        </p:spPr>
        <p:txBody>
          <a:bodyPr wrap="square" lIns="25400" tIns="25400" rIns="25400" bIns="25400" rtlCol="0" anchor="t">
            <a:normAutofit/>
          </a:bodyPr>
          <a:lstStyle/>
          <a:p>
            <a:pPr algn="l" indent="0" marL="0">
              <a:buNone/>
            </a:pPr>
            <a:r>
              <a:rPr lang="en-US" sz="1125" spc="158" kern="0" dirty="0">
                <a:solidFill>
                  <a:srgbClr val="0E1C30">
                    <a:alpha val="50000"/>
                  </a:srgbClr>
                </a:solidFill>
                <a:latin typeface="IBM Plex Mono" pitchFamily="34" charset="0"/>
                <a:ea typeface="IBM Plex Mono" pitchFamily="34" charset="-122"/>
                <a:cs typeface="IBM Plex Mono" pitchFamily="34" charset="-120"/>
              </a:rPr>
              <a:t>READS</a:t>
            </a:r>
            <a:endParaRPr lang="en-US" sz="1125" dirty="0"/>
          </a:p>
        </p:txBody>
      </p:sp>
      <p:sp>
        <p:nvSpPr>
          <p:cNvPr id="9" name="Text 7"/>
          <p:cNvSpPr/>
          <p:nvPr/>
        </p:nvSpPr>
        <p:spPr>
          <a:xfrm>
            <a:off x="12967811" y="2551747"/>
            <a:ext cx="4594907" cy="222250"/>
          </a:xfrm>
          <a:prstGeom prst="rect">
            <a:avLst/>
          </a:prstGeom>
          <a:noFill/>
          <a:ln/>
        </p:spPr>
        <p:txBody>
          <a:bodyPr wrap="square" lIns="25400" tIns="25400" rIns="25400" bIns="25400" rtlCol="0" anchor="t">
            <a:normAutofit/>
          </a:bodyPr>
          <a:lstStyle/>
          <a:p>
            <a:pPr algn="l" indent="0" marL="0">
              <a:buNone/>
            </a:pPr>
            <a:r>
              <a:rPr lang="en-US" sz="1125" spc="158" kern="0" dirty="0">
                <a:solidFill>
                  <a:srgbClr val="0E1C30">
                    <a:alpha val="50000"/>
                  </a:srgbClr>
                </a:solidFill>
                <a:latin typeface="IBM Plex Mono" pitchFamily="34" charset="0"/>
                <a:ea typeface="IBM Plex Mono" pitchFamily="34" charset="-122"/>
                <a:cs typeface="IBM Plex Mono" pitchFamily="34" charset="-120"/>
              </a:rPr>
              <a:t>PRODUCES</a:t>
            </a:r>
            <a:endParaRPr lang="en-US" sz="1125" dirty="0"/>
          </a:p>
        </p:txBody>
      </p:sp>
      <p:sp>
        <p:nvSpPr>
          <p:cNvPr id="10" name="Shape 8"/>
          <p:cNvSpPr/>
          <p:nvPr/>
        </p:nvSpPr>
        <p:spPr>
          <a:xfrm>
            <a:off x="1143000" y="3802697"/>
            <a:ext cx="16002000" cy="9525"/>
          </a:xfrm>
          <a:prstGeom prst="rect">
            <a:avLst/>
          </a:prstGeom>
          <a:solidFill>
            <a:srgbClr val="0E1C30">
              <a:alpha val="12000"/>
            </a:srgbClr>
          </a:solidFill>
          <a:ln/>
        </p:spPr>
      </p:sp>
      <p:sp>
        <p:nvSpPr>
          <p:cNvPr id="11" name="Text 9"/>
          <p:cNvSpPr/>
          <p:nvPr/>
        </p:nvSpPr>
        <p:spPr>
          <a:xfrm>
            <a:off x="1143000" y="3193098"/>
            <a:ext cx="3829003"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0E1C30"/>
                </a:solidFill>
                <a:latin typeface="Space Grotesk" pitchFamily="34" charset="0"/>
                <a:ea typeface="Space Grotesk" pitchFamily="34" charset="-122"/>
                <a:cs typeface="Space Grotesk" pitchFamily="34" charset="-120"/>
              </a:rPr>
              <a:t>Analysis</a:t>
            </a:r>
            <a:endParaRPr lang="en-US" sz="2100" dirty="0"/>
          </a:p>
        </p:txBody>
      </p:sp>
      <p:sp>
        <p:nvSpPr>
          <p:cNvPr id="12" name="Text 10"/>
          <p:cNvSpPr/>
          <p:nvPr/>
        </p:nvSpPr>
        <p:spPr>
          <a:xfrm>
            <a:off x="4852511" y="3221673"/>
            <a:ext cx="3829003" cy="336550"/>
          </a:xfrm>
          <a:prstGeom prst="rect">
            <a:avLst/>
          </a:prstGeom>
          <a:noFill/>
          <a:ln/>
        </p:spPr>
        <p:txBody>
          <a:bodyPr wrap="square" lIns="25400" tIns="25400" rIns="25400" bIns="25400" rtlCol="0" anchor="t">
            <a:normAutofit/>
          </a:bodyPr>
          <a:lstStyle/>
          <a:p>
            <a:pPr algn="l" indent="0" marL="0">
              <a:buNone/>
            </a:pPr>
            <a:r>
              <a:rPr lang="en-US" sz="1800" dirty="0">
                <a:solidFill>
                  <a:srgbClr val="0E1C30">
                    <a:alpha val="72000"/>
                  </a:srgbClr>
                </a:solidFill>
                <a:latin typeface="IBM Plex Sans" pitchFamily="34" charset="0"/>
                <a:ea typeface="IBM Plex Sans" pitchFamily="34" charset="-122"/>
                <a:cs typeface="IBM Plex Sans" pitchFamily="34" charset="-120"/>
              </a:rPr>
              <a:t>Analyst </a:t>
            </a:r>
            <a:pPr algn="l" indent="0" marL="0">
              <a:buNone/>
            </a:pPr>
            <a:r>
              <a:rPr lang="en-US" sz="1800" dirty="0">
                <a:solidFill>
                  <a:srgbClr val="0E1C30">
                    <a:alpha val="45000"/>
                  </a:srgbClr>
                </a:solidFill>
                <a:latin typeface="IBM Plex Sans" pitchFamily="34" charset="0"/>
                <a:ea typeface="IBM Plex Sans" pitchFamily="34" charset="-122"/>
                <a:cs typeface="IBM Plex Sans" pitchFamily="34" charset="-120"/>
              </a:rPr>
              <a:t>(Mary)</a:t>
            </a:r>
            <a:endParaRPr lang="en-US" sz="1800" dirty="0"/>
          </a:p>
        </p:txBody>
      </p:sp>
      <p:sp>
        <p:nvSpPr>
          <p:cNvPr id="13" name="Text 11"/>
          <p:cNvSpPr/>
          <p:nvPr/>
        </p:nvSpPr>
        <p:spPr>
          <a:xfrm>
            <a:off x="8562023" y="3231198"/>
            <a:ext cx="4594907" cy="323850"/>
          </a:xfrm>
          <a:prstGeom prst="rect">
            <a:avLst/>
          </a:prstGeom>
          <a:noFill/>
          <a:ln/>
        </p:spPr>
        <p:txBody>
          <a:bodyPr wrap="square" lIns="25400" tIns="25400" rIns="25400" bIns="25400" rtlCol="0" anchor="t">
            <a:normAutofit/>
          </a:bodyPr>
          <a:lstStyle/>
          <a:p>
            <a:pPr algn="l" indent="0" marL="0">
              <a:buNone/>
            </a:pPr>
            <a:r>
              <a:rPr lang="en-US" sz="1725" dirty="0">
                <a:solidFill>
                  <a:srgbClr val="0E1C30">
                    <a:alpha val="60000"/>
                  </a:srgbClr>
                </a:solidFill>
                <a:latin typeface="IBM Plex Sans" pitchFamily="34" charset="0"/>
                <a:ea typeface="IBM Plex Sans" pitchFamily="34" charset="-122"/>
                <a:cs typeface="IBM Plex Sans" pitchFamily="34" charset="-120"/>
              </a:rPr>
              <a:t>Raw idea · brain dump</a:t>
            </a:r>
            <a:endParaRPr lang="en-US" sz="1725" dirty="0"/>
          </a:p>
        </p:txBody>
      </p:sp>
      <p:sp>
        <p:nvSpPr>
          <p:cNvPr id="14" name="Text 12"/>
          <p:cNvSpPr/>
          <p:nvPr/>
        </p:nvSpPr>
        <p:spPr>
          <a:xfrm>
            <a:off x="12967811" y="3253422"/>
            <a:ext cx="4594907" cy="298450"/>
          </a:xfrm>
          <a:prstGeom prst="rect">
            <a:avLst/>
          </a:prstGeom>
          <a:noFill/>
          <a:ln/>
        </p:spPr>
        <p:txBody>
          <a:bodyPr wrap="square" lIns="25400" tIns="25400" rIns="25400" bIns="25400" rtlCol="0" anchor="t">
            <a:normAutofit/>
          </a:bodyPr>
          <a:lstStyle/>
          <a:p>
            <a:pPr algn="l" indent="0" marL="0">
              <a:buNone/>
            </a:pPr>
            <a:r>
              <a:rPr lang="en-US" sz="1575" dirty="0">
                <a:solidFill>
                  <a:srgbClr val="1E7FD6"/>
                </a:solidFill>
                <a:latin typeface="IBM Plex Mono" pitchFamily="34" charset="0"/>
                <a:ea typeface="IBM Plex Mono" pitchFamily="34" charset="-122"/>
                <a:cs typeface="IBM Plex Mono" pitchFamily="34" charset="-120"/>
              </a:rPr>
              <a:t>brief.md</a:t>
            </a:r>
            <a:endParaRPr lang="en-US" sz="1575" dirty="0"/>
          </a:p>
        </p:txBody>
      </p:sp>
      <p:sp>
        <p:nvSpPr>
          <p:cNvPr id="15" name="Shape 13"/>
          <p:cNvSpPr/>
          <p:nvPr/>
        </p:nvSpPr>
        <p:spPr>
          <a:xfrm>
            <a:off x="1143000" y="4685347"/>
            <a:ext cx="16002000" cy="9525"/>
          </a:xfrm>
          <a:prstGeom prst="rect">
            <a:avLst/>
          </a:prstGeom>
          <a:solidFill>
            <a:srgbClr val="0E1C30">
              <a:alpha val="12000"/>
            </a:srgbClr>
          </a:solidFill>
          <a:ln/>
        </p:spPr>
      </p:sp>
      <p:sp>
        <p:nvSpPr>
          <p:cNvPr id="16" name="Text 14"/>
          <p:cNvSpPr/>
          <p:nvPr/>
        </p:nvSpPr>
        <p:spPr>
          <a:xfrm>
            <a:off x="1143000" y="4075747"/>
            <a:ext cx="3829003"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0E1C30"/>
                </a:solidFill>
                <a:latin typeface="Space Grotesk" pitchFamily="34" charset="0"/>
                <a:ea typeface="Space Grotesk" pitchFamily="34" charset="-122"/>
                <a:cs typeface="Space Grotesk" pitchFamily="34" charset="-120"/>
              </a:rPr>
              <a:t>Planning</a:t>
            </a:r>
            <a:endParaRPr lang="en-US" sz="2100" dirty="0"/>
          </a:p>
        </p:txBody>
      </p:sp>
      <p:sp>
        <p:nvSpPr>
          <p:cNvPr id="17" name="Text 15"/>
          <p:cNvSpPr/>
          <p:nvPr/>
        </p:nvSpPr>
        <p:spPr>
          <a:xfrm>
            <a:off x="4852511" y="4104322"/>
            <a:ext cx="3829003" cy="336550"/>
          </a:xfrm>
          <a:prstGeom prst="rect">
            <a:avLst/>
          </a:prstGeom>
          <a:noFill/>
          <a:ln/>
        </p:spPr>
        <p:txBody>
          <a:bodyPr wrap="square" lIns="25400" tIns="25400" rIns="25400" bIns="25400" rtlCol="0" anchor="t">
            <a:normAutofit/>
          </a:bodyPr>
          <a:lstStyle/>
          <a:p>
            <a:pPr algn="l" indent="0" marL="0">
              <a:buNone/>
            </a:pPr>
            <a:r>
              <a:rPr lang="en-US" sz="1800" dirty="0">
                <a:solidFill>
                  <a:srgbClr val="0E1C30">
                    <a:alpha val="72000"/>
                  </a:srgbClr>
                </a:solidFill>
                <a:latin typeface="IBM Plex Sans" pitchFamily="34" charset="0"/>
                <a:ea typeface="IBM Plex Sans" pitchFamily="34" charset="-122"/>
                <a:cs typeface="IBM Plex Sans" pitchFamily="34" charset="-120"/>
              </a:rPr>
              <a:t>Product Manager </a:t>
            </a:r>
            <a:pPr algn="l" indent="0" marL="0">
              <a:buNone/>
            </a:pPr>
            <a:r>
              <a:rPr lang="en-US" sz="1800" dirty="0">
                <a:solidFill>
                  <a:srgbClr val="0E1C30">
                    <a:alpha val="45000"/>
                  </a:srgbClr>
                </a:solidFill>
                <a:latin typeface="IBM Plex Sans" pitchFamily="34" charset="0"/>
                <a:ea typeface="IBM Plex Sans" pitchFamily="34" charset="-122"/>
                <a:cs typeface="IBM Plex Sans" pitchFamily="34" charset="-120"/>
              </a:rPr>
              <a:t>(John)</a:t>
            </a:r>
            <a:endParaRPr lang="en-US" sz="1800" dirty="0"/>
          </a:p>
        </p:txBody>
      </p:sp>
      <p:sp>
        <p:nvSpPr>
          <p:cNvPr id="18" name="Text 16"/>
          <p:cNvSpPr/>
          <p:nvPr/>
        </p:nvSpPr>
        <p:spPr>
          <a:xfrm>
            <a:off x="8562023" y="4136073"/>
            <a:ext cx="4594907" cy="298450"/>
          </a:xfrm>
          <a:prstGeom prst="rect">
            <a:avLst/>
          </a:prstGeom>
          <a:noFill/>
          <a:ln/>
        </p:spPr>
        <p:txBody>
          <a:bodyPr wrap="square" lIns="25400" tIns="25400" rIns="25400" bIns="25400" rtlCol="0" anchor="t">
            <a:normAutofit/>
          </a:bodyPr>
          <a:lstStyle/>
          <a:p>
            <a:pPr algn="l" indent="0" marL="0">
              <a:buNone/>
            </a:pPr>
            <a:r>
              <a:rPr lang="en-US" sz="1575" dirty="0">
                <a:solidFill>
                  <a:srgbClr val="0E1C30">
                    <a:alpha val="55000"/>
                  </a:srgbClr>
                </a:solidFill>
                <a:latin typeface="IBM Plex Mono" pitchFamily="34" charset="0"/>
                <a:ea typeface="IBM Plex Mono" pitchFamily="34" charset="-122"/>
                <a:cs typeface="IBM Plex Mono" pitchFamily="34" charset="-120"/>
              </a:rPr>
              <a:t>brief.md</a:t>
            </a:r>
            <a:endParaRPr lang="en-US" sz="1575" dirty="0"/>
          </a:p>
        </p:txBody>
      </p:sp>
      <p:sp>
        <p:nvSpPr>
          <p:cNvPr id="19" name="Text 17"/>
          <p:cNvSpPr/>
          <p:nvPr/>
        </p:nvSpPr>
        <p:spPr>
          <a:xfrm>
            <a:off x="12967811" y="4136073"/>
            <a:ext cx="4594907" cy="298450"/>
          </a:xfrm>
          <a:prstGeom prst="rect">
            <a:avLst/>
          </a:prstGeom>
          <a:noFill/>
          <a:ln/>
        </p:spPr>
        <p:txBody>
          <a:bodyPr wrap="square" lIns="25400" tIns="25400" rIns="25400" bIns="25400" rtlCol="0" anchor="t">
            <a:normAutofit/>
          </a:bodyPr>
          <a:lstStyle/>
          <a:p>
            <a:pPr algn="l" indent="0" marL="0">
              <a:buNone/>
            </a:pPr>
            <a:r>
              <a:rPr lang="en-US" sz="1575" dirty="0">
                <a:solidFill>
                  <a:srgbClr val="1E7FD6"/>
                </a:solidFill>
                <a:latin typeface="IBM Plex Mono" pitchFamily="34" charset="0"/>
                <a:ea typeface="IBM Plex Mono" pitchFamily="34" charset="-122"/>
                <a:cs typeface="IBM Plex Mono" pitchFamily="34" charset="-120"/>
              </a:rPr>
              <a:t>prd.md</a:t>
            </a:r>
            <a:endParaRPr lang="en-US" sz="1575" dirty="0"/>
          </a:p>
        </p:txBody>
      </p:sp>
      <p:sp>
        <p:nvSpPr>
          <p:cNvPr id="20" name="Shape 18"/>
          <p:cNvSpPr/>
          <p:nvPr/>
        </p:nvSpPr>
        <p:spPr>
          <a:xfrm>
            <a:off x="1143000" y="5567997"/>
            <a:ext cx="16002000" cy="9525"/>
          </a:xfrm>
          <a:prstGeom prst="rect">
            <a:avLst/>
          </a:prstGeom>
          <a:solidFill>
            <a:srgbClr val="0E1C30">
              <a:alpha val="12000"/>
            </a:srgbClr>
          </a:solidFill>
          <a:ln/>
        </p:spPr>
      </p:sp>
      <p:sp>
        <p:nvSpPr>
          <p:cNvPr id="21" name="Text 19"/>
          <p:cNvSpPr/>
          <p:nvPr/>
        </p:nvSpPr>
        <p:spPr>
          <a:xfrm>
            <a:off x="1143000" y="4958397"/>
            <a:ext cx="3829003"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0E1C30"/>
                </a:solidFill>
                <a:latin typeface="Space Grotesk" pitchFamily="34" charset="0"/>
                <a:ea typeface="Space Grotesk" pitchFamily="34" charset="-122"/>
                <a:cs typeface="Space Grotesk" pitchFamily="34" charset="-120"/>
              </a:rPr>
              <a:t>Solutioning</a:t>
            </a:r>
            <a:endParaRPr lang="en-US" sz="2100" dirty="0"/>
          </a:p>
        </p:txBody>
      </p:sp>
      <p:sp>
        <p:nvSpPr>
          <p:cNvPr id="22" name="Text 20"/>
          <p:cNvSpPr/>
          <p:nvPr/>
        </p:nvSpPr>
        <p:spPr>
          <a:xfrm>
            <a:off x="4852511" y="4986972"/>
            <a:ext cx="3829003" cy="336550"/>
          </a:xfrm>
          <a:prstGeom prst="rect">
            <a:avLst/>
          </a:prstGeom>
          <a:noFill/>
          <a:ln/>
        </p:spPr>
        <p:txBody>
          <a:bodyPr wrap="square" lIns="25400" tIns="25400" rIns="25400" bIns="25400" rtlCol="0" anchor="t">
            <a:normAutofit/>
          </a:bodyPr>
          <a:lstStyle/>
          <a:p>
            <a:pPr algn="l" indent="0" marL="0">
              <a:buNone/>
            </a:pPr>
            <a:r>
              <a:rPr lang="en-US" sz="1800" dirty="0">
                <a:solidFill>
                  <a:srgbClr val="0E1C30">
                    <a:alpha val="72000"/>
                  </a:srgbClr>
                </a:solidFill>
                <a:latin typeface="IBM Plex Sans" pitchFamily="34" charset="0"/>
                <a:ea typeface="IBM Plex Sans" pitchFamily="34" charset="-122"/>
                <a:cs typeface="IBM Plex Sans" pitchFamily="34" charset="-120"/>
              </a:rPr>
              <a:t>Architect </a:t>
            </a:r>
            <a:pPr algn="l" indent="0" marL="0">
              <a:buNone/>
            </a:pPr>
            <a:r>
              <a:rPr lang="en-US" sz="1800" dirty="0">
                <a:solidFill>
                  <a:srgbClr val="0E1C30">
                    <a:alpha val="45000"/>
                  </a:srgbClr>
                </a:solidFill>
                <a:latin typeface="IBM Plex Sans" pitchFamily="34" charset="0"/>
                <a:ea typeface="IBM Plex Sans" pitchFamily="34" charset="-122"/>
                <a:cs typeface="IBM Plex Sans" pitchFamily="34" charset="-120"/>
              </a:rPr>
              <a:t>(Winston)</a:t>
            </a:r>
            <a:endParaRPr lang="en-US" sz="1800" dirty="0"/>
          </a:p>
        </p:txBody>
      </p:sp>
      <p:sp>
        <p:nvSpPr>
          <p:cNvPr id="23" name="Text 21"/>
          <p:cNvSpPr/>
          <p:nvPr/>
        </p:nvSpPr>
        <p:spPr>
          <a:xfrm>
            <a:off x="8562023" y="5018723"/>
            <a:ext cx="4594907" cy="298450"/>
          </a:xfrm>
          <a:prstGeom prst="rect">
            <a:avLst/>
          </a:prstGeom>
          <a:noFill/>
          <a:ln/>
        </p:spPr>
        <p:txBody>
          <a:bodyPr wrap="square" lIns="25400" tIns="25400" rIns="25400" bIns="25400" rtlCol="0" anchor="t">
            <a:normAutofit/>
          </a:bodyPr>
          <a:lstStyle/>
          <a:p>
            <a:pPr algn="l" indent="0" marL="0">
              <a:buNone/>
            </a:pPr>
            <a:r>
              <a:rPr lang="en-US" sz="1575" dirty="0">
                <a:solidFill>
                  <a:srgbClr val="0E1C30">
                    <a:alpha val="55000"/>
                  </a:srgbClr>
                </a:solidFill>
                <a:latin typeface="IBM Plex Mono" pitchFamily="34" charset="0"/>
                <a:ea typeface="IBM Plex Mono" pitchFamily="34" charset="-122"/>
                <a:cs typeface="IBM Plex Mono" pitchFamily="34" charset="-120"/>
              </a:rPr>
              <a:t>prd.md</a:t>
            </a:r>
            <a:endParaRPr lang="en-US" sz="1575" dirty="0"/>
          </a:p>
        </p:txBody>
      </p:sp>
      <p:sp>
        <p:nvSpPr>
          <p:cNvPr id="24" name="Text 22"/>
          <p:cNvSpPr/>
          <p:nvPr/>
        </p:nvSpPr>
        <p:spPr>
          <a:xfrm>
            <a:off x="12967811" y="5018723"/>
            <a:ext cx="4594907" cy="298450"/>
          </a:xfrm>
          <a:prstGeom prst="rect">
            <a:avLst/>
          </a:prstGeom>
          <a:noFill/>
          <a:ln/>
        </p:spPr>
        <p:txBody>
          <a:bodyPr wrap="square" lIns="25400" tIns="25400" rIns="25400" bIns="25400" rtlCol="0" anchor="t">
            <a:normAutofit/>
          </a:bodyPr>
          <a:lstStyle/>
          <a:p>
            <a:pPr algn="l" indent="0" marL="0">
              <a:buNone/>
            </a:pPr>
            <a:r>
              <a:rPr lang="en-US" sz="1575" dirty="0">
                <a:solidFill>
                  <a:srgbClr val="1E7FD6"/>
                </a:solidFill>
                <a:latin typeface="IBM Plex Mono" pitchFamily="34" charset="0"/>
                <a:ea typeface="IBM Plex Mono" pitchFamily="34" charset="-122"/>
                <a:cs typeface="IBM Plex Mono" pitchFamily="34" charset="-120"/>
              </a:rPr>
              <a:t>architecture.md · epics &amp; stories</a:t>
            </a:r>
            <a:endParaRPr lang="en-US" sz="1575" dirty="0"/>
          </a:p>
        </p:txBody>
      </p:sp>
      <p:sp>
        <p:nvSpPr>
          <p:cNvPr id="25" name="Shape 23"/>
          <p:cNvSpPr/>
          <p:nvPr/>
        </p:nvSpPr>
        <p:spPr>
          <a:xfrm>
            <a:off x="1143000" y="6450647"/>
            <a:ext cx="16002000" cy="9525"/>
          </a:xfrm>
          <a:prstGeom prst="rect">
            <a:avLst/>
          </a:prstGeom>
          <a:solidFill>
            <a:srgbClr val="0E1C30">
              <a:alpha val="12000"/>
            </a:srgbClr>
          </a:solidFill>
          <a:ln/>
        </p:spPr>
      </p:sp>
      <p:sp>
        <p:nvSpPr>
          <p:cNvPr id="26" name="Text 24"/>
          <p:cNvSpPr/>
          <p:nvPr/>
        </p:nvSpPr>
        <p:spPr>
          <a:xfrm>
            <a:off x="1143000" y="5841048"/>
            <a:ext cx="3829003"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0E1C30"/>
                </a:solidFill>
                <a:latin typeface="Space Grotesk" pitchFamily="34" charset="0"/>
                <a:ea typeface="Space Grotesk" pitchFamily="34" charset="-122"/>
                <a:cs typeface="Space Grotesk" pitchFamily="34" charset="-120"/>
              </a:rPr>
              <a:t>Implementation</a:t>
            </a:r>
            <a:endParaRPr lang="en-US" sz="2100" dirty="0"/>
          </a:p>
        </p:txBody>
      </p:sp>
      <p:sp>
        <p:nvSpPr>
          <p:cNvPr id="27" name="Text 25"/>
          <p:cNvSpPr/>
          <p:nvPr/>
        </p:nvSpPr>
        <p:spPr>
          <a:xfrm>
            <a:off x="4852511" y="5869623"/>
            <a:ext cx="3829003" cy="336550"/>
          </a:xfrm>
          <a:prstGeom prst="rect">
            <a:avLst/>
          </a:prstGeom>
          <a:noFill/>
          <a:ln/>
        </p:spPr>
        <p:txBody>
          <a:bodyPr wrap="square" lIns="25400" tIns="25400" rIns="25400" bIns="25400" rtlCol="0" anchor="t">
            <a:normAutofit/>
          </a:bodyPr>
          <a:lstStyle/>
          <a:p>
            <a:pPr algn="l" indent="0" marL="0">
              <a:buNone/>
            </a:pPr>
            <a:r>
              <a:rPr lang="en-US" sz="1800" dirty="0">
                <a:solidFill>
                  <a:srgbClr val="0E1C30">
                    <a:alpha val="72000"/>
                  </a:srgbClr>
                </a:solidFill>
                <a:latin typeface="IBM Plex Sans" pitchFamily="34" charset="0"/>
                <a:ea typeface="IBM Plex Sans" pitchFamily="34" charset="-122"/>
                <a:cs typeface="IBM Plex Sans" pitchFamily="34" charset="-120"/>
              </a:rPr>
              <a:t>Developer </a:t>
            </a:r>
            <a:pPr algn="l" indent="0" marL="0">
              <a:buNone/>
            </a:pPr>
            <a:r>
              <a:rPr lang="en-US" sz="1800" dirty="0">
                <a:solidFill>
                  <a:srgbClr val="0E1C30">
                    <a:alpha val="45000"/>
                  </a:srgbClr>
                </a:solidFill>
                <a:latin typeface="IBM Plex Sans" pitchFamily="34" charset="0"/>
                <a:ea typeface="IBM Plex Sans" pitchFamily="34" charset="-122"/>
                <a:cs typeface="IBM Plex Sans" pitchFamily="34" charset="-120"/>
              </a:rPr>
              <a:t>(Amelia)</a:t>
            </a:r>
            <a:endParaRPr lang="en-US" sz="1800" dirty="0"/>
          </a:p>
        </p:txBody>
      </p:sp>
      <p:sp>
        <p:nvSpPr>
          <p:cNvPr id="28" name="Text 26"/>
          <p:cNvSpPr/>
          <p:nvPr/>
        </p:nvSpPr>
        <p:spPr>
          <a:xfrm>
            <a:off x="8562023" y="5901372"/>
            <a:ext cx="4594907" cy="298450"/>
          </a:xfrm>
          <a:prstGeom prst="rect">
            <a:avLst/>
          </a:prstGeom>
          <a:noFill/>
          <a:ln/>
        </p:spPr>
        <p:txBody>
          <a:bodyPr wrap="square" lIns="25400" tIns="25400" rIns="25400" bIns="25400" rtlCol="0" anchor="t">
            <a:normAutofit/>
          </a:bodyPr>
          <a:lstStyle/>
          <a:p>
            <a:pPr algn="l" indent="0" marL="0">
              <a:buNone/>
            </a:pPr>
            <a:r>
              <a:rPr lang="en-US" sz="1575" dirty="0">
                <a:solidFill>
                  <a:srgbClr val="0E1C30">
                    <a:alpha val="55000"/>
                  </a:srgbClr>
                </a:solidFill>
                <a:latin typeface="IBM Plex Mono" pitchFamily="34" charset="0"/>
                <a:ea typeface="IBM Plex Mono" pitchFamily="34" charset="-122"/>
                <a:cs typeface="IBM Plex Mono" pitchFamily="34" charset="-120"/>
              </a:rPr>
              <a:t>architecture.md · story files</a:t>
            </a:r>
            <a:endParaRPr lang="en-US" sz="1575" dirty="0"/>
          </a:p>
        </p:txBody>
      </p:sp>
      <p:sp>
        <p:nvSpPr>
          <p:cNvPr id="29" name="Text 27"/>
          <p:cNvSpPr/>
          <p:nvPr/>
        </p:nvSpPr>
        <p:spPr>
          <a:xfrm>
            <a:off x="12967811" y="5901372"/>
            <a:ext cx="4594907" cy="298450"/>
          </a:xfrm>
          <a:prstGeom prst="rect">
            <a:avLst/>
          </a:prstGeom>
          <a:noFill/>
          <a:ln/>
        </p:spPr>
        <p:txBody>
          <a:bodyPr wrap="square" lIns="25400" tIns="25400" rIns="25400" bIns="25400" rtlCol="0" anchor="t">
            <a:normAutofit/>
          </a:bodyPr>
          <a:lstStyle/>
          <a:p>
            <a:pPr algn="l" indent="0" marL="0">
              <a:buNone/>
            </a:pPr>
            <a:r>
              <a:rPr lang="en-US" sz="1575" dirty="0">
                <a:solidFill>
                  <a:srgbClr val="1E7FD6"/>
                </a:solidFill>
                <a:latin typeface="IBM Plex Mono" pitchFamily="34" charset="0"/>
                <a:ea typeface="IBM Plex Mono" pitchFamily="34" charset="-122"/>
                <a:cs typeface="IBM Plex Mono" pitchFamily="34" charset="-120"/>
              </a:rPr>
              <a:t>source code + tests</a:t>
            </a:r>
            <a:endParaRPr lang="en-US" sz="1575" dirty="0"/>
          </a:p>
        </p:txBody>
      </p:sp>
      <p:sp>
        <p:nvSpPr>
          <p:cNvPr id="30" name="Text 28"/>
          <p:cNvSpPr/>
          <p:nvPr/>
        </p:nvSpPr>
        <p:spPr>
          <a:xfrm>
            <a:off x="1143000" y="6876098"/>
            <a:ext cx="12992100" cy="381000"/>
          </a:xfrm>
          <a:prstGeom prst="rect">
            <a:avLst/>
          </a:prstGeom>
          <a:noFill/>
          <a:ln/>
        </p:spPr>
        <p:txBody>
          <a:bodyPr wrap="square" lIns="25400" tIns="25400" rIns="25400" bIns="25400" rtlCol="0" anchor="t">
            <a:normAutofit/>
          </a:bodyPr>
          <a:lstStyle/>
          <a:p>
            <a:pPr algn="l" indent="0" marL="0">
              <a:lnSpc>
                <a:spcPct val="114894"/>
              </a:lnSpc>
              <a:buNone/>
            </a:pPr>
            <a:r>
              <a:rPr lang="en-US" sz="1800" dirty="0">
                <a:solidFill>
                  <a:srgbClr val="0E1C30">
                    <a:alpha val="60000"/>
                  </a:srgbClr>
                </a:solidFill>
                <a:latin typeface="IBM Plex Sans" pitchFamily="34" charset="0"/>
                <a:ea typeface="IBM Plex Sans" pitchFamily="34" charset="-122"/>
                <a:cs typeface="IBM Plex Sans" pitchFamily="34" charset="-120"/>
              </a:rPr>
              <a:t>Each artifact is the anchor for the next persona. The handoff is a </a:t>
            </a:r>
            <a:pPr algn="l" indent="0" marL="0">
              <a:lnSpc>
                <a:spcPct val="114894"/>
              </a:lnSpc>
              <a:buNone/>
            </a:pPr>
            <a:r>
              <a:rPr lang="en-US" sz="1800" b="1" dirty="0">
                <a:solidFill>
                  <a:srgbClr val="0E1C30"/>
                </a:solidFill>
                <a:latin typeface="IBM Plex Sans" pitchFamily="34" charset="0"/>
                <a:ea typeface="IBM Plex Sans" pitchFamily="34" charset="-122"/>
                <a:cs typeface="IBM Plex Sans" pitchFamily="34" charset="-120"/>
              </a:rPr>
              <a:t>file</a:t>
            </a:r>
            <a:pPr algn="l" indent="0" marL="0">
              <a:lnSpc>
                <a:spcPct val="114894"/>
              </a:lnSpc>
              <a:buNone/>
            </a:pPr>
            <a:r>
              <a:rPr lang="en-US" sz="1800" dirty="0">
                <a:solidFill>
                  <a:srgbClr val="0E1C30">
                    <a:alpha val="60000"/>
                  </a:srgbClr>
                </a:solidFill>
                <a:latin typeface="IBM Plex Sans" pitchFamily="34" charset="0"/>
                <a:ea typeface="IBM Plex Sans" pitchFamily="34" charset="-122"/>
                <a:cs typeface="IBM Plex Sans" pitchFamily="34" charset="-120"/>
              </a:rPr>
              <a:t>, not a chat thread.</a:t>
            </a:r>
            <a:endParaRPr lang="en-US" sz="1800" dirty="0"/>
          </a:p>
        </p:txBody>
      </p:sp>
      <p:sp>
        <p:nvSpPr>
          <p:cNvPr id="31" name="Text 29"/>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32" name="Text 30"/>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20 / 45</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892175"/>
            <a:ext cx="95250" cy="95250"/>
          </a:xfrm>
          <a:prstGeom prst="rect">
            <a:avLst/>
          </a:prstGeom>
          <a:solidFill>
            <a:srgbClr val="F4C233"/>
          </a:solidFill>
          <a:ln/>
        </p:spPr>
      </p:sp>
      <p:sp>
        <p:nvSpPr>
          <p:cNvPr id="3" name="Text 1"/>
          <p:cNvSpPr/>
          <p:nvPr/>
        </p:nvSpPr>
        <p:spPr>
          <a:xfrm>
            <a:off x="1371600" y="838200"/>
            <a:ext cx="2767613"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THE SKILL ROSTER · V6</a:t>
            </a:r>
            <a:endParaRPr lang="en-US" sz="1200" dirty="0"/>
          </a:p>
        </p:txBody>
      </p:sp>
      <p:sp>
        <p:nvSpPr>
          <p:cNvPr id="4" name="Text 2"/>
          <p:cNvSpPr/>
          <p:nvPr/>
        </p:nvSpPr>
        <p:spPr>
          <a:xfrm>
            <a:off x="1143000" y="1270000"/>
            <a:ext cx="17602200" cy="612616"/>
          </a:xfrm>
          <a:prstGeom prst="rect">
            <a:avLst/>
          </a:prstGeom>
          <a:noFill/>
          <a:ln/>
        </p:spPr>
        <p:txBody>
          <a:bodyPr wrap="square" lIns="25400" tIns="25400" rIns="25400" bIns="25400" rtlCol="0" anchor="t">
            <a:normAutofit/>
          </a:bodyPr>
          <a:lstStyle/>
          <a:p>
            <a:pPr algn="l" indent="0" marL="0">
              <a:lnSpc>
                <a:spcPct val="81509"/>
              </a:lnSpc>
              <a:buNone/>
            </a:pPr>
            <a:r>
              <a:rPr lang="en-US" sz="4350" b="1" spc="-87" kern="0" dirty="0">
                <a:solidFill>
                  <a:srgbClr val="0E1C30"/>
                </a:solidFill>
                <a:latin typeface="Space Grotesk" pitchFamily="34" charset="0"/>
                <a:ea typeface="Space Grotesk" pitchFamily="34" charset="-122"/>
                <a:cs typeface="Space Grotesk" pitchFamily="34" charset="-120"/>
              </a:rPr>
              <a:t>Every phase ships with skills, every skill has an owner</a:t>
            </a:r>
            <a:endParaRPr lang="en-US" sz="4350" dirty="0"/>
          </a:p>
        </p:txBody>
      </p:sp>
      <p:sp>
        <p:nvSpPr>
          <p:cNvPr id="5" name="Shape 3"/>
          <p:cNvSpPr/>
          <p:nvPr/>
        </p:nvSpPr>
        <p:spPr>
          <a:xfrm>
            <a:off x="1143000" y="2263616"/>
            <a:ext cx="3843338" cy="3905250"/>
          </a:xfrm>
          <a:prstGeom prst="rect">
            <a:avLst/>
          </a:prstGeom>
          <a:solidFill>
            <a:srgbClr val="FFFFFF"/>
          </a:solidFill>
          <a:ln/>
        </p:spPr>
      </p:sp>
      <p:sp>
        <p:nvSpPr>
          <p:cNvPr id="6" name="Shape 4"/>
          <p:cNvSpPr/>
          <p:nvPr/>
        </p:nvSpPr>
        <p:spPr>
          <a:xfrm>
            <a:off x="1143000" y="6162516"/>
            <a:ext cx="3843338" cy="9525"/>
          </a:xfrm>
          <a:prstGeom prst="rect">
            <a:avLst/>
          </a:prstGeom>
          <a:solidFill>
            <a:srgbClr val="0E1C30">
              <a:alpha val="14000"/>
            </a:srgbClr>
          </a:solidFill>
          <a:ln/>
        </p:spPr>
      </p:sp>
      <p:sp>
        <p:nvSpPr>
          <p:cNvPr id="7" name="Shape 5"/>
          <p:cNvSpPr/>
          <p:nvPr/>
        </p:nvSpPr>
        <p:spPr>
          <a:xfrm>
            <a:off x="1143000" y="2263616"/>
            <a:ext cx="3843338" cy="38100"/>
          </a:xfrm>
          <a:prstGeom prst="rect">
            <a:avLst/>
          </a:prstGeom>
          <a:solidFill>
            <a:srgbClr val="5BB3F5"/>
          </a:solidFill>
          <a:ln/>
        </p:spPr>
      </p:sp>
      <p:sp>
        <p:nvSpPr>
          <p:cNvPr id="8" name="Shape 6"/>
          <p:cNvSpPr/>
          <p:nvPr/>
        </p:nvSpPr>
        <p:spPr>
          <a:xfrm>
            <a:off x="1143000" y="2263616"/>
            <a:ext cx="9525" cy="3905250"/>
          </a:xfrm>
          <a:prstGeom prst="rect">
            <a:avLst/>
          </a:prstGeom>
          <a:solidFill>
            <a:srgbClr val="0E1C30">
              <a:alpha val="14000"/>
            </a:srgbClr>
          </a:solidFill>
          <a:ln/>
        </p:spPr>
      </p:sp>
      <p:sp>
        <p:nvSpPr>
          <p:cNvPr id="9" name="Shape 7"/>
          <p:cNvSpPr/>
          <p:nvPr/>
        </p:nvSpPr>
        <p:spPr>
          <a:xfrm>
            <a:off x="4979987" y="2263616"/>
            <a:ext cx="9525" cy="3905250"/>
          </a:xfrm>
          <a:prstGeom prst="rect">
            <a:avLst/>
          </a:prstGeom>
          <a:solidFill>
            <a:srgbClr val="0E1C30">
              <a:alpha val="14000"/>
            </a:srgbClr>
          </a:solidFill>
          <a:ln/>
        </p:spPr>
      </p:sp>
      <p:sp>
        <p:nvSpPr>
          <p:cNvPr id="10" name="Text 8"/>
          <p:cNvSpPr/>
          <p:nvPr/>
        </p:nvSpPr>
        <p:spPr>
          <a:xfrm>
            <a:off x="1397000" y="2549366"/>
            <a:ext cx="3668871" cy="19685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1E7FD6"/>
                </a:solidFill>
                <a:latin typeface="IBM Plex Mono" pitchFamily="34" charset="0"/>
                <a:ea typeface="IBM Plex Mono" pitchFamily="34" charset="-122"/>
                <a:cs typeface="IBM Plex Mono" pitchFamily="34" charset="-120"/>
              </a:rPr>
              <a:t>01 ANALYSIS</a:t>
            </a:r>
            <a:endParaRPr lang="en-US" sz="975" dirty="0"/>
          </a:p>
        </p:txBody>
      </p:sp>
      <p:sp>
        <p:nvSpPr>
          <p:cNvPr id="11" name="Text 9"/>
          <p:cNvSpPr/>
          <p:nvPr/>
        </p:nvSpPr>
        <p:spPr>
          <a:xfrm>
            <a:off x="1397000" y="2803366"/>
            <a:ext cx="3668871" cy="330200"/>
          </a:xfrm>
          <a:prstGeom prst="rect">
            <a:avLst/>
          </a:prstGeom>
          <a:noFill/>
          <a:ln/>
        </p:spPr>
        <p:txBody>
          <a:bodyPr wrap="square" lIns="25400" tIns="25400" rIns="25400" bIns="25400" rtlCol="0" anchor="t">
            <a:normAutofit/>
          </a:bodyPr>
          <a:lstStyle/>
          <a:p>
            <a:pPr algn="l" indent="0" marL="0">
              <a:buNone/>
            </a:pPr>
            <a:r>
              <a:rPr lang="en-US" sz="1800" b="1" dirty="0">
                <a:solidFill>
                  <a:srgbClr val="0E1C30"/>
                </a:solidFill>
                <a:latin typeface="Space Grotesk" pitchFamily="34" charset="0"/>
                <a:ea typeface="Space Grotesk" pitchFamily="34" charset="-122"/>
                <a:cs typeface="Space Grotesk" pitchFamily="34" charset="-120"/>
              </a:rPr>
              <a:t>Mary </a:t>
            </a:r>
            <a:pPr algn="l" indent="0" marL="0">
              <a:buNone/>
            </a:pPr>
            <a:r>
              <a:rPr lang="en-US" sz="1500" dirty="0">
                <a:solidFill>
                  <a:srgbClr val="0E1C30">
                    <a:alpha val="55000"/>
                  </a:srgbClr>
                </a:solidFill>
                <a:latin typeface="Space Grotesk" pitchFamily="34" charset="0"/>
                <a:ea typeface="Space Grotesk" pitchFamily="34" charset="-122"/>
                <a:cs typeface="Space Grotesk" pitchFamily="34" charset="-120"/>
              </a:rPr>
              <a:t>Analyst </a:t>
            </a:r>
            <a:pPr algn="l" indent="0" marL="0">
              <a:buNone/>
            </a:pPr>
            <a:r>
              <a:rPr lang="en-US" sz="1800" b="1" dirty="0">
                <a:solidFill>
                  <a:srgbClr val="0E1C30"/>
                </a:solidFill>
                <a:latin typeface="Space Grotesk" pitchFamily="34" charset="0"/>
                <a:ea typeface="Space Grotesk" pitchFamily="34" charset="-122"/>
                <a:cs typeface="Space Grotesk" pitchFamily="34" charset="-120"/>
              </a:rPr>
              <a:t>· Paige </a:t>
            </a:r>
            <a:pPr algn="l" indent="0" marL="0">
              <a:buNone/>
            </a:pPr>
            <a:r>
              <a:rPr lang="en-US" sz="1500" dirty="0">
                <a:solidFill>
                  <a:srgbClr val="0E1C30">
                    <a:alpha val="55000"/>
                  </a:srgbClr>
                </a:solidFill>
                <a:latin typeface="Space Grotesk" pitchFamily="34" charset="0"/>
                <a:ea typeface="Space Grotesk" pitchFamily="34" charset="-122"/>
                <a:cs typeface="Space Grotesk" pitchFamily="34" charset="-120"/>
              </a:rPr>
              <a:t>Writer</a:t>
            </a:r>
            <a:endParaRPr lang="en-US" sz="1800" dirty="0"/>
          </a:p>
        </p:txBody>
      </p:sp>
      <p:sp>
        <p:nvSpPr>
          <p:cNvPr id="12" name="Text 10"/>
          <p:cNvSpPr/>
          <p:nvPr/>
        </p:nvSpPr>
        <p:spPr>
          <a:xfrm>
            <a:off x="1397000" y="3247866"/>
            <a:ext cx="3435398" cy="2705100"/>
          </a:xfrm>
          <a:prstGeom prst="rect">
            <a:avLst/>
          </a:prstGeom>
          <a:noFill/>
          <a:ln/>
        </p:spPr>
        <p:txBody>
          <a:bodyPr wrap="square" lIns="25400" tIns="25400" rIns="25400" bIns="25400" rtlCol="0" anchor="t">
            <a:normAutofit/>
          </a:bodyPr>
          <a:lstStyle/>
          <a:p>
            <a:pPr algn="l" indent="0" marL="0">
              <a:lnSpc>
                <a:spcPct val="154412"/>
              </a:lnSpc>
              <a:buNone/>
            </a:pPr>
            <a:r>
              <a:rPr lang="en-US" sz="1313" dirty="0">
                <a:solidFill>
                  <a:srgbClr val="0E1C30">
                    <a:alpha val="78000"/>
                  </a:srgbClr>
                </a:solidFill>
                <a:latin typeface="IBM Plex Mono" pitchFamily="34" charset="0"/>
                <a:ea typeface="IBM Plex Mono" pitchFamily="34" charset="-122"/>
                <a:cs typeface="IBM Plex Mono" pitchFamily="34" charset="-120"/>
              </a:rPr>
              <a:t>brainstorming forge-idea market-research domain-research technical-research product-brief prfaq document-project</a:t>
            </a:r>
            <a:endParaRPr lang="en-US" sz="1313" dirty="0"/>
          </a:p>
        </p:txBody>
      </p:sp>
      <p:sp>
        <p:nvSpPr>
          <p:cNvPr id="13" name="Shape 11"/>
          <p:cNvSpPr/>
          <p:nvPr/>
        </p:nvSpPr>
        <p:spPr>
          <a:xfrm>
            <a:off x="5195888" y="2263616"/>
            <a:ext cx="3843338" cy="3905250"/>
          </a:xfrm>
          <a:prstGeom prst="rect">
            <a:avLst/>
          </a:prstGeom>
          <a:solidFill>
            <a:srgbClr val="FFFFFF"/>
          </a:solidFill>
          <a:ln/>
        </p:spPr>
      </p:sp>
      <p:sp>
        <p:nvSpPr>
          <p:cNvPr id="14" name="Shape 12"/>
          <p:cNvSpPr/>
          <p:nvPr/>
        </p:nvSpPr>
        <p:spPr>
          <a:xfrm>
            <a:off x="5195888" y="6162516"/>
            <a:ext cx="3843338" cy="9525"/>
          </a:xfrm>
          <a:prstGeom prst="rect">
            <a:avLst/>
          </a:prstGeom>
          <a:solidFill>
            <a:srgbClr val="0E1C30">
              <a:alpha val="14000"/>
            </a:srgbClr>
          </a:solidFill>
          <a:ln/>
        </p:spPr>
      </p:sp>
      <p:sp>
        <p:nvSpPr>
          <p:cNvPr id="15" name="Shape 13"/>
          <p:cNvSpPr/>
          <p:nvPr/>
        </p:nvSpPr>
        <p:spPr>
          <a:xfrm>
            <a:off x="5195888" y="2263616"/>
            <a:ext cx="3843338" cy="38100"/>
          </a:xfrm>
          <a:prstGeom prst="rect">
            <a:avLst/>
          </a:prstGeom>
          <a:solidFill>
            <a:srgbClr val="F4C233"/>
          </a:solidFill>
          <a:ln/>
        </p:spPr>
      </p:sp>
      <p:sp>
        <p:nvSpPr>
          <p:cNvPr id="16" name="Shape 14"/>
          <p:cNvSpPr/>
          <p:nvPr/>
        </p:nvSpPr>
        <p:spPr>
          <a:xfrm>
            <a:off x="5195888" y="2263616"/>
            <a:ext cx="9525" cy="3905250"/>
          </a:xfrm>
          <a:prstGeom prst="rect">
            <a:avLst/>
          </a:prstGeom>
          <a:solidFill>
            <a:srgbClr val="0E1C30">
              <a:alpha val="14000"/>
            </a:srgbClr>
          </a:solidFill>
          <a:ln/>
        </p:spPr>
      </p:sp>
      <p:sp>
        <p:nvSpPr>
          <p:cNvPr id="17" name="Shape 15"/>
          <p:cNvSpPr/>
          <p:nvPr/>
        </p:nvSpPr>
        <p:spPr>
          <a:xfrm>
            <a:off x="9032875" y="2263616"/>
            <a:ext cx="9525" cy="3905250"/>
          </a:xfrm>
          <a:prstGeom prst="rect">
            <a:avLst/>
          </a:prstGeom>
          <a:solidFill>
            <a:srgbClr val="0E1C30">
              <a:alpha val="14000"/>
            </a:srgbClr>
          </a:solidFill>
          <a:ln/>
        </p:spPr>
      </p:sp>
      <p:sp>
        <p:nvSpPr>
          <p:cNvPr id="18" name="Text 16"/>
          <p:cNvSpPr/>
          <p:nvPr/>
        </p:nvSpPr>
        <p:spPr>
          <a:xfrm>
            <a:off x="5449888" y="2549366"/>
            <a:ext cx="3668871" cy="19685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F4C233"/>
                </a:solidFill>
                <a:latin typeface="IBM Plex Mono" pitchFamily="34" charset="0"/>
                <a:ea typeface="IBM Plex Mono" pitchFamily="34" charset="-122"/>
                <a:cs typeface="IBM Plex Mono" pitchFamily="34" charset="-120"/>
              </a:rPr>
              <a:t>02 PLANNING</a:t>
            </a:r>
            <a:endParaRPr lang="en-US" sz="975" dirty="0"/>
          </a:p>
        </p:txBody>
      </p:sp>
      <p:sp>
        <p:nvSpPr>
          <p:cNvPr id="19" name="Text 17"/>
          <p:cNvSpPr/>
          <p:nvPr/>
        </p:nvSpPr>
        <p:spPr>
          <a:xfrm>
            <a:off x="5449888" y="2803366"/>
            <a:ext cx="3668871" cy="330200"/>
          </a:xfrm>
          <a:prstGeom prst="rect">
            <a:avLst/>
          </a:prstGeom>
          <a:noFill/>
          <a:ln/>
        </p:spPr>
        <p:txBody>
          <a:bodyPr wrap="square" lIns="25400" tIns="25400" rIns="25400" bIns="25400" rtlCol="0" anchor="t">
            <a:normAutofit/>
          </a:bodyPr>
          <a:lstStyle/>
          <a:p>
            <a:pPr algn="l" indent="0" marL="0">
              <a:buNone/>
            </a:pPr>
            <a:r>
              <a:rPr lang="en-US" sz="1800" b="1" dirty="0">
                <a:solidFill>
                  <a:srgbClr val="0E1C30"/>
                </a:solidFill>
                <a:latin typeface="Space Grotesk" pitchFamily="34" charset="0"/>
                <a:ea typeface="Space Grotesk" pitchFamily="34" charset="-122"/>
                <a:cs typeface="Space Grotesk" pitchFamily="34" charset="-120"/>
              </a:rPr>
              <a:t>John </a:t>
            </a:r>
            <a:pPr algn="l" indent="0" marL="0">
              <a:buNone/>
            </a:pPr>
            <a:r>
              <a:rPr lang="en-US" sz="1500" dirty="0">
                <a:solidFill>
                  <a:srgbClr val="0E1C30">
                    <a:alpha val="55000"/>
                  </a:srgbClr>
                </a:solidFill>
                <a:latin typeface="Space Grotesk" pitchFamily="34" charset="0"/>
                <a:ea typeface="Space Grotesk" pitchFamily="34" charset="-122"/>
                <a:cs typeface="Space Grotesk" pitchFamily="34" charset="-120"/>
              </a:rPr>
              <a:t>PM </a:t>
            </a:r>
            <a:pPr algn="l" indent="0" marL="0">
              <a:buNone/>
            </a:pPr>
            <a:r>
              <a:rPr lang="en-US" sz="1800" b="1" dirty="0">
                <a:solidFill>
                  <a:srgbClr val="0E1C30"/>
                </a:solidFill>
                <a:latin typeface="Space Grotesk" pitchFamily="34" charset="0"/>
                <a:ea typeface="Space Grotesk" pitchFamily="34" charset="-122"/>
                <a:cs typeface="Space Grotesk" pitchFamily="34" charset="-120"/>
              </a:rPr>
              <a:t>· Sally </a:t>
            </a:r>
            <a:pPr algn="l" indent="0" marL="0">
              <a:buNone/>
            </a:pPr>
            <a:r>
              <a:rPr lang="en-US" sz="1500" dirty="0">
                <a:solidFill>
                  <a:srgbClr val="0E1C30">
                    <a:alpha val="55000"/>
                  </a:srgbClr>
                </a:solidFill>
                <a:latin typeface="Space Grotesk" pitchFamily="34" charset="0"/>
                <a:ea typeface="Space Grotesk" pitchFamily="34" charset="-122"/>
                <a:cs typeface="Space Grotesk" pitchFamily="34" charset="-120"/>
              </a:rPr>
              <a:t>UX</a:t>
            </a:r>
            <a:endParaRPr lang="en-US" sz="1800" dirty="0"/>
          </a:p>
        </p:txBody>
      </p:sp>
      <p:sp>
        <p:nvSpPr>
          <p:cNvPr id="20" name="Text 18"/>
          <p:cNvSpPr/>
          <p:nvPr/>
        </p:nvSpPr>
        <p:spPr>
          <a:xfrm>
            <a:off x="5449888" y="3247866"/>
            <a:ext cx="3435398" cy="704850"/>
          </a:xfrm>
          <a:prstGeom prst="rect">
            <a:avLst/>
          </a:prstGeom>
          <a:noFill/>
          <a:ln/>
        </p:spPr>
        <p:txBody>
          <a:bodyPr wrap="square" lIns="25400" tIns="25400" rIns="25400" bIns="25400" rtlCol="0" anchor="t">
            <a:normAutofit/>
          </a:bodyPr>
          <a:lstStyle/>
          <a:p>
            <a:pPr algn="l" indent="0" marL="0">
              <a:lnSpc>
                <a:spcPct val="154412"/>
              </a:lnSpc>
              <a:buNone/>
            </a:pPr>
            <a:r>
              <a:rPr lang="en-US" sz="1313" dirty="0">
                <a:solidFill>
                  <a:srgbClr val="0E1C30">
                    <a:alpha val="78000"/>
                  </a:srgbClr>
                </a:solidFill>
                <a:latin typeface="IBM Plex Mono" pitchFamily="34" charset="0"/>
                <a:ea typeface="IBM Plex Mono" pitchFamily="34" charset="-122"/>
                <a:cs typeface="IBM Plex Mono" pitchFamily="34" charset="-120"/>
              </a:rPr>
              <a:t>prd </a:t>
            </a:r>
            <a:pPr algn="l" indent="0" marL="0">
              <a:lnSpc>
                <a:spcPct val="154412"/>
              </a:lnSpc>
              <a:buNone/>
            </a:pPr>
            <a:r>
              <a:rPr lang="en-US" sz="1313" dirty="0">
                <a:solidFill>
                  <a:srgbClr val="0E1C30">
                    <a:alpha val="45000"/>
                  </a:srgbClr>
                </a:solidFill>
                <a:latin typeface="IBM Plex Mono" pitchFamily="34" charset="0"/>
                <a:ea typeface="IBM Plex Mono" pitchFamily="34" charset="-122"/>
                <a:cs typeface="IBM Plex Mono" pitchFamily="34" charset="-120"/>
              </a:rPr>
              <a:t>create · update · validate </a:t>
            </a:r>
            <a:pPr algn="l" indent="0" marL="0">
              <a:lnSpc>
                <a:spcPct val="154412"/>
              </a:lnSpc>
              <a:buNone/>
            </a:pPr>
            <a:r>
              <a:rPr lang="en-US" sz="1313" dirty="0">
                <a:solidFill>
                  <a:srgbClr val="0E1C30">
                    <a:alpha val="78000"/>
                  </a:srgbClr>
                </a:solidFill>
                <a:latin typeface="IBM Plex Mono" pitchFamily="34" charset="0"/>
                <a:ea typeface="IBM Plex Mono" pitchFamily="34" charset="-122"/>
                <a:cs typeface="IBM Plex Mono" pitchFamily="34" charset="-120"/>
              </a:rPr>
              <a:t>ux </a:t>
            </a:r>
            <a:pPr algn="l" indent="0" marL="0">
              <a:lnSpc>
                <a:spcPct val="154412"/>
              </a:lnSpc>
              <a:buNone/>
            </a:pPr>
            <a:r>
              <a:rPr lang="en-US" sz="1313" dirty="0">
                <a:solidFill>
                  <a:srgbClr val="0E1C30">
                    <a:alpha val="45000"/>
                  </a:srgbClr>
                </a:solidFill>
                <a:latin typeface="IBM Plex Mono" pitchFamily="34" charset="0"/>
                <a:ea typeface="IBM Plex Mono" pitchFamily="34" charset="-122"/>
                <a:cs typeface="IBM Plex Mono" pitchFamily="34" charset="-120"/>
              </a:rPr>
              <a:t>DESIGN + EXPERIENCE</a:t>
            </a:r>
            <a:endParaRPr lang="en-US" sz="1313" dirty="0"/>
          </a:p>
        </p:txBody>
      </p:sp>
      <p:sp>
        <p:nvSpPr>
          <p:cNvPr id="21" name="Shape 19"/>
          <p:cNvSpPr/>
          <p:nvPr/>
        </p:nvSpPr>
        <p:spPr>
          <a:xfrm>
            <a:off x="9248775" y="2263616"/>
            <a:ext cx="3843338" cy="3905250"/>
          </a:xfrm>
          <a:prstGeom prst="rect">
            <a:avLst/>
          </a:prstGeom>
          <a:solidFill>
            <a:srgbClr val="FFFFFF"/>
          </a:solidFill>
          <a:ln/>
        </p:spPr>
      </p:sp>
      <p:sp>
        <p:nvSpPr>
          <p:cNvPr id="22" name="Shape 20"/>
          <p:cNvSpPr/>
          <p:nvPr/>
        </p:nvSpPr>
        <p:spPr>
          <a:xfrm>
            <a:off x="9248775" y="6162516"/>
            <a:ext cx="3843338" cy="9525"/>
          </a:xfrm>
          <a:prstGeom prst="rect">
            <a:avLst/>
          </a:prstGeom>
          <a:solidFill>
            <a:srgbClr val="0E1C30">
              <a:alpha val="14000"/>
            </a:srgbClr>
          </a:solidFill>
          <a:ln/>
        </p:spPr>
      </p:sp>
      <p:sp>
        <p:nvSpPr>
          <p:cNvPr id="23" name="Shape 21"/>
          <p:cNvSpPr/>
          <p:nvPr/>
        </p:nvSpPr>
        <p:spPr>
          <a:xfrm>
            <a:off x="9248775" y="2263616"/>
            <a:ext cx="3843338" cy="38100"/>
          </a:xfrm>
          <a:prstGeom prst="rect">
            <a:avLst/>
          </a:prstGeom>
          <a:solidFill>
            <a:srgbClr val="4FD1A6"/>
          </a:solidFill>
          <a:ln/>
        </p:spPr>
      </p:sp>
      <p:sp>
        <p:nvSpPr>
          <p:cNvPr id="24" name="Shape 22"/>
          <p:cNvSpPr/>
          <p:nvPr/>
        </p:nvSpPr>
        <p:spPr>
          <a:xfrm>
            <a:off x="9248775" y="2263616"/>
            <a:ext cx="9525" cy="3905250"/>
          </a:xfrm>
          <a:prstGeom prst="rect">
            <a:avLst/>
          </a:prstGeom>
          <a:solidFill>
            <a:srgbClr val="0E1C30">
              <a:alpha val="14000"/>
            </a:srgbClr>
          </a:solidFill>
          <a:ln/>
        </p:spPr>
      </p:sp>
      <p:sp>
        <p:nvSpPr>
          <p:cNvPr id="25" name="Shape 23"/>
          <p:cNvSpPr/>
          <p:nvPr/>
        </p:nvSpPr>
        <p:spPr>
          <a:xfrm>
            <a:off x="13085762" y="2263616"/>
            <a:ext cx="9525" cy="3905250"/>
          </a:xfrm>
          <a:prstGeom prst="rect">
            <a:avLst/>
          </a:prstGeom>
          <a:solidFill>
            <a:srgbClr val="0E1C30">
              <a:alpha val="14000"/>
            </a:srgbClr>
          </a:solidFill>
          <a:ln/>
        </p:spPr>
      </p:sp>
      <p:sp>
        <p:nvSpPr>
          <p:cNvPr id="26" name="Text 24"/>
          <p:cNvSpPr/>
          <p:nvPr/>
        </p:nvSpPr>
        <p:spPr>
          <a:xfrm>
            <a:off x="9502775" y="2549366"/>
            <a:ext cx="3668871" cy="19685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4FD1A6"/>
                </a:solidFill>
                <a:latin typeface="IBM Plex Mono" pitchFamily="34" charset="0"/>
                <a:ea typeface="IBM Plex Mono" pitchFamily="34" charset="-122"/>
                <a:cs typeface="IBM Plex Mono" pitchFamily="34" charset="-120"/>
              </a:rPr>
              <a:t>03 SOLUTIONING</a:t>
            </a:r>
            <a:endParaRPr lang="en-US" sz="975" dirty="0"/>
          </a:p>
        </p:txBody>
      </p:sp>
      <p:sp>
        <p:nvSpPr>
          <p:cNvPr id="27" name="Text 25"/>
          <p:cNvSpPr/>
          <p:nvPr/>
        </p:nvSpPr>
        <p:spPr>
          <a:xfrm>
            <a:off x="9502775" y="2803366"/>
            <a:ext cx="3668871" cy="330200"/>
          </a:xfrm>
          <a:prstGeom prst="rect">
            <a:avLst/>
          </a:prstGeom>
          <a:noFill/>
          <a:ln/>
        </p:spPr>
        <p:txBody>
          <a:bodyPr wrap="square" lIns="25400" tIns="25400" rIns="25400" bIns="25400" rtlCol="0" anchor="t">
            <a:normAutofit/>
          </a:bodyPr>
          <a:lstStyle/>
          <a:p>
            <a:pPr algn="l" indent="0" marL="0">
              <a:buNone/>
            </a:pPr>
            <a:r>
              <a:rPr lang="en-US" sz="1800" b="1" dirty="0">
                <a:solidFill>
                  <a:srgbClr val="0E1C30"/>
                </a:solidFill>
                <a:latin typeface="Space Grotesk" pitchFamily="34" charset="0"/>
                <a:ea typeface="Space Grotesk" pitchFamily="34" charset="-122"/>
                <a:cs typeface="Space Grotesk" pitchFamily="34" charset="-120"/>
              </a:rPr>
              <a:t>Winston </a:t>
            </a:r>
            <a:pPr algn="l" indent="0" marL="0">
              <a:buNone/>
            </a:pPr>
            <a:r>
              <a:rPr lang="en-US" sz="1500" dirty="0">
                <a:solidFill>
                  <a:srgbClr val="0E1C30">
                    <a:alpha val="55000"/>
                  </a:srgbClr>
                </a:solidFill>
                <a:latin typeface="Space Grotesk" pitchFamily="34" charset="0"/>
                <a:ea typeface="Space Grotesk" pitchFamily="34" charset="-122"/>
                <a:cs typeface="Space Grotesk" pitchFamily="34" charset="-120"/>
              </a:rPr>
              <a:t>Architect</a:t>
            </a:r>
            <a:endParaRPr lang="en-US" sz="1800" dirty="0"/>
          </a:p>
        </p:txBody>
      </p:sp>
      <p:sp>
        <p:nvSpPr>
          <p:cNvPr id="28" name="Text 26"/>
          <p:cNvSpPr/>
          <p:nvPr/>
        </p:nvSpPr>
        <p:spPr>
          <a:xfrm>
            <a:off x="9502775" y="3247866"/>
            <a:ext cx="3435398" cy="1371600"/>
          </a:xfrm>
          <a:prstGeom prst="rect">
            <a:avLst/>
          </a:prstGeom>
          <a:noFill/>
          <a:ln/>
        </p:spPr>
        <p:txBody>
          <a:bodyPr wrap="square" lIns="25400" tIns="25400" rIns="25400" bIns="25400" rtlCol="0" anchor="t">
            <a:normAutofit/>
          </a:bodyPr>
          <a:lstStyle/>
          <a:p>
            <a:pPr algn="l" indent="0" marL="0">
              <a:lnSpc>
                <a:spcPct val="154412"/>
              </a:lnSpc>
              <a:buNone/>
            </a:pPr>
            <a:r>
              <a:rPr lang="en-US" sz="1313" dirty="0">
                <a:solidFill>
                  <a:srgbClr val="0E1C30">
                    <a:alpha val="78000"/>
                  </a:srgbClr>
                </a:solidFill>
                <a:latin typeface="IBM Plex Mono" pitchFamily="34" charset="0"/>
                <a:ea typeface="IBM Plex Mono" pitchFamily="34" charset="-122"/>
                <a:cs typeface="IBM Plex Mono" pitchFamily="34" charset="-120"/>
              </a:rPr>
              <a:t>architecture create-epics-and-stories check-implementation- readiness</a:t>
            </a:r>
            <a:endParaRPr lang="en-US" sz="1313" dirty="0"/>
          </a:p>
        </p:txBody>
      </p:sp>
      <p:sp>
        <p:nvSpPr>
          <p:cNvPr id="29" name="Shape 27"/>
          <p:cNvSpPr/>
          <p:nvPr/>
        </p:nvSpPr>
        <p:spPr>
          <a:xfrm>
            <a:off x="13301663" y="2263616"/>
            <a:ext cx="3843338" cy="3905250"/>
          </a:xfrm>
          <a:prstGeom prst="rect">
            <a:avLst/>
          </a:prstGeom>
          <a:solidFill>
            <a:srgbClr val="FFFFFF"/>
          </a:solidFill>
          <a:ln/>
        </p:spPr>
      </p:sp>
      <p:sp>
        <p:nvSpPr>
          <p:cNvPr id="30" name="Shape 28"/>
          <p:cNvSpPr/>
          <p:nvPr/>
        </p:nvSpPr>
        <p:spPr>
          <a:xfrm>
            <a:off x="13301663" y="6162516"/>
            <a:ext cx="3843338" cy="9525"/>
          </a:xfrm>
          <a:prstGeom prst="rect">
            <a:avLst/>
          </a:prstGeom>
          <a:solidFill>
            <a:srgbClr val="0E1C30">
              <a:alpha val="14000"/>
            </a:srgbClr>
          </a:solidFill>
          <a:ln/>
        </p:spPr>
      </p:sp>
      <p:sp>
        <p:nvSpPr>
          <p:cNvPr id="31" name="Shape 29"/>
          <p:cNvSpPr/>
          <p:nvPr/>
        </p:nvSpPr>
        <p:spPr>
          <a:xfrm>
            <a:off x="13301663" y="2263616"/>
            <a:ext cx="3843338" cy="38100"/>
          </a:xfrm>
          <a:prstGeom prst="rect">
            <a:avLst/>
          </a:prstGeom>
          <a:solidFill>
            <a:srgbClr val="F58B6E"/>
          </a:solidFill>
          <a:ln/>
        </p:spPr>
      </p:sp>
      <p:sp>
        <p:nvSpPr>
          <p:cNvPr id="32" name="Shape 30"/>
          <p:cNvSpPr/>
          <p:nvPr/>
        </p:nvSpPr>
        <p:spPr>
          <a:xfrm>
            <a:off x="13301663" y="2263616"/>
            <a:ext cx="9525" cy="3905250"/>
          </a:xfrm>
          <a:prstGeom prst="rect">
            <a:avLst/>
          </a:prstGeom>
          <a:solidFill>
            <a:srgbClr val="0E1C30">
              <a:alpha val="14000"/>
            </a:srgbClr>
          </a:solidFill>
          <a:ln/>
        </p:spPr>
      </p:sp>
      <p:sp>
        <p:nvSpPr>
          <p:cNvPr id="33" name="Shape 31"/>
          <p:cNvSpPr/>
          <p:nvPr/>
        </p:nvSpPr>
        <p:spPr>
          <a:xfrm>
            <a:off x="17138650" y="2263616"/>
            <a:ext cx="9525" cy="3905250"/>
          </a:xfrm>
          <a:prstGeom prst="rect">
            <a:avLst/>
          </a:prstGeom>
          <a:solidFill>
            <a:srgbClr val="0E1C30">
              <a:alpha val="14000"/>
            </a:srgbClr>
          </a:solidFill>
          <a:ln/>
        </p:spPr>
      </p:sp>
      <p:sp>
        <p:nvSpPr>
          <p:cNvPr id="34" name="Text 32"/>
          <p:cNvSpPr/>
          <p:nvPr/>
        </p:nvSpPr>
        <p:spPr>
          <a:xfrm>
            <a:off x="13555662" y="2549366"/>
            <a:ext cx="3668871" cy="19685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F58B6E"/>
                </a:solidFill>
                <a:latin typeface="IBM Plex Mono" pitchFamily="34" charset="0"/>
                <a:ea typeface="IBM Plex Mono" pitchFamily="34" charset="-122"/>
                <a:cs typeface="IBM Plex Mono" pitchFamily="34" charset="-120"/>
              </a:rPr>
              <a:t>04 IMPLEMENTATION</a:t>
            </a:r>
            <a:endParaRPr lang="en-US" sz="975" dirty="0"/>
          </a:p>
        </p:txBody>
      </p:sp>
      <p:sp>
        <p:nvSpPr>
          <p:cNvPr id="35" name="Text 33"/>
          <p:cNvSpPr/>
          <p:nvPr/>
        </p:nvSpPr>
        <p:spPr>
          <a:xfrm>
            <a:off x="13555662" y="2803366"/>
            <a:ext cx="3668871" cy="330200"/>
          </a:xfrm>
          <a:prstGeom prst="rect">
            <a:avLst/>
          </a:prstGeom>
          <a:noFill/>
          <a:ln/>
        </p:spPr>
        <p:txBody>
          <a:bodyPr wrap="square" lIns="25400" tIns="25400" rIns="25400" bIns="25400" rtlCol="0" anchor="t">
            <a:normAutofit/>
          </a:bodyPr>
          <a:lstStyle/>
          <a:p>
            <a:pPr algn="l" indent="0" marL="0">
              <a:buNone/>
            </a:pPr>
            <a:r>
              <a:rPr lang="en-US" sz="1800" b="1" dirty="0">
                <a:solidFill>
                  <a:srgbClr val="0E1C30"/>
                </a:solidFill>
                <a:latin typeface="Space Grotesk" pitchFamily="34" charset="0"/>
                <a:ea typeface="Space Grotesk" pitchFamily="34" charset="-122"/>
                <a:cs typeface="Space Grotesk" pitchFamily="34" charset="-120"/>
              </a:rPr>
              <a:t>Amelia </a:t>
            </a:r>
            <a:pPr algn="l" indent="0" marL="0">
              <a:buNone/>
            </a:pPr>
            <a:r>
              <a:rPr lang="en-US" sz="1500" dirty="0">
                <a:solidFill>
                  <a:srgbClr val="0E1C30">
                    <a:alpha val="55000"/>
                  </a:srgbClr>
                </a:solidFill>
                <a:latin typeface="Space Grotesk" pitchFamily="34" charset="0"/>
                <a:ea typeface="Space Grotesk" pitchFamily="34" charset="-122"/>
                <a:cs typeface="Space Grotesk" pitchFamily="34" charset="-120"/>
              </a:rPr>
              <a:t>Developer</a:t>
            </a:r>
            <a:endParaRPr lang="en-US" sz="1800" dirty="0"/>
          </a:p>
        </p:txBody>
      </p:sp>
      <p:sp>
        <p:nvSpPr>
          <p:cNvPr id="36" name="Text 34"/>
          <p:cNvSpPr/>
          <p:nvPr/>
        </p:nvSpPr>
        <p:spPr>
          <a:xfrm>
            <a:off x="13555662" y="3247866"/>
            <a:ext cx="3435398" cy="2705100"/>
          </a:xfrm>
          <a:prstGeom prst="rect">
            <a:avLst/>
          </a:prstGeom>
          <a:noFill/>
          <a:ln/>
        </p:spPr>
        <p:txBody>
          <a:bodyPr wrap="square" lIns="25400" tIns="25400" rIns="25400" bIns="25400" rtlCol="0" anchor="t">
            <a:normAutofit/>
          </a:bodyPr>
          <a:lstStyle/>
          <a:p>
            <a:pPr algn="l" indent="0" marL="0">
              <a:lnSpc>
                <a:spcPct val="154412"/>
              </a:lnSpc>
              <a:buNone/>
            </a:pPr>
            <a:r>
              <a:rPr lang="en-US" sz="1313" dirty="0">
                <a:solidFill>
                  <a:srgbClr val="0E1C30">
                    <a:alpha val="78000"/>
                  </a:srgbClr>
                </a:solidFill>
                <a:latin typeface="IBM Plex Mono" pitchFamily="34" charset="0"/>
                <a:ea typeface="IBM Plex Mono" pitchFamily="34" charset="-122"/>
                <a:cs typeface="IBM Plex Mono" pitchFamily="34" charset="-120"/>
              </a:rPr>
              <a:t>sprint-planning create-story dev-story code-review correct-course sprint-status retrospective qa-generate-e2e-tests</a:t>
            </a:r>
            <a:endParaRPr lang="en-US" sz="1313" dirty="0"/>
          </a:p>
        </p:txBody>
      </p:sp>
      <p:sp>
        <p:nvSpPr>
          <p:cNvPr id="37" name="Shape 35"/>
          <p:cNvSpPr/>
          <p:nvPr/>
        </p:nvSpPr>
        <p:spPr>
          <a:xfrm>
            <a:off x="1143000" y="6454616"/>
            <a:ext cx="16002000" cy="9525"/>
          </a:xfrm>
          <a:prstGeom prst="rect">
            <a:avLst/>
          </a:prstGeom>
          <a:solidFill>
            <a:srgbClr val="0E1C30">
              <a:alpha val="14000"/>
            </a:srgbClr>
          </a:solidFill>
          <a:ln/>
        </p:spPr>
      </p:sp>
      <p:sp>
        <p:nvSpPr>
          <p:cNvPr id="38" name="Text 36"/>
          <p:cNvSpPr/>
          <p:nvPr/>
        </p:nvSpPr>
        <p:spPr>
          <a:xfrm>
            <a:off x="1143000" y="6767671"/>
            <a:ext cx="1266984" cy="196850"/>
          </a:xfrm>
          <a:prstGeom prst="rect">
            <a:avLst/>
          </a:prstGeom>
          <a:noFill/>
          <a:ln/>
        </p:spPr>
        <p:txBody>
          <a:bodyPr wrap="none" lIns="25400" tIns="25400" rIns="25400" bIns="25400" rtlCol="0" anchor="t">
            <a:normAutofit/>
          </a:bodyPr>
          <a:lstStyle/>
          <a:p>
            <a:pPr algn="l" indent="0" marL="0">
              <a:buNone/>
            </a:pPr>
            <a:r>
              <a:rPr lang="en-US" sz="975" spc="137" kern="0" dirty="0">
                <a:solidFill>
                  <a:srgbClr val="0E1C30">
                    <a:alpha val="50000"/>
                  </a:srgbClr>
                </a:solidFill>
                <a:latin typeface="IBM Plex Mono" pitchFamily="34" charset="0"/>
                <a:ea typeface="IBM Plex Mono" pitchFamily="34" charset="-122"/>
                <a:cs typeface="IBM Plex Mono" pitchFamily="34" charset="-120"/>
              </a:rPr>
              <a:t>CROSS-CUTTING</a:t>
            </a:r>
            <a:endParaRPr lang="en-US" sz="975" dirty="0"/>
          </a:p>
        </p:txBody>
      </p:sp>
      <p:sp>
        <p:nvSpPr>
          <p:cNvPr id="39" name="Text 37"/>
          <p:cNvSpPr/>
          <p:nvPr/>
        </p:nvSpPr>
        <p:spPr>
          <a:xfrm>
            <a:off x="2600484" y="6689566"/>
            <a:ext cx="11846481" cy="321469"/>
          </a:xfrm>
          <a:prstGeom prst="rect">
            <a:avLst/>
          </a:prstGeom>
          <a:noFill/>
          <a:ln/>
        </p:spPr>
        <p:txBody>
          <a:bodyPr wrap="square" lIns="25400" tIns="25400" rIns="25400" bIns="25400" rtlCol="0" anchor="t">
            <a:normAutofit/>
          </a:bodyPr>
          <a:lstStyle/>
          <a:p>
            <a:pPr algn="l" indent="0" marL="0">
              <a:lnSpc>
                <a:spcPct val="131250"/>
              </a:lnSpc>
              <a:buNone/>
            </a:pPr>
            <a:r>
              <a:rPr lang="en-US" sz="1313" dirty="0">
                <a:solidFill>
                  <a:srgbClr val="0E1C30">
                    <a:alpha val="75000"/>
                  </a:srgbClr>
                </a:solidFill>
                <a:latin typeface="IBM Plex Mono" pitchFamily="34" charset="0"/>
                <a:ea typeface="IBM Plex Mono" pitchFamily="34" charset="-122"/>
                <a:cs typeface="IBM Plex Mono" pitchFamily="34" charset="-120"/>
              </a:rPr>
              <a:t>help · party-mode · customize · generate-project-context · advanced-elicitation · </a:t>
            </a:r>
            <a:pPr algn="l" indent="0" marL="0">
              <a:lnSpc>
                <a:spcPct val="131250"/>
              </a:lnSpc>
              <a:buNone/>
            </a:pPr>
            <a:r>
              <a:rPr lang="en-US" sz="1313" dirty="0">
                <a:solidFill>
                  <a:srgbClr val="1E7FD6"/>
                </a:solidFill>
                <a:latin typeface="IBM Plex Mono" pitchFamily="34" charset="0"/>
                <a:ea typeface="IBM Plex Mono" pitchFamily="34" charset="-122"/>
                <a:cs typeface="IBM Plex Mono" pitchFamily="34" charset="-120"/>
              </a:rPr>
              <a:t>quick-dev · dev-auto </a:t>
            </a:r>
            <a:pPr algn="l" indent="0" marL="0">
              <a:lnSpc>
                <a:spcPct val="131250"/>
              </a:lnSpc>
              <a:buNone/>
            </a:pPr>
            <a:r>
              <a:rPr lang="en-US" sz="1313" dirty="0">
                <a:solidFill>
                  <a:srgbClr val="0E1C30">
                    <a:alpha val="45000"/>
                  </a:srgbClr>
                </a:solidFill>
                <a:latin typeface="IBM Plex Mono" pitchFamily="34" charset="0"/>
                <a:ea typeface="IBM Plex Mono" pitchFamily="34" charset="-122"/>
                <a:cs typeface="IBM Plex Mono" pitchFamily="34" charset="-120"/>
              </a:rPr>
              <a:t>(quick flow)</a:t>
            </a:r>
            <a:endParaRPr lang="en-US" sz="1313" dirty="0"/>
          </a:p>
        </p:txBody>
      </p:sp>
      <p:sp>
        <p:nvSpPr>
          <p:cNvPr id="40" name="Text 38"/>
          <p:cNvSpPr/>
          <p:nvPr/>
        </p:nvSpPr>
        <p:spPr>
          <a:xfrm>
            <a:off x="1143000" y="9690100"/>
            <a:ext cx="7130288"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ALL SKILLS INVOKED AS </a:t>
            </a:r>
            <a:pPr algn="l" indent="0" marL="0">
              <a:buNone/>
            </a:pPr>
            <a:r>
              <a:rPr lang="en-US" sz="1050" spc="168" kern="0" dirty="0">
                <a:solidFill>
                  <a:srgbClr val="F4C233"/>
                </a:solidFill>
                <a:latin typeface="IBM Plex Mono" pitchFamily="34" charset="0"/>
                <a:ea typeface="IBM Plex Mono" pitchFamily="34" charset="-122"/>
                <a:cs typeface="IBM Plex Mono" pitchFamily="34" charset="-120"/>
              </a:rPr>
              <a:t>bmad-* </a:t>
            </a:r>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 DIRECTLY, OR FROM AN AGENT'S MENU</a:t>
            </a:r>
            <a:endParaRPr lang="en-US" sz="1050" dirty="0"/>
          </a:p>
        </p:txBody>
      </p:sp>
      <p:sp>
        <p:nvSpPr>
          <p:cNvPr id="41" name="Text 39"/>
          <p:cNvSpPr/>
          <p:nvPr/>
        </p:nvSpPr>
        <p:spPr>
          <a:xfrm>
            <a:off x="16453803" y="96901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21 / 45</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1611630"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IN YOUR REPO</a:t>
            </a:r>
            <a:endParaRPr lang="en-US" sz="1200" dirty="0"/>
          </a:p>
        </p:txBody>
      </p:sp>
      <p:sp>
        <p:nvSpPr>
          <p:cNvPr id="4" name="Text 2"/>
          <p:cNvSpPr/>
          <p:nvPr/>
        </p:nvSpPr>
        <p:spPr>
          <a:xfrm>
            <a:off x="1143000" y="1384300"/>
            <a:ext cx="14144625" cy="678180"/>
          </a:xfrm>
          <a:prstGeom prst="rect">
            <a:avLst/>
          </a:prstGeom>
          <a:noFill/>
          <a:ln/>
        </p:spPr>
        <p:txBody>
          <a:bodyPr wrap="square" lIns="25400" tIns="25400" rIns="25400" bIns="25400" rtlCol="0" anchor="t">
            <a:normAutofit/>
          </a:bodyPr>
          <a:lstStyle/>
          <a:p>
            <a:pPr algn="l" indent="0" marL="0">
              <a:lnSpc>
                <a:spcPct val="82623"/>
              </a:lnSpc>
              <a:buNone/>
            </a:pPr>
            <a:r>
              <a:rPr lang="en-US" sz="4800" b="1" spc="-96" kern="0" dirty="0">
                <a:solidFill>
                  <a:srgbClr val="0E1C30"/>
                </a:solidFill>
                <a:latin typeface="Space Grotesk" pitchFamily="34" charset="0"/>
                <a:ea typeface="Space Grotesk" pitchFamily="34" charset="-122"/>
                <a:cs typeface="Space Grotesk" pitchFamily="34" charset="-120"/>
              </a:rPr>
              <a:t>What it physically looks like: two folders</a:t>
            </a:r>
            <a:endParaRPr lang="en-US" sz="4800" dirty="0"/>
          </a:p>
        </p:txBody>
      </p:sp>
      <p:sp>
        <p:nvSpPr>
          <p:cNvPr id="5" name="Shape 3"/>
          <p:cNvSpPr/>
          <p:nvPr/>
        </p:nvSpPr>
        <p:spPr>
          <a:xfrm>
            <a:off x="1143000" y="2519680"/>
            <a:ext cx="7810500" cy="5014436"/>
          </a:xfrm>
          <a:prstGeom prst="rect">
            <a:avLst/>
          </a:prstGeom>
          <a:solidFill>
            <a:srgbClr val="0B1626"/>
          </a:solidFill>
          <a:ln/>
        </p:spPr>
      </p:sp>
      <p:sp>
        <p:nvSpPr>
          <p:cNvPr id="6" name="Text 4"/>
          <p:cNvSpPr/>
          <p:nvPr/>
        </p:nvSpPr>
        <p:spPr>
          <a:xfrm>
            <a:off x="1562100" y="2881630"/>
            <a:ext cx="7181469" cy="428149"/>
          </a:xfrm>
          <a:prstGeom prst="rect">
            <a:avLst/>
          </a:prstGeom>
          <a:noFill/>
          <a:ln/>
        </p:spPr>
        <p:txBody>
          <a:bodyPr wrap="square" lIns="25400" tIns="25400" rIns="25400" bIns="25400" rtlCol="0" anchor="t">
            <a:normAutofit/>
          </a:bodyPr>
          <a:lstStyle/>
          <a:p>
            <a:pPr algn="l" indent="0" marL="0">
              <a:lnSpc>
                <a:spcPct val="149817"/>
              </a:lnSpc>
              <a:buNone/>
            </a:pPr>
            <a:r>
              <a:rPr lang="en-US" sz="1575" dirty="0">
                <a:solidFill>
                  <a:srgbClr val="F6F4EE">
                    <a:alpha val="85000"/>
                  </a:srgbClr>
                </a:solidFill>
                <a:latin typeface="IBM Plex Mono" pitchFamily="34" charset="0"/>
                <a:ea typeface="IBM Plex Mono" pitchFamily="34" charset="-122"/>
                <a:cs typeface="IBM Plex Mono" pitchFamily="34" charset="-120"/>
              </a:rPr>
              <a:t>your-project/</a:t>
            </a:r>
            <a:endParaRPr lang="en-US" sz="1575" dirty="0"/>
          </a:p>
        </p:txBody>
      </p:sp>
      <p:sp>
        <p:nvSpPr>
          <p:cNvPr id="7" name="Text 5"/>
          <p:cNvSpPr/>
          <p:nvPr/>
        </p:nvSpPr>
        <p:spPr>
          <a:xfrm>
            <a:off x="1562100" y="3271679"/>
            <a:ext cx="7181469" cy="428149"/>
          </a:xfrm>
          <a:prstGeom prst="rect">
            <a:avLst/>
          </a:prstGeom>
          <a:noFill/>
          <a:ln/>
        </p:spPr>
        <p:txBody>
          <a:bodyPr wrap="square" lIns="25400" tIns="25400" rIns="25400" bIns="25400" rtlCol="0" anchor="t">
            <a:normAutofit/>
          </a:bodyPr>
          <a:lstStyle/>
          <a:p>
            <a:pPr algn="l" indent="0" marL="0">
              <a:lnSpc>
                <a:spcPct val="149817"/>
              </a:lnSpc>
              <a:buNone/>
            </a:pPr>
            <a:r>
              <a:rPr lang="en-US" sz="1575" dirty="0">
                <a:solidFill>
                  <a:srgbClr val="F6F4EE">
                    <a:alpha val="85000"/>
                  </a:srgbClr>
                </a:solidFill>
                <a:latin typeface="IBM Plex Mono" pitchFamily="34" charset="0"/>
                <a:ea typeface="IBM Plex Mono" pitchFamily="34" charset="-122"/>
                <a:cs typeface="IBM Plex Mono" pitchFamily="34" charset="-120"/>
              </a:rPr>
              <a:t>├─ </a:t>
            </a:r>
            <a:pPr algn="l" indent="0" marL="0">
              <a:lnSpc>
                <a:spcPct val="149817"/>
              </a:lnSpc>
              <a:buNone/>
            </a:pPr>
            <a:r>
              <a:rPr lang="en-US" sz="1575" dirty="0">
                <a:solidFill>
                  <a:srgbClr val="5BB3F5"/>
                </a:solidFill>
                <a:latin typeface="IBM Plex Mono" pitchFamily="34" charset="0"/>
                <a:ea typeface="IBM Plex Mono" pitchFamily="34" charset="-122"/>
                <a:cs typeface="IBM Plex Mono" pitchFamily="34" charset="-120"/>
              </a:rPr>
              <a:t>_bmad/ </a:t>
            </a:r>
            <a:pPr algn="l" indent="0" marL="0">
              <a:lnSpc>
                <a:spcPct val="149817"/>
              </a:lnSpc>
              <a:buNone/>
            </a:pPr>
            <a:r>
              <a:rPr lang="en-US" sz="1575" dirty="0">
                <a:solidFill>
                  <a:srgbClr val="F6F4EE">
                    <a:alpha val="45000"/>
                  </a:srgbClr>
                </a:solidFill>
                <a:latin typeface="IBM Plex Mono" pitchFamily="34" charset="0"/>
                <a:ea typeface="IBM Plex Mono" pitchFamily="34" charset="-122"/>
                <a:cs typeface="IBM Plex Mono" pitchFamily="34" charset="-120"/>
              </a:rPr>
              <a:t>← the machinery</a:t>
            </a:r>
            <a:endParaRPr lang="en-US" sz="1575" dirty="0"/>
          </a:p>
        </p:txBody>
      </p:sp>
      <p:sp>
        <p:nvSpPr>
          <p:cNvPr id="8" name="Text 6"/>
          <p:cNvSpPr/>
          <p:nvPr/>
        </p:nvSpPr>
        <p:spPr>
          <a:xfrm>
            <a:off x="1562100" y="3661728"/>
            <a:ext cx="7181469" cy="428149"/>
          </a:xfrm>
          <a:prstGeom prst="rect">
            <a:avLst/>
          </a:prstGeom>
          <a:noFill/>
          <a:ln/>
        </p:spPr>
        <p:txBody>
          <a:bodyPr wrap="square" lIns="25400" tIns="25400" rIns="25400" bIns="25400" rtlCol="0" anchor="t">
            <a:normAutofit/>
          </a:bodyPr>
          <a:lstStyle/>
          <a:p>
            <a:pPr algn="l" indent="0" marL="0">
              <a:lnSpc>
                <a:spcPct val="149817"/>
              </a:lnSpc>
              <a:buNone/>
            </a:pPr>
            <a:r>
              <a:rPr lang="en-US" sz="1575" dirty="0">
                <a:solidFill>
                  <a:srgbClr val="F6F4EE">
                    <a:alpha val="85000"/>
                  </a:srgbClr>
                </a:solidFill>
                <a:latin typeface="IBM Plex Mono" pitchFamily="34" charset="0"/>
                <a:ea typeface="IBM Plex Mono" pitchFamily="34" charset="-122"/>
                <a:cs typeface="IBM Plex Mono" pitchFamily="34" charset="-120"/>
              </a:rPr>
              <a:t>│ ├─ core/ bmm/ agents/ workflows/</a:t>
            </a:r>
            <a:endParaRPr lang="en-US" sz="1575" dirty="0"/>
          </a:p>
        </p:txBody>
      </p:sp>
      <p:sp>
        <p:nvSpPr>
          <p:cNvPr id="9" name="Text 7"/>
          <p:cNvSpPr/>
          <p:nvPr/>
        </p:nvSpPr>
        <p:spPr>
          <a:xfrm>
            <a:off x="1562100" y="4051776"/>
            <a:ext cx="7181469" cy="428149"/>
          </a:xfrm>
          <a:prstGeom prst="rect">
            <a:avLst/>
          </a:prstGeom>
          <a:noFill/>
          <a:ln/>
        </p:spPr>
        <p:txBody>
          <a:bodyPr wrap="square" lIns="25400" tIns="25400" rIns="25400" bIns="25400" rtlCol="0" anchor="t">
            <a:normAutofit/>
          </a:bodyPr>
          <a:lstStyle/>
          <a:p>
            <a:pPr algn="l" indent="0" marL="0">
              <a:lnSpc>
                <a:spcPct val="149817"/>
              </a:lnSpc>
              <a:buNone/>
            </a:pPr>
            <a:r>
              <a:rPr lang="en-US" sz="1575" dirty="0">
                <a:solidFill>
                  <a:srgbClr val="F6F4EE">
                    <a:alpha val="85000"/>
                  </a:srgbClr>
                </a:solidFill>
                <a:latin typeface="IBM Plex Mono" pitchFamily="34" charset="0"/>
                <a:ea typeface="IBM Plex Mono" pitchFamily="34" charset="-122"/>
                <a:cs typeface="IBM Plex Mono" pitchFamily="34" charset="-120"/>
              </a:rPr>
              <a:t>└─ </a:t>
            </a:r>
            <a:pPr algn="l" indent="0" marL="0">
              <a:lnSpc>
                <a:spcPct val="149817"/>
              </a:lnSpc>
              <a:buNone/>
            </a:pPr>
            <a:r>
              <a:rPr lang="en-US" sz="1575" dirty="0">
                <a:solidFill>
                  <a:srgbClr val="F4C233"/>
                </a:solidFill>
                <a:latin typeface="IBM Plex Mono" pitchFamily="34" charset="0"/>
                <a:ea typeface="IBM Plex Mono" pitchFamily="34" charset="-122"/>
                <a:cs typeface="IBM Plex Mono" pitchFamily="34" charset="-120"/>
              </a:rPr>
              <a:t>_bmad-output/ </a:t>
            </a:r>
            <a:pPr algn="l" indent="0" marL="0">
              <a:lnSpc>
                <a:spcPct val="149817"/>
              </a:lnSpc>
              <a:buNone/>
            </a:pPr>
            <a:r>
              <a:rPr lang="en-US" sz="1575" dirty="0">
                <a:solidFill>
                  <a:srgbClr val="F6F4EE">
                    <a:alpha val="45000"/>
                  </a:srgbClr>
                </a:solidFill>
                <a:latin typeface="IBM Plex Mono" pitchFamily="34" charset="0"/>
                <a:ea typeface="IBM Plex Mono" pitchFamily="34" charset="-122"/>
                <a:cs typeface="IBM Plex Mono" pitchFamily="34" charset="-120"/>
              </a:rPr>
              <a:t>← your artifacts</a:t>
            </a:r>
            <a:endParaRPr lang="en-US" sz="1575" dirty="0"/>
          </a:p>
        </p:txBody>
      </p:sp>
      <p:sp>
        <p:nvSpPr>
          <p:cNvPr id="10" name="Text 8"/>
          <p:cNvSpPr/>
          <p:nvPr/>
        </p:nvSpPr>
        <p:spPr>
          <a:xfrm>
            <a:off x="1562100" y="4441825"/>
            <a:ext cx="7181469" cy="428149"/>
          </a:xfrm>
          <a:prstGeom prst="rect">
            <a:avLst/>
          </a:prstGeom>
          <a:noFill/>
          <a:ln/>
        </p:spPr>
        <p:txBody>
          <a:bodyPr wrap="square" lIns="25400" tIns="25400" rIns="25400" bIns="25400" rtlCol="0" anchor="t">
            <a:normAutofit/>
          </a:bodyPr>
          <a:lstStyle/>
          <a:p>
            <a:pPr algn="l" indent="0" marL="0">
              <a:lnSpc>
                <a:spcPct val="149817"/>
              </a:lnSpc>
              <a:buNone/>
            </a:pPr>
            <a:r>
              <a:rPr lang="en-US" sz="1575" dirty="0">
                <a:solidFill>
                  <a:srgbClr val="F6F4EE">
                    <a:alpha val="85000"/>
                  </a:srgbClr>
                </a:solidFill>
                <a:latin typeface="IBM Plex Mono" pitchFamily="34" charset="0"/>
                <a:ea typeface="IBM Plex Mono" pitchFamily="34" charset="-122"/>
                <a:cs typeface="IBM Plex Mono" pitchFamily="34" charset="-120"/>
              </a:rPr>
              <a:t>├─ </a:t>
            </a:r>
            <a:pPr algn="l" indent="0" marL="0">
              <a:lnSpc>
                <a:spcPct val="149817"/>
              </a:lnSpc>
              <a:buNone/>
            </a:pPr>
            <a:r>
              <a:rPr lang="en-US" sz="1575" dirty="0">
                <a:solidFill>
                  <a:srgbClr val="F4C233"/>
                </a:solidFill>
                <a:latin typeface="IBM Plex Mono" pitchFamily="34" charset="0"/>
                <a:ea typeface="IBM Plex Mono" pitchFamily="34" charset="-122"/>
                <a:cs typeface="IBM Plex Mono" pitchFamily="34" charset="-120"/>
              </a:rPr>
              <a:t>planning-artifacts/</a:t>
            </a:r>
            <a:endParaRPr lang="en-US" sz="1575" dirty="0"/>
          </a:p>
        </p:txBody>
      </p:sp>
      <p:sp>
        <p:nvSpPr>
          <p:cNvPr id="11" name="Text 9"/>
          <p:cNvSpPr/>
          <p:nvPr/>
        </p:nvSpPr>
        <p:spPr>
          <a:xfrm>
            <a:off x="1562100" y="4831874"/>
            <a:ext cx="7181469" cy="428149"/>
          </a:xfrm>
          <a:prstGeom prst="rect">
            <a:avLst/>
          </a:prstGeom>
          <a:noFill/>
          <a:ln/>
        </p:spPr>
        <p:txBody>
          <a:bodyPr wrap="square" lIns="25400" tIns="25400" rIns="25400" bIns="25400" rtlCol="0" anchor="t">
            <a:normAutofit/>
          </a:bodyPr>
          <a:lstStyle/>
          <a:p>
            <a:pPr algn="l" indent="0" marL="0">
              <a:lnSpc>
                <a:spcPct val="149817"/>
              </a:lnSpc>
              <a:buNone/>
            </a:pPr>
            <a:r>
              <a:rPr lang="en-US" sz="1575" dirty="0">
                <a:solidFill>
                  <a:srgbClr val="F6F4EE">
                    <a:alpha val="85000"/>
                  </a:srgbClr>
                </a:solidFill>
                <a:latin typeface="IBM Plex Mono" pitchFamily="34" charset="0"/>
                <a:ea typeface="IBM Plex Mono" pitchFamily="34" charset="-122"/>
                <a:cs typeface="IBM Plex Mono" pitchFamily="34" charset="-120"/>
              </a:rPr>
              <a:t>│ ├─ PRD.md</a:t>
            </a:r>
            <a:endParaRPr lang="en-US" sz="1575" dirty="0"/>
          </a:p>
        </p:txBody>
      </p:sp>
      <p:sp>
        <p:nvSpPr>
          <p:cNvPr id="12" name="Text 10"/>
          <p:cNvSpPr/>
          <p:nvPr/>
        </p:nvSpPr>
        <p:spPr>
          <a:xfrm>
            <a:off x="1562100" y="5221923"/>
            <a:ext cx="7181469" cy="428149"/>
          </a:xfrm>
          <a:prstGeom prst="rect">
            <a:avLst/>
          </a:prstGeom>
          <a:noFill/>
          <a:ln/>
        </p:spPr>
        <p:txBody>
          <a:bodyPr wrap="square" lIns="25400" tIns="25400" rIns="25400" bIns="25400" rtlCol="0" anchor="t">
            <a:normAutofit/>
          </a:bodyPr>
          <a:lstStyle/>
          <a:p>
            <a:pPr algn="l" indent="0" marL="0">
              <a:lnSpc>
                <a:spcPct val="149817"/>
              </a:lnSpc>
              <a:buNone/>
            </a:pPr>
            <a:r>
              <a:rPr lang="en-US" sz="1575" dirty="0">
                <a:solidFill>
                  <a:srgbClr val="F6F4EE">
                    <a:alpha val="85000"/>
                  </a:srgbClr>
                </a:solidFill>
                <a:latin typeface="IBM Plex Mono" pitchFamily="34" charset="0"/>
                <a:ea typeface="IBM Plex Mono" pitchFamily="34" charset="-122"/>
                <a:cs typeface="IBM Plex Mono" pitchFamily="34" charset="-120"/>
              </a:rPr>
              <a:t>│ ├─ architecture.md</a:t>
            </a:r>
            <a:endParaRPr lang="en-US" sz="1575" dirty="0"/>
          </a:p>
        </p:txBody>
      </p:sp>
      <p:sp>
        <p:nvSpPr>
          <p:cNvPr id="13" name="Text 11"/>
          <p:cNvSpPr/>
          <p:nvPr/>
        </p:nvSpPr>
        <p:spPr>
          <a:xfrm>
            <a:off x="1562100" y="5611971"/>
            <a:ext cx="7181469" cy="428149"/>
          </a:xfrm>
          <a:prstGeom prst="rect">
            <a:avLst/>
          </a:prstGeom>
          <a:noFill/>
          <a:ln/>
        </p:spPr>
        <p:txBody>
          <a:bodyPr wrap="square" lIns="25400" tIns="25400" rIns="25400" bIns="25400" rtlCol="0" anchor="t">
            <a:normAutofit/>
          </a:bodyPr>
          <a:lstStyle/>
          <a:p>
            <a:pPr algn="l" indent="0" marL="0">
              <a:lnSpc>
                <a:spcPct val="149817"/>
              </a:lnSpc>
              <a:buNone/>
            </a:pPr>
            <a:r>
              <a:rPr lang="en-US" sz="1575" dirty="0">
                <a:solidFill>
                  <a:srgbClr val="F6F4EE">
                    <a:alpha val="85000"/>
                  </a:srgbClr>
                </a:solidFill>
                <a:latin typeface="IBM Plex Mono" pitchFamily="34" charset="0"/>
                <a:ea typeface="IBM Plex Mono" pitchFamily="34" charset="-122"/>
                <a:cs typeface="IBM Plex Mono" pitchFamily="34" charset="-120"/>
              </a:rPr>
              <a:t>│ └─ epics/ </a:t>
            </a:r>
            <a:pPr algn="l" indent="0" marL="0">
              <a:lnSpc>
                <a:spcPct val="149817"/>
              </a:lnSpc>
              <a:buNone/>
            </a:pPr>
            <a:r>
              <a:rPr lang="en-US" sz="1575" dirty="0">
                <a:solidFill>
                  <a:srgbClr val="F6F4EE">
                    <a:alpha val="45000"/>
                  </a:srgbClr>
                </a:solidFill>
                <a:latin typeface="IBM Plex Mono" pitchFamily="34" charset="0"/>
                <a:ea typeface="IBM Plex Mono" pitchFamily="34" charset="-122"/>
                <a:cs typeface="IBM Plex Mono" pitchFamily="34" charset="-120"/>
              </a:rPr>
              <a:t>stories</a:t>
            </a:r>
            <a:endParaRPr lang="en-US" sz="1575" dirty="0"/>
          </a:p>
        </p:txBody>
      </p:sp>
      <p:sp>
        <p:nvSpPr>
          <p:cNvPr id="14" name="Text 12"/>
          <p:cNvSpPr/>
          <p:nvPr/>
        </p:nvSpPr>
        <p:spPr>
          <a:xfrm>
            <a:off x="1562100" y="6002020"/>
            <a:ext cx="7181469" cy="428149"/>
          </a:xfrm>
          <a:prstGeom prst="rect">
            <a:avLst/>
          </a:prstGeom>
          <a:noFill/>
          <a:ln/>
        </p:spPr>
        <p:txBody>
          <a:bodyPr wrap="square" lIns="25400" tIns="25400" rIns="25400" bIns="25400" rtlCol="0" anchor="t">
            <a:normAutofit/>
          </a:bodyPr>
          <a:lstStyle/>
          <a:p>
            <a:pPr algn="l" indent="0" marL="0">
              <a:lnSpc>
                <a:spcPct val="149817"/>
              </a:lnSpc>
              <a:buNone/>
            </a:pPr>
            <a:r>
              <a:rPr lang="en-US" sz="1575" dirty="0">
                <a:solidFill>
                  <a:srgbClr val="F6F4EE">
                    <a:alpha val="85000"/>
                  </a:srgbClr>
                </a:solidFill>
                <a:latin typeface="IBM Plex Mono" pitchFamily="34" charset="0"/>
                <a:ea typeface="IBM Plex Mono" pitchFamily="34" charset="-122"/>
                <a:cs typeface="IBM Plex Mono" pitchFamily="34" charset="-120"/>
              </a:rPr>
              <a:t>├─ </a:t>
            </a:r>
            <a:pPr algn="l" indent="0" marL="0">
              <a:lnSpc>
                <a:spcPct val="149817"/>
              </a:lnSpc>
              <a:buNone/>
            </a:pPr>
            <a:r>
              <a:rPr lang="en-US" sz="1575" dirty="0">
                <a:solidFill>
                  <a:srgbClr val="F4C233"/>
                </a:solidFill>
                <a:latin typeface="IBM Plex Mono" pitchFamily="34" charset="0"/>
                <a:ea typeface="IBM Plex Mono" pitchFamily="34" charset="-122"/>
                <a:cs typeface="IBM Plex Mono" pitchFamily="34" charset="-120"/>
              </a:rPr>
              <a:t>implementation-artifacts/</a:t>
            </a:r>
            <a:endParaRPr lang="en-US" sz="1575" dirty="0"/>
          </a:p>
        </p:txBody>
      </p:sp>
      <p:sp>
        <p:nvSpPr>
          <p:cNvPr id="15" name="Text 13"/>
          <p:cNvSpPr/>
          <p:nvPr/>
        </p:nvSpPr>
        <p:spPr>
          <a:xfrm>
            <a:off x="1562100" y="6392069"/>
            <a:ext cx="7181469" cy="428149"/>
          </a:xfrm>
          <a:prstGeom prst="rect">
            <a:avLst/>
          </a:prstGeom>
          <a:noFill/>
          <a:ln/>
        </p:spPr>
        <p:txBody>
          <a:bodyPr wrap="square" lIns="25400" tIns="25400" rIns="25400" bIns="25400" rtlCol="0" anchor="t">
            <a:normAutofit/>
          </a:bodyPr>
          <a:lstStyle/>
          <a:p>
            <a:pPr algn="l" indent="0" marL="0">
              <a:lnSpc>
                <a:spcPct val="149817"/>
              </a:lnSpc>
              <a:buNone/>
            </a:pPr>
            <a:r>
              <a:rPr lang="en-US" sz="1575" dirty="0">
                <a:solidFill>
                  <a:srgbClr val="F6F4EE">
                    <a:alpha val="85000"/>
                  </a:srgbClr>
                </a:solidFill>
                <a:latin typeface="IBM Plex Mono" pitchFamily="34" charset="0"/>
                <a:ea typeface="IBM Plex Mono" pitchFamily="34" charset="-122"/>
                <a:cs typeface="IBM Plex Mono" pitchFamily="34" charset="-120"/>
              </a:rPr>
              <a:t>│ └─ sprint-status.yaml</a:t>
            </a:r>
            <a:endParaRPr lang="en-US" sz="1575" dirty="0"/>
          </a:p>
        </p:txBody>
      </p:sp>
      <p:sp>
        <p:nvSpPr>
          <p:cNvPr id="16" name="Text 14"/>
          <p:cNvSpPr/>
          <p:nvPr/>
        </p:nvSpPr>
        <p:spPr>
          <a:xfrm>
            <a:off x="1562100" y="6782117"/>
            <a:ext cx="7181469" cy="428149"/>
          </a:xfrm>
          <a:prstGeom prst="rect">
            <a:avLst/>
          </a:prstGeom>
          <a:noFill/>
          <a:ln/>
        </p:spPr>
        <p:txBody>
          <a:bodyPr wrap="square" lIns="25400" tIns="25400" rIns="25400" bIns="25400" rtlCol="0" anchor="t">
            <a:normAutofit/>
          </a:bodyPr>
          <a:lstStyle/>
          <a:p>
            <a:pPr algn="l" indent="0" marL="0">
              <a:lnSpc>
                <a:spcPct val="149817"/>
              </a:lnSpc>
              <a:buNone/>
            </a:pPr>
            <a:r>
              <a:rPr lang="en-US" sz="1575" dirty="0">
                <a:solidFill>
                  <a:srgbClr val="F6F4EE">
                    <a:alpha val="85000"/>
                  </a:srgbClr>
                </a:solidFill>
                <a:latin typeface="IBM Plex Mono" pitchFamily="34" charset="0"/>
                <a:ea typeface="IBM Plex Mono" pitchFamily="34" charset="-122"/>
                <a:cs typeface="IBM Plex Mono" pitchFamily="34" charset="-120"/>
              </a:rPr>
              <a:t>└─ project-context.md</a:t>
            </a:r>
            <a:endParaRPr lang="en-US" sz="1575" dirty="0"/>
          </a:p>
        </p:txBody>
      </p:sp>
      <p:sp>
        <p:nvSpPr>
          <p:cNvPr id="17" name="Shape 15"/>
          <p:cNvSpPr/>
          <p:nvPr/>
        </p:nvSpPr>
        <p:spPr>
          <a:xfrm>
            <a:off x="9334500" y="2576830"/>
            <a:ext cx="38100" cy="632936"/>
          </a:xfrm>
          <a:prstGeom prst="rect">
            <a:avLst/>
          </a:prstGeom>
          <a:solidFill>
            <a:srgbClr val="F4C233"/>
          </a:solidFill>
          <a:ln/>
        </p:spPr>
      </p:sp>
      <p:sp>
        <p:nvSpPr>
          <p:cNvPr id="18" name="Text 16"/>
          <p:cNvSpPr/>
          <p:nvPr/>
        </p:nvSpPr>
        <p:spPr>
          <a:xfrm>
            <a:off x="9620250" y="2576830"/>
            <a:ext cx="8277225" cy="342900"/>
          </a:xfrm>
          <a:prstGeom prst="rect">
            <a:avLst/>
          </a:prstGeom>
          <a:noFill/>
          <a:ln/>
        </p:spPr>
        <p:txBody>
          <a:bodyPr wrap="square" lIns="25400" tIns="25400" rIns="25400" bIns="25400" rtlCol="0" anchor="t">
            <a:normAutofit/>
          </a:bodyPr>
          <a:lstStyle/>
          <a:p>
            <a:pPr algn="l" indent="0" marL="0">
              <a:buNone/>
            </a:pPr>
            <a:r>
              <a:rPr lang="en-US" sz="1875" b="1" dirty="0">
                <a:solidFill>
                  <a:srgbClr val="0E1C30"/>
                </a:solidFill>
                <a:latin typeface="Space Grotesk" pitchFamily="34" charset="0"/>
                <a:ea typeface="Space Grotesk" pitchFamily="34" charset="-122"/>
                <a:cs typeface="Space Grotesk" pitchFamily="34" charset="-120"/>
              </a:rPr>
              <a:t>No context loss</a:t>
            </a:r>
            <a:endParaRPr lang="en-US" sz="1875" dirty="0"/>
          </a:p>
        </p:txBody>
      </p:sp>
      <p:sp>
        <p:nvSpPr>
          <p:cNvPr id="19" name="Text 17"/>
          <p:cNvSpPr/>
          <p:nvPr/>
        </p:nvSpPr>
        <p:spPr>
          <a:xfrm>
            <a:off x="9620250" y="2919730"/>
            <a:ext cx="8277225" cy="328136"/>
          </a:xfrm>
          <a:prstGeom prst="rect">
            <a:avLst/>
          </a:prstGeom>
          <a:noFill/>
          <a:ln/>
        </p:spPr>
        <p:txBody>
          <a:bodyPr wrap="square" lIns="25400" tIns="25400" rIns="25400" bIns="25400" rtlCol="0" anchor="t">
            <a:normAutofit/>
          </a:bodyPr>
          <a:lstStyle/>
          <a:p>
            <a:pPr algn="l" indent="0" marL="0">
              <a:lnSpc>
                <a:spcPct val="111402"/>
              </a:lnSpc>
              <a:buNone/>
            </a:pPr>
            <a:r>
              <a:rPr lang="en-US" sz="1575" dirty="0">
                <a:solidFill>
                  <a:srgbClr val="0E1C30">
                    <a:alpha val="60000"/>
                  </a:srgbClr>
                </a:solidFill>
                <a:latin typeface="IBM Plex Sans" pitchFamily="34" charset="0"/>
                <a:ea typeface="IBM Plex Sans" pitchFamily="34" charset="-122"/>
                <a:cs typeface="IBM Plex Sans" pitchFamily="34" charset="-120"/>
              </a:rPr>
              <a:t>Start a new chat — agents pick up from the files.</a:t>
            </a:r>
            <a:endParaRPr lang="en-US" sz="1575" dirty="0"/>
          </a:p>
        </p:txBody>
      </p:sp>
      <p:sp>
        <p:nvSpPr>
          <p:cNvPr id="20" name="Shape 18"/>
          <p:cNvSpPr/>
          <p:nvPr/>
        </p:nvSpPr>
        <p:spPr>
          <a:xfrm>
            <a:off x="9334500" y="3419316"/>
            <a:ext cx="38100" cy="632936"/>
          </a:xfrm>
          <a:prstGeom prst="rect">
            <a:avLst/>
          </a:prstGeom>
          <a:solidFill>
            <a:srgbClr val="F4C233"/>
          </a:solidFill>
          <a:ln/>
        </p:spPr>
      </p:sp>
      <p:sp>
        <p:nvSpPr>
          <p:cNvPr id="21" name="Text 19"/>
          <p:cNvSpPr/>
          <p:nvPr/>
        </p:nvSpPr>
        <p:spPr>
          <a:xfrm>
            <a:off x="9620250" y="3419316"/>
            <a:ext cx="8277225" cy="342900"/>
          </a:xfrm>
          <a:prstGeom prst="rect">
            <a:avLst/>
          </a:prstGeom>
          <a:noFill/>
          <a:ln/>
        </p:spPr>
        <p:txBody>
          <a:bodyPr wrap="square" lIns="25400" tIns="25400" rIns="25400" bIns="25400" rtlCol="0" anchor="t">
            <a:normAutofit/>
          </a:bodyPr>
          <a:lstStyle/>
          <a:p>
            <a:pPr algn="l" indent="0" marL="0">
              <a:buNone/>
            </a:pPr>
            <a:r>
              <a:rPr lang="en-US" sz="1875" b="1" dirty="0">
                <a:solidFill>
                  <a:srgbClr val="0E1C30"/>
                </a:solidFill>
                <a:latin typeface="Space Grotesk" pitchFamily="34" charset="0"/>
                <a:ea typeface="Space Grotesk" pitchFamily="34" charset="-122"/>
                <a:cs typeface="Space Grotesk" pitchFamily="34" charset="-120"/>
              </a:rPr>
              <a:t>Version controlled</a:t>
            </a:r>
            <a:endParaRPr lang="en-US" sz="1875" dirty="0"/>
          </a:p>
        </p:txBody>
      </p:sp>
      <p:sp>
        <p:nvSpPr>
          <p:cNvPr id="22" name="Text 20"/>
          <p:cNvSpPr/>
          <p:nvPr/>
        </p:nvSpPr>
        <p:spPr>
          <a:xfrm>
            <a:off x="9620250" y="3762216"/>
            <a:ext cx="8277225" cy="328136"/>
          </a:xfrm>
          <a:prstGeom prst="rect">
            <a:avLst/>
          </a:prstGeom>
          <a:noFill/>
          <a:ln/>
        </p:spPr>
        <p:txBody>
          <a:bodyPr wrap="square" lIns="25400" tIns="25400" rIns="25400" bIns="25400" rtlCol="0" anchor="t">
            <a:normAutofit/>
          </a:bodyPr>
          <a:lstStyle/>
          <a:p>
            <a:pPr algn="l" indent="0" marL="0">
              <a:lnSpc>
                <a:spcPct val="111402"/>
              </a:lnSpc>
              <a:buNone/>
            </a:pPr>
            <a:r>
              <a:rPr lang="en-US" sz="1575" dirty="0">
                <a:solidFill>
                  <a:srgbClr val="0E1C30">
                    <a:alpha val="60000"/>
                  </a:srgbClr>
                </a:solidFill>
                <a:latin typeface="IBM Plex Sans" pitchFamily="34" charset="0"/>
                <a:ea typeface="IBM Plex Sans" pitchFamily="34" charset="-122"/>
                <a:cs typeface="IBM Plex Sans" pitchFamily="34" charset="-120"/>
              </a:rPr>
              <a:t>Plans live in git, right next to the code they govern.</a:t>
            </a:r>
            <a:endParaRPr lang="en-US" sz="1575" dirty="0"/>
          </a:p>
        </p:txBody>
      </p:sp>
      <p:sp>
        <p:nvSpPr>
          <p:cNvPr id="23" name="Shape 21"/>
          <p:cNvSpPr/>
          <p:nvPr/>
        </p:nvSpPr>
        <p:spPr>
          <a:xfrm>
            <a:off x="9334500" y="4261803"/>
            <a:ext cx="38100" cy="632936"/>
          </a:xfrm>
          <a:prstGeom prst="rect">
            <a:avLst/>
          </a:prstGeom>
          <a:solidFill>
            <a:srgbClr val="F4C233"/>
          </a:solidFill>
          <a:ln/>
        </p:spPr>
      </p:sp>
      <p:sp>
        <p:nvSpPr>
          <p:cNvPr id="24" name="Text 22"/>
          <p:cNvSpPr/>
          <p:nvPr/>
        </p:nvSpPr>
        <p:spPr>
          <a:xfrm>
            <a:off x="9620250" y="4261803"/>
            <a:ext cx="8277225" cy="342900"/>
          </a:xfrm>
          <a:prstGeom prst="rect">
            <a:avLst/>
          </a:prstGeom>
          <a:noFill/>
          <a:ln/>
        </p:spPr>
        <p:txBody>
          <a:bodyPr wrap="square" lIns="25400" tIns="25400" rIns="25400" bIns="25400" rtlCol="0" anchor="t">
            <a:normAutofit/>
          </a:bodyPr>
          <a:lstStyle/>
          <a:p>
            <a:pPr algn="l" indent="0" marL="0">
              <a:buNone/>
            </a:pPr>
            <a:r>
              <a:rPr lang="en-US" sz="1875" b="1" dirty="0">
                <a:solidFill>
                  <a:srgbClr val="0E1C30"/>
                </a:solidFill>
                <a:latin typeface="Space Grotesk" pitchFamily="34" charset="0"/>
                <a:ea typeface="Space Grotesk" pitchFamily="34" charset="-122"/>
                <a:cs typeface="Space Grotesk" pitchFamily="34" charset="-120"/>
              </a:rPr>
              <a:t>Team visibility</a:t>
            </a:r>
            <a:endParaRPr lang="en-US" sz="1875" dirty="0"/>
          </a:p>
        </p:txBody>
      </p:sp>
      <p:sp>
        <p:nvSpPr>
          <p:cNvPr id="25" name="Text 23"/>
          <p:cNvSpPr/>
          <p:nvPr/>
        </p:nvSpPr>
        <p:spPr>
          <a:xfrm>
            <a:off x="9620250" y="4604703"/>
            <a:ext cx="8277225" cy="328136"/>
          </a:xfrm>
          <a:prstGeom prst="rect">
            <a:avLst/>
          </a:prstGeom>
          <a:noFill/>
          <a:ln/>
        </p:spPr>
        <p:txBody>
          <a:bodyPr wrap="square" lIns="25400" tIns="25400" rIns="25400" bIns="25400" rtlCol="0" anchor="t">
            <a:normAutofit/>
          </a:bodyPr>
          <a:lstStyle/>
          <a:p>
            <a:pPr algn="l" indent="0" marL="0">
              <a:lnSpc>
                <a:spcPct val="111402"/>
              </a:lnSpc>
              <a:buNone/>
            </a:pPr>
            <a:r>
              <a:rPr lang="en-US" sz="1575" dirty="0">
                <a:solidFill>
                  <a:srgbClr val="0E1C30">
                    <a:alpha val="60000"/>
                  </a:srgbClr>
                </a:solidFill>
                <a:latin typeface="IBM Plex Sans" pitchFamily="34" charset="0"/>
                <a:ea typeface="IBM Plex Sans" pitchFamily="34" charset="-122"/>
                <a:cs typeface="IBM Plex Sans" pitchFamily="34" charset="-120"/>
              </a:rPr>
              <a:t>Everyone — human or agent — reads the same artifacts.</a:t>
            </a:r>
            <a:endParaRPr lang="en-US" sz="1575" dirty="0"/>
          </a:p>
        </p:txBody>
      </p:sp>
      <p:sp>
        <p:nvSpPr>
          <p:cNvPr id="26" name="Shape 24"/>
          <p:cNvSpPr/>
          <p:nvPr/>
        </p:nvSpPr>
        <p:spPr>
          <a:xfrm>
            <a:off x="9334500" y="5104288"/>
            <a:ext cx="38100" cy="632936"/>
          </a:xfrm>
          <a:prstGeom prst="rect">
            <a:avLst/>
          </a:prstGeom>
          <a:solidFill>
            <a:srgbClr val="F4C233"/>
          </a:solidFill>
          <a:ln/>
        </p:spPr>
      </p:sp>
      <p:sp>
        <p:nvSpPr>
          <p:cNvPr id="27" name="Text 25"/>
          <p:cNvSpPr/>
          <p:nvPr/>
        </p:nvSpPr>
        <p:spPr>
          <a:xfrm>
            <a:off x="9620250" y="5104288"/>
            <a:ext cx="8277225" cy="342900"/>
          </a:xfrm>
          <a:prstGeom prst="rect">
            <a:avLst/>
          </a:prstGeom>
          <a:noFill/>
          <a:ln/>
        </p:spPr>
        <p:txBody>
          <a:bodyPr wrap="square" lIns="25400" tIns="25400" rIns="25400" bIns="25400" rtlCol="0" anchor="t">
            <a:normAutofit/>
          </a:bodyPr>
          <a:lstStyle/>
          <a:p>
            <a:pPr algn="l" indent="0" marL="0">
              <a:buNone/>
            </a:pPr>
            <a:r>
              <a:rPr lang="en-US" sz="1875" b="1" dirty="0">
                <a:solidFill>
                  <a:srgbClr val="0E1C30"/>
                </a:solidFill>
                <a:latin typeface="Space Grotesk" pitchFamily="34" charset="0"/>
                <a:ea typeface="Space Grotesk" pitchFamily="34" charset="-122"/>
                <a:cs typeface="Space Grotesk" pitchFamily="34" charset="-120"/>
              </a:rPr>
              <a:t>AI grounding</a:t>
            </a:r>
            <a:endParaRPr lang="en-US" sz="1875" dirty="0"/>
          </a:p>
        </p:txBody>
      </p:sp>
      <p:sp>
        <p:nvSpPr>
          <p:cNvPr id="28" name="Text 26"/>
          <p:cNvSpPr/>
          <p:nvPr/>
        </p:nvSpPr>
        <p:spPr>
          <a:xfrm>
            <a:off x="9620250" y="5447188"/>
            <a:ext cx="8277225" cy="328136"/>
          </a:xfrm>
          <a:prstGeom prst="rect">
            <a:avLst/>
          </a:prstGeom>
          <a:noFill/>
          <a:ln/>
        </p:spPr>
        <p:txBody>
          <a:bodyPr wrap="square" lIns="25400" tIns="25400" rIns="25400" bIns="25400" rtlCol="0" anchor="t">
            <a:normAutofit/>
          </a:bodyPr>
          <a:lstStyle/>
          <a:p>
            <a:pPr algn="l" indent="0" marL="0">
              <a:lnSpc>
                <a:spcPct val="111402"/>
              </a:lnSpc>
              <a:buNone/>
            </a:pPr>
            <a:r>
              <a:rPr lang="en-US" sz="1575" dirty="0">
                <a:solidFill>
                  <a:srgbClr val="0E1C30">
                    <a:alpha val="60000"/>
                  </a:srgbClr>
                </a:solidFill>
                <a:latin typeface="IBM Plex Sans" pitchFamily="34" charset="0"/>
                <a:ea typeface="IBM Plex Sans" pitchFamily="34" charset="-122"/>
                <a:cs typeface="IBM Plex Sans" pitchFamily="34" charset="-120"/>
              </a:rPr>
              <a:t>Agents reference concrete documents, not hallucinations.</a:t>
            </a:r>
            <a:endParaRPr lang="en-US" sz="1575" dirty="0"/>
          </a:p>
        </p:txBody>
      </p:sp>
      <p:sp>
        <p:nvSpPr>
          <p:cNvPr id="29" name="Text 27"/>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30" name="Text 28"/>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22 / 45</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62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0B1626">
                  <a:alpha val="50000"/>
                </a:srgbClr>
              </a:gs>
              <a:gs pos="34000">
                <a:srgbClr val="0B1626">
                  <a:alpha val="18000"/>
                </a:srgbClr>
              </a:gs>
              <a:gs pos="64000">
                <a:srgbClr val="0B1626">
                  <a:alpha val="50000"/>
                </a:srgbClr>
              </a:gs>
              <a:gs pos="100000">
                <a:srgbClr val="0B1626">
                  <a:alpha val="92000"/>
                </a:srgbClr>
              </a:gs>
            </a:gsLst>
            <a:lin ang="5400000" scaled="0"/>
          </a:gradFill>
          <a:ln/>
        </p:spPr>
      </p:sp>
      <p:sp>
        <p:nvSpPr>
          <p:cNvPr id="4" name="Shape 1"/>
          <p:cNvSpPr/>
          <p:nvPr/>
        </p:nvSpPr>
        <p:spPr>
          <a:xfrm>
            <a:off x="1143000" y="6995160"/>
            <a:ext cx="95250" cy="95250"/>
          </a:xfrm>
          <a:prstGeom prst="rect">
            <a:avLst/>
          </a:prstGeom>
          <a:solidFill>
            <a:srgbClr val="F4C233"/>
          </a:solidFill>
          <a:ln/>
        </p:spPr>
      </p:sp>
      <p:sp>
        <p:nvSpPr>
          <p:cNvPr id="5" name="Text 2"/>
          <p:cNvSpPr/>
          <p:nvPr/>
        </p:nvSpPr>
        <p:spPr>
          <a:xfrm>
            <a:off x="1371600" y="6941185"/>
            <a:ext cx="731837" cy="241300"/>
          </a:xfrm>
          <a:prstGeom prst="rect">
            <a:avLst/>
          </a:prstGeom>
          <a:noFill/>
          <a:ln/>
        </p:spPr>
        <p:txBody>
          <a:bodyPr wrap="square" lIns="0" tIns="0" rIns="0" bIns="0" rtlCol="0" anchor="t">
            <a:normAutofit/>
          </a:bodyPr>
          <a:lstStyle/>
          <a:p>
            <a:pPr algn="l" indent="0" marL="0">
              <a:buNone/>
            </a:pPr>
            <a:r>
              <a:rPr lang="en-US" sz="1200" spc="312" kern="0" dirty="0">
                <a:solidFill>
                  <a:srgbClr val="F4C233"/>
                </a:solidFill>
                <a:latin typeface="IBM Plex Mono" pitchFamily="34" charset="0"/>
                <a:ea typeface="IBM Plex Mono" pitchFamily="34" charset="-122"/>
                <a:cs typeface="IBM Plex Mono" pitchFamily="34" charset="-120"/>
              </a:rPr>
              <a:t>ACT V</a:t>
            </a:r>
            <a:endParaRPr lang="en-US" sz="1200" dirty="0"/>
          </a:p>
        </p:txBody>
      </p:sp>
      <p:sp>
        <p:nvSpPr>
          <p:cNvPr id="6" name="Text 3"/>
          <p:cNvSpPr/>
          <p:nvPr/>
        </p:nvSpPr>
        <p:spPr>
          <a:xfrm>
            <a:off x="1143000" y="7315835"/>
            <a:ext cx="14668500" cy="834707"/>
          </a:xfrm>
          <a:prstGeom prst="rect">
            <a:avLst/>
          </a:prstGeom>
          <a:noFill/>
          <a:ln/>
          <a:effectLst>
            <a:outerShdw sx="100000" sy="100000" kx="0" ky="0" algn="bl" rotWithShape="0" blurRad="323850" dist="19050" dir="5400000">
              <a:srgbClr val="000000">
                <a:alpha val="60000"/>
              </a:srgbClr>
            </a:outerShdw>
          </a:effectLst>
        </p:spPr>
        <p:txBody>
          <a:bodyPr wrap="square" lIns="25400" tIns="25400" rIns="25400" bIns="25400" rtlCol="0" anchor="t">
            <a:normAutofit/>
          </a:bodyPr>
          <a:lstStyle/>
          <a:p>
            <a:pPr algn="l" indent="0" marL="0">
              <a:lnSpc>
                <a:spcPct val="79904"/>
              </a:lnSpc>
              <a:buNone/>
            </a:pPr>
            <a:r>
              <a:rPr lang="en-US" sz="6150" b="1" spc="-154" kern="0" dirty="0">
                <a:solidFill>
                  <a:srgbClr val="F6F4EE"/>
                </a:solidFill>
                <a:latin typeface="Space Grotesk" pitchFamily="34" charset="0"/>
                <a:ea typeface="Space Grotesk" pitchFamily="34" charset="-122"/>
                <a:cs typeface="Space Grotesk" pitchFamily="34" charset="-120"/>
              </a:rPr>
              <a:t>The four phases</a:t>
            </a:r>
            <a:endParaRPr lang="en-US" sz="6150" dirty="0"/>
          </a:p>
        </p:txBody>
      </p:sp>
      <p:sp>
        <p:nvSpPr>
          <p:cNvPr id="7" name="Text 4"/>
          <p:cNvSpPr/>
          <p:nvPr/>
        </p:nvSpPr>
        <p:spPr>
          <a:xfrm>
            <a:off x="1143000" y="8283893"/>
            <a:ext cx="10988040" cy="783908"/>
          </a:xfrm>
          <a:prstGeom prst="rect">
            <a:avLst/>
          </a:prstGeom>
          <a:noFill/>
          <a:ln/>
          <a:effectLst>
            <a:outerShdw sx="100000" sy="100000" kx="0" ky="0" algn="bl" rotWithShape="0" blurRad="209550" dist="19050" dir="5400000">
              <a:srgbClr val="000000">
                <a:alpha val="70000"/>
              </a:srgbClr>
            </a:outerShdw>
          </a:effectLst>
        </p:spPr>
        <p:txBody>
          <a:bodyPr wrap="square" lIns="25400" tIns="25400" rIns="25400" bIns="25400" rtlCol="0" anchor="t">
            <a:normAutofit/>
          </a:bodyPr>
          <a:lstStyle/>
          <a:p>
            <a:pPr algn="l" indent="0" marL="0">
              <a:lnSpc>
                <a:spcPct val="110802"/>
              </a:lnSpc>
              <a:buNone/>
            </a:pPr>
            <a:r>
              <a:rPr lang="en-US" sz="2025" dirty="0">
                <a:solidFill>
                  <a:srgbClr val="F6F4EE">
                    <a:alpha val="90000"/>
                  </a:srgbClr>
                </a:solidFill>
                <a:latin typeface="IBM Plex Sans" pitchFamily="34" charset="0"/>
                <a:ea typeface="IBM Plex Sans" pitchFamily="34" charset="-122"/>
                <a:cs typeface="IBM Plex Sans" pitchFamily="34" charset="-120"/>
              </a:rPr>
              <a:t>Analysis, planning, solutioning, implementation — how work flows from idea to shipped code.</a:t>
            </a:r>
            <a:endParaRPr lang="en-US" sz="2025" dirty="0"/>
          </a:p>
        </p:txBody>
      </p:sp>
      <p:sp>
        <p:nvSpPr>
          <p:cNvPr id="8" name="Text 5"/>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F6F4EE">
                    <a:alpha val="6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9" name="Text 6"/>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F6F4EE">
                    <a:alpha val="60000"/>
                  </a:srgbClr>
                </a:solidFill>
                <a:latin typeface="IBM Plex Mono" pitchFamily="34" charset="0"/>
                <a:ea typeface="IBM Plex Mono" pitchFamily="34" charset="-122"/>
                <a:cs typeface="IBM Plex Mono" pitchFamily="34" charset="-120"/>
              </a:rPr>
              <a:t>23 / 45</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971868"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THE MAP</a:t>
            </a:r>
            <a:endParaRPr lang="en-US" sz="1200" dirty="0"/>
          </a:p>
        </p:txBody>
      </p:sp>
      <p:sp>
        <p:nvSpPr>
          <p:cNvPr id="4" name="Text 2"/>
          <p:cNvSpPr/>
          <p:nvPr/>
        </p:nvSpPr>
        <p:spPr>
          <a:xfrm>
            <a:off x="1143000" y="1384300"/>
            <a:ext cx="17602200" cy="691832"/>
          </a:xfrm>
          <a:prstGeom prst="rect">
            <a:avLst/>
          </a:prstGeom>
          <a:noFill/>
          <a:ln/>
        </p:spPr>
        <p:txBody>
          <a:bodyPr wrap="square" lIns="25400" tIns="25400" rIns="25400" bIns="25400" rtlCol="0" anchor="t">
            <a:normAutofit/>
          </a:bodyPr>
          <a:lstStyle/>
          <a:p>
            <a:pPr algn="l" indent="0" marL="0">
              <a:lnSpc>
                <a:spcPct val="81706"/>
              </a:lnSpc>
              <a:buNone/>
            </a:pPr>
            <a:r>
              <a:rPr lang="en-US" sz="4950" b="1" spc="-99" kern="0" dirty="0">
                <a:solidFill>
                  <a:srgbClr val="0E1C30"/>
                </a:solidFill>
                <a:latin typeface="Space Grotesk" pitchFamily="34" charset="0"/>
                <a:ea typeface="Space Grotesk" pitchFamily="34" charset="-122"/>
                <a:cs typeface="Space Grotesk" pitchFamily="34" charset="-120"/>
              </a:rPr>
              <a:t>Four phases, one throughline</a:t>
            </a:r>
            <a:endParaRPr lang="en-US" sz="4950" dirty="0"/>
          </a:p>
        </p:txBody>
      </p:sp>
      <p:sp>
        <p:nvSpPr>
          <p:cNvPr id="5" name="Shape 3"/>
          <p:cNvSpPr/>
          <p:nvPr/>
        </p:nvSpPr>
        <p:spPr>
          <a:xfrm>
            <a:off x="1143000" y="2704783"/>
            <a:ext cx="3814763" cy="3447098"/>
          </a:xfrm>
          <a:prstGeom prst="rect">
            <a:avLst/>
          </a:prstGeom>
          <a:solidFill>
            <a:srgbClr val="FFFFFF"/>
          </a:solidFill>
          <a:ln/>
        </p:spPr>
      </p:sp>
      <p:sp>
        <p:nvSpPr>
          <p:cNvPr id="6" name="Shape 4"/>
          <p:cNvSpPr/>
          <p:nvPr/>
        </p:nvSpPr>
        <p:spPr>
          <a:xfrm>
            <a:off x="1143000" y="6145530"/>
            <a:ext cx="3814763" cy="9525"/>
          </a:xfrm>
          <a:prstGeom prst="rect">
            <a:avLst/>
          </a:prstGeom>
          <a:solidFill>
            <a:srgbClr val="0E1C30">
              <a:alpha val="16000"/>
            </a:srgbClr>
          </a:solidFill>
          <a:ln/>
        </p:spPr>
      </p:sp>
      <p:sp>
        <p:nvSpPr>
          <p:cNvPr id="7" name="Shape 5"/>
          <p:cNvSpPr/>
          <p:nvPr/>
        </p:nvSpPr>
        <p:spPr>
          <a:xfrm>
            <a:off x="1143000" y="2704783"/>
            <a:ext cx="3814763" cy="38100"/>
          </a:xfrm>
          <a:prstGeom prst="rect">
            <a:avLst/>
          </a:prstGeom>
          <a:solidFill>
            <a:srgbClr val="5BB3F5"/>
          </a:solidFill>
          <a:ln/>
        </p:spPr>
      </p:sp>
      <p:sp>
        <p:nvSpPr>
          <p:cNvPr id="8" name="Shape 6"/>
          <p:cNvSpPr/>
          <p:nvPr/>
        </p:nvSpPr>
        <p:spPr>
          <a:xfrm>
            <a:off x="1143000" y="2704783"/>
            <a:ext cx="9525" cy="3447098"/>
          </a:xfrm>
          <a:prstGeom prst="rect">
            <a:avLst/>
          </a:prstGeom>
          <a:solidFill>
            <a:srgbClr val="0E1C30">
              <a:alpha val="16000"/>
            </a:srgbClr>
          </a:solidFill>
          <a:ln/>
        </p:spPr>
      </p:sp>
      <p:sp>
        <p:nvSpPr>
          <p:cNvPr id="9" name="Shape 7"/>
          <p:cNvSpPr/>
          <p:nvPr/>
        </p:nvSpPr>
        <p:spPr>
          <a:xfrm>
            <a:off x="4951412" y="2704783"/>
            <a:ext cx="9525" cy="3447098"/>
          </a:xfrm>
          <a:prstGeom prst="rect">
            <a:avLst/>
          </a:prstGeom>
          <a:solidFill>
            <a:srgbClr val="0E1C30">
              <a:alpha val="16000"/>
            </a:srgbClr>
          </a:solidFill>
          <a:ln/>
        </p:spPr>
      </p:sp>
      <p:sp>
        <p:nvSpPr>
          <p:cNvPr id="10" name="Text 8"/>
          <p:cNvSpPr/>
          <p:nvPr/>
        </p:nvSpPr>
        <p:spPr>
          <a:xfrm>
            <a:off x="1473200" y="3123883"/>
            <a:ext cx="3469799" cy="647700"/>
          </a:xfrm>
          <a:prstGeom prst="rect">
            <a:avLst/>
          </a:prstGeom>
          <a:noFill/>
          <a:ln/>
        </p:spPr>
        <p:txBody>
          <a:bodyPr wrap="square" lIns="25400" tIns="25400" rIns="25400" bIns="25400" rtlCol="0" anchor="t">
            <a:normAutofit/>
          </a:bodyPr>
          <a:lstStyle/>
          <a:p>
            <a:pPr algn="l" indent="0" marL="0">
              <a:lnSpc>
                <a:spcPct val="78689"/>
              </a:lnSpc>
              <a:buNone/>
            </a:pPr>
            <a:r>
              <a:rPr lang="en-US" sz="4800" b="1" dirty="0">
                <a:solidFill>
                  <a:srgbClr val="5BB3F5">
                    <a:alpha val="90000"/>
                  </a:srgbClr>
                </a:solidFill>
                <a:latin typeface="Space Grotesk" pitchFamily="34" charset="0"/>
                <a:ea typeface="Space Grotesk" pitchFamily="34" charset="-122"/>
                <a:cs typeface="Space Grotesk" pitchFamily="34" charset="-120"/>
              </a:rPr>
              <a:t>01</a:t>
            </a:r>
            <a:endParaRPr lang="en-US" sz="4800" dirty="0"/>
          </a:p>
        </p:txBody>
      </p:sp>
      <p:sp>
        <p:nvSpPr>
          <p:cNvPr id="11" name="Text 9"/>
          <p:cNvSpPr/>
          <p:nvPr/>
        </p:nvSpPr>
        <p:spPr>
          <a:xfrm>
            <a:off x="1473200" y="3923983"/>
            <a:ext cx="3469799" cy="425450"/>
          </a:xfrm>
          <a:prstGeom prst="rect">
            <a:avLst/>
          </a:prstGeom>
          <a:noFill/>
          <a:ln/>
        </p:spPr>
        <p:txBody>
          <a:bodyPr wrap="square" lIns="25400" tIns="25400" rIns="25400" bIns="25400" rtlCol="0" anchor="t">
            <a:normAutofit/>
          </a:bodyPr>
          <a:lstStyle/>
          <a:p>
            <a:pPr algn="l" indent="0" marL="0">
              <a:buNone/>
            </a:pPr>
            <a:r>
              <a:rPr lang="en-US" sz="2400" b="1" dirty="0">
                <a:solidFill>
                  <a:srgbClr val="0E1C30"/>
                </a:solidFill>
                <a:latin typeface="Space Grotesk" pitchFamily="34" charset="0"/>
                <a:ea typeface="Space Grotesk" pitchFamily="34" charset="-122"/>
                <a:cs typeface="Space Grotesk" pitchFamily="34" charset="-120"/>
              </a:rPr>
              <a:t>Analysis</a:t>
            </a:r>
            <a:endParaRPr lang="en-US" sz="2400" dirty="0"/>
          </a:p>
        </p:txBody>
      </p:sp>
      <p:sp>
        <p:nvSpPr>
          <p:cNvPr id="12" name="Text 10"/>
          <p:cNvSpPr/>
          <p:nvPr/>
        </p:nvSpPr>
        <p:spPr>
          <a:xfrm>
            <a:off x="1473200" y="4368482"/>
            <a:ext cx="3469799" cy="19685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0E1C30">
                    <a:alpha val="50000"/>
                  </a:srgbClr>
                </a:solidFill>
                <a:latin typeface="IBM Plex Mono" pitchFamily="34" charset="0"/>
                <a:ea typeface="IBM Plex Mono" pitchFamily="34" charset="-122"/>
                <a:cs typeface="IBM Plex Mono" pitchFamily="34" charset="-120"/>
              </a:rPr>
              <a:t>OPTIONAL</a:t>
            </a:r>
            <a:endParaRPr lang="en-US" sz="975" dirty="0"/>
          </a:p>
        </p:txBody>
      </p:sp>
      <p:sp>
        <p:nvSpPr>
          <p:cNvPr id="13" name="Text 11"/>
          <p:cNvSpPr/>
          <p:nvPr/>
        </p:nvSpPr>
        <p:spPr>
          <a:xfrm>
            <a:off x="1473200" y="4736782"/>
            <a:ext cx="3248993" cy="618172"/>
          </a:xfrm>
          <a:prstGeom prst="rect">
            <a:avLst/>
          </a:prstGeom>
          <a:noFill/>
          <a:ln/>
        </p:spPr>
        <p:txBody>
          <a:bodyPr wrap="square" lIns="25400" tIns="25400" rIns="25400" bIns="25400" rtlCol="0" anchor="t">
            <a:normAutofit/>
          </a:bodyPr>
          <a:lstStyle/>
          <a:p>
            <a:pPr algn="l" indent="0" marL="0">
              <a:lnSpc>
                <a:spcPct val="111402"/>
              </a:lnSpc>
              <a:buNone/>
            </a:pPr>
            <a:r>
              <a:rPr lang="en-US" sz="1575" dirty="0">
                <a:solidFill>
                  <a:srgbClr val="0E1C30">
                    <a:alpha val="72000"/>
                  </a:srgbClr>
                </a:solidFill>
                <a:latin typeface="IBM Plex Sans" pitchFamily="34" charset="0"/>
                <a:ea typeface="IBM Plex Sans" pitchFamily="34" charset="-122"/>
                <a:cs typeface="IBM Plex Sans" pitchFamily="34" charset="-120"/>
              </a:rPr>
              <a:t>Explore the problem before committing.</a:t>
            </a:r>
            <a:endParaRPr lang="en-US" sz="1575" dirty="0"/>
          </a:p>
        </p:txBody>
      </p:sp>
      <p:sp>
        <p:nvSpPr>
          <p:cNvPr id="14" name="Text 12"/>
          <p:cNvSpPr/>
          <p:nvPr/>
        </p:nvSpPr>
        <p:spPr>
          <a:xfrm>
            <a:off x="1473200" y="5507355"/>
            <a:ext cx="3469799" cy="295275"/>
          </a:xfrm>
          <a:prstGeom prst="rect">
            <a:avLst/>
          </a:prstGeom>
          <a:noFill/>
          <a:ln/>
        </p:spPr>
        <p:txBody>
          <a:bodyPr wrap="square" lIns="25400" tIns="25400" rIns="25400" bIns="25400" rtlCol="0" anchor="t">
            <a:normAutofit/>
          </a:bodyPr>
          <a:lstStyle/>
          <a:p>
            <a:pPr algn="l" indent="0" marL="0">
              <a:lnSpc>
                <a:spcPct val="115714"/>
              </a:lnSpc>
              <a:buNone/>
            </a:pPr>
            <a:r>
              <a:rPr lang="en-US" sz="1350" dirty="0">
                <a:solidFill>
                  <a:srgbClr val="0E1C30">
                    <a:alpha val="50000"/>
                  </a:srgbClr>
                </a:solidFill>
                <a:latin typeface="IBM Plex Sans" pitchFamily="34" charset="0"/>
                <a:ea typeface="IBM Plex Sans" pitchFamily="34" charset="-122"/>
                <a:cs typeface="IBM Plex Sans" pitchFamily="34" charset="-120"/>
              </a:rPr>
              <a:t>Brainstorm · Research · Brief · PRFAQ</a:t>
            </a:r>
            <a:endParaRPr lang="en-US" sz="1350" dirty="0"/>
          </a:p>
        </p:txBody>
      </p:sp>
      <p:sp>
        <p:nvSpPr>
          <p:cNvPr id="15" name="Shape 13"/>
          <p:cNvSpPr/>
          <p:nvPr/>
        </p:nvSpPr>
        <p:spPr>
          <a:xfrm>
            <a:off x="5205413" y="2704783"/>
            <a:ext cx="3814763" cy="3447098"/>
          </a:xfrm>
          <a:prstGeom prst="rect">
            <a:avLst/>
          </a:prstGeom>
          <a:solidFill>
            <a:srgbClr val="FFFFFF"/>
          </a:solidFill>
          <a:ln/>
        </p:spPr>
      </p:sp>
      <p:sp>
        <p:nvSpPr>
          <p:cNvPr id="16" name="Shape 14"/>
          <p:cNvSpPr/>
          <p:nvPr/>
        </p:nvSpPr>
        <p:spPr>
          <a:xfrm>
            <a:off x="5205413" y="6145530"/>
            <a:ext cx="3814763" cy="9525"/>
          </a:xfrm>
          <a:prstGeom prst="rect">
            <a:avLst/>
          </a:prstGeom>
          <a:solidFill>
            <a:srgbClr val="0E1C30">
              <a:alpha val="16000"/>
            </a:srgbClr>
          </a:solidFill>
          <a:ln/>
        </p:spPr>
      </p:sp>
      <p:sp>
        <p:nvSpPr>
          <p:cNvPr id="17" name="Shape 15"/>
          <p:cNvSpPr/>
          <p:nvPr/>
        </p:nvSpPr>
        <p:spPr>
          <a:xfrm>
            <a:off x="5205413" y="2704783"/>
            <a:ext cx="3814763" cy="38100"/>
          </a:xfrm>
          <a:prstGeom prst="rect">
            <a:avLst/>
          </a:prstGeom>
          <a:solidFill>
            <a:srgbClr val="F4C233"/>
          </a:solidFill>
          <a:ln/>
        </p:spPr>
      </p:sp>
      <p:sp>
        <p:nvSpPr>
          <p:cNvPr id="18" name="Shape 16"/>
          <p:cNvSpPr/>
          <p:nvPr/>
        </p:nvSpPr>
        <p:spPr>
          <a:xfrm>
            <a:off x="5205413" y="2704783"/>
            <a:ext cx="9525" cy="3447098"/>
          </a:xfrm>
          <a:prstGeom prst="rect">
            <a:avLst/>
          </a:prstGeom>
          <a:solidFill>
            <a:srgbClr val="0E1C30">
              <a:alpha val="16000"/>
            </a:srgbClr>
          </a:solidFill>
          <a:ln/>
        </p:spPr>
      </p:sp>
      <p:sp>
        <p:nvSpPr>
          <p:cNvPr id="19" name="Shape 17"/>
          <p:cNvSpPr/>
          <p:nvPr/>
        </p:nvSpPr>
        <p:spPr>
          <a:xfrm>
            <a:off x="9013825" y="2704783"/>
            <a:ext cx="9525" cy="3447098"/>
          </a:xfrm>
          <a:prstGeom prst="rect">
            <a:avLst/>
          </a:prstGeom>
          <a:solidFill>
            <a:srgbClr val="0E1C30">
              <a:alpha val="16000"/>
            </a:srgbClr>
          </a:solidFill>
          <a:ln/>
        </p:spPr>
      </p:sp>
      <p:sp>
        <p:nvSpPr>
          <p:cNvPr id="20" name="Text 18"/>
          <p:cNvSpPr/>
          <p:nvPr/>
        </p:nvSpPr>
        <p:spPr>
          <a:xfrm>
            <a:off x="5535613" y="3123883"/>
            <a:ext cx="3469799" cy="647700"/>
          </a:xfrm>
          <a:prstGeom prst="rect">
            <a:avLst/>
          </a:prstGeom>
          <a:noFill/>
          <a:ln/>
        </p:spPr>
        <p:txBody>
          <a:bodyPr wrap="square" lIns="25400" tIns="25400" rIns="25400" bIns="25400" rtlCol="0" anchor="t">
            <a:normAutofit/>
          </a:bodyPr>
          <a:lstStyle/>
          <a:p>
            <a:pPr algn="l" indent="0" marL="0">
              <a:lnSpc>
                <a:spcPct val="78689"/>
              </a:lnSpc>
              <a:buNone/>
            </a:pPr>
            <a:r>
              <a:rPr lang="en-US" sz="4800" b="1" dirty="0">
                <a:solidFill>
                  <a:srgbClr val="F4C233">
                    <a:alpha val="95000"/>
                  </a:srgbClr>
                </a:solidFill>
                <a:latin typeface="Space Grotesk" pitchFamily="34" charset="0"/>
                <a:ea typeface="Space Grotesk" pitchFamily="34" charset="-122"/>
                <a:cs typeface="Space Grotesk" pitchFamily="34" charset="-120"/>
              </a:rPr>
              <a:t>02</a:t>
            </a:r>
            <a:endParaRPr lang="en-US" sz="4800" dirty="0"/>
          </a:p>
        </p:txBody>
      </p:sp>
      <p:sp>
        <p:nvSpPr>
          <p:cNvPr id="21" name="Text 19"/>
          <p:cNvSpPr/>
          <p:nvPr/>
        </p:nvSpPr>
        <p:spPr>
          <a:xfrm>
            <a:off x="5535613" y="3923983"/>
            <a:ext cx="3469799" cy="425450"/>
          </a:xfrm>
          <a:prstGeom prst="rect">
            <a:avLst/>
          </a:prstGeom>
          <a:noFill/>
          <a:ln/>
        </p:spPr>
        <p:txBody>
          <a:bodyPr wrap="square" lIns="25400" tIns="25400" rIns="25400" bIns="25400" rtlCol="0" anchor="t">
            <a:normAutofit/>
          </a:bodyPr>
          <a:lstStyle/>
          <a:p>
            <a:pPr algn="l" indent="0" marL="0">
              <a:buNone/>
            </a:pPr>
            <a:r>
              <a:rPr lang="en-US" sz="2400" b="1" dirty="0">
                <a:solidFill>
                  <a:srgbClr val="0E1C30"/>
                </a:solidFill>
                <a:latin typeface="Space Grotesk" pitchFamily="34" charset="0"/>
                <a:ea typeface="Space Grotesk" pitchFamily="34" charset="-122"/>
                <a:cs typeface="Space Grotesk" pitchFamily="34" charset="-120"/>
              </a:rPr>
              <a:t>Planning</a:t>
            </a:r>
            <a:endParaRPr lang="en-US" sz="2400" dirty="0"/>
          </a:p>
        </p:txBody>
      </p:sp>
      <p:sp>
        <p:nvSpPr>
          <p:cNvPr id="22" name="Text 20"/>
          <p:cNvSpPr/>
          <p:nvPr/>
        </p:nvSpPr>
        <p:spPr>
          <a:xfrm>
            <a:off x="5535613" y="4368482"/>
            <a:ext cx="3469799" cy="19685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0E1C30">
                    <a:alpha val="50000"/>
                  </a:srgbClr>
                </a:solidFill>
                <a:latin typeface="IBM Plex Mono" pitchFamily="34" charset="0"/>
                <a:ea typeface="IBM Plex Mono" pitchFamily="34" charset="-122"/>
                <a:cs typeface="IBM Plex Mono" pitchFamily="34" charset="-120"/>
              </a:rPr>
              <a:t>WHAT &amp; WHY</a:t>
            </a:r>
            <a:endParaRPr lang="en-US" sz="975" dirty="0"/>
          </a:p>
        </p:txBody>
      </p:sp>
      <p:sp>
        <p:nvSpPr>
          <p:cNvPr id="23" name="Text 21"/>
          <p:cNvSpPr/>
          <p:nvPr/>
        </p:nvSpPr>
        <p:spPr>
          <a:xfrm>
            <a:off x="5535613" y="4736782"/>
            <a:ext cx="3248993" cy="618172"/>
          </a:xfrm>
          <a:prstGeom prst="rect">
            <a:avLst/>
          </a:prstGeom>
          <a:noFill/>
          <a:ln/>
        </p:spPr>
        <p:txBody>
          <a:bodyPr wrap="square" lIns="25400" tIns="25400" rIns="25400" bIns="25400" rtlCol="0" anchor="t">
            <a:normAutofit/>
          </a:bodyPr>
          <a:lstStyle/>
          <a:p>
            <a:pPr algn="l" indent="0" marL="0">
              <a:lnSpc>
                <a:spcPct val="111402"/>
              </a:lnSpc>
              <a:buNone/>
            </a:pPr>
            <a:r>
              <a:rPr lang="en-US" sz="1575" dirty="0">
                <a:solidFill>
                  <a:srgbClr val="0E1C30">
                    <a:alpha val="72000"/>
                  </a:srgbClr>
                </a:solidFill>
                <a:latin typeface="IBM Plex Sans" pitchFamily="34" charset="0"/>
                <a:ea typeface="IBM Plex Sans" pitchFamily="34" charset="-122"/>
                <a:cs typeface="IBM Plex Sans" pitchFamily="34" charset="-120"/>
              </a:rPr>
              <a:t>Define what to build, and for whom.</a:t>
            </a:r>
            <a:endParaRPr lang="en-US" sz="1575" dirty="0"/>
          </a:p>
        </p:txBody>
      </p:sp>
      <p:sp>
        <p:nvSpPr>
          <p:cNvPr id="24" name="Text 22"/>
          <p:cNvSpPr/>
          <p:nvPr/>
        </p:nvSpPr>
        <p:spPr>
          <a:xfrm>
            <a:off x="5535613" y="5507355"/>
            <a:ext cx="3469799" cy="295275"/>
          </a:xfrm>
          <a:prstGeom prst="rect">
            <a:avLst/>
          </a:prstGeom>
          <a:noFill/>
          <a:ln/>
        </p:spPr>
        <p:txBody>
          <a:bodyPr wrap="square" lIns="25400" tIns="25400" rIns="25400" bIns="25400" rtlCol="0" anchor="t">
            <a:normAutofit/>
          </a:bodyPr>
          <a:lstStyle/>
          <a:p>
            <a:pPr algn="l" indent="0" marL="0">
              <a:lnSpc>
                <a:spcPct val="115714"/>
              </a:lnSpc>
              <a:buNone/>
            </a:pPr>
            <a:r>
              <a:rPr lang="en-US" sz="1350" dirty="0">
                <a:solidFill>
                  <a:srgbClr val="0E1C30">
                    <a:alpha val="50000"/>
                  </a:srgbClr>
                </a:solidFill>
                <a:latin typeface="IBM Plex Sans" pitchFamily="34" charset="0"/>
                <a:ea typeface="IBM Plex Sans" pitchFamily="34" charset="-122"/>
                <a:cs typeface="IBM Plex Sans" pitchFamily="34" charset="-120"/>
              </a:rPr>
              <a:t>PRD · UX spec</a:t>
            </a:r>
            <a:endParaRPr lang="en-US" sz="1350" dirty="0"/>
          </a:p>
        </p:txBody>
      </p:sp>
      <p:sp>
        <p:nvSpPr>
          <p:cNvPr id="25" name="Shape 23"/>
          <p:cNvSpPr/>
          <p:nvPr/>
        </p:nvSpPr>
        <p:spPr>
          <a:xfrm>
            <a:off x="9267825" y="2704783"/>
            <a:ext cx="3814763" cy="3447098"/>
          </a:xfrm>
          <a:prstGeom prst="rect">
            <a:avLst/>
          </a:prstGeom>
          <a:solidFill>
            <a:srgbClr val="FFFFFF"/>
          </a:solidFill>
          <a:ln/>
        </p:spPr>
      </p:sp>
      <p:sp>
        <p:nvSpPr>
          <p:cNvPr id="26" name="Shape 24"/>
          <p:cNvSpPr/>
          <p:nvPr/>
        </p:nvSpPr>
        <p:spPr>
          <a:xfrm>
            <a:off x="9267825" y="6145530"/>
            <a:ext cx="3814763" cy="9525"/>
          </a:xfrm>
          <a:prstGeom prst="rect">
            <a:avLst/>
          </a:prstGeom>
          <a:solidFill>
            <a:srgbClr val="0E1C30">
              <a:alpha val="16000"/>
            </a:srgbClr>
          </a:solidFill>
          <a:ln/>
        </p:spPr>
      </p:sp>
      <p:sp>
        <p:nvSpPr>
          <p:cNvPr id="27" name="Shape 25"/>
          <p:cNvSpPr/>
          <p:nvPr/>
        </p:nvSpPr>
        <p:spPr>
          <a:xfrm>
            <a:off x="9267825" y="2704783"/>
            <a:ext cx="3814763" cy="38100"/>
          </a:xfrm>
          <a:prstGeom prst="rect">
            <a:avLst/>
          </a:prstGeom>
          <a:solidFill>
            <a:srgbClr val="4FD1A6"/>
          </a:solidFill>
          <a:ln/>
        </p:spPr>
      </p:sp>
      <p:sp>
        <p:nvSpPr>
          <p:cNvPr id="28" name="Shape 26"/>
          <p:cNvSpPr/>
          <p:nvPr/>
        </p:nvSpPr>
        <p:spPr>
          <a:xfrm>
            <a:off x="9267825" y="2704783"/>
            <a:ext cx="9525" cy="3447098"/>
          </a:xfrm>
          <a:prstGeom prst="rect">
            <a:avLst/>
          </a:prstGeom>
          <a:solidFill>
            <a:srgbClr val="0E1C30">
              <a:alpha val="16000"/>
            </a:srgbClr>
          </a:solidFill>
          <a:ln/>
        </p:spPr>
      </p:sp>
      <p:sp>
        <p:nvSpPr>
          <p:cNvPr id="29" name="Shape 27"/>
          <p:cNvSpPr/>
          <p:nvPr/>
        </p:nvSpPr>
        <p:spPr>
          <a:xfrm>
            <a:off x="13076237" y="2704783"/>
            <a:ext cx="9525" cy="3447098"/>
          </a:xfrm>
          <a:prstGeom prst="rect">
            <a:avLst/>
          </a:prstGeom>
          <a:solidFill>
            <a:srgbClr val="0E1C30">
              <a:alpha val="16000"/>
            </a:srgbClr>
          </a:solidFill>
          <a:ln/>
        </p:spPr>
      </p:sp>
      <p:sp>
        <p:nvSpPr>
          <p:cNvPr id="30" name="Text 28"/>
          <p:cNvSpPr/>
          <p:nvPr/>
        </p:nvSpPr>
        <p:spPr>
          <a:xfrm>
            <a:off x="9598025" y="3123883"/>
            <a:ext cx="3469799" cy="647700"/>
          </a:xfrm>
          <a:prstGeom prst="rect">
            <a:avLst/>
          </a:prstGeom>
          <a:noFill/>
          <a:ln/>
        </p:spPr>
        <p:txBody>
          <a:bodyPr wrap="square" lIns="25400" tIns="25400" rIns="25400" bIns="25400" rtlCol="0" anchor="t">
            <a:normAutofit/>
          </a:bodyPr>
          <a:lstStyle/>
          <a:p>
            <a:pPr algn="l" indent="0" marL="0">
              <a:lnSpc>
                <a:spcPct val="78689"/>
              </a:lnSpc>
              <a:buNone/>
            </a:pPr>
            <a:r>
              <a:rPr lang="en-US" sz="4800" b="1" dirty="0">
                <a:solidFill>
                  <a:srgbClr val="4FD1A6">
                    <a:alpha val="95000"/>
                  </a:srgbClr>
                </a:solidFill>
                <a:latin typeface="Space Grotesk" pitchFamily="34" charset="0"/>
                <a:ea typeface="Space Grotesk" pitchFamily="34" charset="-122"/>
                <a:cs typeface="Space Grotesk" pitchFamily="34" charset="-120"/>
              </a:rPr>
              <a:t>03</a:t>
            </a:r>
            <a:endParaRPr lang="en-US" sz="4800" dirty="0"/>
          </a:p>
        </p:txBody>
      </p:sp>
      <p:sp>
        <p:nvSpPr>
          <p:cNvPr id="31" name="Text 29"/>
          <p:cNvSpPr/>
          <p:nvPr/>
        </p:nvSpPr>
        <p:spPr>
          <a:xfrm>
            <a:off x="9598025" y="3923983"/>
            <a:ext cx="3469799" cy="425450"/>
          </a:xfrm>
          <a:prstGeom prst="rect">
            <a:avLst/>
          </a:prstGeom>
          <a:noFill/>
          <a:ln/>
        </p:spPr>
        <p:txBody>
          <a:bodyPr wrap="square" lIns="25400" tIns="25400" rIns="25400" bIns="25400" rtlCol="0" anchor="t">
            <a:normAutofit/>
          </a:bodyPr>
          <a:lstStyle/>
          <a:p>
            <a:pPr algn="l" indent="0" marL="0">
              <a:buNone/>
            </a:pPr>
            <a:r>
              <a:rPr lang="en-US" sz="2400" b="1" dirty="0">
                <a:solidFill>
                  <a:srgbClr val="0E1C30"/>
                </a:solidFill>
                <a:latin typeface="Space Grotesk" pitchFamily="34" charset="0"/>
                <a:ea typeface="Space Grotesk" pitchFamily="34" charset="-122"/>
                <a:cs typeface="Space Grotesk" pitchFamily="34" charset="-120"/>
              </a:rPr>
              <a:t>Solutioning</a:t>
            </a:r>
            <a:endParaRPr lang="en-US" sz="2400" dirty="0"/>
          </a:p>
        </p:txBody>
      </p:sp>
      <p:sp>
        <p:nvSpPr>
          <p:cNvPr id="32" name="Text 30"/>
          <p:cNvSpPr/>
          <p:nvPr/>
        </p:nvSpPr>
        <p:spPr>
          <a:xfrm>
            <a:off x="9598025" y="4368482"/>
            <a:ext cx="3469799" cy="19685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0E1C30">
                    <a:alpha val="50000"/>
                  </a:srgbClr>
                </a:solidFill>
                <a:latin typeface="IBM Plex Mono" pitchFamily="34" charset="0"/>
                <a:ea typeface="IBM Plex Mono" pitchFamily="34" charset="-122"/>
                <a:cs typeface="IBM Plex Mono" pitchFamily="34" charset="-120"/>
              </a:rPr>
              <a:t>HOW</a:t>
            </a:r>
            <a:endParaRPr lang="en-US" sz="975" dirty="0"/>
          </a:p>
        </p:txBody>
      </p:sp>
      <p:sp>
        <p:nvSpPr>
          <p:cNvPr id="33" name="Text 31"/>
          <p:cNvSpPr/>
          <p:nvPr/>
        </p:nvSpPr>
        <p:spPr>
          <a:xfrm>
            <a:off x="9598025" y="4736782"/>
            <a:ext cx="3248993" cy="618172"/>
          </a:xfrm>
          <a:prstGeom prst="rect">
            <a:avLst/>
          </a:prstGeom>
          <a:noFill/>
          <a:ln/>
        </p:spPr>
        <p:txBody>
          <a:bodyPr wrap="square" lIns="25400" tIns="25400" rIns="25400" bIns="25400" rtlCol="0" anchor="t">
            <a:normAutofit/>
          </a:bodyPr>
          <a:lstStyle/>
          <a:p>
            <a:pPr algn="l" indent="0" marL="0">
              <a:lnSpc>
                <a:spcPct val="111402"/>
              </a:lnSpc>
              <a:buNone/>
            </a:pPr>
            <a:r>
              <a:rPr lang="en-US" sz="1575" dirty="0">
                <a:solidFill>
                  <a:srgbClr val="0E1C30">
                    <a:alpha val="72000"/>
                  </a:srgbClr>
                </a:solidFill>
                <a:latin typeface="IBM Plex Sans" pitchFamily="34" charset="0"/>
                <a:ea typeface="IBM Plex Sans" pitchFamily="34" charset="-122"/>
                <a:cs typeface="IBM Plex Sans" pitchFamily="34" charset="-120"/>
              </a:rPr>
              <a:t>Decide how, break work into stories.</a:t>
            </a:r>
            <a:endParaRPr lang="en-US" sz="1575" dirty="0"/>
          </a:p>
        </p:txBody>
      </p:sp>
      <p:sp>
        <p:nvSpPr>
          <p:cNvPr id="34" name="Text 32"/>
          <p:cNvSpPr/>
          <p:nvPr/>
        </p:nvSpPr>
        <p:spPr>
          <a:xfrm>
            <a:off x="9598025" y="5507355"/>
            <a:ext cx="3469799" cy="295275"/>
          </a:xfrm>
          <a:prstGeom prst="rect">
            <a:avLst/>
          </a:prstGeom>
          <a:noFill/>
          <a:ln/>
        </p:spPr>
        <p:txBody>
          <a:bodyPr wrap="square" lIns="25400" tIns="25400" rIns="25400" bIns="25400" rtlCol="0" anchor="t">
            <a:normAutofit/>
          </a:bodyPr>
          <a:lstStyle/>
          <a:p>
            <a:pPr algn="l" indent="0" marL="0">
              <a:lnSpc>
                <a:spcPct val="115714"/>
              </a:lnSpc>
              <a:buNone/>
            </a:pPr>
            <a:r>
              <a:rPr lang="en-US" sz="1350" dirty="0">
                <a:solidFill>
                  <a:srgbClr val="0E1C30">
                    <a:alpha val="50000"/>
                  </a:srgbClr>
                </a:solidFill>
                <a:latin typeface="IBM Plex Sans" pitchFamily="34" charset="0"/>
                <a:ea typeface="IBM Plex Sans" pitchFamily="34" charset="-122"/>
                <a:cs typeface="IBM Plex Sans" pitchFamily="34" charset="-120"/>
              </a:rPr>
              <a:t>Architecture · Epics · Readiness</a:t>
            </a:r>
            <a:endParaRPr lang="en-US" sz="1350" dirty="0"/>
          </a:p>
        </p:txBody>
      </p:sp>
      <p:sp>
        <p:nvSpPr>
          <p:cNvPr id="35" name="Shape 33"/>
          <p:cNvSpPr/>
          <p:nvPr/>
        </p:nvSpPr>
        <p:spPr>
          <a:xfrm>
            <a:off x="13330238" y="2704783"/>
            <a:ext cx="3814763" cy="3447098"/>
          </a:xfrm>
          <a:prstGeom prst="rect">
            <a:avLst/>
          </a:prstGeom>
          <a:solidFill>
            <a:srgbClr val="FFFFFF"/>
          </a:solidFill>
          <a:ln/>
        </p:spPr>
      </p:sp>
      <p:sp>
        <p:nvSpPr>
          <p:cNvPr id="36" name="Shape 34"/>
          <p:cNvSpPr/>
          <p:nvPr/>
        </p:nvSpPr>
        <p:spPr>
          <a:xfrm>
            <a:off x="13330238" y="6145530"/>
            <a:ext cx="3814763" cy="9525"/>
          </a:xfrm>
          <a:prstGeom prst="rect">
            <a:avLst/>
          </a:prstGeom>
          <a:solidFill>
            <a:srgbClr val="0E1C30">
              <a:alpha val="16000"/>
            </a:srgbClr>
          </a:solidFill>
          <a:ln/>
        </p:spPr>
      </p:sp>
      <p:sp>
        <p:nvSpPr>
          <p:cNvPr id="37" name="Shape 35"/>
          <p:cNvSpPr/>
          <p:nvPr/>
        </p:nvSpPr>
        <p:spPr>
          <a:xfrm>
            <a:off x="13330238" y="2704783"/>
            <a:ext cx="3814763" cy="38100"/>
          </a:xfrm>
          <a:prstGeom prst="rect">
            <a:avLst/>
          </a:prstGeom>
          <a:solidFill>
            <a:srgbClr val="F58B6E"/>
          </a:solidFill>
          <a:ln/>
        </p:spPr>
      </p:sp>
      <p:sp>
        <p:nvSpPr>
          <p:cNvPr id="38" name="Shape 36"/>
          <p:cNvSpPr/>
          <p:nvPr/>
        </p:nvSpPr>
        <p:spPr>
          <a:xfrm>
            <a:off x="13330238" y="2704783"/>
            <a:ext cx="9525" cy="3447098"/>
          </a:xfrm>
          <a:prstGeom prst="rect">
            <a:avLst/>
          </a:prstGeom>
          <a:solidFill>
            <a:srgbClr val="0E1C30">
              <a:alpha val="16000"/>
            </a:srgbClr>
          </a:solidFill>
          <a:ln/>
        </p:spPr>
      </p:sp>
      <p:sp>
        <p:nvSpPr>
          <p:cNvPr id="39" name="Shape 37"/>
          <p:cNvSpPr/>
          <p:nvPr/>
        </p:nvSpPr>
        <p:spPr>
          <a:xfrm>
            <a:off x="17138650" y="2704783"/>
            <a:ext cx="9525" cy="3447098"/>
          </a:xfrm>
          <a:prstGeom prst="rect">
            <a:avLst/>
          </a:prstGeom>
          <a:solidFill>
            <a:srgbClr val="0E1C30">
              <a:alpha val="16000"/>
            </a:srgbClr>
          </a:solidFill>
          <a:ln/>
        </p:spPr>
      </p:sp>
      <p:sp>
        <p:nvSpPr>
          <p:cNvPr id="40" name="Text 38"/>
          <p:cNvSpPr/>
          <p:nvPr/>
        </p:nvSpPr>
        <p:spPr>
          <a:xfrm>
            <a:off x="13660437" y="3123883"/>
            <a:ext cx="3469799" cy="647700"/>
          </a:xfrm>
          <a:prstGeom prst="rect">
            <a:avLst/>
          </a:prstGeom>
          <a:noFill/>
          <a:ln/>
        </p:spPr>
        <p:txBody>
          <a:bodyPr wrap="square" lIns="25400" tIns="25400" rIns="25400" bIns="25400" rtlCol="0" anchor="t">
            <a:normAutofit/>
          </a:bodyPr>
          <a:lstStyle/>
          <a:p>
            <a:pPr algn="l" indent="0" marL="0">
              <a:lnSpc>
                <a:spcPct val="78689"/>
              </a:lnSpc>
              <a:buNone/>
            </a:pPr>
            <a:r>
              <a:rPr lang="en-US" sz="4800" b="1" dirty="0">
                <a:solidFill>
                  <a:srgbClr val="F58B6E">
                    <a:alpha val="95000"/>
                  </a:srgbClr>
                </a:solidFill>
                <a:latin typeface="Space Grotesk" pitchFamily="34" charset="0"/>
                <a:ea typeface="Space Grotesk" pitchFamily="34" charset="-122"/>
                <a:cs typeface="Space Grotesk" pitchFamily="34" charset="-120"/>
              </a:rPr>
              <a:t>04</a:t>
            </a:r>
            <a:endParaRPr lang="en-US" sz="4800" dirty="0"/>
          </a:p>
        </p:txBody>
      </p:sp>
      <p:sp>
        <p:nvSpPr>
          <p:cNvPr id="41" name="Text 39"/>
          <p:cNvSpPr/>
          <p:nvPr/>
        </p:nvSpPr>
        <p:spPr>
          <a:xfrm>
            <a:off x="13660437" y="3923983"/>
            <a:ext cx="3469799" cy="425450"/>
          </a:xfrm>
          <a:prstGeom prst="rect">
            <a:avLst/>
          </a:prstGeom>
          <a:noFill/>
          <a:ln/>
        </p:spPr>
        <p:txBody>
          <a:bodyPr wrap="square" lIns="25400" tIns="25400" rIns="25400" bIns="25400" rtlCol="0" anchor="t">
            <a:normAutofit/>
          </a:bodyPr>
          <a:lstStyle/>
          <a:p>
            <a:pPr algn="l" indent="0" marL="0">
              <a:buNone/>
            </a:pPr>
            <a:r>
              <a:rPr lang="en-US" sz="2400" b="1" dirty="0">
                <a:solidFill>
                  <a:srgbClr val="0E1C30"/>
                </a:solidFill>
                <a:latin typeface="Space Grotesk" pitchFamily="34" charset="0"/>
                <a:ea typeface="Space Grotesk" pitchFamily="34" charset="-122"/>
                <a:cs typeface="Space Grotesk" pitchFamily="34" charset="-120"/>
              </a:rPr>
              <a:t>Implementation</a:t>
            </a:r>
            <a:endParaRPr lang="en-US" sz="2400" dirty="0"/>
          </a:p>
        </p:txBody>
      </p:sp>
      <p:sp>
        <p:nvSpPr>
          <p:cNvPr id="42" name="Text 40"/>
          <p:cNvSpPr/>
          <p:nvPr/>
        </p:nvSpPr>
        <p:spPr>
          <a:xfrm>
            <a:off x="13660437" y="4368482"/>
            <a:ext cx="3469799" cy="19685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0E1C30">
                    <a:alpha val="50000"/>
                  </a:srgbClr>
                </a:solidFill>
                <a:latin typeface="IBM Plex Mono" pitchFamily="34" charset="0"/>
                <a:ea typeface="IBM Plex Mono" pitchFamily="34" charset="-122"/>
                <a:cs typeface="IBM Plex Mono" pitchFamily="34" charset="-120"/>
              </a:rPr>
              <a:t>BUILD</a:t>
            </a:r>
            <a:endParaRPr lang="en-US" sz="975" dirty="0"/>
          </a:p>
        </p:txBody>
      </p:sp>
      <p:sp>
        <p:nvSpPr>
          <p:cNvPr id="43" name="Text 41"/>
          <p:cNvSpPr/>
          <p:nvPr/>
        </p:nvSpPr>
        <p:spPr>
          <a:xfrm>
            <a:off x="13660437" y="4736782"/>
            <a:ext cx="3469799" cy="328136"/>
          </a:xfrm>
          <a:prstGeom prst="rect">
            <a:avLst/>
          </a:prstGeom>
          <a:noFill/>
          <a:ln/>
        </p:spPr>
        <p:txBody>
          <a:bodyPr wrap="square" lIns="25400" tIns="25400" rIns="25400" bIns="25400" rtlCol="0" anchor="t">
            <a:normAutofit/>
          </a:bodyPr>
          <a:lstStyle/>
          <a:p>
            <a:pPr algn="l" indent="0" marL="0">
              <a:lnSpc>
                <a:spcPct val="111402"/>
              </a:lnSpc>
              <a:buNone/>
            </a:pPr>
            <a:r>
              <a:rPr lang="en-US" sz="1575" dirty="0">
                <a:solidFill>
                  <a:srgbClr val="0E1C30">
                    <a:alpha val="72000"/>
                  </a:srgbClr>
                </a:solidFill>
                <a:latin typeface="IBM Plex Sans" pitchFamily="34" charset="0"/>
                <a:ea typeface="IBM Plex Sans" pitchFamily="34" charset="-122"/>
                <a:cs typeface="IBM Plex Sans" pitchFamily="34" charset="-120"/>
              </a:rPr>
              <a:t>Build it, one story at a time.</a:t>
            </a:r>
            <a:endParaRPr lang="en-US" sz="1575" dirty="0"/>
          </a:p>
        </p:txBody>
      </p:sp>
      <p:sp>
        <p:nvSpPr>
          <p:cNvPr id="44" name="Text 42"/>
          <p:cNvSpPr/>
          <p:nvPr/>
        </p:nvSpPr>
        <p:spPr>
          <a:xfrm>
            <a:off x="13660437" y="5217319"/>
            <a:ext cx="3469799" cy="295275"/>
          </a:xfrm>
          <a:prstGeom prst="rect">
            <a:avLst/>
          </a:prstGeom>
          <a:noFill/>
          <a:ln/>
        </p:spPr>
        <p:txBody>
          <a:bodyPr wrap="square" lIns="25400" tIns="25400" rIns="25400" bIns="25400" rtlCol="0" anchor="t">
            <a:normAutofit/>
          </a:bodyPr>
          <a:lstStyle/>
          <a:p>
            <a:pPr algn="l" indent="0" marL="0">
              <a:lnSpc>
                <a:spcPct val="115714"/>
              </a:lnSpc>
              <a:buNone/>
            </a:pPr>
            <a:r>
              <a:rPr lang="en-US" sz="1350" dirty="0">
                <a:solidFill>
                  <a:srgbClr val="0E1C30">
                    <a:alpha val="50000"/>
                  </a:srgbClr>
                </a:solidFill>
                <a:latin typeface="IBM Plex Sans" pitchFamily="34" charset="0"/>
                <a:ea typeface="IBM Plex Sans" pitchFamily="34" charset="-122"/>
                <a:cs typeface="IBM Plex Sans" pitchFamily="34" charset="-120"/>
              </a:rPr>
              <a:t>Story · Dev · Review · Retro</a:t>
            </a:r>
            <a:endParaRPr lang="en-US" sz="1350" dirty="0"/>
          </a:p>
        </p:txBody>
      </p:sp>
      <p:sp>
        <p:nvSpPr>
          <p:cNvPr id="45" name="Text 43"/>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46" name="Text 44"/>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24 / 45</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1143000" y="914400"/>
            <a:ext cx="1167606" cy="355600"/>
          </a:xfrm>
          <a:prstGeom prst="rect">
            <a:avLst/>
          </a:prstGeom>
          <a:noFill/>
          <a:ln/>
        </p:spPr>
        <p:txBody>
          <a:bodyPr wrap="square" lIns="25400" tIns="25400" rIns="25400" bIns="25400" rtlCol="0" anchor="t">
            <a:normAutofit/>
          </a:bodyPr>
          <a:lstStyle/>
          <a:p>
            <a:pPr algn="l" indent="0" marL="0">
              <a:buNone/>
            </a:pPr>
            <a:r>
              <a:rPr lang="en-US" sz="1950" b="1" dirty="0">
                <a:solidFill>
                  <a:srgbClr val="1E7FD6"/>
                </a:solidFill>
                <a:latin typeface="Space Grotesk" pitchFamily="34" charset="0"/>
                <a:ea typeface="Space Grotesk" pitchFamily="34" charset="-122"/>
                <a:cs typeface="Space Grotesk" pitchFamily="34" charset="-120"/>
              </a:rPr>
              <a:t>PHASE 01</a:t>
            </a:r>
            <a:endParaRPr lang="en-US" sz="1950" dirty="0"/>
          </a:p>
        </p:txBody>
      </p:sp>
      <p:sp>
        <p:nvSpPr>
          <p:cNvPr id="3" name="Text 1"/>
          <p:cNvSpPr/>
          <p:nvPr/>
        </p:nvSpPr>
        <p:spPr>
          <a:xfrm>
            <a:off x="2424906" y="981075"/>
            <a:ext cx="990600" cy="222250"/>
          </a:xfrm>
          <a:prstGeom prst="rect">
            <a:avLst/>
          </a:prstGeom>
          <a:noFill/>
          <a:ln/>
        </p:spPr>
        <p:txBody>
          <a:bodyPr wrap="square" lIns="25400" tIns="25400" rIns="25400" bIns="25400" rtlCol="0" anchor="t">
            <a:normAutofit/>
          </a:bodyPr>
          <a:lstStyle/>
          <a:p>
            <a:pPr algn="l" indent="0" marL="0">
              <a:buNone/>
            </a:pPr>
            <a:r>
              <a:rPr lang="en-US" sz="1125" spc="225" kern="0" dirty="0">
                <a:solidFill>
                  <a:srgbClr val="0E1C30">
                    <a:alpha val="50000"/>
                  </a:srgbClr>
                </a:solidFill>
                <a:latin typeface="IBM Plex Mono" pitchFamily="34" charset="0"/>
                <a:ea typeface="IBM Plex Mono" pitchFamily="34" charset="-122"/>
                <a:cs typeface="IBM Plex Mono" pitchFamily="34" charset="-120"/>
              </a:rPr>
              <a:t>OPTIONAL</a:t>
            </a:r>
            <a:endParaRPr lang="en-US" sz="1125" dirty="0"/>
          </a:p>
        </p:txBody>
      </p:sp>
      <p:sp>
        <p:nvSpPr>
          <p:cNvPr id="4" name="Text 2"/>
          <p:cNvSpPr/>
          <p:nvPr/>
        </p:nvSpPr>
        <p:spPr>
          <a:xfrm>
            <a:off x="1143000" y="1441450"/>
            <a:ext cx="17602200" cy="781050"/>
          </a:xfrm>
          <a:prstGeom prst="rect">
            <a:avLst/>
          </a:prstGeom>
          <a:noFill/>
          <a:ln/>
        </p:spPr>
        <p:txBody>
          <a:bodyPr wrap="square" lIns="25400" tIns="25400" rIns="25400" bIns="25400" rtlCol="0" anchor="t">
            <a:normAutofit/>
          </a:bodyPr>
          <a:lstStyle/>
          <a:p>
            <a:pPr algn="l" indent="0" marL="0">
              <a:lnSpc>
                <a:spcPct val="78523"/>
              </a:lnSpc>
              <a:buNone/>
            </a:pPr>
            <a:r>
              <a:rPr lang="en-US" sz="5850" b="1" spc="-117" kern="0" dirty="0">
                <a:solidFill>
                  <a:srgbClr val="0E1C30"/>
                </a:solidFill>
                <a:latin typeface="Space Grotesk" pitchFamily="34" charset="0"/>
                <a:ea typeface="Space Grotesk" pitchFamily="34" charset="-122"/>
                <a:cs typeface="Space Grotesk" pitchFamily="34" charset="-120"/>
              </a:rPr>
              <a:t>Analysis</a:t>
            </a:r>
            <a:endParaRPr lang="en-US" sz="5850" dirty="0"/>
          </a:p>
        </p:txBody>
      </p:sp>
      <p:sp>
        <p:nvSpPr>
          <p:cNvPr id="5" name="Text 3"/>
          <p:cNvSpPr/>
          <p:nvPr/>
        </p:nvSpPr>
        <p:spPr>
          <a:xfrm>
            <a:off x="1143000" y="2413000"/>
            <a:ext cx="11380470" cy="838200"/>
          </a:xfrm>
          <a:prstGeom prst="rect">
            <a:avLst/>
          </a:prstGeom>
          <a:noFill/>
          <a:ln/>
        </p:spPr>
        <p:txBody>
          <a:bodyPr wrap="square" lIns="25400" tIns="25400" rIns="25400" bIns="25400" rtlCol="0" anchor="t">
            <a:normAutofit/>
          </a:bodyPr>
          <a:lstStyle/>
          <a:p>
            <a:pPr algn="l" indent="0" marL="0">
              <a:lnSpc>
                <a:spcPct val="114545"/>
              </a:lnSpc>
              <a:buNone/>
            </a:pPr>
            <a:r>
              <a:rPr lang="en-US" sz="2100" dirty="0">
                <a:solidFill>
                  <a:srgbClr val="0E1C30">
                    <a:alpha val="72000"/>
                  </a:srgbClr>
                </a:solidFill>
                <a:latin typeface="IBM Plex Sans" pitchFamily="34" charset="0"/>
                <a:ea typeface="IBM Plex Sans" pitchFamily="34" charset="-122"/>
                <a:cs typeface="IBM Plex Sans" pitchFamily="34" charset="-120"/>
              </a:rPr>
              <a:t>Think clearly about the product before committing to build it. Attack the idea from four angles.</a:t>
            </a:r>
            <a:endParaRPr lang="en-US" sz="2100" dirty="0"/>
          </a:p>
        </p:txBody>
      </p:sp>
      <p:sp>
        <p:nvSpPr>
          <p:cNvPr id="6" name="Shape 4"/>
          <p:cNvSpPr/>
          <p:nvPr/>
        </p:nvSpPr>
        <p:spPr>
          <a:xfrm>
            <a:off x="1143000" y="3822700"/>
            <a:ext cx="3843338" cy="9525"/>
          </a:xfrm>
          <a:prstGeom prst="rect">
            <a:avLst/>
          </a:prstGeom>
          <a:solidFill>
            <a:srgbClr val="5BB3F5">
              <a:alpha val="60000"/>
            </a:srgbClr>
          </a:solidFill>
          <a:ln/>
        </p:spPr>
      </p:sp>
      <p:sp>
        <p:nvSpPr>
          <p:cNvPr id="7" name="Text 5"/>
          <p:cNvSpPr/>
          <p:nvPr/>
        </p:nvSpPr>
        <p:spPr>
          <a:xfrm>
            <a:off x="1143000" y="4076700"/>
            <a:ext cx="4227671" cy="215900"/>
          </a:xfrm>
          <a:prstGeom prst="rect">
            <a:avLst/>
          </a:prstGeom>
          <a:noFill/>
          <a:ln/>
        </p:spPr>
        <p:txBody>
          <a:bodyPr wrap="square" lIns="25400" tIns="25400" rIns="25400" bIns="25400" rtlCol="0" anchor="t">
            <a:normAutofit/>
          </a:bodyPr>
          <a:lstStyle/>
          <a:p>
            <a:pPr algn="l" indent="0" marL="0">
              <a:buNone/>
            </a:pPr>
            <a:r>
              <a:rPr lang="en-US" sz="1050" spc="105" kern="0" dirty="0">
                <a:solidFill>
                  <a:srgbClr val="1E7FD6"/>
                </a:solidFill>
                <a:latin typeface="IBM Plex Mono" pitchFamily="34" charset="0"/>
                <a:ea typeface="IBM Plex Mono" pitchFamily="34" charset="-122"/>
                <a:cs typeface="IBM Plex Mono" pitchFamily="34" charset="-120"/>
              </a:rPr>
              <a:t>bmad-brainstorming</a:t>
            </a:r>
            <a:endParaRPr lang="en-US" sz="1050" dirty="0"/>
          </a:p>
        </p:txBody>
      </p:sp>
      <p:sp>
        <p:nvSpPr>
          <p:cNvPr id="8" name="Text 6"/>
          <p:cNvSpPr/>
          <p:nvPr/>
        </p:nvSpPr>
        <p:spPr>
          <a:xfrm>
            <a:off x="1143000" y="4406900"/>
            <a:ext cx="4227671" cy="355600"/>
          </a:xfrm>
          <a:prstGeom prst="rect">
            <a:avLst/>
          </a:prstGeom>
          <a:noFill/>
          <a:ln/>
        </p:spPr>
        <p:txBody>
          <a:bodyPr wrap="square" lIns="25400" tIns="25400" rIns="25400" bIns="25400" rtlCol="0" anchor="t">
            <a:normAutofit/>
          </a:bodyPr>
          <a:lstStyle/>
          <a:p>
            <a:pPr algn="l" indent="0" marL="0">
              <a:buNone/>
            </a:pPr>
            <a:r>
              <a:rPr lang="en-US" sz="1950" b="1" dirty="0">
                <a:solidFill>
                  <a:srgbClr val="0E1C30"/>
                </a:solidFill>
                <a:latin typeface="Space Grotesk" pitchFamily="34" charset="0"/>
                <a:ea typeface="Space Grotesk" pitchFamily="34" charset="-122"/>
                <a:cs typeface="Space Grotesk" pitchFamily="34" charset="-120"/>
              </a:rPr>
              <a:t>Brainstorm</a:t>
            </a:r>
            <a:endParaRPr lang="en-US" sz="1950" dirty="0"/>
          </a:p>
        </p:txBody>
      </p:sp>
      <p:sp>
        <p:nvSpPr>
          <p:cNvPr id="9" name="Text 7"/>
          <p:cNvSpPr/>
          <p:nvPr/>
        </p:nvSpPr>
        <p:spPr>
          <a:xfrm>
            <a:off x="1143000" y="4857750"/>
            <a:ext cx="3958638" cy="590550"/>
          </a:xfrm>
          <a:prstGeom prst="rect">
            <a:avLst/>
          </a:prstGeom>
          <a:noFill/>
          <a:ln/>
        </p:spPr>
        <p:txBody>
          <a:bodyPr wrap="square" lIns="25400" tIns="25400" rIns="25400" bIns="25400" rtlCol="0" anchor="t">
            <a:normAutofit/>
          </a:bodyPr>
          <a:lstStyle/>
          <a:p>
            <a:pPr algn="l" indent="0" marL="0">
              <a:lnSpc>
                <a:spcPct val="111538"/>
              </a:lnSpc>
              <a:buNone/>
            </a:pPr>
            <a:r>
              <a:rPr lang="en-US" sz="1500" dirty="0">
                <a:solidFill>
                  <a:srgbClr val="0E1C30">
                    <a:alpha val="68000"/>
                  </a:srgbClr>
                </a:solidFill>
                <a:latin typeface="IBM Plex Sans" pitchFamily="34" charset="0"/>
                <a:ea typeface="IBM Plex Sans" pitchFamily="34" charset="-122"/>
                <a:cs typeface="IBM Plex Sans" pitchFamily="34" charset="-120"/>
              </a:rPr>
              <a:t>Coach-facilitated ideation. Pulls ideas out of you, not for you.</a:t>
            </a:r>
            <a:endParaRPr lang="en-US" sz="1500" dirty="0"/>
          </a:p>
        </p:txBody>
      </p:sp>
      <p:sp>
        <p:nvSpPr>
          <p:cNvPr id="10" name="Shape 8"/>
          <p:cNvSpPr/>
          <p:nvPr/>
        </p:nvSpPr>
        <p:spPr>
          <a:xfrm>
            <a:off x="5195888" y="3822700"/>
            <a:ext cx="3843338" cy="9525"/>
          </a:xfrm>
          <a:prstGeom prst="rect">
            <a:avLst/>
          </a:prstGeom>
          <a:solidFill>
            <a:srgbClr val="5BB3F5">
              <a:alpha val="60000"/>
            </a:srgbClr>
          </a:solidFill>
          <a:ln/>
        </p:spPr>
      </p:sp>
      <p:sp>
        <p:nvSpPr>
          <p:cNvPr id="11" name="Text 9"/>
          <p:cNvSpPr/>
          <p:nvPr/>
        </p:nvSpPr>
        <p:spPr>
          <a:xfrm>
            <a:off x="5195888" y="4076700"/>
            <a:ext cx="4227671" cy="215900"/>
          </a:xfrm>
          <a:prstGeom prst="rect">
            <a:avLst/>
          </a:prstGeom>
          <a:noFill/>
          <a:ln/>
        </p:spPr>
        <p:txBody>
          <a:bodyPr wrap="square" lIns="25400" tIns="25400" rIns="25400" bIns="25400" rtlCol="0" anchor="t">
            <a:normAutofit/>
          </a:bodyPr>
          <a:lstStyle/>
          <a:p>
            <a:pPr algn="l" indent="0" marL="0">
              <a:buNone/>
            </a:pPr>
            <a:r>
              <a:rPr lang="en-US" sz="1050" spc="105" kern="0" dirty="0">
                <a:solidFill>
                  <a:srgbClr val="1E7FD6"/>
                </a:solidFill>
                <a:latin typeface="IBM Plex Mono" pitchFamily="34" charset="0"/>
                <a:ea typeface="IBM Plex Mono" pitchFamily="34" charset="-122"/>
                <a:cs typeface="IBM Plex Mono" pitchFamily="34" charset="-120"/>
              </a:rPr>
              <a:t>bmad-*-research</a:t>
            </a:r>
            <a:endParaRPr lang="en-US" sz="1050" dirty="0"/>
          </a:p>
        </p:txBody>
      </p:sp>
      <p:sp>
        <p:nvSpPr>
          <p:cNvPr id="12" name="Text 10"/>
          <p:cNvSpPr/>
          <p:nvPr/>
        </p:nvSpPr>
        <p:spPr>
          <a:xfrm>
            <a:off x="5195888" y="4406900"/>
            <a:ext cx="4227671" cy="355600"/>
          </a:xfrm>
          <a:prstGeom prst="rect">
            <a:avLst/>
          </a:prstGeom>
          <a:noFill/>
          <a:ln/>
        </p:spPr>
        <p:txBody>
          <a:bodyPr wrap="square" lIns="25400" tIns="25400" rIns="25400" bIns="25400" rtlCol="0" anchor="t">
            <a:normAutofit/>
          </a:bodyPr>
          <a:lstStyle/>
          <a:p>
            <a:pPr algn="l" indent="0" marL="0">
              <a:buNone/>
            </a:pPr>
            <a:r>
              <a:rPr lang="en-US" sz="1950" b="1" dirty="0">
                <a:solidFill>
                  <a:srgbClr val="0E1C30"/>
                </a:solidFill>
                <a:latin typeface="Space Grotesk" pitchFamily="34" charset="0"/>
                <a:ea typeface="Space Grotesk" pitchFamily="34" charset="-122"/>
                <a:cs typeface="Space Grotesk" pitchFamily="34" charset="-120"/>
              </a:rPr>
              <a:t>Research</a:t>
            </a:r>
            <a:endParaRPr lang="en-US" sz="1950" dirty="0"/>
          </a:p>
        </p:txBody>
      </p:sp>
      <p:sp>
        <p:nvSpPr>
          <p:cNvPr id="13" name="Text 11"/>
          <p:cNvSpPr/>
          <p:nvPr/>
        </p:nvSpPr>
        <p:spPr>
          <a:xfrm>
            <a:off x="5195888" y="4857750"/>
            <a:ext cx="3958638" cy="590550"/>
          </a:xfrm>
          <a:prstGeom prst="rect">
            <a:avLst/>
          </a:prstGeom>
          <a:noFill/>
          <a:ln/>
        </p:spPr>
        <p:txBody>
          <a:bodyPr wrap="square" lIns="25400" tIns="25400" rIns="25400" bIns="25400" rtlCol="0" anchor="t">
            <a:normAutofit/>
          </a:bodyPr>
          <a:lstStyle/>
          <a:p>
            <a:pPr algn="l" indent="0" marL="0">
              <a:lnSpc>
                <a:spcPct val="111538"/>
              </a:lnSpc>
              <a:buNone/>
            </a:pPr>
            <a:r>
              <a:rPr lang="en-US" sz="1500" dirty="0">
                <a:solidFill>
                  <a:srgbClr val="0E1C30">
                    <a:alpha val="68000"/>
                  </a:srgbClr>
                </a:solidFill>
                <a:latin typeface="IBM Plex Sans" pitchFamily="34" charset="0"/>
                <a:ea typeface="IBM Plex Sans" pitchFamily="34" charset="-122"/>
                <a:cs typeface="IBM Plex Sans" pitchFamily="34" charset="-120"/>
              </a:rPr>
              <a:t>Market, domain, and technical feasibility — grounded in reality.</a:t>
            </a:r>
            <a:endParaRPr lang="en-US" sz="1500" dirty="0"/>
          </a:p>
        </p:txBody>
      </p:sp>
      <p:sp>
        <p:nvSpPr>
          <p:cNvPr id="14" name="Shape 12"/>
          <p:cNvSpPr/>
          <p:nvPr/>
        </p:nvSpPr>
        <p:spPr>
          <a:xfrm>
            <a:off x="9248775" y="3822700"/>
            <a:ext cx="3843338" cy="9525"/>
          </a:xfrm>
          <a:prstGeom prst="rect">
            <a:avLst/>
          </a:prstGeom>
          <a:solidFill>
            <a:srgbClr val="5BB3F5">
              <a:alpha val="60000"/>
            </a:srgbClr>
          </a:solidFill>
          <a:ln/>
        </p:spPr>
      </p:sp>
      <p:sp>
        <p:nvSpPr>
          <p:cNvPr id="15" name="Text 13"/>
          <p:cNvSpPr/>
          <p:nvPr/>
        </p:nvSpPr>
        <p:spPr>
          <a:xfrm>
            <a:off x="9248775" y="4076700"/>
            <a:ext cx="4227671" cy="215900"/>
          </a:xfrm>
          <a:prstGeom prst="rect">
            <a:avLst/>
          </a:prstGeom>
          <a:noFill/>
          <a:ln/>
        </p:spPr>
        <p:txBody>
          <a:bodyPr wrap="square" lIns="25400" tIns="25400" rIns="25400" bIns="25400" rtlCol="0" anchor="t">
            <a:normAutofit/>
          </a:bodyPr>
          <a:lstStyle/>
          <a:p>
            <a:pPr algn="l" indent="0" marL="0">
              <a:buNone/>
            </a:pPr>
            <a:r>
              <a:rPr lang="en-US" sz="1050" spc="105" kern="0" dirty="0">
                <a:solidFill>
                  <a:srgbClr val="1E7FD6"/>
                </a:solidFill>
                <a:latin typeface="IBM Plex Mono" pitchFamily="34" charset="0"/>
                <a:ea typeface="IBM Plex Mono" pitchFamily="34" charset="-122"/>
                <a:cs typeface="IBM Plex Mono" pitchFamily="34" charset="-120"/>
              </a:rPr>
              <a:t>bmad-product-brief</a:t>
            </a:r>
            <a:endParaRPr lang="en-US" sz="1050" dirty="0"/>
          </a:p>
        </p:txBody>
      </p:sp>
      <p:sp>
        <p:nvSpPr>
          <p:cNvPr id="16" name="Text 14"/>
          <p:cNvSpPr/>
          <p:nvPr/>
        </p:nvSpPr>
        <p:spPr>
          <a:xfrm>
            <a:off x="9248775" y="4406900"/>
            <a:ext cx="4227671" cy="355600"/>
          </a:xfrm>
          <a:prstGeom prst="rect">
            <a:avLst/>
          </a:prstGeom>
          <a:noFill/>
          <a:ln/>
        </p:spPr>
        <p:txBody>
          <a:bodyPr wrap="square" lIns="25400" tIns="25400" rIns="25400" bIns="25400" rtlCol="0" anchor="t">
            <a:normAutofit/>
          </a:bodyPr>
          <a:lstStyle/>
          <a:p>
            <a:pPr algn="l" indent="0" marL="0">
              <a:buNone/>
            </a:pPr>
            <a:r>
              <a:rPr lang="en-US" sz="1950" b="1" dirty="0">
                <a:solidFill>
                  <a:srgbClr val="0E1C30"/>
                </a:solidFill>
                <a:latin typeface="Space Grotesk" pitchFamily="34" charset="0"/>
                <a:ea typeface="Space Grotesk" pitchFamily="34" charset="-122"/>
                <a:cs typeface="Space Grotesk" pitchFamily="34" charset="-120"/>
              </a:rPr>
              <a:t>Product brief</a:t>
            </a:r>
            <a:endParaRPr lang="en-US" sz="1950" dirty="0"/>
          </a:p>
        </p:txBody>
      </p:sp>
      <p:sp>
        <p:nvSpPr>
          <p:cNvPr id="17" name="Text 15"/>
          <p:cNvSpPr/>
          <p:nvPr/>
        </p:nvSpPr>
        <p:spPr>
          <a:xfrm>
            <a:off x="9248775" y="4857750"/>
            <a:ext cx="3958638" cy="590550"/>
          </a:xfrm>
          <a:prstGeom prst="rect">
            <a:avLst/>
          </a:prstGeom>
          <a:noFill/>
          <a:ln/>
        </p:spPr>
        <p:txBody>
          <a:bodyPr wrap="square" lIns="25400" tIns="25400" rIns="25400" bIns="25400" rtlCol="0" anchor="t">
            <a:normAutofit/>
          </a:bodyPr>
          <a:lstStyle/>
          <a:p>
            <a:pPr algn="l" indent="0" marL="0">
              <a:lnSpc>
                <a:spcPct val="111538"/>
              </a:lnSpc>
              <a:buNone/>
            </a:pPr>
            <a:r>
              <a:rPr lang="en-US" sz="1500" dirty="0">
                <a:solidFill>
                  <a:srgbClr val="0E1C30">
                    <a:alpha val="68000"/>
                  </a:srgbClr>
                </a:solidFill>
                <a:latin typeface="IBM Plex Sans" pitchFamily="34" charset="0"/>
                <a:ea typeface="IBM Plex Sans" pitchFamily="34" charset="-122"/>
                <a:cs typeface="IBM Plex Sans" pitchFamily="34" charset="-120"/>
              </a:rPr>
              <a:t>A 1–2 page vision when your concept is already clear.</a:t>
            </a:r>
            <a:endParaRPr lang="en-US" sz="1500" dirty="0"/>
          </a:p>
        </p:txBody>
      </p:sp>
      <p:sp>
        <p:nvSpPr>
          <p:cNvPr id="18" name="Shape 16"/>
          <p:cNvSpPr/>
          <p:nvPr/>
        </p:nvSpPr>
        <p:spPr>
          <a:xfrm>
            <a:off x="13301663" y="3822700"/>
            <a:ext cx="3843338" cy="9525"/>
          </a:xfrm>
          <a:prstGeom prst="rect">
            <a:avLst/>
          </a:prstGeom>
          <a:solidFill>
            <a:srgbClr val="5BB3F5">
              <a:alpha val="60000"/>
            </a:srgbClr>
          </a:solidFill>
          <a:ln/>
        </p:spPr>
      </p:sp>
      <p:sp>
        <p:nvSpPr>
          <p:cNvPr id="19" name="Text 17"/>
          <p:cNvSpPr/>
          <p:nvPr/>
        </p:nvSpPr>
        <p:spPr>
          <a:xfrm>
            <a:off x="13301663" y="4076700"/>
            <a:ext cx="4227671" cy="215900"/>
          </a:xfrm>
          <a:prstGeom prst="rect">
            <a:avLst/>
          </a:prstGeom>
          <a:noFill/>
          <a:ln/>
        </p:spPr>
        <p:txBody>
          <a:bodyPr wrap="square" lIns="25400" tIns="25400" rIns="25400" bIns="25400" rtlCol="0" anchor="t">
            <a:normAutofit/>
          </a:bodyPr>
          <a:lstStyle/>
          <a:p>
            <a:pPr algn="l" indent="0" marL="0">
              <a:buNone/>
            </a:pPr>
            <a:r>
              <a:rPr lang="en-US" sz="1050" spc="105" kern="0" dirty="0">
                <a:solidFill>
                  <a:srgbClr val="1E7FD6"/>
                </a:solidFill>
                <a:latin typeface="IBM Plex Mono" pitchFamily="34" charset="0"/>
                <a:ea typeface="IBM Plex Mono" pitchFamily="34" charset="-122"/>
                <a:cs typeface="IBM Plex Mono" pitchFamily="34" charset="-120"/>
              </a:rPr>
              <a:t>bmad-prfaq</a:t>
            </a:r>
            <a:endParaRPr lang="en-US" sz="1050" dirty="0"/>
          </a:p>
        </p:txBody>
      </p:sp>
      <p:sp>
        <p:nvSpPr>
          <p:cNvPr id="20" name="Text 18"/>
          <p:cNvSpPr/>
          <p:nvPr/>
        </p:nvSpPr>
        <p:spPr>
          <a:xfrm>
            <a:off x="13301663" y="4406900"/>
            <a:ext cx="4227671" cy="355600"/>
          </a:xfrm>
          <a:prstGeom prst="rect">
            <a:avLst/>
          </a:prstGeom>
          <a:noFill/>
          <a:ln/>
        </p:spPr>
        <p:txBody>
          <a:bodyPr wrap="square" lIns="25400" tIns="25400" rIns="25400" bIns="25400" rtlCol="0" anchor="t">
            <a:normAutofit/>
          </a:bodyPr>
          <a:lstStyle/>
          <a:p>
            <a:pPr algn="l" indent="0" marL="0">
              <a:buNone/>
            </a:pPr>
            <a:r>
              <a:rPr lang="en-US" sz="1950" b="1" dirty="0">
                <a:solidFill>
                  <a:srgbClr val="0E1C30"/>
                </a:solidFill>
                <a:latin typeface="Space Grotesk" pitchFamily="34" charset="0"/>
                <a:ea typeface="Space Grotesk" pitchFamily="34" charset="-122"/>
                <a:cs typeface="Space Grotesk" pitchFamily="34" charset="-120"/>
              </a:rPr>
              <a:t>PRFAQ</a:t>
            </a:r>
            <a:endParaRPr lang="en-US" sz="1950" dirty="0"/>
          </a:p>
        </p:txBody>
      </p:sp>
      <p:sp>
        <p:nvSpPr>
          <p:cNvPr id="21" name="Text 19"/>
          <p:cNvSpPr/>
          <p:nvPr/>
        </p:nvSpPr>
        <p:spPr>
          <a:xfrm>
            <a:off x="13301663" y="4857750"/>
            <a:ext cx="3958638" cy="590550"/>
          </a:xfrm>
          <a:prstGeom prst="rect">
            <a:avLst/>
          </a:prstGeom>
          <a:noFill/>
          <a:ln/>
        </p:spPr>
        <p:txBody>
          <a:bodyPr wrap="square" lIns="25400" tIns="25400" rIns="25400" bIns="25400" rtlCol="0" anchor="t">
            <a:normAutofit/>
          </a:bodyPr>
          <a:lstStyle/>
          <a:p>
            <a:pPr algn="l" indent="0" marL="0">
              <a:lnSpc>
                <a:spcPct val="111538"/>
              </a:lnSpc>
              <a:buNone/>
            </a:pPr>
            <a:r>
              <a:rPr lang="en-US" sz="1500" dirty="0">
                <a:solidFill>
                  <a:srgbClr val="0E1C30">
                    <a:alpha val="68000"/>
                  </a:srgbClr>
                </a:solidFill>
                <a:latin typeface="IBM Plex Sans" pitchFamily="34" charset="0"/>
                <a:ea typeface="IBM Plex Sans" pitchFamily="34" charset="-122"/>
                <a:cs typeface="IBM Plex Sans" pitchFamily="34" charset="-120"/>
              </a:rPr>
              <a:t>Working Backwards. Write the launch press release before the code.</a:t>
            </a:r>
            <a:endParaRPr lang="en-US" sz="1500" dirty="0"/>
          </a:p>
        </p:txBody>
      </p:sp>
      <p:sp>
        <p:nvSpPr>
          <p:cNvPr id="22" name="Text 20"/>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23" name="Text 21"/>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25 / 45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2899404"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PHASE 01 · IN PRACTICE</a:t>
            </a:r>
            <a:endParaRPr lang="en-US" sz="1200" dirty="0"/>
          </a:p>
        </p:txBody>
      </p:sp>
      <p:sp>
        <p:nvSpPr>
          <p:cNvPr id="4" name="Text 2"/>
          <p:cNvSpPr/>
          <p:nvPr/>
        </p:nvSpPr>
        <p:spPr>
          <a:xfrm>
            <a:off x="1143000" y="1384300"/>
            <a:ext cx="17602200" cy="672147"/>
          </a:xfrm>
          <a:prstGeom prst="rect">
            <a:avLst/>
          </a:prstGeom>
          <a:noFill/>
          <a:ln/>
        </p:spPr>
        <p:txBody>
          <a:bodyPr wrap="square" lIns="25400" tIns="25400" rIns="25400" bIns="25400" rtlCol="0" anchor="t">
            <a:normAutofit/>
          </a:bodyPr>
          <a:lstStyle/>
          <a:p>
            <a:pPr algn="l" indent="0" marL="0">
              <a:lnSpc>
                <a:spcPct val="81844"/>
              </a:lnSpc>
              <a:buNone/>
            </a:pPr>
            <a:r>
              <a:rPr lang="en-US" sz="4800" b="1" spc="-96" kern="0" dirty="0">
                <a:solidFill>
                  <a:srgbClr val="0E1C30"/>
                </a:solidFill>
                <a:latin typeface="Space Grotesk" pitchFamily="34" charset="0"/>
                <a:ea typeface="Space Grotesk" pitchFamily="34" charset="-122"/>
                <a:cs typeface="Space Grotesk" pitchFamily="34" charset="-120"/>
              </a:rPr>
              <a:t>Which tool, when?</a:t>
            </a:r>
            <a:endParaRPr lang="en-US" sz="4800" dirty="0"/>
          </a:p>
        </p:txBody>
      </p:sp>
      <p:sp>
        <p:nvSpPr>
          <p:cNvPr id="5" name="Shape 3"/>
          <p:cNvSpPr/>
          <p:nvPr/>
        </p:nvSpPr>
        <p:spPr>
          <a:xfrm>
            <a:off x="1143000" y="2551747"/>
            <a:ext cx="16002000" cy="9525"/>
          </a:xfrm>
          <a:prstGeom prst="rect">
            <a:avLst/>
          </a:prstGeom>
          <a:solidFill>
            <a:srgbClr val="0E1C30">
              <a:alpha val="14000"/>
            </a:srgbClr>
          </a:solidFill>
          <a:ln/>
        </p:spPr>
      </p:sp>
      <p:sp>
        <p:nvSpPr>
          <p:cNvPr id="6" name="Shape 4"/>
          <p:cNvSpPr/>
          <p:nvPr/>
        </p:nvSpPr>
        <p:spPr>
          <a:xfrm>
            <a:off x="1143000" y="3466147"/>
            <a:ext cx="16002000" cy="9525"/>
          </a:xfrm>
          <a:prstGeom prst="rect">
            <a:avLst/>
          </a:prstGeom>
          <a:solidFill>
            <a:srgbClr val="0E1C30">
              <a:alpha val="10000"/>
            </a:srgbClr>
          </a:solidFill>
          <a:ln/>
        </p:spPr>
      </p:sp>
      <p:sp>
        <p:nvSpPr>
          <p:cNvPr id="7" name="Text 5"/>
          <p:cNvSpPr/>
          <p:nvPr/>
        </p:nvSpPr>
        <p:spPr>
          <a:xfrm>
            <a:off x="1143000" y="2843847"/>
            <a:ext cx="10023475" cy="374650"/>
          </a:xfrm>
          <a:prstGeom prst="rect">
            <a:avLst/>
          </a:prstGeom>
          <a:noFill/>
          <a:ln/>
        </p:spPr>
        <p:txBody>
          <a:bodyPr wrap="square" lIns="25400" tIns="25400" rIns="25400" bIns="25400" rtlCol="0" anchor="t">
            <a:normAutofit/>
          </a:bodyPr>
          <a:lstStyle/>
          <a:p>
            <a:pPr algn="l" indent="0" marL="0">
              <a:buNone/>
            </a:pPr>
            <a:r>
              <a:rPr lang="en-US" sz="2025" dirty="0">
                <a:solidFill>
                  <a:srgbClr val="0E1C30">
                    <a:alpha val="82000"/>
                  </a:srgbClr>
                </a:solidFill>
                <a:latin typeface="IBM Plex Sans" pitchFamily="34" charset="0"/>
                <a:ea typeface="IBM Plex Sans" pitchFamily="34" charset="-122"/>
                <a:cs typeface="IBM Plex Sans" pitchFamily="34" charset="-120"/>
              </a:rPr>
              <a:t>“I have a vague idea, not sure where to start.”</a:t>
            </a:r>
            <a:endParaRPr lang="en-US" sz="2025" dirty="0"/>
          </a:p>
        </p:txBody>
      </p:sp>
      <p:sp>
        <p:nvSpPr>
          <p:cNvPr id="8" name="Text 6"/>
          <p:cNvSpPr/>
          <p:nvPr/>
        </p:nvSpPr>
        <p:spPr>
          <a:xfrm>
            <a:off x="10636250" y="2847022"/>
            <a:ext cx="7159625" cy="368300"/>
          </a:xfrm>
          <a:prstGeom prst="rect">
            <a:avLst/>
          </a:prstGeom>
          <a:noFill/>
          <a:ln/>
        </p:spPr>
        <p:txBody>
          <a:bodyPr wrap="square" lIns="25400" tIns="25400" rIns="25400" bIns="25400" rtlCol="0" anchor="t">
            <a:normAutofit/>
          </a:bodyPr>
          <a:lstStyle/>
          <a:p>
            <a:pPr algn="l" indent="0" marL="0">
              <a:buNone/>
            </a:pPr>
            <a:r>
              <a:rPr lang="en-US" sz="2025" b="1" dirty="0">
                <a:solidFill>
                  <a:srgbClr val="0E1C30"/>
                </a:solidFill>
                <a:latin typeface="Space Grotesk" pitchFamily="34" charset="0"/>
                <a:ea typeface="Space Grotesk" pitchFamily="34" charset="-122"/>
                <a:cs typeface="Space Grotesk" pitchFamily="34" charset="-120"/>
              </a:rPr>
              <a:t>Brainstorming</a:t>
            </a:r>
            <a:endParaRPr lang="en-US" sz="2025" dirty="0"/>
          </a:p>
        </p:txBody>
      </p:sp>
      <p:sp>
        <p:nvSpPr>
          <p:cNvPr id="9" name="Shape 7"/>
          <p:cNvSpPr/>
          <p:nvPr/>
        </p:nvSpPr>
        <p:spPr>
          <a:xfrm>
            <a:off x="1143000" y="4380547"/>
            <a:ext cx="16002000" cy="9525"/>
          </a:xfrm>
          <a:prstGeom prst="rect">
            <a:avLst/>
          </a:prstGeom>
          <a:solidFill>
            <a:srgbClr val="0E1C30">
              <a:alpha val="10000"/>
            </a:srgbClr>
          </a:solidFill>
          <a:ln/>
        </p:spPr>
      </p:sp>
      <p:sp>
        <p:nvSpPr>
          <p:cNvPr id="10" name="Text 8"/>
          <p:cNvSpPr/>
          <p:nvPr/>
        </p:nvSpPr>
        <p:spPr>
          <a:xfrm>
            <a:off x="1143000" y="3758247"/>
            <a:ext cx="10023475" cy="374650"/>
          </a:xfrm>
          <a:prstGeom prst="rect">
            <a:avLst/>
          </a:prstGeom>
          <a:noFill/>
          <a:ln/>
        </p:spPr>
        <p:txBody>
          <a:bodyPr wrap="square" lIns="25400" tIns="25400" rIns="25400" bIns="25400" rtlCol="0" anchor="t">
            <a:normAutofit/>
          </a:bodyPr>
          <a:lstStyle/>
          <a:p>
            <a:pPr algn="l" indent="0" marL="0">
              <a:buNone/>
            </a:pPr>
            <a:r>
              <a:rPr lang="en-US" sz="2025" dirty="0">
                <a:solidFill>
                  <a:srgbClr val="0E1C30">
                    <a:alpha val="82000"/>
                  </a:srgbClr>
                </a:solidFill>
                <a:latin typeface="IBM Plex Sans" pitchFamily="34" charset="0"/>
                <a:ea typeface="IBM Plex Sans" pitchFamily="34" charset="-122"/>
                <a:cs typeface="IBM Plex Sans" pitchFamily="34" charset="-120"/>
              </a:rPr>
              <a:t>“I need to understand the market before deciding.”</a:t>
            </a:r>
            <a:endParaRPr lang="en-US" sz="2025" dirty="0"/>
          </a:p>
        </p:txBody>
      </p:sp>
      <p:sp>
        <p:nvSpPr>
          <p:cNvPr id="11" name="Text 9"/>
          <p:cNvSpPr/>
          <p:nvPr/>
        </p:nvSpPr>
        <p:spPr>
          <a:xfrm>
            <a:off x="10636250" y="3761422"/>
            <a:ext cx="7159625" cy="368300"/>
          </a:xfrm>
          <a:prstGeom prst="rect">
            <a:avLst/>
          </a:prstGeom>
          <a:noFill/>
          <a:ln/>
        </p:spPr>
        <p:txBody>
          <a:bodyPr wrap="square" lIns="25400" tIns="25400" rIns="25400" bIns="25400" rtlCol="0" anchor="t">
            <a:normAutofit/>
          </a:bodyPr>
          <a:lstStyle/>
          <a:p>
            <a:pPr algn="l" indent="0" marL="0">
              <a:buNone/>
            </a:pPr>
            <a:r>
              <a:rPr lang="en-US" sz="2025" b="1" dirty="0">
                <a:solidFill>
                  <a:srgbClr val="0E1C30"/>
                </a:solidFill>
                <a:latin typeface="Space Grotesk" pitchFamily="34" charset="0"/>
                <a:ea typeface="Space Grotesk" pitchFamily="34" charset="-122"/>
                <a:cs typeface="Space Grotesk" pitchFamily="34" charset="-120"/>
              </a:rPr>
              <a:t>Research</a:t>
            </a:r>
            <a:endParaRPr lang="en-US" sz="2025" dirty="0"/>
          </a:p>
        </p:txBody>
      </p:sp>
      <p:sp>
        <p:nvSpPr>
          <p:cNvPr id="12" name="Shape 10"/>
          <p:cNvSpPr/>
          <p:nvPr/>
        </p:nvSpPr>
        <p:spPr>
          <a:xfrm>
            <a:off x="1143000" y="5294947"/>
            <a:ext cx="16002000" cy="9525"/>
          </a:xfrm>
          <a:prstGeom prst="rect">
            <a:avLst/>
          </a:prstGeom>
          <a:solidFill>
            <a:srgbClr val="0E1C30">
              <a:alpha val="10000"/>
            </a:srgbClr>
          </a:solidFill>
          <a:ln/>
        </p:spPr>
      </p:sp>
      <p:sp>
        <p:nvSpPr>
          <p:cNvPr id="13" name="Text 11"/>
          <p:cNvSpPr/>
          <p:nvPr/>
        </p:nvSpPr>
        <p:spPr>
          <a:xfrm>
            <a:off x="1143000" y="4672647"/>
            <a:ext cx="10023475" cy="374650"/>
          </a:xfrm>
          <a:prstGeom prst="rect">
            <a:avLst/>
          </a:prstGeom>
          <a:noFill/>
          <a:ln/>
        </p:spPr>
        <p:txBody>
          <a:bodyPr wrap="square" lIns="25400" tIns="25400" rIns="25400" bIns="25400" rtlCol="0" anchor="t">
            <a:normAutofit/>
          </a:bodyPr>
          <a:lstStyle/>
          <a:p>
            <a:pPr algn="l" indent="0" marL="0">
              <a:buNone/>
            </a:pPr>
            <a:r>
              <a:rPr lang="en-US" sz="2025" dirty="0">
                <a:solidFill>
                  <a:srgbClr val="0E1C30">
                    <a:alpha val="82000"/>
                  </a:srgbClr>
                </a:solidFill>
                <a:latin typeface="IBM Plex Sans" pitchFamily="34" charset="0"/>
                <a:ea typeface="IBM Plex Sans" pitchFamily="34" charset="-122"/>
                <a:cs typeface="IBM Plex Sans" pitchFamily="34" charset="-120"/>
              </a:rPr>
              <a:t>“I know what I want — just document it.”</a:t>
            </a:r>
            <a:endParaRPr lang="en-US" sz="2025" dirty="0"/>
          </a:p>
        </p:txBody>
      </p:sp>
      <p:sp>
        <p:nvSpPr>
          <p:cNvPr id="14" name="Text 12"/>
          <p:cNvSpPr/>
          <p:nvPr/>
        </p:nvSpPr>
        <p:spPr>
          <a:xfrm>
            <a:off x="10636250" y="4675822"/>
            <a:ext cx="7159625" cy="368300"/>
          </a:xfrm>
          <a:prstGeom prst="rect">
            <a:avLst/>
          </a:prstGeom>
          <a:noFill/>
          <a:ln/>
        </p:spPr>
        <p:txBody>
          <a:bodyPr wrap="square" lIns="25400" tIns="25400" rIns="25400" bIns="25400" rtlCol="0" anchor="t">
            <a:normAutofit/>
          </a:bodyPr>
          <a:lstStyle/>
          <a:p>
            <a:pPr algn="l" indent="0" marL="0">
              <a:buNone/>
            </a:pPr>
            <a:r>
              <a:rPr lang="en-US" sz="2025" b="1" dirty="0">
                <a:solidFill>
                  <a:srgbClr val="0E1C30"/>
                </a:solidFill>
                <a:latin typeface="Space Grotesk" pitchFamily="34" charset="0"/>
                <a:ea typeface="Space Grotesk" pitchFamily="34" charset="-122"/>
                <a:cs typeface="Space Grotesk" pitchFamily="34" charset="-120"/>
              </a:rPr>
              <a:t>Product Brief</a:t>
            </a:r>
            <a:endParaRPr lang="en-US" sz="2025" dirty="0"/>
          </a:p>
        </p:txBody>
      </p:sp>
      <p:sp>
        <p:nvSpPr>
          <p:cNvPr id="15" name="Shape 13"/>
          <p:cNvSpPr/>
          <p:nvPr/>
        </p:nvSpPr>
        <p:spPr>
          <a:xfrm>
            <a:off x="1143000" y="6209347"/>
            <a:ext cx="16002000" cy="9525"/>
          </a:xfrm>
          <a:prstGeom prst="rect">
            <a:avLst/>
          </a:prstGeom>
          <a:solidFill>
            <a:srgbClr val="0E1C30">
              <a:alpha val="10000"/>
            </a:srgbClr>
          </a:solidFill>
          <a:ln/>
        </p:spPr>
      </p:sp>
      <p:sp>
        <p:nvSpPr>
          <p:cNvPr id="16" name="Text 14"/>
          <p:cNvSpPr/>
          <p:nvPr/>
        </p:nvSpPr>
        <p:spPr>
          <a:xfrm>
            <a:off x="1143000" y="5587047"/>
            <a:ext cx="10023475" cy="374650"/>
          </a:xfrm>
          <a:prstGeom prst="rect">
            <a:avLst/>
          </a:prstGeom>
          <a:noFill/>
          <a:ln/>
        </p:spPr>
        <p:txBody>
          <a:bodyPr wrap="square" lIns="25400" tIns="25400" rIns="25400" bIns="25400" rtlCol="0" anchor="t">
            <a:normAutofit/>
          </a:bodyPr>
          <a:lstStyle/>
          <a:p>
            <a:pPr algn="l" indent="0" marL="0">
              <a:buNone/>
            </a:pPr>
            <a:r>
              <a:rPr lang="en-US" sz="2025" dirty="0">
                <a:solidFill>
                  <a:srgbClr val="0E1C30">
                    <a:alpha val="82000"/>
                  </a:srgbClr>
                </a:solidFill>
                <a:latin typeface="IBM Plex Sans" pitchFamily="34" charset="0"/>
                <a:ea typeface="IBM Plex Sans" pitchFamily="34" charset="-122"/>
                <a:cs typeface="IBM Plex Sans" pitchFamily="34" charset="-120"/>
              </a:rPr>
              <a:t>“Make sure this is actually worth building.”</a:t>
            </a:r>
            <a:endParaRPr lang="en-US" sz="2025" dirty="0"/>
          </a:p>
        </p:txBody>
      </p:sp>
      <p:sp>
        <p:nvSpPr>
          <p:cNvPr id="17" name="Text 15"/>
          <p:cNvSpPr/>
          <p:nvPr/>
        </p:nvSpPr>
        <p:spPr>
          <a:xfrm>
            <a:off x="10636250" y="5590223"/>
            <a:ext cx="7159625" cy="368300"/>
          </a:xfrm>
          <a:prstGeom prst="rect">
            <a:avLst/>
          </a:prstGeom>
          <a:noFill/>
          <a:ln/>
        </p:spPr>
        <p:txBody>
          <a:bodyPr wrap="square" lIns="25400" tIns="25400" rIns="25400" bIns="25400" rtlCol="0" anchor="t">
            <a:normAutofit/>
          </a:bodyPr>
          <a:lstStyle/>
          <a:p>
            <a:pPr algn="l" indent="0" marL="0">
              <a:buNone/>
            </a:pPr>
            <a:r>
              <a:rPr lang="en-US" sz="2025" b="1" dirty="0">
                <a:solidFill>
                  <a:srgbClr val="0E1C30"/>
                </a:solidFill>
                <a:latin typeface="Space Grotesk" pitchFamily="34" charset="0"/>
                <a:ea typeface="Space Grotesk" pitchFamily="34" charset="-122"/>
                <a:cs typeface="Space Grotesk" pitchFamily="34" charset="-120"/>
              </a:rPr>
              <a:t>PRFAQ</a:t>
            </a:r>
            <a:endParaRPr lang="en-US" sz="2025" dirty="0"/>
          </a:p>
        </p:txBody>
      </p:sp>
      <p:sp>
        <p:nvSpPr>
          <p:cNvPr id="18" name="Text 16"/>
          <p:cNvSpPr/>
          <p:nvPr/>
        </p:nvSpPr>
        <p:spPr>
          <a:xfrm>
            <a:off x="1143000" y="6634797"/>
            <a:ext cx="12165330" cy="723900"/>
          </a:xfrm>
          <a:prstGeom prst="rect">
            <a:avLst/>
          </a:prstGeom>
          <a:noFill/>
          <a:ln/>
        </p:spPr>
        <p:txBody>
          <a:bodyPr wrap="square" lIns="25400" tIns="25400" rIns="25400" bIns="25400" rtlCol="0" anchor="t">
            <a:normAutofit/>
          </a:bodyPr>
          <a:lstStyle/>
          <a:p>
            <a:pPr algn="l" indent="0" marL="0">
              <a:lnSpc>
                <a:spcPct val="114894"/>
              </a:lnSpc>
              <a:buNone/>
            </a:pPr>
            <a:r>
              <a:rPr lang="en-US" sz="1800" dirty="0">
                <a:solidFill>
                  <a:srgbClr val="0E1C30">
                    <a:alpha val="60000"/>
                  </a:srgbClr>
                </a:solidFill>
                <a:latin typeface="IBM Plex Sans" pitchFamily="34" charset="0"/>
                <a:ea typeface="IBM Plex Sans" pitchFamily="34" charset="-122"/>
                <a:cs typeface="IBM Plex Sans" pitchFamily="34" charset="-120"/>
              </a:rPr>
              <a:t>Brief and PRFAQ both feed the PRD. The brief is collaborative discovery; the PRFAQ is a gauntlet. Same destination — the PRFAQ tests whether your concept deserves to get there.</a:t>
            </a:r>
            <a:endParaRPr lang="en-US" sz="1800" dirty="0"/>
          </a:p>
        </p:txBody>
      </p:sp>
      <p:sp>
        <p:nvSpPr>
          <p:cNvPr id="19" name="Text 17"/>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20" name="Text 18"/>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26 / 45</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1143000" y="914400"/>
            <a:ext cx="1202849" cy="355600"/>
          </a:xfrm>
          <a:prstGeom prst="rect">
            <a:avLst/>
          </a:prstGeom>
          <a:noFill/>
          <a:ln/>
        </p:spPr>
        <p:txBody>
          <a:bodyPr wrap="square" lIns="25400" tIns="25400" rIns="25400" bIns="25400" rtlCol="0" anchor="t">
            <a:normAutofit/>
          </a:bodyPr>
          <a:lstStyle/>
          <a:p>
            <a:pPr algn="l" indent="0" marL="0">
              <a:buNone/>
            </a:pPr>
            <a:r>
              <a:rPr lang="en-US" sz="1950" b="1" dirty="0">
                <a:solidFill>
                  <a:srgbClr val="F4C233"/>
                </a:solidFill>
                <a:latin typeface="Space Grotesk" pitchFamily="34" charset="0"/>
                <a:ea typeface="Space Grotesk" pitchFamily="34" charset="-122"/>
                <a:cs typeface="Space Grotesk" pitchFamily="34" charset="-120"/>
              </a:rPr>
              <a:t>PHASE 02</a:t>
            </a:r>
            <a:endParaRPr lang="en-US" sz="1950" dirty="0"/>
          </a:p>
        </p:txBody>
      </p:sp>
      <p:sp>
        <p:nvSpPr>
          <p:cNvPr id="3" name="Text 1"/>
          <p:cNvSpPr/>
          <p:nvPr/>
        </p:nvSpPr>
        <p:spPr>
          <a:xfrm>
            <a:off x="2460149" y="981075"/>
            <a:ext cx="1219200" cy="222250"/>
          </a:xfrm>
          <a:prstGeom prst="rect">
            <a:avLst/>
          </a:prstGeom>
          <a:noFill/>
          <a:ln/>
        </p:spPr>
        <p:txBody>
          <a:bodyPr wrap="square" lIns="25400" tIns="25400" rIns="25400" bIns="25400" rtlCol="0" anchor="t">
            <a:normAutofit/>
          </a:bodyPr>
          <a:lstStyle/>
          <a:p>
            <a:pPr algn="l" indent="0" marL="0">
              <a:buNone/>
            </a:pPr>
            <a:r>
              <a:rPr lang="en-US" sz="1125" spc="225" kern="0" dirty="0">
                <a:solidFill>
                  <a:srgbClr val="0E1C30">
                    <a:alpha val="50000"/>
                  </a:srgbClr>
                </a:solidFill>
                <a:latin typeface="IBM Plex Mono" pitchFamily="34" charset="0"/>
                <a:ea typeface="IBM Plex Mono" pitchFamily="34" charset="-122"/>
                <a:cs typeface="IBM Plex Mono" pitchFamily="34" charset="-120"/>
              </a:rPr>
              <a:t>WHAT &amp; WHY</a:t>
            </a:r>
            <a:endParaRPr lang="en-US" sz="1125" dirty="0"/>
          </a:p>
        </p:txBody>
      </p:sp>
      <p:sp>
        <p:nvSpPr>
          <p:cNvPr id="4" name="Text 2"/>
          <p:cNvSpPr/>
          <p:nvPr/>
        </p:nvSpPr>
        <p:spPr>
          <a:xfrm>
            <a:off x="1143000" y="1441450"/>
            <a:ext cx="17602200" cy="781050"/>
          </a:xfrm>
          <a:prstGeom prst="rect">
            <a:avLst/>
          </a:prstGeom>
          <a:noFill/>
          <a:ln/>
        </p:spPr>
        <p:txBody>
          <a:bodyPr wrap="square" lIns="25400" tIns="25400" rIns="25400" bIns="25400" rtlCol="0" anchor="t">
            <a:normAutofit/>
          </a:bodyPr>
          <a:lstStyle/>
          <a:p>
            <a:pPr algn="l" indent="0" marL="0">
              <a:lnSpc>
                <a:spcPct val="78523"/>
              </a:lnSpc>
              <a:buNone/>
            </a:pPr>
            <a:r>
              <a:rPr lang="en-US" sz="5850" b="1" spc="-117" kern="0" dirty="0">
                <a:solidFill>
                  <a:srgbClr val="0E1C30"/>
                </a:solidFill>
                <a:latin typeface="Space Grotesk" pitchFamily="34" charset="0"/>
                <a:ea typeface="Space Grotesk" pitchFamily="34" charset="-122"/>
                <a:cs typeface="Space Grotesk" pitchFamily="34" charset="-120"/>
              </a:rPr>
              <a:t>Planning</a:t>
            </a:r>
            <a:endParaRPr lang="en-US" sz="5850" dirty="0"/>
          </a:p>
        </p:txBody>
      </p:sp>
      <p:sp>
        <p:nvSpPr>
          <p:cNvPr id="5" name="Text 3"/>
          <p:cNvSpPr/>
          <p:nvPr/>
        </p:nvSpPr>
        <p:spPr>
          <a:xfrm>
            <a:off x="1143000" y="2413000"/>
            <a:ext cx="11380470" cy="838200"/>
          </a:xfrm>
          <a:prstGeom prst="rect">
            <a:avLst/>
          </a:prstGeom>
          <a:noFill/>
          <a:ln/>
        </p:spPr>
        <p:txBody>
          <a:bodyPr wrap="square" lIns="25400" tIns="25400" rIns="25400" bIns="25400" rtlCol="0" anchor="t">
            <a:normAutofit/>
          </a:bodyPr>
          <a:lstStyle/>
          <a:p>
            <a:pPr algn="l" indent="0" marL="0">
              <a:lnSpc>
                <a:spcPct val="114545"/>
              </a:lnSpc>
              <a:buNone/>
            </a:pPr>
            <a:r>
              <a:rPr lang="en-US" sz="2100" dirty="0">
                <a:solidFill>
                  <a:srgbClr val="0E1C30">
                    <a:alpha val="72000"/>
                  </a:srgbClr>
                </a:solidFill>
                <a:latin typeface="IBM Plex Sans" pitchFamily="34" charset="0"/>
                <a:ea typeface="IBM Plex Sans" pitchFamily="34" charset="-122"/>
                <a:cs typeface="IBM Plex Sans" pitchFamily="34" charset="-120"/>
              </a:rPr>
              <a:t>Define what to build and for whom. Everything downstream inherits the clarity — or the vagueness — you set here.</a:t>
            </a:r>
            <a:endParaRPr lang="en-US" sz="2100" dirty="0"/>
          </a:p>
        </p:txBody>
      </p:sp>
      <p:sp>
        <p:nvSpPr>
          <p:cNvPr id="6" name="Shape 4"/>
          <p:cNvSpPr/>
          <p:nvPr/>
        </p:nvSpPr>
        <p:spPr>
          <a:xfrm>
            <a:off x="1143000" y="3784600"/>
            <a:ext cx="7858125" cy="2365375"/>
          </a:xfrm>
          <a:prstGeom prst="rect">
            <a:avLst/>
          </a:prstGeom>
          <a:solidFill>
            <a:srgbClr val="FFFFFF"/>
          </a:solidFill>
          <a:ln/>
        </p:spPr>
      </p:sp>
      <p:sp>
        <p:nvSpPr>
          <p:cNvPr id="7" name="Shape 5"/>
          <p:cNvSpPr/>
          <p:nvPr/>
        </p:nvSpPr>
        <p:spPr>
          <a:xfrm>
            <a:off x="1143000" y="6143625"/>
            <a:ext cx="7858125" cy="9525"/>
          </a:xfrm>
          <a:prstGeom prst="rect">
            <a:avLst/>
          </a:prstGeom>
          <a:solidFill>
            <a:srgbClr val="0E1C30">
              <a:alpha val="16000"/>
            </a:srgbClr>
          </a:solidFill>
          <a:ln/>
        </p:spPr>
      </p:sp>
      <p:sp>
        <p:nvSpPr>
          <p:cNvPr id="8" name="Shape 6"/>
          <p:cNvSpPr/>
          <p:nvPr/>
        </p:nvSpPr>
        <p:spPr>
          <a:xfrm>
            <a:off x="1143000" y="3784600"/>
            <a:ext cx="7858125" cy="9525"/>
          </a:xfrm>
          <a:prstGeom prst="rect">
            <a:avLst/>
          </a:prstGeom>
          <a:solidFill>
            <a:srgbClr val="0E1C30">
              <a:alpha val="16000"/>
            </a:srgbClr>
          </a:solidFill>
          <a:ln/>
        </p:spPr>
      </p:sp>
      <p:sp>
        <p:nvSpPr>
          <p:cNvPr id="9" name="Shape 7"/>
          <p:cNvSpPr/>
          <p:nvPr/>
        </p:nvSpPr>
        <p:spPr>
          <a:xfrm>
            <a:off x="1143000" y="3784600"/>
            <a:ext cx="38100" cy="2365375"/>
          </a:xfrm>
          <a:prstGeom prst="rect">
            <a:avLst/>
          </a:prstGeom>
          <a:solidFill>
            <a:srgbClr val="F4C233"/>
          </a:solidFill>
          <a:ln/>
        </p:spPr>
      </p:sp>
      <p:sp>
        <p:nvSpPr>
          <p:cNvPr id="10" name="Shape 8"/>
          <p:cNvSpPr/>
          <p:nvPr/>
        </p:nvSpPr>
        <p:spPr>
          <a:xfrm>
            <a:off x="8994775" y="3784600"/>
            <a:ext cx="9525" cy="2365375"/>
          </a:xfrm>
          <a:prstGeom prst="rect">
            <a:avLst/>
          </a:prstGeom>
          <a:solidFill>
            <a:srgbClr val="0E1C30">
              <a:alpha val="16000"/>
            </a:srgbClr>
          </a:solidFill>
          <a:ln/>
        </p:spPr>
      </p:sp>
      <p:sp>
        <p:nvSpPr>
          <p:cNvPr id="11" name="Text 9"/>
          <p:cNvSpPr/>
          <p:nvPr/>
        </p:nvSpPr>
        <p:spPr>
          <a:xfrm>
            <a:off x="1562100" y="4152900"/>
            <a:ext cx="7756842" cy="222250"/>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F4C233"/>
                </a:solidFill>
                <a:latin typeface="IBM Plex Mono" pitchFamily="34" charset="0"/>
                <a:ea typeface="IBM Plex Mono" pitchFamily="34" charset="-122"/>
                <a:cs typeface="IBM Plex Mono" pitchFamily="34" charset="-120"/>
              </a:rPr>
              <a:t>bmad-prd</a:t>
            </a:r>
            <a:endParaRPr lang="en-US" sz="1125" dirty="0"/>
          </a:p>
        </p:txBody>
      </p:sp>
      <p:sp>
        <p:nvSpPr>
          <p:cNvPr id="12" name="Text 10"/>
          <p:cNvSpPr/>
          <p:nvPr/>
        </p:nvSpPr>
        <p:spPr>
          <a:xfrm>
            <a:off x="1562100" y="4489450"/>
            <a:ext cx="7756842" cy="501650"/>
          </a:xfrm>
          <a:prstGeom prst="rect">
            <a:avLst/>
          </a:prstGeom>
          <a:noFill/>
          <a:ln/>
        </p:spPr>
        <p:txBody>
          <a:bodyPr wrap="square" lIns="25400" tIns="25400" rIns="25400" bIns="25400" rtlCol="0" anchor="t">
            <a:normAutofit/>
          </a:bodyPr>
          <a:lstStyle/>
          <a:p>
            <a:pPr algn="l" indent="0" marL="0">
              <a:buNone/>
            </a:pPr>
            <a:r>
              <a:rPr lang="en-US" sz="2850" b="1" dirty="0">
                <a:solidFill>
                  <a:srgbClr val="0E1C30"/>
                </a:solidFill>
                <a:latin typeface="Space Grotesk" pitchFamily="34" charset="0"/>
                <a:ea typeface="Space Grotesk" pitchFamily="34" charset="-122"/>
                <a:cs typeface="Space Grotesk" pitchFamily="34" charset="-120"/>
              </a:rPr>
              <a:t>Product Requirements</a:t>
            </a:r>
            <a:endParaRPr lang="en-US" sz="2850" dirty="0"/>
          </a:p>
        </p:txBody>
      </p:sp>
      <p:sp>
        <p:nvSpPr>
          <p:cNvPr id="13" name="Text 11"/>
          <p:cNvSpPr/>
          <p:nvPr/>
        </p:nvSpPr>
        <p:spPr>
          <a:xfrm>
            <a:off x="1562100" y="5124450"/>
            <a:ext cx="7263225" cy="695325"/>
          </a:xfrm>
          <a:prstGeom prst="rect">
            <a:avLst/>
          </a:prstGeom>
          <a:noFill/>
          <a:ln/>
        </p:spPr>
        <p:txBody>
          <a:bodyPr wrap="square" lIns="25400" tIns="25400" rIns="25400" bIns="25400" rtlCol="0" anchor="t">
            <a:normAutofit/>
          </a:bodyPr>
          <a:lstStyle/>
          <a:p>
            <a:pPr algn="l" indent="0" marL="0">
              <a:lnSpc>
                <a:spcPct val="115000"/>
              </a:lnSpc>
              <a:buNone/>
            </a:pPr>
            <a:r>
              <a:rPr lang="en-US" sz="1725" dirty="0">
                <a:solidFill>
                  <a:srgbClr val="0E1C30">
                    <a:alpha val="70000"/>
                  </a:srgbClr>
                </a:solidFill>
                <a:latin typeface="IBM Plex Sans" pitchFamily="34" charset="0"/>
                <a:ea typeface="IBM Plex Sans" pitchFamily="34" charset="-122"/>
                <a:cs typeface="IBM Plex Sans" pitchFamily="34" charset="-120"/>
              </a:rPr>
              <a:t>Facilitated discovery that produces functional &amp; non-functional requirements. One skill, three intents: </a:t>
            </a:r>
            <a:pPr algn="l" indent="0" marL="0">
              <a:lnSpc>
                <a:spcPct val="115000"/>
              </a:lnSpc>
              <a:buNone/>
            </a:pPr>
            <a:r>
              <a:rPr lang="en-US" sz="1725" b="1" dirty="0">
                <a:solidFill>
                  <a:srgbClr val="0E1C30"/>
                </a:solidFill>
                <a:latin typeface="IBM Plex Sans" pitchFamily="34" charset="0"/>
                <a:ea typeface="IBM Plex Sans" pitchFamily="34" charset="-122"/>
                <a:cs typeface="IBM Plex Sans" pitchFamily="34" charset="-120"/>
              </a:rPr>
              <a:t>create</a:t>
            </a:r>
            <a:pPr algn="l" indent="0" marL="0">
              <a:lnSpc>
                <a:spcPct val="115000"/>
              </a:lnSpc>
              <a:buNone/>
            </a:pPr>
            <a:r>
              <a:rPr lang="en-US" sz="1725" dirty="0">
                <a:solidFill>
                  <a:srgbClr val="0E1C30">
                    <a:alpha val="70000"/>
                  </a:srgbClr>
                </a:solidFill>
                <a:latin typeface="IBM Plex Sans" pitchFamily="34" charset="0"/>
                <a:ea typeface="IBM Plex Sans" pitchFamily="34" charset="-122"/>
                <a:cs typeface="IBM Plex Sans" pitchFamily="34" charset="-120"/>
              </a:rPr>
              <a:t>, </a:t>
            </a:r>
            <a:pPr algn="l" indent="0" marL="0">
              <a:lnSpc>
                <a:spcPct val="115000"/>
              </a:lnSpc>
              <a:buNone/>
            </a:pPr>
            <a:r>
              <a:rPr lang="en-US" sz="1725" b="1" dirty="0">
                <a:solidFill>
                  <a:srgbClr val="0E1C30"/>
                </a:solidFill>
                <a:latin typeface="IBM Plex Sans" pitchFamily="34" charset="0"/>
                <a:ea typeface="IBM Plex Sans" pitchFamily="34" charset="-122"/>
                <a:cs typeface="IBM Plex Sans" pitchFamily="34" charset="-120"/>
              </a:rPr>
              <a:t>update</a:t>
            </a:r>
            <a:pPr algn="l" indent="0" marL="0">
              <a:lnSpc>
                <a:spcPct val="115000"/>
              </a:lnSpc>
              <a:buNone/>
            </a:pPr>
            <a:r>
              <a:rPr lang="en-US" sz="1725" dirty="0">
                <a:solidFill>
                  <a:srgbClr val="0E1C30">
                    <a:alpha val="70000"/>
                  </a:srgbClr>
                </a:solidFill>
                <a:latin typeface="IBM Plex Sans" pitchFamily="34" charset="0"/>
                <a:ea typeface="IBM Plex Sans" pitchFamily="34" charset="-122"/>
                <a:cs typeface="IBM Plex Sans" pitchFamily="34" charset="-120"/>
              </a:rPr>
              <a:t>, </a:t>
            </a:r>
            <a:pPr algn="l" indent="0" marL="0">
              <a:lnSpc>
                <a:spcPct val="115000"/>
              </a:lnSpc>
              <a:buNone/>
            </a:pPr>
            <a:r>
              <a:rPr lang="en-US" sz="1725" b="1" dirty="0">
                <a:solidFill>
                  <a:srgbClr val="0E1C30"/>
                </a:solidFill>
                <a:latin typeface="IBM Plex Sans" pitchFamily="34" charset="0"/>
                <a:ea typeface="IBM Plex Sans" pitchFamily="34" charset="-122"/>
                <a:cs typeface="IBM Plex Sans" pitchFamily="34" charset="-120"/>
              </a:rPr>
              <a:t>validate</a:t>
            </a:r>
            <a:pPr algn="l" indent="0" marL="0">
              <a:lnSpc>
                <a:spcPct val="115000"/>
              </a:lnSpc>
              <a:buNone/>
            </a:pPr>
            <a:r>
              <a:rPr lang="en-US" sz="1725" dirty="0">
                <a:solidFill>
                  <a:srgbClr val="0E1C30">
                    <a:alpha val="70000"/>
                  </a:srgbClr>
                </a:solidFill>
                <a:latin typeface="IBM Plex Sans" pitchFamily="34" charset="0"/>
                <a:ea typeface="IBM Plex Sans" pitchFamily="34" charset="-122"/>
                <a:cs typeface="IBM Plex Sans" pitchFamily="34" charset="-120"/>
              </a:rPr>
              <a:t>.</a:t>
            </a:r>
            <a:endParaRPr lang="en-US" sz="1725" dirty="0"/>
          </a:p>
        </p:txBody>
      </p:sp>
      <p:sp>
        <p:nvSpPr>
          <p:cNvPr id="14" name="Shape 12"/>
          <p:cNvSpPr/>
          <p:nvPr/>
        </p:nvSpPr>
        <p:spPr>
          <a:xfrm>
            <a:off x="9286875" y="3784600"/>
            <a:ext cx="7858125" cy="2365375"/>
          </a:xfrm>
          <a:prstGeom prst="rect">
            <a:avLst/>
          </a:prstGeom>
          <a:solidFill>
            <a:srgbClr val="FFFFFF"/>
          </a:solidFill>
          <a:ln/>
        </p:spPr>
      </p:sp>
      <p:sp>
        <p:nvSpPr>
          <p:cNvPr id="15" name="Shape 13"/>
          <p:cNvSpPr/>
          <p:nvPr/>
        </p:nvSpPr>
        <p:spPr>
          <a:xfrm>
            <a:off x="9286875" y="6143625"/>
            <a:ext cx="7858125" cy="9525"/>
          </a:xfrm>
          <a:prstGeom prst="rect">
            <a:avLst/>
          </a:prstGeom>
          <a:solidFill>
            <a:srgbClr val="0E1C30">
              <a:alpha val="16000"/>
            </a:srgbClr>
          </a:solidFill>
          <a:ln/>
        </p:spPr>
      </p:sp>
      <p:sp>
        <p:nvSpPr>
          <p:cNvPr id="16" name="Shape 14"/>
          <p:cNvSpPr/>
          <p:nvPr/>
        </p:nvSpPr>
        <p:spPr>
          <a:xfrm>
            <a:off x="9286875" y="3784600"/>
            <a:ext cx="7858125" cy="9525"/>
          </a:xfrm>
          <a:prstGeom prst="rect">
            <a:avLst/>
          </a:prstGeom>
          <a:solidFill>
            <a:srgbClr val="0E1C30">
              <a:alpha val="16000"/>
            </a:srgbClr>
          </a:solidFill>
          <a:ln/>
        </p:spPr>
      </p:sp>
      <p:sp>
        <p:nvSpPr>
          <p:cNvPr id="17" name="Shape 15"/>
          <p:cNvSpPr/>
          <p:nvPr/>
        </p:nvSpPr>
        <p:spPr>
          <a:xfrm>
            <a:off x="9286875" y="3784600"/>
            <a:ext cx="38100" cy="2365375"/>
          </a:xfrm>
          <a:prstGeom prst="rect">
            <a:avLst/>
          </a:prstGeom>
          <a:solidFill>
            <a:srgbClr val="F4C233"/>
          </a:solidFill>
          <a:ln/>
        </p:spPr>
      </p:sp>
      <p:sp>
        <p:nvSpPr>
          <p:cNvPr id="18" name="Shape 16"/>
          <p:cNvSpPr/>
          <p:nvPr/>
        </p:nvSpPr>
        <p:spPr>
          <a:xfrm>
            <a:off x="17138650" y="3784600"/>
            <a:ext cx="9525" cy="2365375"/>
          </a:xfrm>
          <a:prstGeom prst="rect">
            <a:avLst/>
          </a:prstGeom>
          <a:solidFill>
            <a:srgbClr val="0E1C30">
              <a:alpha val="16000"/>
            </a:srgbClr>
          </a:solidFill>
          <a:ln/>
        </p:spPr>
      </p:sp>
      <p:sp>
        <p:nvSpPr>
          <p:cNvPr id="19" name="Text 17"/>
          <p:cNvSpPr/>
          <p:nvPr/>
        </p:nvSpPr>
        <p:spPr>
          <a:xfrm>
            <a:off x="9705975" y="4152900"/>
            <a:ext cx="7756842" cy="222250"/>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F4C233"/>
                </a:solidFill>
                <a:latin typeface="IBM Plex Mono" pitchFamily="34" charset="0"/>
                <a:ea typeface="IBM Plex Mono" pitchFamily="34" charset="-122"/>
                <a:cs typeface="IBM Plex Mono" pitchFamily="34" charset="-120"/>
              </a:rPr>
              <a:t>bmad-ux</a:t>
            </a:r>
            <a:endParaRPr lang="en-US" sz="1125" dirty="0"/>
          </a:p>
        </p:txBody>
      </p:sp>
      <p:sp>
        <p:nvSpPr>
          <p:cNvPr id="20" name="Text 18"/>
          <p:cNvSpPr/>
          <p:nvPr/>
        </p:nvSpPr>
        <p:spPr>
          <a:xfrm>
            <a:off x="9705975" y="4489450"/>
            <a:ext cx="7756842" cy="501650"/>
          </a:xfrm>
          <a:prstGeom prst="rect">
            <a:avLst/>
          </a:prstGeom>
          <a:noFill/>
          <a:ln/>
        </p:spPr>
        <p:txBody>
          <a:bodyPr wrap="square" lIns="25400" tIns="25400" rIns="25400" bIns="25400" rtlCol="0" anchor="t">
            <a:normAutofit/>
          </a:bodyPr>
          <a:lstStyle/>
          <a:p>
            <a:pPr algn="l" indent="0" marL="0">
              <a:buNone/>
            </a:pPr>
            <a:r>
              <a:rPr lang="en-US" sz="2850" b="1" dirty="0">
                <a:solidFill>
                  <a:srgbClr val="0E1C30"/>
                </a:solidFill>
                <a:latin typeface="Space Grotesk" pitchFamily="34" charset="0"/>
                <a:ea typeface="Space Grotesk" pitchFamily="34" charset="-122"/>
                <a:cs typeface="Space Grotesk" pitchFamily="34" charset="-120"/>
              </a:rPr>
              <a:t>UX Design</a:t>
            </a:r>
            <a:endParaRPr lang="en-US" sz="2850" dirty="0"/>
          </a:p>
        </p:txBody>
      </p:sp>
      <p:sp>
        <p:nvSpPr>
          <p:cNvPr id="21" name="Text 19"/>
          <p:cNvSpPr/>
          <p:nvPr/>
        </p:nvSpPr>
        <p:spPr>
          <a:xfrm>
            <a:off x="9705975" y="5124450"/>
            <a:ext cx="7263225" cy="695325"/>
          </a:xfrm>
          <a:prstGeom prst="rect">
            <a:avLst/>
          </a:prstGeom>
          <a:noFill/>
          <a:ln/>
        </p:spPr>
        <p:txBody>
          <a:bodyPr wrap="square" lIns="25400" tIns="25400" rIns="25400" bIns="25400" rtlCol="0" anchor="t">
            <a:normAutofit/>
          </a:bodyPr>
          <a:lstStyle/>
          <a:p>
            <a:pPr algn="l" indent="0" marL="0">
              <a:lnSpc>
                <a:spcPct val="115000"/>
              </a:lnSpc>
              <a:buNone/>
            </a:pPr>
            <a:r>
              <a:rPr lang="en-US" sz="1725" dirty="0">
                <a:solidFill>
                  <a:srgbClr val="0E1C30">
                    <a:alpha val="70000"/>
                  </a:srgbClr>
                </a:solidFill>
                <a:latin typeface="IBM Plex Sans" pitchFamily="34" charset="0"/>
                <a:ea typeface="IBM Plex Sans" pitchFamily="34" charset="-122"/>
                <a:cs typeface="IBM Plex Sans" pitchFamily="34" charset="-120"/>
              </a:rPr>
              <a:t>When experience matters, a spine pair: </a:t>
            </a:r>
            <a:pPr algn="l" indent="0" marL="0">
              <a:lnSpc>
                <a:spcPct val="115000"/>
              </a:lnSpc>
              <a:buNone/>
            </a:pPr>
            <a:r>
              <a:rPr lang="en-US" sz="1500" dirty="0">
                <a:solidFill>
                  <a:srgbClr val="1E7FD6"/>
                </a:solidFill>
                <a:latin typeface="IBM Plex Mono" pitchFamily="34" charset="0"/>
                <a:ea typeface="IBM Plex Mono" pitchFamily="34" charset="-122"/>
                <a:cs typeface="IBM Plex Mono" pitchFamily="34" charset="-120"/>
              </a:rPr>
              <a:t>DESIGN.md </a:t>
            </a:r>
            <a:pPr algn="l" indent="0" marL="0">
              <a:lnSpc>
                <a:spcPct val="115000"/>
              </a:lnSpc>
              <a:buNone/>
            </a:pPr>
            <a:r>
              <a:rPr lang="en-US" sz="1725" dirty="0">
                <a:solidFill>
                  <a:srgbClr val="0E1C30">
                    <a:alpha val="70000"/>
                  </a:srgbClr>
                </a:solidFill>
                <a:latin typeface="IBM Plex Sans" pitchFamily="34" charset="0"/>
                <a:ea typeface="IBM Plex Sans" pitchFamily="34" charset="-122"/>
                <a:cs typeface="IBM Plex Sans" pitchFamily="34" charset="-120"/>
              </a:rPr>
              <a:t>for the visual, </a:t>
            </a:r>
            <a:pPr algn="l" indent="0" marL="0">
              <a:lnSpc>
                <a:spcPct val="115000"/>
              </a:lnSpc>
              <a:buNone/>
            </a:pPr>
            <a:r>
              <a:rPr lang="en-US" sz="1500" dirty="0">
                <a:solidFill>
                  <a:srgbClr val="1E7FD6"/>
                </a:solidFill>
                <a:latin typeface="IBM Plex Mono" pitchFamily="34" charset="0"/>
                <a:ea typeface="IBM Plex Mono" pitchFamily="34" charset="-122"/>
                <a:cs typeface="IBM Plex Mono" pitchFamily="34" charset="-120"/>
              </a:rPr>
              <a:t>EXPERIENCE.md </a:t>
            </a:r>
            <a:pPr algn="l" indent="0" marL="0">
              <a:lnSpc>
                <a:spcPct val="115000"/>
              </a:lnSpc>
              <a:buNone/>
            </a:pPr>
            <a:r>
              <a:rPr lang="en-US" sz="1725" dirty="0">
                <a:solidFill>
                  <a:srgbClr val="0E1C30">
                    <a:alpha val="70000"/>
                  </a:srgbClr>
                </a:solidFill>
                <a:latin typeface="IBM Plex Sans" pitchFamily="34" charset="0"/>
                <a:ea typeface="IBM Plex Sans" pitchFamily="34" charset="-122"/>
                <a:cs typeface="IBM Plex Sans" pitchFamily="34" charset="-120"/>
              </a:rPr>
              <a:t>for the behavioral.</a:t>
            </a:r>
            <a:endParaRPr lang="en-US" sz="1725" dirty="0"/>
          </a:p>
        </p:txBody>
      </p:sp>
      <p:sp>
        <p:nvSpPr>
          <p:cNvPr id="22" name="Text 20"/>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23" name="Text 21"/>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27 / 45</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1143000" y="914400"/>
            <a:ext cx="1206182" cy="355600"/>
          </a:xfrm>
          <a:prstGeom prst="rect">
            <a:avLst/>
          </a:prstGeom>
          <a:noFill/>
          <a:ln/>
        </p:spPr>
        <p:txBody>
          <a:bodyPr wrap="square" lIns="25400" tIns="25400" rIns="25400" bIns="25400" rtlCol="0" anchor="t">
            <a:normAutofit/>
          </a:bodyPr>
          <a:lstStyle/>
          <a:p>
            <a:pPr algn="l" indent="0" marL="0">
              <a:buNone/>
            </a:pPr>
            <a:r>
              <a:rPr lang="en-US" sz="1950" b="1" dirty="0">
                <a:solidFill>
                  <a:srgbClr val="4FD1A6"/>
                </a:solidFill>
                <a:latin typeface="Space Grotesk" pitchFamily="34" charset="0"/>
                <a:ea typeface="Space Grotesk" pitchFamily="34" charset="-122"/>
                <a:cs typeface="Space Grotesk" pitchFamily="34" charset="-120"/>
              </a:rPr>
              <a:t>PHASE 03</a:t>
            </a:r>
            <a:endParaRPr lang="en-US" sz="1950" dirty="0"/>
          </a:p>
        </p:txBody>
      </p:sp>
      <p:sp>
        <p:nvSpPr>
          <p:cNvPr id="3" name="Text 1"/>
          <p:cNvSpPr/>
          <p:nvPr/>
        </p:nvSpPr>
        <p:spPr>
          <a:xfrm>
            <a:off x="2463482" y="981075"/>
            <a:ext cx="2389219" cy="222250"/>
          </a:xfrm>
          <a:prstGeom prst="rect">
            <a:avLst/>
          </a:prstGeom>
          <a:noFill/>
          <a:ln/>
        </p:spPr>
        <p:txBody>
          <a:bodyPr wrap="square" lIns="25400" tIns="25400" rIns="25400" bIns="25400" rtlCol="0" anchor="t">
            <a:normAutofit/>
          </a:bodyPr>
          <a:lstStyle/>
          <a:p>
            <a:pPr algn="l" indent="0" marL="0">
              <a:buNone/>
            </a:pPr>
            <a:r>
              <a:rPr lang="en-US" sz="1125" spc="225" kern="0" dirty="0">
                <a:solidFill>
                  <a:srgbClr val="0E1C30">
                    <a:alpha val="50000"/>
                  </a:srgbClr>
                </a:solidFill>
                <a:latin typeface="IBM Plex Mono" pitchFamily="34" charset="0"/>
                <a:ea typeface="IBM Plex Mono" pitchFamily="34" charset="-122"/>
                <a:cs typeface="IBM Plex Mono" pitchFamily="34" charset="-120"/>
              </a:rPr>
              <a:t>HOW → UNITS OF WORK</a:t>
            </a:r>
            <a:endParaRPr lang="en-US" sz="1125" dirty="0"/>
          </a:p>
        </p:txBody>
      </p:sp>
      <p:sp>
        <p:nvSpPr>
          <p:cNvPr id="4" name="Text 2"/>
          <p:cNvSpPr/>
          <p:nvPr/>
        </p:nvSpPr>
        <p:spPr>
          <a:xfrm>
            <a:off x="1143000" y="1441450"/>
            <a:ext cx="17602200" cy="781050"/>
          </a:xfrm>
          <a:prstGeom prst="rect">
            <a:avLst/>
          </a:prstGeom>
          <a:noFill/>
          <a:ln/>
        </p:spPr>
        <p:txBody>
          <a:bodyPr wrap="square" lIns="25400" tIns="25400" rIns="25400" bIns="25400" rtlCol="0" anchor="t">
            <a:normAutofit/>
          </a:bodyPr>
          <a:lstStyle/>
          <a:p>
            <a:pPr algn="l" indent="0" marL="0">
              <a:lnSpc>
                <a:spcPct val="78523"/>
              </a:lnSpc>
              <a:buNone/>
            </a:pPr>
            <a:r>
              <a:rPr lang="en-US" sz="5850" b="1" spc="-117" kern="0" dirty="0">
                <a:solidFill>
                  <a:srgbClr val="0E1C30"/>
                </a:solidFill>
                <a:latin typeface="Space Grotesk" pitchFamily="34" charset="0"/>
                <a:ea typeface="Space Grotesk" pitchFamily="34" charset="-122"/>
                <a:cs typeface="Space Grotesk" pitchFamily="34" charset="-120"/>
              </a:rPr>
              <a:t>Solutioning</a:t>
            </a:r>
            <a:endParaRPr lang="en-US" sz="5850" dirty="0"/>
          </a:p>
        </p:txBody>
      </p:sp>
      <p:sp>
        <p:nvSpPr>
          <p:cNvPr id="5" name="Text 3"/>
          <p:cNvSpPr/>
          <p:nvPr/>
        </p:nvSpPr>
        <p:spPr>
          <a:xfrm>
            <a:off x="1143000" y="2413000"/>
            <a:ext cx="12573000" cy="438150"/>
          </a:xfrm>
          <a:prstGeom prst="rect">
            <a:avLst/>
          </a:prstGeom>
          <a:noFill/>
          <a:ln/>
        </p:spPr>
        <p:txBody>
          <a:bodyPr wrap="square" lIns="25400" tIns="25400" rIns="25400" bIns="25400" rtlCol="0" anchor="t">
            <a:normAutofit/>
          </a:bodyPr>
          <a:lstStyle/>
          <a:p>
            <a:pPr algn="l" indent="0" marL="0">
              <a:lnSpc>
                <a:spcPct val="114545"/>
              </a:lnSpc>
              <a:buNone/>
            </a:pPr>
            <a:r>
              <a:rPr lang="en-US" sz="2100" dirty="0">
                <a:solidFill>
                  <a:srgbClr val="0E1C30">
                    <a:alpha val="72000"/>
                  </a:srgbClr>
                </a:solidFill>
                <a:latin typeface="IBM Plex Sans" pitchFamily="34" charset="0"/>
                <a:ea typeface="IBM Plex Sans" pitchFamily="34" charset="-122"/>
                <a:cs typeface="IBM Plex Sans" pitchFamily="34" charset="-120"/>
              </a:rPr>
              <a:t>Decide how to build it, then break the work into implementable units.</a:t>
            </a:r>
            <a:endParaRPr lang="en-US" sz="2100" dirty="0"/>
          </a:p>
        </p:txBody>
      </p:sp>
      <p:sp>
        <p:nvSpPr>
          <p:cNvPr id="6" name="Shape 4"/>
          <p:cNvSpPr/>
          <p:nvPr/>
        </p:nvSpPr>
        <p:spPr>
          <a:xfrm>
            <a:off x="1143000" y="3384550"/>
            <a:ext cx="5181600" cy="2192973"/>
          </a:xfrm>
          <a:prstGeom prst="rect">
            <a:avLst/>
          </a:prstGeom>
          <a:solidFill>
            <a:srgbClr val="FFFFFF"/>
          </a:solidFill>
          <a:ln w="6350">
            <a:solidFill>
              <a:srgbClr val="0E1C30">
                <a:alpha val="14000"/>
              </a:srgbClr>
            </a:solidFill>
            <a:prstDash val="solid"/>
          </a:ln>
        </p:spPr>
      </p:sp>
      <p:sp>
        <p:nvSpPr>
          <p:cNvPr id="7" name="Text 5"/>
          <p:cNvSpPr/>
          <p:nvPr/>
        </p:nvSpPr>
        <p:spPr>
          <a:xfrm>
            <a:off x="1454150" y="3714750"/>
            <a:ext cx="5015230" cy="304800"/>
          </a:xfrm>
          <a:prstGeom prst="rect">
            <a:avLst/>
          </a:prstGeom>
          <a:noFill/>
          <a:ln/>
        </p:spPr>
        <p:txBody>
          <a:bodyPr wrap="square" lIns="25400" tIns="25400" rIns="25400" bIns="25400" rtlCol="0" anchor="t">
            <a:normAutofit/>
          </a:bodyPr>
          <a:lstStyle/>
          <a:p>
            <a:pPr algn="l" indent="0" marL="0">
              <a:buNone/>
            </a:pPr>
            <a:r>
              <a:rPr lang="en-US" sz="1650" b="1" dirty="0">
                <a:solidFill>
                  <a:srgbClr val="4FD1A6">
                    <a:alpha val="90000"/>
                  </a:srgbClr>
                </a:solidFill>
                <a:latin typeface="Space Grotesk" pitchFamily="34" charset="0"/>
                <a:ea typeface="Space Grotesk" pitchFamily="34" charset="-122"/>
                <a:cs typeface="Space Grotesk" pitchFamily="34" charset="-120"/>
              </a:rPr>
              <a:t>STEP 1</a:t>
            </a:r>
            <a:endParaRPr lang="en-US" sz="1650" dirty="0"/>
          </a:p>
        </p:txBody>
      </p:sp>
      <p:sp>
        <p:nvSpPr>
          <p:cNvPr id="8" name="Text 6"/>
          <p:cNvSpPr/>
          <p:nvPr/>
        </p:nvSpPr>
        <p:spPr>
          <a:xfrm>
            <a:off x="1454150" y="4114800"/>
            <a:ext cx="5015230" cy="425450"/>
          </a:xfrm>
          <a:prstGeom prst="rect">
            <a:avLst/>
          </a:prstGeom>
          <a:noFill/>
          <a:ln/>
        </p:spPr>
        <p:txBody>
          <a:bodyPr wrap="square" lIns="25400" tIns="25400" rIns="25400" bIns="25400" rtlCol="0" anchor="t">
            <a:normAutofit/>
          </a:bodyPr>
          <a:lstStyle/>
          <a:p>
            <a:pPr algn="l" indent="0" marL="0">
              <a:buNone/>
            </a:pPr>
            <a:r>
              <a:rPr lang="en-US" sz="2400" b="1" dirty="0">
                <a:solidFill>
                  <a:srgbClr val="0E1C30"/>
                </a:solidFill>
                <a:latin typeface="Space Grotesk" pitchFamily="34" charset="0"/>
                <a:ea typeface="Space Grotesk" pitchFamily="34" charset="-122"/>
                <a:cs typeface="Space Grotesk" pitchFamily="34" charset="-120"/>
              </a:rPr>
              <a:t>Architecture</a:t>
            </a:r>
            <a:endParaRPr lang="en-US" sz="2400" dirty="0"/>
          </a:p>
        </p:txBody>
      </p:sp>
      <p:sp>
        <p:nvSpPr>
          <p:cNvPr id="9" name="Text 7"/>
          <p:cNvSpPr/>
          <p:nvPr/>
        </p:nvSpPr>
        <p:spPr>
          <a:xfrm>
            <a:off x="1454150" y="4635500"/>
            <a:ext cx="4696079" cy="618172"/>
          </a:xfrm>
          <a:prstGeom prst="rect">
            <a:avLst/>
          </a:prstGeom>
          <a:noFill/>
          <a:ln/>
        </p:spPr>
        <p:txBody>
          <a:bodyPr wrap="square" lIns="25400" tIns="25400" rIns="25400" bIns="25400" rtlCol="0" anchor="t">
            <a:normAutofit/>
          </a:bodyPr>
          <a:lstStyle/>
          <a:p>
            <a:pPr algn="l" indent="0" marL="0">
              <a:lnSpc>
                <a:spcPct val="111402"/>
              </a:lnSpc>
              <a:buNone/>
            </a:pPr>
            <a:r>
              <a:rPr lang="en-US" sz="1575" dirty="0">
                <a:solidFill>
                  <a:srgbClr val="0E1C30">
                    <a:alpha val="68000"/>
                  </a:srgbClr>
                </a:solidFill>
                <a:latin typeface="IBM Plex Sans" pitchFamily="34" charset="0"/>
                <a:ea typeface="IBM Plex Sans" pitchFamily="34" charset="-122"/>
                <a:cs typeface="IBM Plex Sans" pitchFamily="34" charset="-120"/>
              </a:rPr>
              <a:t>Make technical decisions explicit so every agent builds consistently.</a:t>
            </a:r>
            <a:endParaRPr lang="en-US" sz="1575" dirty="0"/>
          </a:p>
        </p:txBody>
      </p:sp>
      <p:sp>
        <p:nvSpPr>
          <p:cNvPr id="10" name="Shape 8"/>
          <p:cNvSpPr/>
          <p:nvPr/>
        </p:nvSpPr>
        <p:spPr>
          <a:xfrm>
            <a:off x="6553200" y="3384550"/>
            <a:ext cx="5181600" cy="2192973"/>
          </a:xfrm>
          <a:prstGeom prst="rect">
            <a:avLst/>
          </a:prstGeom>
          <a:solidFill>
            <a:srgbClr val="FFFFFF"/>
          </a:solidFill>
          <a:ln/>
        </p:spPr>
      </p:sp>
      <p:sp>
        <p:nvSpPr>
          <p:cNvPr id="11" name="Shape 9"/>
          <p:cNvSpPr/>
          <p:nvPr/>
        </p:nvSpPr>
        <p:spPr>
          <a:xfrm>
            <a:off x="6553200" y="5571172"/>
            <a:ext cx="5181600" cy="9525"/>
          </a:xfrm>
          <a:prstGeom prst="rect">
            <a:avLst/>
          </a:prstGeom>
          <a:solidFill>
            <a:srgbClr val="0E1C30">
              <a:alpha val="14000"/>
            </a:srgbClr>
          </a:solidFill>
          <a:ln/>
        </p:spPr>
      </p:sp>
      <p:sp>
        <p:nvSpPr>
          <p:cNvPr id="12" name="Shape 10"/>
          <p:cNvSpPr/>
          <p:nvPr/>
        </p:nvSpPr>
        <p:spPr>
          <a:xfrm>
            <a:off x="6553200" y="3384550"/>
            <a:ext cx="5181600" cy="38100"/>
          </a:xfrm>
          <a:prstGeom prst="rect">
            <a:avLst/>
          </a:prstGeom>
          <a:solidFill>
            <a:srgbClr val="4FD1A6"/>
          </a:solidFill>
          <a:ln/>
        </p:spPr>
      </p:sp>
      <p:sp>
        <p:nvSpPr>
          <p:cNvPr id="13" name="Shape 11"/>
          <p:cNvSpPr/>
          <p:nvPr/>
        </p:nvSpPr>
        <p:spPr>
          <a:xfrm>
            <a:off x="6553200" y="3384550"/>
            <a:ext cx="9525" cy="2192973"/>
          </a:xfrm>
          <a:prstGeom prst="rect">
            <a:avLst/>
          </a:prstGeom>
          <a:solidFill>
            <a:srgbClr val="0E1C30">
              <a:alpha val="14000"/>
            </a:srgbClr>
          </a:solidFill>
          <a:ln/>
        </p:spPr>
      </p:sp>
      <p:sp>
        <p:nvSpPr>
          <p:cNvPr id="14" name="Shape 12"/>
          <p:cNvSpPr/>
          <p:nvPr/>
        </p:nvSpPr>
        <p:spPr>
          <a:xfrm>
            <a:off x="11728450" y="3384550"/>
            <a:ext cx="9525" cy="2192973"/>
          </a:xfrm>
          <a:prstGeom prst="rect">
            <a:avLst/>
          </a:prstGeom>
          <a:solidFill>
            <a:srgbClr val="0E1C30">
              <a:alpha val="14000"/>
            </a:srgbClr>
          </a:solidFill>
          <a:ln/>
        </p:spPr>
      </p:sp>
      <p:sp>
        <p:nvSpPr>
          <p:cNvPr id="15" name="Text 13"/>
          <p:cNvSpPr/>
          <p:nvPr/>
        </p:nvSpPr>
        <p:spPr>
          <a:xfrm>
            <a:off x="6864350" y="3746500"/>
            <a:ext cx="5015230" cy="304800"/>
          </a:xfrm>
          <a:prstGeom prst="rect">
            <a:avLst/>
          </a:prstGeom>
          <a:noFill/>
          <a:ln/>
        </p:spPr>
        <p:txBody>
          <a:bodyPr wrap="square" lIns="25400" tIns="25400" rIns="25400" bIns="25400" rtlCol="0" anchor="t">
            <a:normAutofit/>
          </a:bodyPr>
          <a:lstStyle/>
          <a:p>
            <a:pPr algn="l" indent="0" marL="0">
              <a:buNone/>
            </a:pPr>
            <a:r>
              <a:rPr lang="en-US" sz="1650" b="1" dirty="0">
                <a:solidFill>
                  <a:srgbClr val="4FD1A6">
                    <a:alpha val="90000"/>
                  </a:srgbClr>
                </a:solidFill>
                <a:latin typeface="Space Grotesk" pitchFamily="34" charset="0"/>
                <a:ea typeface="Space Grotesk" pitchFamily="34" charset="-122"/>
                <a:cs typeface="Space Grotesk" pitchFamily="34" charset="-120"/>
              </a:rPr>
              <a:t>STEP 2</a:t>
            </a:r>
            <a:endParaRPr lang="en-US" sz="1650" dirty="0"/>
          </a:p>
        </p:txBody>
      </p:sp>
      <p:sp>
        <p:nvSpPr>
          <p:cNvPr id="16" name="Text 14"/>
          <p:cNvSpPr/>
          <p:nvPr/>
        </p:nvSpPr>
        <p:spPr>
          <a:xfrm>
            <a:off x="6864350" y="4146550"/>
            <a:ext cx="5015230" cy="425450"/>
          </a:xfrm>
          <a:prstGeom prst="rect">
            <a:avLst/>
          </a:prstGeom>
          <a:noFill/>
          <a:ln/>
        </p:spPr>
        <p:txBody>
          <a:bodyPr wrap="square" lIns="25400" tIns="25400" rIns="25400" bIns="25400" rtlCol="0" anchor="t">
            <a:normAutofit/>
          </a:bodyPr>
          <a:lstStyle/>
          <a:p>
            <a:pPr algn="l" indent="0" marL="0">
              <a:buNone/>
            </a:pPr>
            <a:r>
              <a:rPr lang="en-US" sz="2400" b="1" dirty="0">
                <a:solidFill>
                  <a:srgbClr val="0E1C30"/>
                </a:solidFill>
                <a:latin typeface="Space Grotesk" pitchFamily="34" charset="0"/>
                <a:ea typeface="Space Grotesk" pitchFamily="34" charset="-122"/>
                <a:cs typeface="Space Grotesk" pitchFamily="34" charset="-120"/>
              </a:rPr>
              <a:t>Epics &amp; stories</a:t>
            </a:r>
            <a:endParaRPr lang="en-US" sz="2400" dirty="0"/>
          </a:p>
        </p:txBody>
      </p:sp>
      <p:sp>
        <p:nvSpPr>
          <p:cNvPr id="17" name="Text 15"/>
          <p:cNvSpPr/>
          <p:nvPr/>
        </p:nvSpPr>
        <p:spPr>
          <a:xfrm>
            <a:off x="6864350" y="4667250"/>
            <a:ext cx="4696079" cy="618172"/>
          </a:xfrm>
          <a:prstGeom prst="rect">
            <a:avLst/>
          </a:prstGeom>
          <a:noFill/>
          <a:ln/>
        </p:spPr>
        <p:txBody>
          <a:bodyPr wrap="square" lIns="25400" tIns="25400" rIns="25400" bIns="25400" rtlCol="0" anchor="t">
            <a:normAutofit/>
          </a:bodyPr>
          <a:lstStyle/>
          <a:p>
            <a:pPr algn="l" indent="0" marL="0">
              <a:lnSpc>
                <a:spcPct val="111402"/>
              </a:lnSpc>
              <a:buNone/>
            </a:pPr>
            <a:r>
              <a:rPr lang="en-US" sz="1575" dirty="0">
                <a:solidFill>
                  <a:srgbClr val="0E1C30">
                    <a:alpha val="68000"/>
                  </a:srgbClr>
                </a:solidFill>
                <a:latin typeface="IBM Plex Sans" pitchFamily="34" charset="0"/>
                <a:ea typeface="IBM Plex Sans" pitchFamily="34" charset="-122"/>
                <a:cs typeface="IBM Plex Sans" pitchFamily="34" charset="-120"/>
              </a:rPr>
              <a:t>Break requirements into focused, implementable stories.</a:t>
            </a:r>
            <a:endParaRPr lang="en-US" sz="1575" dirty="0"/>
          </a:p>
        </p:txBody>
      </p:sp>
      <p:sp>
        <p:nvSpPr>
          <p:cNvPr id="18" name="Shape 16"/>
          <p:cNvSpPr/>
          <p:nvPr/>
        </p:nvSpPr>
        <p:spPr>
          <a:xfrm>
            <a:off x="11963400" y="3384550"/>
            <a:ext cx="5181600" cy="2192973"/>
          </a:xfrm>
          <a:prstGeom prst="rect">
            <a:avLst/>
          </a:prstGeom>
          <a:solidFill>
            <a:srgbClr val="FFFFFF"/>
          </a:solidFill>
          <a:ln/>
        </p:spPr>
      </p:sp>
      <p:sp>
        <p:nvSpPr>
          <p:cNvPr id="19" name="Shape 17"/>
          <p:cNvSpPr/>
          <p:nvPr/>
        </p:nvSpPr>
        <p:spPr>
          <a:xfrm>
            <a:off x="11963400" y="5571172"/>
            <a:ext cx="5181600" cy="9525"/>
          </a:xfrm>
          <a:prstGeom prst="rect">
            <a:avLst/>
          </a:prstGeom>
          <a:solidFill>
            <a:srgbClr val="0E1C30">
              <a:alpha val="14000"/>
            </a:srgbClr>
          </a:solidFill>
          <a:ln/>
        </p:spPr>
      </p:sp>
      <p:sp>
        <p:nvSpPr>
          <p:cNvPr id="20" name="Shape 18"/>
          <p:cNvSpPr/>
          <p:nvPr/>
        </p:nvSpPr>
        <p:spPr>
          <a:xfrm>
            <a:off x="11963400" y="3384550"/>
            <a:ext cx="5181600" cy="38100"/>
          </a:xfrm>
          <a:prstGeom prst="rect">
            <a:avLst/>
          </a:prstGeom>
          <a:solidFill>
            <a:srgbClr val="4FD1A6"/>
          </a:solidFill>
          <a:ln/>
        </p:spPr>
      </p:sp>
      <p:sp>
        <p:nvSpPr>
          <p:cNvPr id="21" name="Shape 19"/>
          <p:cNvSpPr/>
          <p:nvPr/>
        </p:nvSpPr>
        <p:spPr>
          <a:xfrm>
            <a:off x="11963400" y="3384550"/>
            <a:ext cx="9525" cy="2192973"/>
          </a:xfrm>
          <a:prstGeom prst="rect">
            <a:avLst/>
          </a:prstGeom>
          <a:solidFill>
            <a:srgbClr val="0E1C30">
              <a:alpha val="14000"/>
            </a:srgbClr>
          </a:solidFill>
          <a:ln/>
        </p:spPr>
      </p:sp>
      <p:sp>
        <p:nvSpPr>
          <p:cNvPr id="22" name="Shape 20"/>
          <p:cNvSpPr/>
          <p:nvPr/>
        </p:nvSpPr>
        <p:spPr>
          <a:xfrm>
            <a:off x="17138650" y="3384550"/>
            <a:ext cx="9525" cy="2192973"/>
          </a:xfrm>
          <a:prstGeom prst="rect">
            <a:avLst/>
          </a:prstGeom>
          <a:solidFill>
            <a:srgbClr val="0E1C30">
              <a:alpha val="14000"/>
            </a:srgbClr>
          </a:solidFill>
          <a:ln/>
        </p:spPr>
      </p:sp>
      <p:sp>
        <p:nvSpPr>
          <p:cNvPr id="23" name="Text 21"/>
          <p:cNvSpPr/>
          <p:nvPr/>
        </p:nvSpPr>
        <p:spPr>
          <a:xfrm>
            <a:off x="12274550" y="3746500"/>
            <a:ext cx="5015230" cy="304800"/>
          </a:xfrm>
          <a:prstGeom prst="rect">
            <a:avLst/>
          </a:prstGeom>
          <a:noFill/>
          <a:ln/>
        </p:spPr>
        <p:txBody>
          <a:bodyPr wrap="square" lIns="25400" tIns="25400" rIns="25400" bIns="25400" rtlCol="0" anchor="t">
            <a:normAutofit/>
          </a:bodyPr>
          <a:lstStyle/>
          <a:p>
            <a:pPr algn="l" indent="0" marL="0">
              <a:buNone/>
            </a:pPr>
            <a:r>
              <a:rPr lang="en-US" sz="1650" b="1" dirty="0">
                <a:solidFill>
                  <a:srgbClr val="4FD1A6">
                    <a:alpha val="90000"/>
                  </a:srgbClr>
                </a:solidFill>
                <a:latin typeface="Space Grotesk" pitchFamily="34" charset="0"/>
                <a:ea typeface="Space Grotesk" pitchFamily="34" charset="-122"/>
                <a:cs typeface="Space Grotesk" pitchFamily="34" charset="-120"/>
              </a:rPr>
              <a:t>GATE</a:t>
            </a:r>
            <a:endParaRPr lang="en-US" sz="1650" dirty="0"/>
          </a:p>
        </p:txBody>
      </p:sp>
      <p:sp>
        <p:nvSpPr>
          <p:cNvPr id="24" name="Text 22"/>
          <p:cNvSpPr/>
          <p:nvPr/>
        </p:nvSpPr>
        <p:spPr>
          <a:xfrm>
            <a:off x="12274550" y="4146550"/>
            <a:ext cx="5015230" cy="425450"/>
          </a:xfrm>
          <a:prstGeom prst="rect">
            <a:avLst/>
          </a:prstGeom>
          <a:noFill/>
          <a:ln/>
        </p:spPr>
        <p:txBody>
          <a:bodyPr wrap="square" lIns="25400" tIns="25400" rIns="25400" bIns="25400" rtlCol="0" anchor="t">
            <a:normAutofit/>
          </a:bodyPr>
          <a:lstStyle/>
          <a:p>
            <a:pPr algn="l" indent="0" marL="0">
              <a:buNone/>
            </a:pPr>
            <a:r>
              <a:rPr lang="en-US" sz="2400" b="1" dirty="0">
                <a:solidFill>
                  <a:srgbClr val="0E1C30"/>
                </a:solidFill>
                <a:latin typeface="Space Grotesk" pitchFamily="34" charset="0"/>
                <a:ea typeface="Space Grotesk" pitchFamily="34" charset="-122"/>
                <a:cs typeface="Space Grotesk" pitchFamily="34" charset="-120"/>
              </a:rPr>
              <a:t>Readiness check</a:t>
            </a:r>
            <a:endParaRPr lang="en-US" sz="2400" dirty="0"/>
          </a:p>
        </p:txBody>
      </p:sp>
      <p:sp>
        <p:nvSpPr>
          <p:cNvPr id="25" name="Text 23"/>
          <p:cNvSpPr/>
          <p:nvPr/>
        </p:nvSpPr>
        <p:spPr>
          <a:xfrm>
            <a:off x="12274550" y="4667250"/>
            <a:ext cx="4696079" cy="618172"/>
          </a:xfrm>
          <a:prstGeom prst="rect">
            <a:avLst/>
          </a:prstGeom>
          <a:noFill/>
          <a:ln/>
        </p:spPr>
        <p:txBody>
          <a:bodyPr wrap="square" lIns="25400" tIns="25400" rIns="25400" bIns="25400" rtlCol="0" anchor="t">
            <a:normAutofit/>
          </a:bodyPr>
          <a:lstStyle/>
          <a:p>
            <a:pPr algn="l" indent="0" marL="0">
              <a:lnSpc>
                <a:spcPct val="111402"/>
              </a:lnSpc>
              <a:buNone/>
            </a:pPr>
            <a:r>
              <a:rPr lang="en-US" sz="1575" dirty="0">
                <a:solidFill>
                  <a:srgbClr val="0E1C30">
                    <a:alpha val="68000"/>
                  </a:srgbClr>
                </a:solidFill>
                <a:latin typeface="IBM Plex Sans" pitchFamily="34" charset="0"/>
                <a:ea typeface="IBM Plex Sans" pitchFamily="34" charset="-122"/>
                <a:cs typeface="IBM Plex Sans" pitchFamily="34" charset="-120"/>
              </a:rPr>
              <a:t>A pass / concerns / fail decision before implementation begins.</a:t>
            </a:r>
            <a:endParaRPr lang="en-US" sz="1575" dirty="0"/>
          </a:p>
        </p:txBody>
      </p:sp>
      <p:sp>
        <p:nvSpPr>
          <p:cNvPr id="26" name="Text 24"/>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27" name="Text 25"/>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28 / 45</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1867535" cy="241300"/>
          </a:xfrm>
          <a:prstGeom prst="rect">
            <a:avLst/>
          </a:prstGeom>
          <a:noFill/>
          <a:ln/>
        </p:spPr>
        <p:txBody>
          <a:bodyPr wrap="square" lIns="0" tIns="0" rIns="0" bIns="0" rtlCol="0" anchor="t">
            <a:normAutofit/>
          </a:bodyPr>
          <a:lstStyle/>
          <a:p>
            <a:pPr algn="l" indent="0" marL="0">
              <a:buNone/>
            </a:pPr>
            <a:r>
              <a:rPr lang="en-US" sz="1200" spc="288" kern="0" dirty="0">
                <a:solidFill>
                  <a:srgbClr val="1F9E77"/>
                </a:solidFill>
                <a:latin typeface="IBM Plex Mono" pitchFamily="34" charset="0"/>
                <a:ea typeface="IBM Plex Mono" pitchFamily="34" charset="-122"/>
                <a:cs typeface="IBM Plex Mono" pitchFamily="34" charset="-120"/>
              </a:rPr>
              <a:t>WHY IT MATTERS</a:t>
            </a:r>
            <a:endParaRPr lang="en-US" sz="1200" dirty="0"/>
          </a:p>
        </p:txBody>
      </p:sp>
      <p:sp>
        <p:nvSpPr>
          <p:cNvPr id="4" name="Text 2"/>
          <p:cNvSpPr/>
          <p:nvPr/>
        </p:nvSpPr>
        <p:spPr>
          <a:xfrm>
            <a:off x="1143000" y="1384300"/>
            <a:ext cx="12753975" cy="1278255"/>
          </a:xfrm>
          <a:prstGeom prst="rect">
            <a:avLst/>
          </a:prstGeom>
          <a:noFill/>
          <a:ln/>
        </p:spPr>
        <p:txBody>
          <a:bodyPr wrap="square" lIns="25400" tIns="25400" rIns="25400" bIns="25400" rtlCol="0" anchor="t">
            <a:normAutofit/>
          </a:bodyPr>
          <a:lstStyle/>
          <a:p>
            <a:pPr algn="l" indent="0" marL="0">
              <a:lnSpc>
                <a:spcPct val="82059"/>
              </a:lnSpc>
              <a:buNone/>
            </a:pPr>
            <a:r>
              <a:rPr lang="en-US" sz="4650" b="1" spc="-93" kern="0" dirty="0">
                <a:solidFill>
                  <a:srgbClr val="0E1C30"/>
                </a:solidFill>
                <a:latin typeface="Space Grotesk" pitchFamily="34" charset="0"/>
                <a:ea typeface="Space Grotesk" pitchFamily="34" charset="-122"/>
                <a:cs typeface="Space Grotesk" pitchFamily="34" charset="-120"/>
              </a:rPr>
              <a:t>Decide the hard things once — or agents decide them differently.</a:t>
            </a:r>
            <a:endParaRPr lang="en-US" sz="4650" dirty="0"/>
          </a:p>
        </p:txBody>
      </p:sp>
      <p:sp>
        <p:nvSpPr>
          <p:cNvPr id="5" name="Shape 3"/>
          <p:cNvSpPr/>
          <p:nvPr/>
        </p:nvSpPr>
        <p:spPr>
          <a:xfrm>
            <a:off x="1143000" y="3195955"/>
            <a:ext cx="7839075" cy="2496185"/>
          </a:xfrm>
          <a:prstGeom prst="rect">
            <a:avLst/>
          </a:prstGeom>
          <a:solidFill>
            <a:srgbClr val="FFFFFF"/>
          </a:solidFill>
          <a:ln w="6350">
            <a:solidFill>
              <a:srgbClr val="C53030">
                <a:alpha val="35000"/>
              </a:srgbClr>
            </a:solidFill>
            <a:prstDash val="solid"/>
          </a:ln>
        </p:spPr>
      </p:sp>
      <p:sp>
        <p:nvSpPr>
          <p:cNvPr id="6" name="Text 4"/>
          <p:cNvSpPr/>
          <p:nvPr/>
        </p:nvSpPr>
        <p:spPr>
          <a:xfrm>
            <a:off x="1549400" y="3583305"/>
            <a:ext cx="7728902" cy="222250"/>
          </a:xfrm>
          <a:prstGeom prst="rect">
            <a:avLst/>
          </a:prstGeom>
          <a:noFill/>
          <a:ln/>
        </p:spPr>
        <p:txBody>
          <a:bodyPr wrap="square" lIns="25400" tIns="25400" rIns="25400" bIns="25400" rtlCol="0" anchor="t">
            <a:normAutofit/>
          </a:bodyPr>
          <a:lstStyle/>
          <a:p>
            <a:pPr algn="l" indent="0" marL="0">
              <a:buNone/>
            </a:pPr>
            <a:r>
              <a:rPr lang="en-US" sz="1125" spc="180" kern="0" dirty="0">
                <a:solidFill>
                  <a:srgbClr val="C53030"/>
                </a:solidFill>
                <a:latin typeface="IBM Plex Mono" pitchFamily="34" charset="0"/>
                <a:ea typeface="IBM Plex Mono" pitchFamily="34" charset="-122"/>
                <a:cs typeface="IBM Plex Mono" pitchFamily="34" charset="-120"/>
              </a:rPr>
              <a:t>WITHOUT SOLUTIONING</a:t>
            </a:r>
            <a:endParaRPr lang="en-US" sz="1125" dirty="0"/>
          </a:p>
        </p:txBody>
      </p:sp>
      <p:sp>
        <p:nvSpPr>
          <p:cNvPr id="7" name="Text 5"/>
          <p:cNvSpPr/>
          <p:nvPr/>
        </p:nvSpPr>
        <p:spPr>
          <a:xfrm>
            <a:off x="1549400" y="4015105"/>
            <a:ext cx="7237063" cy="436245"/>
          </a:xfrm>
          <a:prstGeom prst="rect">
            <a:avLst/>
          </a:prstGeom>
          <a:noFill/>
          <a:ln/>
        </p:spPr>
        <p:txBody>
          <a:bodyPr wrap="square" lIns="25400" tIns="25400" rIns="25400" bIns="25400" rtlCol="0" anchor="t">
            <a:normAutofit/>
          </a:bodyPr>
          <a:lstStyle/>
          <a:p>
            <a:pPr algn="l" indent="0" marL="0">
              <a:lnSpc>
                <a:spcPct val="145814"/>
              </a:lnSpc>
              <a:buNone/>
            </a:pPr>
            <a:r>
              <a:rPr lang="en-US" sz="1650" dirty="0">
                <a:solidFill>
                  <a:srgbClr val="0E1C30">
                    <a:alpha val="82000"/>
                  </a:srgbClr>
                </a:solidFill>
                <a:latin typeface="IBM Plex Mono" pitchFamily="34" charset="0"/>
                <a:ea typeface="IBM Plex Mono" pitchFamily="34" charset="-122"/>
                <a:cs typeface="IBM Plex Mono" pitchFamily="34" charset="-120"/>
              </a:rPr>
              <a:t>Agent 1 builds Epic 1 → </a:t>
            </a:r>
            <a:pPr algn="l" indent="0" marL="0">
              <a:lnSpc>
                <a:spcPct val="145814"/>
              </a:lnSpc>
              <a:buNone/>
            </a:pPr>
            <a:r>
              <a:rPr lang="en-US" sz="1650" dirty="0">
                <a:solidFill>
                  <a:srgbClr val="C53030"/>
                </a:solidFill>
                <a:latin typeface="IBM Plex Mono" pitchFamily="34" charset="0"/>
                <a:ea typeface="IBM Plex Mono" pitchFamily="34" charset="-122"/>
                <a:cs typeface="IBM Plex Mono" pitchFamily="34" charset="-120"/>
              </a:rPr>
              <a:t>REST</a:t>
            </a:r>
            <a:endParaRPr lang="en-US" sz="1650" dirty="0"/>
          </a:p>
        </p:txBody>
      </p:sp>
      <p:sp>
        <p:nvSpPr>
          <p:cNvPr id="8" name="Text 6"/>
          <p:cNvSpPr/>
          <p:nvPr/>
        </p:nvSpPr>
        <p:spPr>
          <a:xfrm>
            <a:off x="1549400" y="4413250"/>
            <a:ext cx="7237063" cy="436245"/>
          </a:xfrm>
          <a:prstGeom prst="rect">
            <a:avLst/>
          </a:prstGeom>
          <a:noFill/>
          <a:ln/>
        </p:spPr>
        <p:txBody>
          <a:bodyPr wrap="square" lIns="25400" tIns="25400" rIns="25400" bIns="25400" rtlCol="0" anchor="t">
            <a:normAutofit/>
          </a:bodyPr>
          <a:lstStyle/>
          <a:p>
            <a:pPr algn="l" indent="0" marL="0">
              <a:lnSpc>
                <a:spcPct val="145814"/>
              </a:lnSpc>
              <a:buNone/>
            </a:pPr>
            <a:r>
              <a:rPr lang="en-US" sz="1650" dirty="0">
                <a:solidFill>
                  <a:srgbClr val="0E1C30">
                    <a:alpha val="82000"/>
                  </a:srgbClr>
                </a:solidFill>
                <a:latin typeface="IBM Plex Mono" pitchFamily="34" charset="0"/>
                <a:ea typeface="IBM Plex Mono" pitchFamily="34" charset="-122"/>
                <a:cs typeface="IBM Plex Mono" pitchFamily="34" charset="-120"/>
              </a:rPr>
              <a:t>Agent 2 builds Epic 2 → </a:t>
            </a:r>
            <a:pPr algn="l" indent="0" marL="0">
              <a:lnSpc>
                <a:spcPct val="145814"/>
              </a:lnSpc>
              <a:buNone/>
            </a:pPr>
            <a:r>
              <a:rPr lang="en-US" sz="1650" dirty="0">
                <a:solidFill>
                  <a:srgbClr val="C53030"/>
                </a:solidFill>
                <a:latin typeface="IBM Plex Mono" pitchFamily="34" charset="0"/>
                <a:ea typeface="IBM Plex Mono" pitchFamily="34" charset="-122"/>
                <a:cs typeface="IBM Plex Mono" pitchFamily="34" charset="-120"/>
              </a:rPr>
              <a:t>GraphQL</a:t>
            </a:r>
            <a:endParaRPr lang="en-US" sz="1650" dirty="0"/>
          </a:p>
        </p:txBody>
      </p:sp>
      <p:sp>
        <p:nvSpPr>
          <p:cNvPr id="9" name="Text 7"/>
          <p:cNvSpPr/>
          <p:nvPr/>
        </p:nvSpPr>
        <p:spPr>
          <a:xfrm>
            <a:off x="1549400" y="4906645"/>
            <a:ext cx="7237063" cy="436245"/>
          </a:xfrm>
          <a:prstGeom prst="rect">
            <a:avLst/>
          </a:prstGeom>
          <a:noFill/>
          <a:ln/>
        </p:spPr>
        <p:txBody>
          <a:bodyPr wrap="square" lIns="25400" tIns="25400" rIns="25400" bIns="25400" rtlCol="0" anchor="t">
            <a:normAutofit/>
          </a:bodyPr>
          <a:lstStyle/>
          <a:p>
            <a:pPr algn="l" indent="0" marL="0">
              <a:lnSpc>
                <a:spcPct val="145814"/>
              </a:lnSpc>
              <a:buNone/>
            </a:pPr>
            <a:r>
              <a:rPr lang="en-US" sz="1650" dirty="0">
                <a:solidFill>
                  <a:srgbClr val="0E1C30">
                    <a:alpha val="50000"/>
                  </a:srgbClr>
                </a:solidFill>
                <a:latin typeface="IBM Plex Mono" pitchFamily="34" charset="0"/>
                <a:ea typeface="IBM Plex Mono" pitchFamily="34" charset="-122"/>
                <a:cs typeface="IBM Plex Mono" pitchFamily="34" charset="-120"/>
              </a:rPr>
              <a:t>= inconsistent API, integration pain</a:t>
            </a:r>
            <a:endParaRPr lang="en-US" sz="1650" dirty="0"/>
          </a:p>
        </p:txBody>
      </p:sp>
      <p:sp>
        <p:nvSpPr>
          <p:cNvPr id="10" name="Shape 8"/>
          <p:cNvSpPr/>
          <p:nvPr/>
        </p:nvSpPr>
        <p:spPr>
          <a:xfrm>
            <a:off x="9305925" y="3195955"/>
            <a:ext cx="7839075" cy="2496185"/>
          </a:xfrm>
          <a:prstGeom prst="rect">
            <a:avLst/>
          </a:prstGeom>
          <a:solidFill>
            <a:srgbClr val="0B1626"/>
          </a:solidFill>
          <a:ln w="6350">
            <a:solidFill>
              <a:srgbClr val="0B1626"/>
            </a:solidFill>
            <a:prstDash val="solid"/>
          </a:ln>
        </p:spPr>
      </p:sp>
      <p:sp>
        <p:nvSpPr>
          <p:cNvPr id="11" name="Text 9"/>
          <p:cNvSpPr/>
          <p:nvPr/>
        </p:nvSpPr>
        <p:spPr>
          <a:xfrm>
            <a:off x="9712325" y="3583305"/>
            <a:ext cx="7728902" cy="222250"/>
          </a:xfrm>
          <a:prstGeom prst="rect">
            <a:avLst/>
          </a:prstGeom>
          <a:noFill/>
          <a:ln/>
        </p:spPr>
        <p:txBody>
          <a:bodyPr wrap="square" lIns="25400" tIns="25400" rIns="25400" bIns="25400" rtlCol="0" anchor="t">
            <a:normAutofit/>
          </a:bodyPr>
          <a:lstStyle/>
          <a:p>
            <a:pPr algn="l" indent="0" marL="0">
              <a:buNone/>
            </a:pPr>
            <a:r>
              <a:rPr lang="en-US" sz="1125" spc="180" kern="0" dirty="0">
                <a:solidFill>
                  <a:srgbClr val="4FD1A6"/>
                </a:solidFill>
                <a:latin typeface="IBM Plex Mono" pitchFamily="34" charset="0"/>
                <a:ea typeface="IBM Plex Mono" pitchFamily="34" charset="-122"/>
                <a:cs typeface="IBM Plex Mono" pitchFamily="34" charset="-120"/>
              </a:rPr>
              <a:t>WITH SOLUTIONING</a:t>
            </a:r>
            <a:endParaRPr lang="en-US" sz="1125" dirty="0"/>
          </a:p>
        </p:txBody>
      </p:sp>
      <p:sp>
        <p:nvSpPr>
          <p:cNvPr id="12" name="Text 10"/>
          <p:cNvSpPr/>
          <p:nvPr/>
        </p:nvSpPr>
        <p:spPr>
          <a:xfrm>
            <a:off x="9712325" y="4015105"/>
            <a:ext cx="7237063" cy="436245"/>
          </a:xfrm>
          <a:prstGeom prst="rect">
            <a:avLst/>
          </a:prstGeom>
          <a:noFill/>
          <a:ln/>
        </p:spPr>
        <p:txBody>
          <a:bodyPr wrap="square" lIns="25400" tIns="25400" rIns="25400" bIns="25400" rtlCol="0" anchor="t">
            <a:normAutofit/>
          </a:bodyPr>
          <a:lstStyle/>
          <a:p>
            <a:pPr algn="l" indent="0" marL="0">
              <a:lnSpc>
                <a:spcPct val="145814"/>
              </a:lnSpc>
              <a:buNone/>
            </a:pPr>
            <a:r>
              <a:rPr lang="en-US" sz="1650" dirty="0">
                <a:solidFill>
                  <a:srgbClr val="F6F4EE">
                    <a:alpha val="85000"/>
                  </a:srgbClr>
                </a:solidFill>
                <a:latin typeface="IBM Plex Mono" pitchFamily="34" charset="0"/>
                <a:ea typeface="IBM Plex Mono" pitchFamily="34" charset="-122"/>
                <a:cs typeface="IBM Plex Mono" pitchFamily="34" charset="-120"/>
              </a:rPr>
              <a:t>Architecture decides → </a:t>
            </a:r>
            <a:pPr algn="l" indent="0" marL="0">
              <a:lnSpc>
                <a:spcPct val="145814"/>
              </a:lnSpc>
              <a:buNone/>
            </a:pPr>
            <a:r>
              <a:rPr lang="en-US" sz="1650" dirty="0">
                <a:solidFill>
                  <a:srgbClr val="4FD1A6"/>
                </a:solidFill>
                <a:latin typeface="IBM Plex Mono" pitchFamily="34" charset="0"/>
                <a:ea typeface="IBM Plex Mono" pitchFamily="34" charset="-122"/>
                <a:cs typeface="IBM Plex Mono" pitchFamily="34" charset="-120"/>
              </a:rPr>
              <a:t>GraphQL for all</a:t>
            </a:r>
            <a:endParaRPr lang="en-US" sz="1650" dirty="0"/>
          </a:p>
        </p:txBody>
      </p:sp>
      <p:sp>
        <p:nvSpPr>
          <p:cNvPr id="13" name="Text 11"/>
          <p:cNvSpPr/>
          <p:nvPr/>
        </p:nvSpPr>
        <p:spPr>
          <a:xfrm>
            <a:off x="9712325" y="4413250"/>
            <a:ext cx="7237063" cy="436245"/>
          </a:xfrm>
          <a:prstGeom prst="rect">
            <a:avLst/>
          </a:prstGeom>
          <a:noFill/>
          <a:ln/>
        </p:spPr>
        <p:txBody>
          <a:bodyPr wrap="square" lIns="25400" tIns="25400" rIns="25400" bIns="25400" rtlCol="0" anchor="t">
            <a:normAutofit/>
          </a:bodyPr>
          <a:lstStyle/>
          <a:p>
            <a:pPr algn="l" indent="0" marL="0">
              <a:lnSpc>
                <a:spcPct val="145814"/>
              </a:lnSpc>
              <a:buNone/>
            </a:pPr>
            <a:r>
              <a:rPr lang="en-US" sz="1650" dirty="0">
                <a:solidFill>
                  <a:srgbClr val="F6F4EE">
                    <a:alpha val="85000"/>
                  </a:srgbClr>
                </a:solidFill>
                <a:latin typeface="IBM Plex Mono" pitchFamily="34" charset="0"/>
                <a:ea typeface="IBM Plex Mono" pitchFamily="34" charset="-122"/>
                <a:cs typeface="IBM Plex Mono" pitchFamily="34" charset="-120"/>
              </a:rPr>
              <a:t>Every agent follows the decision</a:t>
            </a:r>
            <a:endParaRPr lang="en-US" sz="1650" dirty="0"/>
          </a:p>
        </p:txBody>
      </p:sp>
      <p:sp>
        <p:nvSpPr>
          <p:cNvPr id="14" name="Text 12"/>
          <p:cNvSpPr/>
          <p:nvPr/>
        </p:nvSpPr>
        <p:spPr>
          <a:xfrm>
            <a:off x="9712325" y="4906645"/>
            <a:ext cx="7237063" cy="436245"/>
          </a:xfrm>
          <a:prstGeom prst="rect">
            <a:avLst/>
          </a:prstGeom>
          <a:noFill/>
          <a:ln/>
        </p:spPr>
        <p:txBody>
          <a:bodyPr wrap="square" lIns="25400" tIns="25400" rIns="25400" bIns="25400" rtlCol="0" anchor="t">
            <a:normAutofit/>
          </a:bodyPr>
          <a:lstStyle/>
          <a:p>
            <a:pPr algn="l" indent="0" marL="0">
              <a:lnSpc>
                <a:spcPct val="145814"/>
              </a:lnSpc>
              <a:buNone/>
            </a:pPr>
            <a:r>
              <a:rPr lang="en-US" sz="1650" dirty="0">
                <a:solidFill>
                  <a:srgbClr val="F6F4EE">
                    <a:alpha val="55000"/>
                  </a:srgbClr>
                </a:solidFill>
                <a:latin typeface="IBM Plex Mono" pitchFamily="34" charset="0"/>
                <a:ea typeface="IBM Plex Mono" pitchFamily="34" charset="-122"/>
                <a:cs typeface="IBM Plex Mono" pitchFamily="34" charset="-120"/>
              </a:rPr>
              <a:t>= consistent build, clean integration</a:t>
            </a:r>
            <a:endParaRPr lang="en-US" sz="1650" dirty="0"/>
          </a:p>
        </p:txBody>
      </p:sp>
      <p:sp>
        <p:nvSpPr>
          <p:cNvPr id="15" name="Text 13"/>
          <p:cNvSpPr/>
          <p:nvPr/>
        </p:nvSpPr>
        <p:spPr>
          <a:xfrm>
            <a:off x="1143000" y="6191250"/>
            <a:ext cx="993616" cy="723900"/>
          </a:xfrm>
          <a:prstGeom prst="rect">
            <a:avLst/>
          </a:prstGeom>
          <a:noFill/>
          <a:ln/>
        </p:spPr>
        <p:txBody>
          <a:bodyPr wrap="square" lIns="25400" tIns="25400" rIns="25400" bIns="25400" rtlCol="0" anchor="t">
            <a:normAutofit/>
          </a:bodyPr>
          <a:lstStyle/>
          <a:p>
            <a:pPr algn="l" indent="0" marL="0">
              <a:buNone/>
            </a:pPr>
            <a:r>
              <a:rPr lang="en-US" sz="4200" b="1" dirty="0">
                <a:solidFill>
                  <a:srgbClr val="F4C233"/>
                </a:solidFill>
                <a:latin typeface="Space Grotesk" pitchFamily="34" charset="0"/>
                <a:ea typeface="Space Grotesk" pitchFamily="34" charset="-122"/>
                <a:cs typeface="Space Grotesk" pitchFamily="34" charset="-120"/>
              </a:rPr>
              <a:t>10×</a:t>
            </a:r>
            <a:endParaRPr lang="en-US" sz="4200" dirty="0"/>
          </a:p>
        </p:txBody>
      </p:sp>
      <p:sp>
        <p:nvSpPr>
          <p:cNvPr id="16" name="Text 14"/>
          <p:cNvSpPr/>
          <p:nvPr/>
        </p:nvSpPr>
        <p:spPr>
          <a:xfrm>
            <a:off x="2269966" y="6187440"/>
            <a:ext cx="8829675" cy="731520"/>
          </a:xfrm>
          <a:prstGeom prst="rect">
            <a:avLst/>
          </a:prstGeom>
          <a:noFill/>
          <a:ln/>
        </p:spPr>
        <p:txBody>
          <a:bodyPr wrap="square" lIns="25400" tIns="25400" rIns="25400" bIns="25400" rtlCol="0" anchor="t">
            <a:normAutofit/>
          </a:bodyPr>
          <a:lstStyle/>
          <a:p>
            <a:pPr algn="l" indent="0" marL="0">
              <a:lnSpc>
                <a:spcPct val="107059"/>
              </a:lnSpc>
              <a:buNone/>
            </a:pPr>
            <a:r>
              <a:rPr lang="en-US" sz="1950" dirty="0">
                <a:solidFill>
                  <a:srgbClr val="0E1C30">
                    <a:alpha val="70000"/>
                  </a:srgbClr>
                </a:solidFill>
                <a:latin typeface="IBM Plex Sans" pitchFamily="34" charset="0"/>
                <a:ea typeface="IBM Plex Sans" pitchFamily="34" charset="-122"/>
                <a:cs typeface="IBM Plex Sans" pitchFamily="34" charset="-120"/>
              </a:rPr>
              <a:t>Catching alignment issues in solutioning is roughly ten times cheaper than discovering them mid-sprint.</a:t>
            </a:r>
            <a:endParaRPr lang="en-US" sz="1950" dirty="0"/>
          </a:p>
        </p:txBody>
      </p:sp>
      <p:sp>
        <p:nvSpPr>
          <p:cNvPr id="17" name="Text 15"/>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18" name="Text 16"/>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29 / 45</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1143000" y="914400"/>
            <a:ext cx="1213168" cy="355600"/>
          </a:xfrm>
          <a:prstGeom prst="rect">
            <a:avLst/>
          </a:prstGeom>
          <a:noFill/>
          <a:ln/>
        </p:spPr>
        <p:txBody>
          <a:bodyPr wrap="square" lIns="25400" tIns="25400" rIns="25400" bIns="25400" rtlCol="0" anchor="t">
            <a:normAutofit/>
          </a:bodyPr>
          <a:lstStyle/>
          <a:p>
            <a:pPr algn="l" indent="0" marL="0">
              <a:buNone/>
            </a:pPr>
            <a:r>
              <a:rPr lang="en-US" sz="1950" b="1" dirty="0">
                <a:solidFill>
                  <a:srgbClr val="F58B6E"/>
                </a:solidFill>
                <a:latin typeface="Space Grotesk" pitchFamily="34" charset="0"/>
                <a:ea typeface="Space Grotesk" pitchFamily="34" charset="-122"/>
                <a:cs typeface="Space Grotesk" pitchFamily="34" charset="-120"/>
              </a:rPr>
              <a:t>PHASE 04</a:t>
            </a:r>
            <a:endParaRPr lang="en-US" sz="1950" dirty="0"/>
          </a:p>
        </p:txBody>
      </p:sp>
      <p:sp>
        <p:nvSpPr>
          <p:cNvPr id="3" name="Text 1"/>
          <p:cNvSpPr/>
          <p:nvPr/>
        </p:nvSpPr>
        <p:spPr>
          <a:xfrm>
            <a:off x="2470468" y="981075"/>
            <a:ext cx="647700" cy="222250"/>
          </a:xfrm>
          <a:prstGeom prst="rect">
            <a:avLst/>
          </a:prstGeom>
          <a:noFill/>
          <a:ln/>
        </p:spPr>
        <p:txBody>
          <a:bodyPr wrap="square" lIns="25400" tIns="25400" rIns="25400" bIns="25400" rtlCol="0" anchor="t">
            <a:normAutofit/>
          </a:bodyPr>
          <a:lstStyle/>
          <a:p>
            <a:pPr algn="l" indent="0" marL="0">
              <a:buNone/>
            </a:pPr>
            <a:r>
              <a:rPr lang="en-US" sz="1125" spc="225" kern="0" dirty="0">
                <a:solidFill>
                  <a:srgbClr val="0E1C30">
                    <a:alpha val="50000"/>
                  </a:srgbClr>
                </a:solidFill>
                <a:latin typeface="IBM Plex Mono" pitchFamily="34" charset="0"/>
                <a:ea typeface="IBM Plex Mono" pitchFamily="34" charset="-122"/>
                <a:cs typeface="IBM Plex Mono" pitchFamily="34" charset="-120"/>
              </a:rPr>
              <a:t>BUILD</a:t>
            </a:r>
            <a:endParaRPr lang="en-US" sz="1125" dirty="0"/>
          </a:p>
        </p:txBody>
      </p:sp>
      <p:sp>
        <p:nvSpPr>
          <p:cNvPr id="4" name="Text 2"/>
          <p:cNvSpPr/>
          <p:nvPr/>
        </p:nvSpPr>
        <p:spPr>
          <a:xfrm>
            <a:off x="1143000" y="1441450"/>
            <a:ext cx="17602200" cy="781050"/>
          </a:xfrm>
          <a:prstGeom prst="rect">
            <a:avLst/>
          </a:prstGeom>
          <a:noFill/>
          <a:ln/>
        </p:spPr>
        <p:txBody>
          <a:bodyPr wrap="square" lIns="25400" tIns="25400" rIns="25400" bIns="25400" rtlCol="0" anchor="t">
            <a:normAutofit/>
          </a:bodyPr>
          <a:lstStyle/>
          <a:p>
            <a:pPr algn="l" indent="0" marL="0">
              <a:lnSpc>
                <a:spcPct val="78523"/>
              </a:lnSpc>
              <a:buNone/>
            </a:pPr>
            <a:r>
              <a:rPr lang="en-US" sz="5850" b="1" spc="-117" kern="0" dirty="0">
                <a:solidFill>
                  <a:srgbClr val="0E1C30"/>
                </a:solidFill>
                <a:latin typeface="Space Grotesk" pitchFamily="34" charset="0"/>
                <a:ea typeface="Space Grotesk" pitchFamily="34" charset="-122"/>
                <a:cs typeface="Space Grotesk" pitchFamily="34" charset="-120"/>
              </a:rPr>
              <a:t>Implementation</a:t>
            </a:r>
            <a:endParaRPr lang="en-US" sz="5850" dirty="0"/>
          </a:p>
        </p:txBody>
      </p:sp>
      <p:sp>
        <p:nvSpPr>
          <p:cNvPr id="5" name="Text 3"/>
          <p:cNvSpPr/>
          <p:nvPr/>
        </p:nvSpPr>
        <p:spPr>
          <a:xfrm>
            <a:off x="1143000" y="2413000"/>
            <a:ext cx="11969115" cy="838200"/>
          </a:xfrm>
          <a:prstGeom prst="rect">
            <a:avLst/>
          </a:prstGeom>
          <a:noFill/>
          <a:ln/>
        </p:spPr>
        <p:txBody>
          <a:bodyPr wrap="square" lIns="25400" tIns="25400" rIns="25400" bIns="25400" rtlCol="0" anchor="t">
            <a:normAutofit/>
          </a:bodyPr>
          <a:lstStyle/>
          <a:p>
            <a:pPr algn="l" indent="0" marL="0">
              <a:lnSpc>
                <a:spcPct val="114545"/>
              </a:lnSpc>
              <a:buNone/>
            </a:pPr>
            <a:r>
              <a:rPr lang="en-US" sz="2100" dirty="0">
                <a:solidFill>
                  <a:srgbClr val="0E1C30">
                    <a:alpha val="72000"/>
                  </a:srgbClr>
                </a:solidFill>
                <a:latin typeface="IBM Plex Sans" pitchFamily="34" charset="0"/>
                <a:ea typeface="IBM Plex Sans" pitchFamily="34" charset="-122"/>
                <a:cs typeface="IBM Plex Sans" pitchFamily="34" charset="-120"/>
              </a:rPr>
              <a:t>Build it, one story at a time — each with complete, focused context so the dev agent never guesses. Sprint planning sequences the cycle once; then you repeat the loop.</a:t>
            </a:r>
            <a:endParaRPr lang="en-US" sz="2100" dirty="0"/>
          </a:p>
        </p:txBody>
      </p:sp>
      <p:sp>
        <p:nvSpPr>
          <p:cNvPr id="6" name="Shape 4"/>
          <p:cNvSpPr/>
          <p:nvPr/>
        </p:nvSpPr>
        <p:spPr>
          <a:xfrm>
            <a:off x="1143000" y="3879850"/>
            <a:ext cx="3886200" cy="1104900"/>
          </a:xfrm>
          <a:prstGeom prst="rect">
            <a:avLst/>
          </a:prstGeom>
          <a:solidFill>
            <a:srgbClr val="FFFFFF"/>
          </a:solidFill>
          <a:ln w="6350">
            <a:solidFill>
              <a:srgbClr val="0E1C30">
                <a:alpha val="14000"/>
              </a:srgbClr>
            </a:solidFill>
            <a:prstDash val="solid"/>
          </a:ln>
        </p:spPr>
      </p:sp>
      <p:sp>
        <p:nvSpPr>
          <p:cNvPr id="7" name="Text 5"/>
          <p:cNvSpPr/>
          <p:nvPr/>
        </p:nvSpPr>
        <p:spPr>
          <a:xfrm>
            <a:off x="1435100" y="4133850"/>
            <a:ext cx="3632200" cy="215900"/>
          </a:xfrm>
          <a:prstGeom prst="rect">
            <a:avLst/>
          </a:prstGeom>
          <a:noFill/>
          <a:ln/>
        </p:spPr>
        <p:txBody>
          <a:bodyPr wrap="square" lIns="25400" tIns="25400" rIns="25400" bIns="25400" rtlCol="0" anchor="t">
            <a:normAutofit/>
          </a:bodyPr>
          <a:lstStyle/>
          <a:p>
            <a:pPr algn="l" indent="0" marL="0">
              <a:buNone/>
            </a:pPr>
            <a:r>
              <a:rPr lang="en-US" sz="1050" spc="105" kern="0" dirty="0">
                <a:solidFill>
                  <a:srgbClr val="F58B6E"/>
                </a:solidFill>
                <a:latin typeface="IBM Plex Mono" pitchFamily="34" charset="0"/>
                <a:ea typeface="IBM Plex Mono" pitchFamily="34" charset="-122"/>
                <a:cs typeface="IBM Plex Mono" pitchFamily="34" charset="-120"/>
              </a:rPr>
              <a:t>bmad-sprint-planning</a:t>
            </a:r>
            <a:endParaRPr lang="en-US" sz="1050" dirty="0"/>
          </a:p>
        </p:txBody>
      </p:sp>
      <p:sp>
        <p:nvSpPr>
          <p:cNvPr id="8" name="Text 6"/>
          <p:cNvSpPr/>
          <p:nvPr/>
        </p:nvSpPr>
        <p:spPr>
          <a:xfrm>
            <a:off x="1435100" y="4425950"/>
            <a:ext cx="3632200" cy="342900"/>
          </a:xfrm>
          <a:prstGeom prst="rect">
            <a:avLst/>
          </a:prstGeom>
          <a:noFill/>
          <a:ln/>
        </p:spPr>
        <p:txBody>
          <a:bodyPr wrap="square" lIns="25400" tIns="25400" rIns="25400" bIns="25400" rtlCol="0" anchor="t">
            <a:normAutofit/>
          </a:bodyPr>
          <a:lstStyle/>
          <a:p>
            <a:pPr algn="l" indent="0" marL="0">
              <a:buNone/>
            </a:pPr>
            <a:r>
              <a:rPr lang="en-US" sz="1875" b="1" dirty="0">
                <a:solidFill>
                  <a:srgbClr val="0E1C30"/>
                </a:solidFill>
                <a:latin typeface="Space Grotesk" pitchFamily="34" charset="0"/>
                <a:ea typeface="Space Grotesk" pitchFamily="34" charset="-122"/>
                <a:cs typeface="Space Grotesk" pitchFamily="34" charset="-120"/>
              </a:rPr>
              <a:t>Sequence work</a:t>
            </a:r>
            <a:endParaRPr lang="en-US" sz="1875" dirty="0"/>
          </a:p>
        </p:txBody>
      </p:sp>
      <p:sp>
        <p:nvSpPr>
          <p:cNvPr id="9" name="Shape 7"/>
          <p:cNvSpPr/>
          <p:nvPr/>
        </p:nvSpPr>
        <p:spPr>
          <a:xfrm>
            <a:off x="5181600" y="3879850"/>
            <a:ext cx="3886200" cy="1104900"/>
          </a:xfrm>
          <a:prstGeom prst="rect">
            <a:avLst/>
          </a:prstGeom>
          <a:solidFill>
            <a:srgbClr val="FFFFFF"/>
          </a:solidFill>
          <a:ln w="6350">
            <a:solidFill>
              <a:srgbClr val="0E1C30">
                <a:alpha val="14000"/>
              </a:srgbClr>
            </a:solidFill>
            <a:prstDash val="solid"/>
          </a:ln>
        </p:spPr>
      </p:sp>
      <p:sp>
        <p:nvSpPr>
          <p:cNvPr id="10" name="Text 8"/>
          <p:cNvSpPr/>
          <p:nvPr/>
        </p:nvSpPr>
        <p:spPr>
          <a:xfrm>
            <a:off x="5473700" y="4133850"/>
            <a:ext cx="3632200" cy="215900"/>
          </a:xfrm>
          <a:prstGeom prst="rect">
            <a:avLst/>
          </a:prstGeom>
          <a:noFill/>
          <a:ln/>
        </p:spPr>
        <p:txBody>
          <a:bodyPr wrap="square" lIns="25400" tIns="25400" rIns="25400" bIns="25400" rtlCol="0" anchor="t">
            <a:normAutofit/>
          </a:bodyPr>
          <a:lstStyle/>
          <a:p>
            <a:pPr algn="l" indent="0" marL="0">
              <a:buNone/>
            </a:pPr>
            <a:r>
              <a:rPr lang="en-US" sz="1050" spc="105" kern="0" dirty="0">
                <a:solidFill>
                  <a:srgbClr val="F58B6E"/>
                </a:solidFill>
                <a:latin typeface="IBM Plex Mono" pitchFamily="34" charset="0"/>
                <a:ea typeface="IBM Plex Mono" pitchFamily="34" charset="-122"/>
                <a:cs typeface="IBM Plex Mono" pitchFamily="34" charset="-120"/>
              </a:rPr>
              <a:t>bmad-create-story</a:t>
            </a:r>
            <a:endParaRPr lang="en-US" sz="1050" dirty="0"/>
          </a:p>
        </p:txBody>
      </p:sp>
      <p:sp>
        <p:nvSpPr>
          <p:cNvPr id="11" name="Text 9"/>
          <p:cNvSpPr/>
          <p:nvPr/>
        </p:nvSpPr>
        <p:spPr>
          <a:xfrm>
            <a:off x="5473700" y="4425950"/>
            <a:ext cx="3632200" cy="342900"/>
          </a:xfrm>
          <a:prstGeom prst="rect">
            <a:avLst/>
          </a:prstGeom>
          <a:noFill/>
          <a:ln/>
        </p:spPr>
        <p:txBody>
          <a:bodyPr wrap="square" lIns="25400" tIns="25400" rIns="25400" bIns="25400" rtlCol="0" anchor="t">
            <a:normAutofit/>
          </a:bodyPr>
          <a:lstStyle/>
          <a:p>
            <a:pPr algn="l" indent="0" marL="0">
              <a:buNone/>
            </a:pPr>
            <a:r>
              <a:rPr lang="en-US" sz="1875" b="1" dirty="0">
                <a:solidFill>
                  <a:srgbClr val="0E1C30"/>
                </a:solidFill>
                <a:latin typeface="Space Grotesk" pitchFamily="34" charset="0"/>
                <a:ea typeface="Space Grotesk" pitchFamily="34" charset="-122"/>
                <a:cs typeface="Space Grotesk" pitchFamily="34" charset="-120"/>
              </a:rPr>
              <a:t>Prep the story</a:t>
            </a:r>
            <a:endParaRPr lang="en-US" sz="1875" dirty="0"/>
          </a:p>
        </p:txBody>
      </p:sp>
      <p:sp>
        <p:nvSpPr>
          <p:cNvPr id="12" name="Shape 10"/>
          <p:cNvSpPr/>
          <p:nvPr/>
        </p:nvSpPr>
        <p:spPr>
          <a:xfrm>
            <a:off x="9220200" y="3879850"/>
            <a:ext cx="3886200" cy="1104900"/>
          </a:xfrm>
          <a:prstGeom prst="rect">
            <a:avLst/>
          </a:prstGeom>
          <a:solidFill>
            <a:srgbClr val="FFFFFF"/>
          </a:solidFill>
          <a:ln w="6350">
            <a:solidFill>
              <a:srgbClr val="0E1C30">
                <a:alpha val="14000"/>
              </a:srgbClr>
            </a:solidFill>
            <a:prstDash val="solid"/>
          </a:ln>
        </p:spPr>
      </p:sp>
      <p:sp>
        <p:nvSpPr>
          <p:cNvPr id="13" name="Text 11"/>
          <p:cNvSpPr/>
          <p:nvPr/>
        </p:nvSpPr>
        <p:spPr>
          <a:xfrm>
            <a:off x="9512300" y="4133850"/>
            <a:ext cx="3632200" cy="215900"/>
          </a:xfrm>
          <a:prstGeom prst="rect">
            <a:avLst/>
          </a:prstGeom>
          <a:noFill/>
          <a:ln/>
        </p:spPr>
        <p:txBody>
          <a:bodyPr wrap="square" lIns="25400" tIns="25400" rIns="25400" bIns="25400" rtlCol="0" anchor="t">
            <a:normAutofit/>
          </a:bodyPr>
          <a:lstStyle/>
          <a:p>
            <a:pPr algn="l" indent="0" marL="0">
              <a:buNone/>
            </a:pPr>
            <a:r>
              <a:rPr lang="en-US" sz="1050" spc="105" kern="0" dirty="0">
                <a:solidFill>
                  <a:srgbClr val="F58B6E"/>
                </a:solidFill>
                <a:latin typeface="IBM Plex Mono" pitchFamily="34" charset="0"/>
                <a:ea typeface="IBM Plex Mono" pitchFamily="34" charset="-122"/>
                <a:cs typeface="IBM Plex Mono" pitchFamily="34" charset="-120"/>
              </a:rPr>
              <a:t>bmad-dev-story</a:t>
            </a:r>
            <a:endParaRPr lang="en-US" sz="1050" dirty="0"/>
          </a:p>
        </p:txBody>
      </p:sp>
      <p:sp>
        <p:nvSpPr>
          <p:cNvPr id="14" name="Text 12"/>
          <p:cNvSpPr/>
          <p:nvPr/>
        </p:nvSpPr>
        <p:spPr>
          <a:xfrm>
            <a:off x="9512300" y="4425950"/>
            <a:ext cx="3632200" cy="342900"/>
          </a:xfrm>
          <a:prstGeom prst="rect">
            <a:avLst/>
          </a:prstGeom>
          <a:noFill/>
          <a:ln/>
        </p:spPr>
        <p:txBody>
          <a:bodyPr wrap="square" lIns="25400" tIns="25400" rIns="25400" bIns="25400" rtlCol="0" anchor="t">
            <a:normAutofit/>
          </a:bodyPr>
          <a:lstStyle/>
          <a:p>
            <a:pPr algn="l" indent="0" marL="0">
              <a:buNone/>
            </a:pPr>
            <a:r>
              <a:rPr lang="en-US" sz="1875" b="1" dirty="0">
                <a:solidFill>
                  <a:srgbClr val="0E1C30"/>
                </a:solidFill>
                <a:latin typeface="Space Grotesk" pitchFamily="34" charset="0"/>
                <a:ea typeface="Space Grotesk" pitchFamily="34" charset="-122"/>
                <a:cs typeface="Space Grotesk" pitchFamily="34" charset="-120"/>
              </a:rPr>
              <a:t>Working code + tests</a:t>
            </a:r>
            <a:endParaRPr lang="en-US" sz="1875" dirty="0"/>
          </a:p>
        </p:txBody>
      </p:sp>
      <p:sp>
        <p:nvSpPr>
          <p:cNvPr id="15" name="Shape 13"/>
          <p:cNvSpPr/>
          <p:nvPr/>
        </p:nvSpPr>
        <p:spPr>
          <a:xfrm>
            <a:off x="13258800" y="3879850"/>
            <a:ext cx="3886200" cy="1104900"/>
          </a:xfrm>
          <a:prstGeom prst="rect">
            <a:avLst/>
          </a:prstGeom>
          <a:solidFill>
            <a:srgbClr val="FFFFFF"/>
          </a:solidFill>
          <a:ln w="6350">
            <a:solidFill>
              <a:srgbClr val="0E1C30">
                <a:alpha val="14000"/>
              </a:srgbClr>
            </a:solidFill>
            <a:prstDash val="solid"/>
          </a:ln>
        </p:spPr>
      </p:sp>
      <p:sp>
        <p:nvSpPr>
          <p:cNvPr id="16" name="Text 14"/>
          <p:cNvSpPr/>
          <p:nvPr/>
        </p:nvSpPr>
        <p:spPr>
          <a:xfrm>
            <a:off x="13550900" y="4133850"/>
            <a:ext cx="3632200" cy="215900"/>
          </a:xfrm>
          <a:prstGeom prst="rect">
            <a:avLst/>
          </a:prstGeom>
          <a:noFill/>
          <a:ln/>
        </p:spPr>
        <p:txBody>
          <a:bodyPr wrap="square" lIns="25400" tIns="25400" rIns="25400" bIns="25400" rtlCol="0" anchor="t">
            <a:normAutofit/>
          </a:bodyPr>
          <a:lstStyle/>
          <a:p>
            <a:pPr algn="l" indent="0" marL="0">
              <a:buNone/>
            </a:pPr>
            <a:r>
              <a:rPr lang="en-US" sz="1050" spc="105" kern="0" dirty="0">
                <a:solidFill>
                  <a:srgbClr val="F58B6E"/>
                </a:solidFill>
                <a:latin typeface="IBM Plex Mono" pitchFamily="34" charset="0"/>
                <a:ea typeface="IBM Plex Mono" pitchFamily="34" charset="-122"/>
                <a:cs typeface="IBM Plex Mono" pitchFamily="34" charset="-120"/>
              </a:rPr>
              <a:t>bmad-code-review</a:t>
            </a:r>
            <a:endParaRPr lang="en-US" sz="1050" dirty="0"/>
          </a:p>
        </p:txBody>
      </p:sp>
      <p:sp>
        <p:nvSpPr>
          <p:cNvPr id="17" name="Text 15"/>
          <p:cNvSpPr/>
          <p:nvPr/>
        </p:nvSpPr>
        <p:spPr>
          <a:xfrm>
            <a:off x="13550900" y="4425950"/>
            <a:ext cx="3632200" cy="342900"/>
          </a:xfrm>
          <a:prstGeom prst="rect">
            <a:avLst/>
          </a:prstGeom>
          <a:noFill/>
          <a:ln/>
        </p:spPr>
        <p:txBody>
          <a:bodyPr wrap="square" lIns="25400" tIns="25400" rIns="25400" bIns="25400" rtlCol="0" anchor="t">
            <a:normAutofit/>
          </a:bodyPr>
          <a:lstStyle/>
          <a:p>
            <a:pPr algn="l" indent="0" marL="0">
              <a:buNone/>
            </a:pPr>
            <a:r>
              <a:rPr lang="en-US" sz="1875" b="1" dirty="0">
                <a:solidFill>
                  <a:srgbClr val="0E1C30"/>
                </a:solidFill>
                <a:latin typeface="Space Grotesk" pitchFamily="34" charset="0"/>
                <a:ea typeface="Space Grotesk" pitchFamily="34" charset="-122"/>
                <a:cs typeface="Space Grotesk" pitchFamily="34" charset="-120"/>
              </a:rPr>
              <a:t>Validate quality</a:t>
            </a:r>
            <a:endParaRPr lang="en-US" sz="1875" dirty="0"/>
          </a:p>
        </p:txBody>
      </p:sp>
      <p:sp>
        <p:nvSpPr>
          <p:cNvPr id="18" name="Text 16"/>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19" name="Text 17"/>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30 / 45</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3953732"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THE HEARTBEAT · PER-STORY LOOP</a:t>
            </a:r>
            <a:endParaRPr lang="en-US" sz="1200" dirty="0"/>
          </a:p>
        </p:txBody>
      </p:sp>
      <p:sp>
        <p:nvSpPr>
          <p:cNvPr id="4" name="Text 2"/>
          <p:cNvSpPr/>
          <p:nvPr/>
        </p:nvSpPr>
        <p:spPr>
          <a:xfrm>
            <a:off x="1143000" y="1384300"/>
            <a:ext cx="17602200" cy="672147"/>
          </a:xfrm>
          <a:prstGeom prst="rect">
            <a:avLst/>
          </a:prstGeom>
          <a:noFill/>
          <a:ln/>
        </p:spPr>
        <p:txBody>
          <a:bodyPr wrap="square" lIns="25400" tIns="25400" rIns="25400" bIns="25400" rtlCol="0" anchor="t">
            <a:normAutofit/>
          </a:bodyPr>
          <a:lstStyle/>
          <a:p>
            <a:pPr algn="l" indent="0" marL="0">
              <a:lnSpc>
                <a:spcPct val="81844"/>
              </a:lnSpc>
              <a:buNone/>
            </a:pPr>
            <a:r>
              <a:rPr lang="en-US" sz="4800" b="1" spc="-96" kern="0" dirty="0">
                <a:solidFill>
                  <a:srgbClr val="0E1C30"/>
                </a:solidFill>
                <a:latin typeface="Space Grotesk" pitchFamily="34" charset="0"/>
                <a:ea typeface="Space Grotesk" pitchFamily="34" charset="-122"/>
                <a:cs typeface="Space Grotesk" pitchFamily="34" charset="-120"/>
              </a:rPr>
              <a:t>A tight loop, one story at a time</a:t>
            </a:r>
            <a:endParaRPr lang="en-US" sz="4800" dirty="0"/>
          </a:p>
        </p:txBody>
      </p:sp>
      <p:sp>
        <p:nvSpPr>
          <p:cNvPr id="5" name="Shape 3"/>
          <p:cNvSpPr/>
          <p:nvPr/>
        </p:nvSpPr>
        <p:spPr>
          <a:xfrm>
            <a:off x="1143000" y="2704147"/>
            <a:ext cx="3649504" cy="2000250"/>
          </a:xfrm>
          <a:prstGeom prst="rect">
            <a:avLst/>
          </a:prstGeom>
          <a:solidFill>
            <a:srgbClr val="FFFFFF"/>
          </a:solidFill>
          <a:ln w="6350">
            <a:solidFill>
              <a:srgbClr val="0E1C30">
                <a:alpha val="14000"/>
              </a:srgbClr>
            </a:solidFill>
            <a:prstDash val="solid"/>
          </a:ln>
        </p:spPr>
      </p:sp>
      <p:sp>
        <p:nvSpPr>
          <p:cNvPr id="6" name="Text 4"/>
          <p:cNvSpPr/>
          <p:nvPr/>
        </p:nvSpPr>
        <p:spPr>
          <a:xfrm>
            <a:off x="1198015" y="3072447"/>
            <a:ext cx="3539474" cy="527050"/>
          </a:xfrm>
          <a:prstGeom prst="rect">
            <a:avLst/>
          </a:prstGeom>
          <a:noFill/>
          <a:ln/>
        </p:spPr>
        <p:txBody>
          <a:bodyPr wrap="square" lIns="25400" tIns="25400" rIns="25400" bIns="25400" rtlCol="0" anchor="t">
            <a:normAutofit/>
          </a:bodyPr>
          <a:lstStyle/>
          <a:p>
            <a:pPr algn="ctr" indent="0" marL="0">
              <a:buNone/>
            </a:pPr>
            <a:r>
              <a:rPr lang="en-US" sz="3000" b="1" dirty="0">
                <a:solidFill>
                  <a:srgbClr val="F4C233"/>
                </a:solidFill>
                <a:latin typeface="Space Grotesk" pitchFamily="34" charset="0"/>
                <a:ea typeface="Space Grotesk" pitchFamily="34" charset="-122"/>
                <a:cs typeface="Space Grotesk" pitchFamily="34" charset="-120"/>
              </a:rPr>
              <a:t>01</a:t>
            </a:r>
            <a:endParaRPr lang="en-US" sz="3000" dirty="0"/>
          </a:p>
        </p:txBody>
      </p:sp>
      <p:sp>
        <p:nvSpPr>
          <p:cNvPr id="7" name="Text 5"/>
          <p:cNvSpPr/>
          <p:nvPr/>
        </p:nvSpPr>
        <p:spPr>
          <a:xfrm>
            <a:off x="1198015" y="3694747"/>
            <a:ext cx="3539474" cy="368300"/>
          </a:xfrm>
          <a:prstGeom prst="rect">
            <a:avLst/>
          </a:prstGeom>
          <a:noFill/>
          <a:ln/>
        </p:spPr>
        <p:txBody>
          <a:bodyPr wrap="square" lIns="25400" tIns="25400" rIns="25400" bIns="25400" rtlCol="0" anchor="t">
            <a:normAutofit/>
          </a:bodyPr>
          <a:lstStyle/>
          <a:p>
            <a:pPr algn="ctr" indent="0" marL="0">
              <a:buNone/>
            </a:pPr>
            <a:r>
              <a:rPr lang="en-US" sz="2025" b="1" dirty="0">
                <a:solidFill>
                  <a:srgbClr val="0E1C30"/>
                </a:solidFill>
                <a:latin typeface="Space Grotesk" pitchFamily="34" charset="0"/>
                <a:ea typeface="Space Grotesk" pitchFamily="34" charset="-122"/>
                <a:cs typeface="Space Grotesk" pitchFamily="34" charset="-120"/>
              </a:rPr>
              <a:t>Create story</a:t>
            </a:r>
            <a:endParaRPr lang="en-US" sz="2025" dirty="0"/>
          </a:p>
        </p:txBody>
      </p:sp>
      <p:sp>
        <p:nvSpPr>
          <p:cNvPr id="8" name="Text 6"/>
          <p:cNvSpPr/>
          <p:nvPr/>
        </p:nvSpPr>
        <p:spPr>
          <a:xfrm>
            <a:off x="1198015" y="4101147"/>
            <a:ext cx="3539474" cy="273050"/>
          </a:xfrm>
          <a:prstGeom prst="rect">
            <a:avLst/>
          </a:prstGeom>
          <a:noFill/>
          <a:ln/>
        </p:spPr>
        <p:txBody>
          <a:bodyPr wrap="square" lIns="25400" tIns="25400" rIns="25400" bIns="25400" rtlCol="0" anchor="t">
            <a:normAutofit/>
          </a:bodyPr>
          <a:lstStyle/>
          <a:p>
            <a:pPr algn="ctr" indent="0" marL="0">
              <a:buNone/>
            </a:pPr>
            <a:r>
              <a:rPr lang="en-US" sz="1425" dirty="0">
                <a:solidFill>
                  <a:srgbClr val="0E1C30">
                    <a:alpha val="55000"/>
                  </a:srgbClr>
                </a:solidFill>
                <a:latin typeface="IBM Plex Sans" pitchFamily="34" charset="0"/>
                <a:ea typeface="IBM Plex Sans" pitchFamily="34" charset="-122"/>
                <a:cs typeface="IBM Plex Sans" pitchFamily="34" charset="-120"/>
              </a:rPr>
              <a:t>focused context</a:t>
            </a:r>
            <a:endParaRPr lang="en-US" sz="1425" dirty="0"/>
          </a:p>
        </p:txBody>
      </p:sp>
      <p:sp>
        <p:nvSpPr>
          <p:cNvPr id="9" name="Text 7"/>
          <p:cNvSpPr/>
          <p:nvPr/>
        </p:nvSpPr>
        <p:spPr>
          <a:xfrm>
            <a:off x="4906804" y="2704147"/>
            <a:ext cx="315595" cy="2038350"/>
          </a:xfrm>
          <a:prstGeom prst="rect">
            <a:avLst/>
          </a:prstGeom>
          <a:noFill/>
          <a:ln/>
        </p:spPr>
        <p:txBody>
          <a:bodyPr wrap="square" lIns="25400" tIns="25400" rIns="25400" bIns="25400" rtlCol="0" anchor="ctr">
            <a:normAutofit/>
          </a:bodyPr>
          <a:lstStyle/>
          <a:p>
            <a:pPr algn="l" indent="0" marL="0">
              <a:buNone/>
            </a:pPr>
            <a:r>
              <a:rPr lang="en-US" sz="2250" dirty="0">
                <a:solidFill>
                  <a:srgbClr val="F4C233"/>
                </a:solidFill>
                <a:latin typeface="IBM Plex Sans" pitchFamily="34" charset="0"/>
                <a:ea typeface="IBM Plex Sans" pitchFamily="34" charset="-122"/>
                <a:cs typeface="IBM Plex Sans" pitchFamily="34" charset="-120"/>
              </a:rPr>
              <a:t>→</a:t>
            </a:r>
            <a:endParaRPr lang="en-US" sz="2250" dirty="0"/>
          </a:p>
        </p:txBody>
      </p:sp>
      <p:sp>
        <p:nvSpPr>
          <p:cNvPr id="10" name="Shape 8"/>
          <p:cNvSpPr/>
          <p:nvPr/>
        </p:nvSpPr>
        <p:spPr>
          <a:xfrm>
            <a:off x="5260499" y="2704147"/>
            <a:ext cx="3649504" cy="2000250"/>
          </a:xfrm>
          <a:prstGeom prst="rect">
            <a:avLst/>
          </a:prstGeom>
          <a:solidFill>
            <a:srgbClr val="FFFFFF"/>
          </a:solidFill>
          <a:ln w="6350">
            <a:solidFill>
              <a:srgbClr val="0E1C30">
                <a:alpha val="14000"/>
              </a:srgbClr>
            </a:solidFill>
            <a:prstDash val="solid"/>
          </a:ln>
        </p:spPr>
      </p:sp>
      <p:sp>
        <p:nvSpPr>
          <p:cNvPr id="11" name="Text 9"/>
          <p:cNvSpPr/>
          <p:nvPr/>
        </p:nvSpPr>
        <p:spPr>
          <a:xfrm>
            <a:off x="5315514" y="3072447"/>
            <a:ext cx="3539474" cy="527050"/>
          </a:xfrm>
          <a:prstGeom prst="rect">
            <a:avLst/>
          </a:prstGeom>
          <a:noFill/>
          <a:ln/>
        </p:spPr>
        <p:txBody>
          <a:bodyPr wrap="square" lIns="25400" tIns="25400" rIns="25400" bIns="25400" rtlCol="0" anchor="t">
            <a:normAutofit/>
          </a:bodyPr>
          <a:lstStyle/>
          <a:p>
            <a:pPr algn="ctr" indent="0" marL="0">
              <a:buNone/>
            </a:pPr>
            <a:r>
              <a:rPr lang="en-US" sz="3000" b="1" dirty="0">
                <a:solidFill>
                  <a:srgbClr val="F4C233"/>
                </a:solidFill>
                <a:latin typeface="Space Grotesk" pitchFamily="34" charset="0"/>
                <a:ea typeface="Space Grotesk" pitchFamily="34" charset="-122"/>
                <a:cs typeface="Space Grotesk" pitchFamily="34" charset="-120"/>
              </a:rPr>
              <a:t>02</a:t>
            </a:r>
            <a:endParaRPr lang="en-US" sz="3000" dirty="0"/>
          </a:p>
        </p:txBody>
      </p:sp>
      <p:sp>
        <p:nvSpPr>
          <p:cNvPr id="12" name="Text 10"/>
          <p:cNvSpPr/>
          <p:nvPr/>
        </p:nvSpPr>
        <p:spPr>
          <a:xfrm>
            <a:off x="5315514" y="3694747"/>
            <a:ext cx="3539474" cy="368300"/>
          </a:xfrm>
          <a:prstGeom prst="rect">
            <a:avLst/>
          </a:prstGeom>
          <a:noFill/>
          <a:ln/>
        </p:spPr>
        <p:txBody>
          <a:bodyPr wrap="square" lIns="25400" tIns="25400" rIns="25400" bIns="25400" rtlCol="0" anchor="t">
            <a:normAutofit/>
          </a:bodyPr>
          <a:lstStyle/>
          <a:p>
            <a:pPr algn="ctr" indent="0" marL="0">
              <a:buNone/>
            </a:pPr>
            <a:r>
              <a:rPr lang="en-US" sz="2025" b="1" dirty="0">
                <a:solidFill>
                  <a:srgbClr val="0E1C30"/>
                </a:solidFill>
                <a:latin typeface="Space Grotesk" pitchFamily="34" charset="0"/>
                <a:ea typeface="Space Grotesk" pitchFamily="34" charset="-122"/>
                <a:cs typeface="Space Grotesk" pitchFamily="34" charset="-120"/>
              </a:rPr>
              <a:t>Dev story</a:t>
            </a:r>
            <a:endParaRPr lang="en-US" sz="2025" dirty="0"/>
          </a:p>
        </p:txBody>
      </p:sp>
      <p:sp>
        <p:nvSpPr>
          <p:cNvPr id="13" name="Text 11"/>
          <p:cNvSpPr/>
          <p:nvPr/>
        </p:nvSpPr>
        <p:spPr>
          <a:xfrm>
            <a:off x="5315514" y="4101147"/>
            <a:ext cx="3539474" cy="273050"/>
          </a:xfrm>
          <a:prstGeom prst="rect">
            <a:avLst/>
          </a:prstGeom>
          <a:noFill/>
          <a:ln/>
        </p:spPr>
        <p:txBody>
          <a:bodyPr wrap="square" lIns="25400" tIns="25400" rIns="25400" bIns="25400" rtlCol="0" anchor="t">
            <a:normAutofit/>
          </a:bodyPr>
          <a:lstStyle/>
          <a:p>
            <a:pPr algn="ctr" indent="0" marL="0">
              <a:buNone/>
            </a:pPr>
            <a:r>
              <a:rPr lang="en-US" sz="1425" dirty="0">
                <a:solidFill>
                  <a:srgbClr val="0E1C30">
                    <a:alpha val="55000"/>
                  </a:srgbClr>
                </a:solidFill>
                <a:latin typeface="IBM Plex Sans" pitchFamily="34" charset="0"/>
                <a:ea typeface="IBM Plex Sans" pitchFamily="34" charset="-122"/>
                <a:cs typeface="IBM Plex Sans" pitchFamily="34" charset="-120"/>
              </a:rPr>
              <a:t>code + tests</a:t>
            </a:r>
            <a:endParaRPr lang="en-US" sz="1425" dirty="0"/>
          </a:p>
        </p:txBody>
      </p:sp>
      <p:sp>
        <p:nvSpPr>
          <p:cNvPr id="14" name="Text 12"/>
          <p:cNvSpPr/>
          <p:nvPr/>
        </p:nvSpPr>
        <p:spPr>
          <a:xfrm>
            <a:off x="9024303" y="2704147"/>
            <a:ext cx="315595" cy="2038350"/>
          </a:xfrm>
          <a:prstGeom prst="rect">
            <a:avLst/>
          </a:prstGeom>
          <a:noFill/>
          <a:ln/>
        </p:spPr>
        <p:txBody>
          <a:bodyPr wrap="square" lIns="25400" tIns="25400" rIns="25400" bIns="25400" rtlCol="0" anchor="ctr">
            <a:normAutofit/>
          </a:bodyPr>
          <a:lstStyle/>
          <a:p>
            <a:pPr algn="l" indent="0" marL="0">
              <a:buNone/>
            </a:pPr>
            <a:r>
              <a:rPr lang="en-US" sz="2250" dirty="0">
                <a:solidFill>
                  <a:srgbClr val="F4C233"/>
                </a:solidFill>
                <a:latin typeface="IBM Plex Sans" pitchFamily="34" charset="0"/>
                <a:ea typeface="IBM Plex Sans" pitchFamily="34" charset="-122"/>
                <a:cs typeface="IBM Plex Sans" pitchFamily="34" charset="-120"/>
              </a:rPr>
              <a:t>→</a:t>
            </a:r>
            <a:endParaRPr lang="en-US" sz="2250" dirty="0"/>
          </a:p>
        </p:txBody>
      </p:sp>
      <p:sp>
        <p:nvSpPr>
          <p:cNvPr id="15" name="Shape 13"/>
          <p:cNvSpPr/>
          <p:nvPr/>
        </p:nvSpPr>
        <p:spPr>
          <a:xfrm>
            <a:off x="9377997" y="2704147"/>
            <a:ext cx="3649504" cy="2000250"/>
          </a:xfrm>
          <a:prstGeom prst="rect">
            <a:avLst/>
          </a:prstGeom>
          <a:solidFill>
            <a:srgbClr val="FFFFFF"/>
          </a:solidFill>
          <a:ln w="6350">
            <a:solidFill>
              <a:srgbClr val="0E1C30">
                <a:alpha val="14000"/>
              </a:srgbClr>
            </a:solidFill>
            <a:prstDash val="solid"/>
          </a:ln>
        </p:spPr>
      </p:sp>
      <p:sp>
        <p:nvSpPr>
          <p:cNvPr id="16" name="Text 14"/>
          <p:cNvSpPr/>
          <p:nvPr/>
        </p:nvSpPr>
        <p:spPr>
          <a:xfrm>
            <a:off x="9433012" y="3072447"/>
            <a:ext cx="3539474" cy="527050"/>
          </a:xfrm>
          <a:prstGeom prst="rect">
            <a:avLst/>
          </a:prstGeom>
          <a:noFill/>
          <a:ln/>
        </p:spPr>
        <p:txBody>
          <a:bodyPr wrap="square" lIns="25400" tIns="25400" rIns="25400" bIns="25400" rtlCol="0" anchor="t">
            <a:normAutofit/>
          </a:bodyPr>
          <a:lstStyle/>
          <a:p>
            <a:pPr algn="ctr" indent="0" marL="0">
              <a:buNone/>
            </a:pPr>
            <a:r>
              <a:rPr lang="en-US" sz="3000" b="1" dirty="0">
                <a:solidFill>
                  <a:srgbClr val="F4C233"/>
                </a:solidFill>
                <a:latin typeface="Space Grotesk" pitchFamily="34" charset="0"/>
                <a:ea typeface="Space Grotesk" pitchFamily="34" charset="-122"/>
                <a:cs typeface="Space Grotesk" pitchFamily="34" charset="-120"/>
              </a:rPr>
              <a:t>03</a:t>
            </a:r>
            <a:endParaRPr lang="en-US" sz="3000" dirty="0"/>
          </a:p>
        </p:txBody>
      </p:sp>
      <p:sp>
        <p:nvSpPr>
          <p:cNvPr id="17" name="Text 15"/>
          <p:cNvSpPr/>
          <p:nvPr/>
        </p:nvSpPr>
        <p:spPr>
          <a:xfrm>
            <a:off x="9433012" y="3694747"/>
            <a:ext cx="3539474" cy="368300"/>
          </a:xfrm>
          <a:prstGeom prst="rect">
            <a:avLst/>
          </a:prstGeom>
          <a:noFill/>
          <a:ln/>
        </p:spPr>
        <p:txBody>
          <a:bodyPr wrap="square" lIns="25400" tIns="25400" rIns="25400" bIns="25400" rtlCol="0" anchor="t">
            <a:normAutofit/>
          </a:bodyPr>
          <a:lstStyle/>
          <a:p>
            <a:pPr algn="ctr" indent="0" marL="0">
              <a:buNone/>
            </a:pPr>
            <a:r>
              <a:rPr lang="en-US" sz="2025" b="1" dirty="0">
                <a:solidFill>
                  <a:srgbClr val="0E1C30"/>
                </a:solidFill>
                <a:latin typeface="Space Grotesk" pitchFamily="34" charset="0"/>
                <a:ea typeface="Space Grotesk" pitchFamily="34" charset="-122"/>
                <a:cs typeface="Space Grotesk" pitchFamily="34" charset="-120"/>
              </a:rPr>
              <a:t>Code review</a:t>
            </a:r>
            <a:endParaRPr lang="en-US" sz="2025" dirty="0"/>
          </a:p>
        </p:txBody>
      </p:sp>
      <p:sp>
        <p:nvSpPr>
          <p:cNvPr id="18" name="Text 16"/>
          <p:cNvSpPr/>
          <p:nvPr/>
        </p:nvSpPr>
        <p:spPr>
          <a:xfrm>
            <a:off x="9433012" y="4101147"/>
            <a:ext cx="3539474" cy="273050"/>
          </a:xfrm>
          <a:prstGeom prst="rect">
            <a:avLst/>
          </a:prstGeom>
          <a:noFill/>
          <a:ln/>
        </p:spPr>
        <p:txBody>
          <a:bodyPr wrap="square" lIns="25400" tIns="25400" rIns="25400" bIns="25400" rtlCol="0" anchor="t">
            <a:normAutofit/>
          </a:bodyPr>
          <a:lstStyle/>
          <a:p>
            <a:pPr algn="ctr" indent="0" marL="0">
              <a:buNone/>
            </a:pPr>
            <a:r>
              <a:rPr lang="en-US" sz="1425" dirty="0">
                <a:solidFill>
                  <a:srgbClr val="0E1C30">
                    <a:alpha val="55000"/>
                  </a:srgbClr>
                </a:solidFill>
                <a:latin typeface="IBM Plex Sans" pitchFamily="34" charset="0"/>
                <a:ea typeface="IBM Plex Sans" pitchFamily="34" charset="-122"/>
                <a:cs typeface="IBM Plex Sans" pitchFamily="34" charset="-120"/>
              </a:rPr>
              <a:t>approve / revise</a:t>
            </a:r>
            <a:endParaRPr lang="en-US" sz="1425" dirty="0"/>
          </a:p>
        </p:txBody>
      </p:sp>
      <p:sp>
        <p:nvSpPr>
          <p:cNvPr id="19" name="Text 17"/>
          <p:cNvSpPr/>
          <p:nvPr/>
        </p:nvSpPr>
        <p:spPr>
          <a:xfrm>
            <a:off x="13141801" y="2704147"/>
            <a:ext cx="315595" cy="2038350"/>
          </a:xfrm>
          <a:prstGeom prst="rect">
            <a:avLst/>
          </a:prstGeom>
          <a:noFill/>
          <a:ln/>
        </p:spPr>
        <p:txBody>
          <a:bodyPr wrap="square" lIns="25400" tIns="25400" rIns="25400" bIns="25400" rtlCol="0" anchor="ctr">
            <a:normAutofit/>
          </a:bodyPr>
          <a:lstStyle/>
          <a:p>
            <a:pPr algn="l" indent="0" marL="0">
              <a:buNone/>
            </a:pPr>
            <a:r>
              <a:rPr lang="en-US" sz="2250" dirty="0">
                <a:solidFill>
                  <a:srgbClr val="0E1C30"/>
                </a:solidFill>
                <a:latin typeface="IBM Plex Sans" pitchFamily="34" charset="0"/>
                <a:ea typeface="IBM Plex Sans" pitchFamily="34" charset="-122"/>
                <a:cs typeface="IBM Plex Sans" pitchFamily="34" charset="-120"/>
              </a:rPr>
              <a:t>↻</a:t>
            </a:r>
            <a:endParaRPr lang="en-US" sz="2250" dirty="0"/>
          </a:p>
        </p:txBody>
      </p:sp>
      <p:sp>
        <p:nvSpPr>
          <p:cNvPr id="20" name="Shape 18"/>
          <p:cNvSpPr/>
          <p:nvPr/>
        </p:nvSpPr>
        <p:spPr>
          <a:xfrm>
            <a:off x="13495496" y="2704147"/>
            <a:ext cx="3649504" cy="2000250"/>
          </a:xfrm>
          <a:prstGeom prst="rect">
            <a:avLst/>
          </a:prstGeom>
          <a:solidFill>
            <a:srgbClr val="0B1626"/>
          </a:solidFill>
          <a:ln w="6350">
            <a:solidFill>
              <a:srgbClr val="0B1626"/>
            </a:solidFill>
            <a:prstDash val="solid"/>
          </a:ln>
        </p:spPr>
      </p:sp>
      <p:sp>
        <p:nvSpPr>
          <p:cNvPr id="21" name="Text 19"/>
          <p:cNvSpPr/>
          <p:nvPr/>
        </p:nvSpPr>
        <p:spPr>
          <a:xfrm>
            <a:off x="13550510" y="3072447"/>
            <a:ext cx="3539474" cy="527050"/>
          </a:xfrm>
          <a:prstGeom prst="rect">
            <a:avLst/>
          </a:prstGeom>
          <a:noFill/>
          <a:ln/>
        </p:spPr>
        <p:txBody>
          <a:bodyPr wrap="square" lIns="25400" tIns="25400" rIns="25400" bIns="25400" rtlCol="0" anchor="t">
            <a:normAutofit/>
          </a:bodyPr>
          <a:lstStyle/>
          <a:p>
            <a:pPr algn="ctr" indent="0" marL="0">
              <a:buNone/>
            </a:pPr>
            <a:r>
              <a:rPr lang="en-US" sz="3000" b="1" dirty="0">
                <a:solidFill>
                  <a:srgbClr val="F58B6E"/>
                </a:solidFill>
                <a:latin typeface="Space Grotesk" pitchFamily="34" charset="0"/>
                <a:ea typeface="Space Grotesk" pitchFamily="34" charset="-122"/>
                <a:cs typeface="Space Grotesk" pitchFamily="34" charset="-120"/>
              </a:rPr>
              <a:t>04</a:t>
            </a:r>
            <a:endParaRPr lang="en-US" sz="3000" dirty="0"/>
          </a:p>
        </p:txBody>
      </p:sp>
      <p:sp>
        <p:nvSpPr>
          <p:cNvPr id="22" name="Text 20"/>
          <p:cNvSpPr/>
          <p:nvPr/>
        </p:nvSpPr>
        <p:spPr>
          <a:xfrm>
            <a:off x="13550510" y="3694747"/>
            <a:ext cx="3539474" cy="368300"/>
          </a:xfrm>
          <a:prstGeom prst="rect">
            <a:avLst/>
          </a:prstGeom>
          <a:noFill/>
          <a:ln/>
        </p:spPr>
        <p:txBody>
          <a:bodyPr wrap="square" lIns="25400" tIns="25400" rIns="25400" bIns="25400" rtlCol="0" anchor="t">
            <a:normAutofit/>
          </a:bodyPr>
          <a:lstStyle/>
          <a:p>
            <a:pPr algn="ctr" indent="0" marL="0">
              <a:buNone/>
            </a:pPr>
            <a:r>
              <a:rPr lang="en-US" sz="2025" b="1" dirty="0">
                <a:solidFill>
                  <a:srgbClr val="F6F4EE"/>
                </a:solidFill>
                <a:latin typeface="Space Grotesk" pitchFamily="34" charset="0"/>
                <a:ea typeface="Space Grotesk" pitchFamily="34" charset="-122"/>
                <a:cs typeface="Space Grotesk" pitchFamily="34" charset="-120"/>
              </a:rPr>
              <a:t>Retrospective</a:t>
            </a:r>
            <a:endParaRPr lang="en-US" sz="2025" dirty="0"/>
          </a:p>
        </p:txBody>
      </p:sp>
      <p:sp>
        <p:nvSpPr>
          <p:cNvPr id="23" name="Text 21"/>
          <p:cNvSpPr/>
          <p:nvPr/>
        </p:nvSpPr>
        <p:spPr>
          <a:xfrm>
            <a:off x="13550510" y="4101147"/>
            <a:ext cx="3539474" cy="273050"/>
          </a:xfrm>
          <a:prstGeom prst="rect">
            <a:avLst/>
          </a:prstGeom>
          <a:noFill/>
          <a:ln/>
        </p:spPr>
        <p:txBody>
          <a:bodyPr wrap="square" lIns="25400" tIns="25400" rIns="25400" bIns="25400" rtlCol="0" anchor="t">
            <a:normAutofit/>
          </a:bodyPr>
          <a:lstStyle/>
          <a:p>
            <a:pPr algn="ctr" indent="0" marL="0">
              <a:buNone/>
            </a:pPr>
            <a:r>
              <a:rPr lang="en-US" sz="1425" dirty="0">
                <a:solidFill>
                  <a:srgbClr val="F6F4EE">
                    <a:alpha val="55000"/>
                  </a:srgbClr>
                </a:solidFill>
                <a:latin typeface="IBM Plex Sans" pitchFamily="34" charset="0"/>
                <a:ea typeface="IBM Plex Sans" pitchFamily="34" charset="-122"/>
                <a:cs typeface="IBM Plex Sans" pitchFamily="34" charset="-120"/>
              </a:rPr>
              <a:t>at epic's end</a:t>
            </a:r>
            <a:endParaRPr lang="en-US" sz="1425" dirty="0"/>
          </a:p>
        </p:txBody>
      </p:sp>
      <p:sp>
        <p:nvSpPr>
          <p:cNvPr id="24" name="Text 22"/>
          <p:cNvSpPr/>
          <p:nvPr/>
        </p:nvSpPr>
        <p:spPr>
          <a:xfrm>
            <a:off x="1143000" y="5199698"/>
            <a:ext cx="6278880" cy="723900"/>
          </a:xfrm>
          <a:prstGeom prst="rect">
            <a:avLst/>
          </a:prstGeom>
          <a:noFill/>
          <a:ln/>
        </p:spPr>
        <p:txBody>
          <a:bodyPr wrap="square" lIns="25400" tIns="25400" rIns="25400" bIns="25400" rtlCol="0" anchor="t">
            <a:normAutofit/>
          </a:bodyPr>
          <a:lstStyle/>
          <a:p>
            <a:pPr algn="l" indent="0" marL="0">
              <a:lnSpc>
                <a:spcPct val="114894"/>
              </a:lnSpc>
              <a:buNone/>
            </a:pPr>
            <a:r>
              <a:rPr lang="en-US" sz="1800" b="1" dirty="0">
                <a:solidFill>
                  <a:srgbClr val="0E1C30"/>
                </a:solidFill>
                <a:latin typeface="IBM Plex Sans" pitchFamily="34" charset="0"/>
                <a:ea typeface="IBM Plex Sans" pitchFamily="34" charset="-122"/>
                <a:cs typeface="IBM Plex Sans" pitchFamily="34" charset="-120"/>
              </a:rPr>
              <a:t>correct-course </a:t>
            </a:r>
            <a:pPr algn="l" indent="0" marL="0">
              <a:lnSpc>
                <a:spcPct val="114894"/>
              </a:lnSpc>
              <a:buNone/>
            </a:pPr>
            <a:r>
              <a:rPr lang="en-US" sz="1800" dirty="0">
                <a:solidFill>
                  <a:srgbClr val="0E1C30">
                    <a:alpha val="68000"/>
                  </a:srgbClr>
                </a:solidFill>
                <a:latin typeface="IBM Plex Sans" pitchFamily="34" charset="0"/>
                <a:ea typeface="IBM Plex Sans" pitchFamily="34" charset="-122"/>
                <a:cs typeface="IBM Plex Sans" pitchFamily="34" charset="-120"/>
              </a:rPr>
              <a:t>handles significant mid-sprint changes without derailing the plan.</a:t>
            </a:r>
            <a:endParaRPr lang="en-US" sz="1800" dirty="0"/>
          </a:p>
        </p:txBody>
      </p:sp>
      <p:sp>
        <p:nvSpPr>
          <p:cNvPr id="25" name="Text 23"/>
          <p:cNvSpPr/>
          <p:nvPr/>
        </p:nvSpPr>
        <p:spPr>
          <a:xfrm>
            <a:off x="7658100" y="5199698"/>
            <a:ext cx="6278880" cy="723900"/>
          </a:xfrm>
          <a:prstGeom prst="rect">
            <a:avLst/>
          </a:prstGeom>
          <a:noFill/>
          <a:ln/>
        </p:spPr>
        <p:txBody>
          <a:bodyPr wrap="square" lIns="25400" tIns="25400" rIns="25400" bIns="25400" rtlCol="0" anchor="t">
            <a:normAutofit/>
          </a:bodyPr>
          <a:lstStyle/>
          <a:p>
            <a:pPr algn="l" indent="0" marL="0">
              <a:lnSpc>
                <a:spcPct val="114894"/>
              </a:lnSpc>
              <a:buNone/>
            </a:pPr>
            <a:r>
              <a:rPr lang="en-US" sz="1800" b="1" dirty="0">
                <a:solidFill>
                  <a:srgbClr val="0E1C30"/>
                </a:solidFill>
                <a:latin typeface="IBM Plex Sans" pitchFamily="34" charset="0"/>
                <a:ea typeface="IBM Plex Sans" pitchFamily="34" charset="-122"/>
                <a:cs typeface="IBM Plex Sans" pitchFamily="34" charset="-120"/>
              </a:rPr>
              <a:t>You choose the tightness </a:t>
            </a:r>
            <a:pPr algn="l" indent="0" marL="0">
              <a:lnSpc>
                <a:spcPct val="114894"/>
              </a:lnSpc>
              <a:buNone/>
            </a:pPr>
            <a:r>
              <a:rPr lang="en-US" sz="1800" dirty="0">
                <a:solidFill>
                  <a:srgbClr val="0E1C30">
                    <a:alpha val="68000"/>
                  </a:srgbClr>
                </a:solidFill>
                <a:latin typeface="IBM Plex Sans" pitchFamily="34" charset="0"/>
                <a:ea typeface="IBM Plex Sans" pitchFamily="34" charset="-122"/>
                <a:cs typeface="IBM Plex Sans" pitchFamily="34" charset="-120"/>
              </a:rPr>
              <a:t>— review every story, or let the loop run further on its own.</a:t>
            </a:r>
            <a:endParaRPr lang="en-US" sz="1800" dirty="0"/>
          </a:p>
        </p:txBody>
      </p:sp>
      <p:sp>
        <p:nvSpPr>
          <p:cNvPr id="26" name="Text 24"/>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27" name="Text 25"/>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31 / 45</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162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0B1626">
                  <a:alpha val="50000"/>
                </a:srgbClr>
              </a:gs>
              <a:gs pos="34000">
                <a:srgbClr val="0B1626">
                  <a:alpha val="18000"/>
                </a:srgbClr>
              </a:gs>
              <a:gs pos="64000">
                <a:srgbClr val="0B1626">
                  <a:alpha val="50000"/>
                </a:srgbClr>
              </a:gs>
              <a:gs pos="100000">
                <a:srgbClr val="0B1626">
                  <a:alpha val="92000"/>
                </a:srgbClr>
              </a:gs>
            </a:gsLst>
            <a:lin ang="5400000" scaled="0"/>
          </a:gradFill>
          <a:ln/>
        </p:spPr>
      </p:sp>
      <p:sp>
        <p:nvSpPr>
          <p:cNvPr id="4" name="Shape 1"/>
          <p:cNvSpPr/>
          <p:nvPr/>
        </p:nvSpPr>
        <p:spPr>
          <a:xfrm>
            <a:off x="1143000" y="6995160"/>
            <a:ext cx="95250" cy="95250"/>
          </a:xfrm>
          <a:prstGeom prst="rect">
            <a:avLst/>
          </a:prstGeom>
          <a:solidFill>
            <a:srgbClr val="F4C233"/>
          </a:solidFill>
          <a:ln/>
        </p:spPr>
      </p:sp>
      <p:sp>
        <p:nvSpPr>
          <p:cNvPr id="5" name="Text 2"/>
          <p:cNvSpPr/>
          <p:nvPr/>
        </p:nvSpPr>
        <p:spPr>
          <a:xfrm>
            <a:off x="1371600" y="6941185"/>
            <a:ext cx="2836288" cy="241300"/>
          </a:xfrm>
          <a:prstGeom prst="rect">
            <a:avLst/>
          </a:prstGeom>
          <a:noFill/>
          <a:ln/>
        </p:spPr>
        <p:txBody>
          <a:bodyPr wrap="square" lIns="0" tIns="0" rIns="0" bIns="0" rtlCol="0" anchor="t">
            <a:normAutofit/>
          </a:bodyPr>
          <a:lstStyle/>
          <a:p>
            <a:pPr algn="l" indent="0" marL="0">
              <a:buNone/>
            </a:pPr>
            <a:r>
              <a:rPr lang="en-US" sz="1200" spc="312" kern="0" dirty="0">
                <a:solidFill>
                  <a:srgbClr val="F4C233"/>
                </a:solidFill>
                <a:latin typeface="IBM Plex Mono" pitchFamily="34" charset="0"/>
                <a:ea typeface="IBM Plex Mono" pitchFamily="34" charset="-122"/>
                <a:cs typeface="IBM Plex Mono" pitchFamily="34" charset="-120"/>
              </a:rPr>
              <a:t>ACT V · SPECIAL FOCUS</a:t>
            </a:r>
            <a:endParaRPr lang="en-US" sz="1200" dirty="0"/>
          </a:p>
        </p:txBody>
      </p:sp>
      <p:sp>
        <p:nvSpPr>
          <p:cNvPr id="6" name="Text 3"/>
          <p:cNvSpPr/>
          <p:nvPr/>
        </p:nvSpPr>
        <p:spPr>
          <a:xfrm>
            <a:off x="1143000" y="7315835"/>
            <a:ext cx="14668500" cy="834707"/>
          </a:xfrm>
          <a:prstGeom prst="rect">
            <a:avLst/>
          </a:prstGeom>
          <a:noFill/>
          <a:ln/>
          <a:effectLst>
            <a:outerShdw sx="100000" sy="100000" kx="0" ky="0" algn="bl" rotWithShape="0" blurRad="323850" dist="19050" dir="5400000">
              <a:srgbClr val="000000">
                <a:alpha val="60000"/>
              </a:srgbClr>
            </a:outerShdw>
          </a:effectLst>
        </p:spPr>
        <p:txBody>
          <a:bodyPr wrap="square" lIns="25400" tIns="25400" rIns="25400" bIns="25400" rtlCol="0" anchor="t">
            <a:normAutofit/>
          </a:bodyPr>
          <a:lstStyle/>
          <a:p>
            <a:pPr algn="l" indent="0" marL="0">
              <a:lnSpc>
                <a:spcPct val="79904"/>
              </a:lnSpc>
              <a:buNone/>
            </a:pPr>
            <a:r>
              <a:rPr lang="en-US" sz="6150" b="1" spc="-154" kern="0" dirty="0">
                <a:solidFill>
                  <a:srgbClr val="F6F4EE"/>
                </a:solidFill>
                <a:latin typeface="Space Grotesk" pitchFamily="34" charset="0"/>
                <a:ea typeface="Space Grotesk" pitchFamily="34" charset="-122"/>
                <a:cs typeface="Space Grotesk" pitchFamily="34" charset="-120"/>
              </a:rPr>
              <a:t>Testing that doesn’t rot</a:t>
            </a:r>
            <a:endParaRPr lang="en-US" sz="6150" dirty="0"/>
          </a:p>
        </p:txBody>
      </p:sp>
      <p:sp>
        <p:nvSpPr>
          <p:cNvPr id="7" name="Text 4"/>
          <p:cNvSpPr/>
          <p:nvPr/>
        </p:nvSpPr>
        <p:spPr>
          <a:xfrm>
            <a:off x="1143000" y="8283893"/>
            <a:ext cx="10988040" cy="783908"/>
          </a:xfrm>
          <a:prstGeom prst="rect">
            <a:avLst/>
          </a:prstGeom>
          <a:noFill/>
          <a:ln/>
          <a:effectLst>
            <a:outerShdw sx="100000" sy="100000" kx="0" ky="0" algn="bl" rotWithShape="0" blurRad="209550" dist="19050" dir="5400000">
              <a:srgbClr val="000000">
                <a:alpha val="70000"/>
              </a:srgbClr>
            </a:outerShdw>
          </a:effectLst>
        </p:spPr>
        <p:txBody>
          <a:bodyPr wrap="square" lIns="25400" tIns="25400" rIns="25400" bIns="25400" rtlCol="0" anchor="t">
            <a:normAutofit/>
          </a:bodyPr>
          <a:lstStyle/>
          <a:p>
            <a:pPr algn="l" indent="0" marL="0">
              <a:lnSpc>
                <a:spcPct val="110802"/>
              </a:lnSpc>
              <a:buNone/>
            </a:pPr>
            <a:r>
              <a:rPr lang="en-US" sz="2025" dirty="0">
                <a:solidFill>
                  <a:srgbClr val="F6F4EE">
                    <a:alpha val="90000"/>
                  </a:srgbClr>
                </a:solidFill>
                <a:latin typeface="IBM Plex Sans" pitchFamily="34" charset="0"/>
                <a:ea typeface="IBM Plex Sans" pitchFamily="34" charset="-122"/>
                <a:cs typeface="IBM Plex Sans" pitchFamily="34" charset="-120"/>
              </a:rPr>
              <a:t>Why AI-generated tests decay, and how the Test Architect treats testing as an engineering discipline.</a:t>
            </a:r>
            <a:endParaRPr lang="en-US" sz="2025" dirty="0"/>
          </a:p>
        </p:txBody>
      </p:sp>
      <p:sp>
        <p:nvSpPr>
          <p:cNvPr id="8" name="Text 5"/>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F6F4EE">
                    <a:alpha val="6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9" name="Text 6"/>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F6F4EE">
                    <a:alpha val="60000"/>
                  </a:srgbClr>
                </a:solidFill>
                <a:latin typeface="IBM Plex Mono" pitchFamily="34" charset="0"/>
                <a:ea typeface="IBM Plex Mono" pitchFamily="34" charset="-122"/>
                <a:cs typeface="IBM Plex Mono" pitchFamily="34" charset="-120"/>
              </a:rPr>
              <a:t>32 / 45</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2635822" cy="241300"/>
          </a:xfrm>
          <a:prstGeom prst="rect">
            <a:avLst/>
          </a:prstGeom>
          <a:noFill/>
          <a:ln/>
        </p:spPr>
        <p:txBody>
          <a:bodyPr wrap="square" lIns="0" tIns="0" rIns="0" bIns="0" rtlCol="0" anchor="t">
            <a:normAutofit/>
          </a:bodyPr>
          <a:lstStyle/>
          <a:p>
            <a:pPr algn="l" indent="0" marL="0">
              <a:buNone/>
            </a:pPr>
            <a:r>
              <a:rPr lang="en-US" sz="1200" spc="288" kern="0" dirty="0">
                <a:solidFill>
                  <a:srgbClr val="F58B6E"/>
                </a:solidFill>
                <a:latin typeface="IBM Plex Mono" pitchFamily="34" charset="0"/>
                <a:ea typeface="IBM Plex Mono" pitchFamily="34" charset="-122"/>
                <a:cs typeface="IBM Plex Mono" pitchFamily="34" charset="-120"/>
              </a:rPr>
              <a:t>TESTING · TEA MODULE</a:t>
            </a:r>
            <a:endParaRPr lang="en-US" sz="1200" dirty="0"/>
          </a:p>
        </p:txBody>
      </p:sp>
      <p:sp>
        <p:nvSpPr>
          <p:cNvPr id="4" name="Text 2"/>
          <p:cNvSpPr/>
          <p:nvPr/>
        </p:nvSpPr>
        <p:spPr>
          <a:xfrm>
            <a:off x="1143000" y="1384300"/>
            <a:ext cx="13735050" cy="1318260"/>
          </a:xfrm>
          <a:prstGeom prst="rect">
            <a:avLst/>
          </a:prstGeom>
          <a:noFill/>
          <a:ln/>
        </p:spPr>
        <p:txBody>
          <a:bodyPr wrap="square" lIns="25400" tIns="25400" rIns="25400" bIns="25400" rtlCol="0" anchor="t">
            <a:normAutofit/>
          </a:bodyPr>
          <a:lstStyle/>
          <a:p>
            <a:pPr algn="l" indent="0" marL="0">
              <a:lnSpc>
                <a:spcPct val="82623"/>
              </a:lnSpc>
              <a:buNone/>
            </a:pPr>
            <a:r>
              <a:rPr lang="en-US" sz="4800" b="1" spc="-96" kern="0" dirty="0">
                <a:solidFill>
                  <a:srgbClr val="0E1C30"/>
                </a:solidFill>
                <a:latin typeface="Space Grotesk" pitchFamily="34" charset="0"/>
                <a:ea typeface="Space Grotesk" pitchFamily="34" charset="-122"/>
                <a:cs typeface="Space Grotesk" pitchFamily="34" charset="-120"/>
              </a:rPr>
              <a:t>AI-generated tests rot. Test </a:t>
            </a:r>
            <a:pPr algn="l" indent="0" marL="0">
              <a:lnSpc>
                <a:spcPct val="82623"/>
              </a:lnSpc>
              <a:buNone/>
            </a:pPr>
            <a:r>
              <a:rPr lang="en-US" sz="4800" b="1" i="1" spc="-96" kern="0" dirty="0">
                <a:solidFill>
                  <a:srgbClr val="0E1C30"/>
                </a:solidFill>
                <a:latin typeface="Space Grotesk" pitchFamily="34" charset="0"/>
                <a:ea typeface="Space Grotesk" pitchFamily="34" charset="-122"/>
                <a:cs typeface="Space Grotesk" pitchFamily="34" charset="-120"/>
              </a:rPr>
              <a:t>architecture </a:t>
            </a:r>
            <a:pPr algn="l" indent="0" marL="0">
              <a:lnSpc>
                <a:spcPct val="82623"/>
              </a:lnSpc>
              <a:buNone/>
            </a:pPr>
            <a:r>
              <a:rPr lang="en-US" sz="4800" b="1" spc="-96" kern="0" dirty="0">
                <a:solidFill>
                  <a:srgbClr val="0E1C30"/>
                </a:solidFill>
                <a:latin typeface="Space Grotesk" pitchFamily="34" charset="0"/>
                <a:ea typeface="Space Grotesk" pitchFamily="34" charset="-122"/>
                <a:cs typeface="Space Grotesk" pitchFamily="34" charset="-120"/>
              </a:rPr>
              <a:t>doesn’t.</a:t>
            </a:r>
            <a:endParaRPr lang="en-US" sz="4800" dirty="0"/>
          </a:p>
        </p:txBody>
      </p:sp>
      <p:sp>
        <p:nvSpPr>
          <p:cNvPr id="5" name="Text 3"/>
          <p:cNvSpPr/>
          <p:nvPr/>
        </p:nvSpPr>
        <p:spPr>
          <a:xfrm>
            <a:off x="1143000" y="2912110"/>
            <a:ext cx="12753975" cy="752475"/>
          </a:xfrm>
          <a:prstGeom prst="rect">
            <a:avLst/>
          </a:prstGeom>
          <a:noFill/>
          <a:ln/>
        </p:spPr>
        <p:txBody>
          <a:bodyPr wrap="square" lIns="25400" tIns="25400" rIns="25400" bIns="25400" rtlCol="0" anchor="t">
            <a:normAutofit/>
          </a:bodyPr>
          <a:lstStyle/>
          <a:p>
            <a:pPr algn="l" indent="0" marL="0">
              <a:lnSpc>
                <a:spcPct val="114796"/>
              </a:lnSpc>
              <a:buNone/>
            </a:pPr>
            <a:r>
              <a:rPr lang="en-US" sz="1875" dirty="0">
                <a:solidFill>
                  <a:srgbClr val="0E1C30">
                    <a:alpha val="70000"/>
                  </a:srgbClr>
                </a:solidFill>
                <a:latin typeface="IBM Plex Sans" pitchFamily="34" charset="0"/>
                <a:ea typeface="IBM Plex Sans" pitchFamily="34" charset="-122"/>
                <a:cs typeface="IBM Plex Sans" pitchFamily="34" charset="-120"/>
              </a:rPr>
              <a:t>“Write tests for this” produces assertions that match current behavior — flaky in three sprints. TEA treats testing as engineering: strategy before generation.</a:t>
            </a:r>
            <a:endParaRPr lang="en-US" sz="1875" dirty="0"/>
          </a:p>
        </p:txBody>
      </p:sp>
      <p:sp>
        <p:nvSpPr>
          <p:cNvPr id="6" name="Shape 4"/>
          <p:cNvSpPr/>
          <p:nvPr/>
        </p:nvSpPr>
        <p:spPr>
          <a:xfrm>
            <a:off x="1143000" y="4121785"/>
            <a:ext cx="5168900" cy="2379662"/>
          </a:xfrm>
          <a:prstGeom prst="rect">
            <a:avLst/>
          </a:prstGeom>
          <a:solidFill>
            <a:srgbClr val="FFFFFF"/>
          </a:solidFill>
          <a:ln/>
        </p:spPr>
      </p:sp>
      <p:sp>
        <p:nvSpPr>
          <p:cNvPr id="7" name="Shape 5"/>
          <p:cNvSpPr/>
          <p:nvPr/>
        </p:nvSpPr>
        <p:spPr>
          <a:xfrm>
            <a:off x="1143000" y="6495097"/>
            <a:ext cx="5168900" cy="9525"/>
          </a:xfrm>
          <a:prstGeom prst="rect">
            <a:avLst/>
          </a:prstGeom>
          <a:solidFill>
            <a:srgbClr val="0E1C30">
              <a:alpha val="14000"/>
            </a:srgbClr>
          </a:solidFill>
          <a:ln/>
        </p:spPr>
      </p:sp>
      <p:sp>
        <p:nvSpPr>
          <p:cNvPr id="8" name="Shape 6"/>
          <p:cNvSpPr/>
          <p:nvPr/>
        </p:nvSpPr>
        <p:spPr>
          <a:xfrm>
            <a:off x="1143000" y="4121785"/>
            <a:ext cx="5168900" cy="38100"/>
          </a:xfrm>
          <a:prstGeom prst="rect">
            <a:avLst/>
          </a:prstGeom>
          <a:solidFill>
            <a:srgbClr val="F58B6E"/>
          </a:solidFill>
          <a:ln/>
        </p:spPr>
      </p:sp>
      <p:sp>
        <p:nvSpPr>
          <p:cNvPr id="9" name="Shape 7"/>
          <p:cNvSpPr/>
          <p:nvPr/>
        </p:nvSpPr>
        <p:spPr>
          <a:xfrm>
            <a:off x="1143000" y="4121785"/>
            <a:ext cx="9525" cy="2379662"/>
          </a:xfrm>
          <a:prstGeom prst="rect">
            <a:avLst/>
          </a:prstGeom>
          <a:solidFill>
            <a:srgbClr val="0E1C30">
              <a:alpha val="14000"/>
            </a:srgbClr>
          </a:solidFill>
          <a:ln/>
        </p:spPr>
      </p:sp>
      <p:sp>
        <p:nvSpPr>
          <p:cNvPr id="10" name="Shape 8"/>
          <p:cNvSpPr/>
          <p:nvPr/>
        </p:nvSpPr>
        <p:spPr>
          <a:xfrm>
            <a:off x="6305550" y="4121785"/>
            <a:ext cx="9525" cy="2379662"/>
          </a:xfrm>
          <a:prstGeom prst="rect">
            <a:avLst/>
          </a:prstGeom>
          <a:solidFill>
            <a:srgbClr val="0E1C30">
              <a:alpha val="14000"/>
            </a:srgbClr>
          </a:solidFill>
          <a:ln/>
        </p:spPr>
      </p:sp>
      <p:sp>
        <p:nvSpPr>
          <p:cNvPr id="11" name="Text 9"/>
          <p:cNvSpPr/>
          <p:nvPr/>
        </p:nvSpPr>
        <p:spPr>
          <a:xfrm>
            <a:off x="1454150" y="4483735"/>
            <a:ext cx="5001260"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F58B6E"/>
                </a:solidFill>
                <a:latin typeface="IBM Plex Mono" pitchFamily="34" charset="0"/>
                <a:ea typeface="IBM Plex Mono" pitchFamily="34" charset="-122"/>
                <a:cs typeface="IBM Plex Mono" pitchFamily="34" charset="-120"/>
              </a:rPr>
              <a:t>DESIGN FIRST</a:t>
            </a:r>
            <a:endParaRPr lang="en-US" sz="1050" dirty="0"/>
          </a:p>
        </p:txBody>
      </p:sp>
      <p:sp>
        <p:nvSpPr>
          <p:cNvPr id="12" name="Text 10"/>
          <p:cNvSpPr/>
          <p:nvPr/>
        </p:nvSpPr>
        <p:spPr>
          <a:xfrm>
            <a:off x="1454150" y="4794885"/>
            <a:ext cx="5001260"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0E1C30"/>
                </a:solidFill>
                <a:latin typeface="Space Grotesk" pitchFamily="34" charset="0"/>
                <a:ea typeface="Space Grotesk" pitchFamily="34" charset="-122"/>
                <a:cs typeface="Space Grotesk" pitchFamily="34" charset="-120"/>
              </a:rPr>
              <a:t>Risk-based priorities</a:t>
            </a:r>
            <a:endParaRPr lang="en-US" sz="2100" dirty="0"/>
          </a:p>
        </p:txBody>
      </p:sp>
      <p:sp>
        <p:nvSpPr>
          <p:cNvPr id="13" name="Text 11"/>
          <p:cNvSpPr/>
          <p:nvPr/>
        </p:nvSpPr>
        <p:spPr>
          <a:xfrm>
            <a:off x="1454150" y="5271135"/>
            <a:ext cx="4682998" cy="938213"/>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68000"/>
                  </a:srgbClr>
                </a:solidFill>
                <a:latin typeface="IBM Plex Sans" pitchFamily="34" charset="0"/>
                <a:ea typeface="IBM Plex Sans" pitchFamily="34" charset="-122"/>
                <a:cs typeface="IBM Plex Sans" pitchFamily="34" charset="-120"/>
              </a:rPr>
              <a:t>Probability × impact scores every scenario </a:t>
            </a:r>
            <a:pPr algn="l" indent="0" marL="0">
              <a:lnSpc>
                <a:spcPct val="115244"/>
              </a:lnSpc>
              <a:buNone/>
            </a:pPr>
            <a:r>
              <a:rPr lang="en-US" sz="1575" dirty="0">
                <a:solidFill>
                  <a:srgbClr val="F4C233"/>
                </a:solidFill>
                <a:latin typeface="IBM Plex Mono" pitchFamily="34" charset="0"/>
                <a:ea typeface="IBM Plex Mono" pitchFamily="34" charset="-122"/>
                <a:cs typeface="IBM Plex Mono" pitchFamily="34" charset="-120"/>
              </a:rPr>
              <a:t>P0–P3 </a:t>
            </a:r>
            <a:pPr algn="l" indent="0" marL="0">
              <a:lnSpc>
                <a:spcPct val="115244"/>
              </a:lnSpc>
              <a:buNone/>
            </a:pPr>
            <a:r>
              <a:rPr lang="en-US" sz="1575" dirty="0">
                <a:solidFill>
                  <a:srgbClr val="0E1C30">
                    <a:alpha val="68000"/>
                  </a:srgbClr>
                </a:solidFill>
                <a:latin typeface="IBM Plex Sans" pitchFamily="34" charset="0"/>
                <a:ea typeface="IBM Plex Sans" pitchFamily="34" charset="-122"/>
                <a:cs typeface="IBM Plex Sans" pitchFamily="34" charset="-120"/>
              </a:rPr>
              <a:t>. The payment flow gets depth; the theme toggle gets a smoke test.</a:t>
            </a:r>
            <a:endParaRPr lang="en-US" sz="1575" dirty="0"/>
          </a:p>
        </p:txBody>
      </p:sp>
      <p:sp>
        <p:nvSpPr>
          <p:cNvPr id="14" name="Shape 12"/>
          <p:cNvSpPr/>
          <p:nvPr/>
        </p:nvSpPr>
        <p:spPr>
          <a:xfrm>
            <a:off x="6559550" y="4121785"/>
            <a:ext cx="5168900" cy="2379662"/>
          </a:xfrm>
          <a:prstGeom prst="rect">
            <a:avLst/>
          </a:prstGeom>
          <a:solidFill>
            <a:srgbClr val="FFFFFF"/>
          </a:solidFill>
          <a:ln/>
        </p:spPr>
      </p:sp>
      <p:sp>
        <p:nvSpPr>
          <p:cNvPr id="15" name="Shape 13"/>
          <p:cNvSpPr/>
          <p:nvPr/>
        </p:nvSpPr>
        <p:spPr>
          <a:xfrm>
            <a:off x="6559550" y="6495097"/>
            <a:ext cx="5168900" cy="9525"/>
          </a:xfrm>
          <a:prstGeom prst="rect">
            <a:avLst/>
          </a:prstGeom>
          <a:solidFill>
            <a:srgbClr val="0E1C30">
              <a:alpha val="14000"/>
            </a:srgbClr>
          </a:solidFill>
          <a:ln/>
        </p:spPr>
      </p:sp>
      <p:sp>
        <p:nvSpPr>
          <p:cNvPr id="16" name="Shape 14"/>
          <p:cNvSpPr/>
          <p:nvPr/>
        </p:nvSpPr>
        <p:spPr>
          <a:xfrm>
            <a:off x="6559550" y="4121785"/>
            <a:ext cx="5168900" cy="38100"/>
          </a:xfrm>
          <a:prstGeom prst="rect">
            <a:avLst/>
          </a:prstGeom>
          <a:solidFill>
            <a:srgbClr val="F58B6E"/>
          </a:solidFill>
          <a:ln/>
        </p:spPr>
      </p:sp>
      <p:sp>
        <p:nvSpPr>
          <p:cNvPr id="17" name="Shape 15"/>
          <p:cNvSpPr/>
          <p:nvPr/>
        </p:nvSpPr>
        <p:spPr>
          <a:xfrm>
            <a:off x="6559550" y="4121785"/>
            <a:ext cx="9525" cy="2379662"/>
          </a:xfrm>
          <a:prstGeom prst="rect">
            <a:avLst/>
          </a:prstGeom>
          <a:solidFill>
            <a:srgbClr val="0E1C30">
              <a:alpha val="14000"/>
            </a:srgbClr>
          </a:solidFill>
          <a:ln/>
        </p:spPr>
      </p:sp>
      <p:sp>
        <p:nvSpPr>
          <p:cNvPr id="18" name="Shape 16"/>
          <p:cNvSpPr/>
          <p:nvPr/>
        </p:nvSpPr>
        <p:spPr>
          <a:xfrm>
            <a:off x="11722100" y="4121785"/>
            <a:ext cx="9525" cy="2379662"/>
          </a:xfrm>
          <a:prstGeom prst="rect">
            <a:avLst/>
          </a:prstGeom>
          <a:solidFill>
            <a:srgbClr val="0E1C30">
              <a:alpha val="14000"/>
            </a:srgbClr>
          </a:solidFill>
          <a:ln/>
        </p:spPr>
      </p:sp>
      <p:sp>
        <p:nvSpPr>
          <p:cNvPr id="19" name="Text 17"/>
          <p:cNvSpPr/>
          <p:nvPr/>
        </p:nvSpPr>
        <p:spPr>
          <a:xfrm>
            <a:off x="6870700" y="4483735"/>
            <a:ext cx="5001260"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F58B6E"/>
                </a:solidFill>
                <a:latin typeface="IBM Plex Mono" pitchFamily="34" charset="0"/>
                <a:ea typeface="IBM Plex Mono" pitchFamily="34" charset="-122"/>
                <a:cs typeface="IBM Plex Mono" pitchFamily="34" charset="-120"/>
              </a:rPr>
              <a:t>FLAKINESS KILLED</a:t>
            </a:r>
            <a:endParaRPr lang="en-US" sz="1050" dirty="0"/>
          </a:p>
        </p:txBody>
      </p:sp>
      <p:sp>
        <p:nvSpPr>
          <p:cNvPr id="20" name="Text 18"/>
          <p:cNvSpPr/>
          <p:nvPr/>
        </p:nvSpPr>
        <p:spPr>
          <a:xfrm>
            <a:off x="6870700" y="4794885"/>
            <a:ext cx="5001260"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0E1C30"/>
                </a:solidFill>
                <a:latin typeface="Space Grotesk" pitchFamily="34" charset="0"/>
                <a:ea typeface="Space Grotesk" pitchFamily="34" charset="-122"/>
                <a:cs typeface="Space Grotesk" pitchFamily="34" charset="-120"/>
              </a:rPr>
              <a:t>Network-first patterns</a:t>
            </a:r>
            <a:endParaRPr lang="en-US" sz="2100" dirty="0"/>
          </a:p>
        </p:txBody>
      </p:sp>
      <p:sp>
        <p:nvSpPr>
          <p:cNvPr id="21" name="Text 19"/>
          <p:cNvSpPr/>
          <p:nvPr/>
        </p:nvSpPr>
        <p:spPr>
          <a:xfrm>
            <a:off x="6870700" y="5271135"/>
            <a:ext cx="4682998" cy="938213"/>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68000"/>
                  </a:srgbClr>
                </a:solidFill>
                <a:latin typeface="IBM Plex Sans" pitchFamily="34" charset="0"/>
                <a:ea typeface="IBM Plex Sans" pitchFamily="34" charset="-122"/>
                <a:cs typeface="IBM Plex Sans" pitchFamily="34" charset="-120"/>
              </a:rPr>
              <a:t>Tests wait on real responses, not </a:t>
            </a:r>
            <a:pPr algn="l" indent="0" marL="0">
              <a:lnSpc>
                <a:spcPct val="115244"/>
              </a:lnSpc>
              <a:buNone/>
            </a:pPr>
            <a:r>
              <a:rPr lang="en-US" sz="1350" dirty="0">
                <a:solidFill>
                  <a:srgbClr val="0E1C30">
                    <a:alpha val="68000"/>
                  </a:srgbClr>
                </a:solidFill>
                <a:latin typeface="IBM Plex Mono" pitchFamily="34" charset="0"/>
                <a:ea typeface="IBM Plex Mono" pitchFamily="34" charset="-122"/>
                <a:cs typeface="IBM Plex Mono" pitchFamily="34" charset="-120"/>
              </a:rPr>
              <a:t>waitForTimeout(2000) </a:t>
            </a:r>
            <a:pPr algn="l" indent="0" marL="0">
              <a:lnSpc>
                <a:spcPct val="115244"/>
              </a:lnSpc>
              <a:buNone/>
            </a:pPr>
            <a:r>
              <a:rPr lang="en-US" sz="1575" dirty="0">
                <a:solidFill>
                  <a:srgbClr val="0E1C30">
                    <a:alpha val="68000"/>
                  </a:srgbClr>
                </a:solidFill>
                <a:latin typeface="IBM Plex Sans" pitchFamily="34" charset="0"/>
                <a:ea typeface="IBM Plex Sans" pitchFamily="34" charset="-122"/>
                <a:cs typeface="IBM Plex Sans" pitchFamily="34" charset="-120"/>
              </a:rPr>
              <a:t>. Composable fixtures decouple tests from implementation.</a:t>
            </a:r>
            <a:endParaRPr lang="en-US" sz="1575" dirty="0"/>
          </a:p>
        </p:txBody>
      </p:sp>
      <p:sp>
        <p:nvSpPr>
          <p:cNvPr id="22" name="Shape 20"/>
          <p:cNvSpPr/>
          <p:nvPr/>
        </p:nvSpPr>
        <p:spPr>
          <a:xfrm>
            <a:off x="11976100" y="4121785"/>
            <a:ext cx="5168900" cy="2379662"/>
          </a:xfrm>
          <a:prstGeom prst="rect">
            <a:avLst/>
          </a:prstGeom>
          <a:solidFill>
            <a:srgbClr val="FFFFFF"/>
          </a:solidFill>
          <a:ln/>
        </p:spPr>
      </p:sp>
      <p:sp>
        <p:nvSpPr>
          <p:cNvPr id="23" name="Shape 21"/>
          <p:cNvSpPr/>
          <p:nvPr/>
        </p:nvSpPr>
        <p:spPr>
          <a:xfrm>
            <a:off x="11976100" y="6495097"/>
            <a:ext cx="5168900" cy="9525"/>
          </a:xfrm>
          <a:prstGeom prst="rect">
            <a:avLst/>
          </a:prstGeom>
          <a:solidFill>
            <a:srgbClr val="0E1C30">
              <a:alpha val="14000"/>
            </a:srgbClr>
          </a:solidFill>
          <a:ln/>
        </p:spPr>
      </p:sp>
      <p:sp>
        <p:nvSpPr>
          <p:cNvPr id="24" name="Shape 22"/>
          <p:cNvSpPr/>
          <p:nvPr/>
        </p:nvSpPr>
        <p:spPr>
          <a:xfrm>
            <a:off x="11976100" y="4121785"/>
            <a:ext cx="5168900" cy="38100"/>
          </a:xfrm>
          <a:prstGeom prst="rect">
            <a:avLst/>
          </a:prstGeom>
          <a:solidFill>
            <a:srgbClr val="F58B6E"/>
          </a:solidFill>
          <a:ln/>
        </p:spPr>
      </p:sp>
      <p:sp>
        <p:nvSpPr>
          <p:cNvPr id="25" name="Shape 23"/>
          <p:cNvSpPr/>
          <p:nvPr/>
        </p:nvSpPr>
        <p:spPr>
          <a:xfrm>
            <a:off x="11976100" y="4121785"/>
            <a:ext cx="9525" cy="2379662"/>
          </a:xfrm>
          <a:prstGeom prst="rect">
            <a:avLst/>
          </a:prstGeom>
          <a:solidFill>
            <a:srgbClr val="0E1C30">
              <a:alpha val="14000"/>
            </a:srgbClr>
          </a:solidFill>
          <a:ln/>
        </p:spPr>
      </p:sp>
      <p:sp>
        <p:nvSpPr>
          <p:cNvPr id="26" name="Shape 24"/>
          <p:cNvSpPr/>
          <p:nvPr/>
        </p:nvSpPr>
        <p:spPr>
          <a:xfrm>
            <a:off x="17138651" y="4121785"/>
            <a:ext cx="9525" cy="2379662"/>
          </a:xfrm>
          <a:prstGeom prst="rect">
            <a:avLst/>
          </a:prstGeom>
          <a:solidFill>
            <a:srgbClr val="0E1C30">
              <a:alpha val="14000"/>
            </a:srgbClr>
          </a:solidFill>
          <a:ln/>
        </p:spPr>
      </p:sp>
      <p:sp>
        <p:nvSpPr>
          <p:cNvPr id="27" name="Text 25"/>
          <p:cNvSpPr/>
          <p:nvPr/>
        </p:nvSpPr>
        <p:spPr>
          <a:xfrm>
            <a:off x="12287250" y="4483735"/>
            <a:ext cx="5001260"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F58B6E"/>
                </a:solidFill>
                <a:latin typeface="IBM Plex Mono" pitchFamily="34" charset="0"/>
                <a:ea typeface="IBM Plex Mono" pitchFamily="34" charset="-122"/>
                <a:cs typeface="IBM Plex Mono" pitchFamily="34" charset="-120"/>
              </a:rPr>
              <a:t>RELEASE GATE</a:t>
            </a:r>
            <a:endParaRPr lang="en-US" sz="1050" dirty="0"/>
          </a:p>
        </p:txBody>
      </p:sp>
      <p:sp>
        <p:nvSpPr>
          <p:cNvPr id="28" name="Text 26"/>
          <p:cNvSpPr/>
          <p:nvPr/>
        </p:nvSpPr>
        <p:spPr>
          <a:xfrm>
            <a:off x="12287250" y="4794885"/>
            <a:ext cx="5001260"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0E1C30"/>
                </a:solidFill>
                <a:latin typeface="Space Grotesk" pitchFamily="34" charset="0"/>
                <a:ea typeface="Space Grotesk" pitchFamily="34" charset="-122"/>
                <a:cs typeface="Space Grotesk" pitchFamily="34" charset="-120"/>
              </a:rPr>
              <a:t>Traceability &amp; the gate</a:t>
            </a:r>
            <a:endParaRPr lang="en-US" sz="2100" dirty="0"/>
          </a:p>
        </p:txBody>
      </p:sp>
      <p:sp>
        <p:nvSpPr>
          <p:cNvPr id="29" name="Text 27"/>
          <p:cNvSpPr/>
          <p:nvPr/>
        </p:nvSpPr>
        <p:spPr>
          <a:xfrm>
            <a:off x="12287250" y="5271135"/>
            <a:ext cx="4682998" cy="938213"/>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68000"/>
                  </a:srgbClr>
                </a:solidFill>
                <a:latin typeface="IBM Plex Sans" pitchFamily="34" charset="0"/>
                <a:ea typeface="IBM Plex Sans" pitchFamily="34" charset="-122"/>
                <a:cs typeface="IBM Plex Sans" pitchFamily="34" charset="-120"/>
              </a:rPr>
              <a:t>Tests map to requirements; the gate rules </a:t>
            </a:r>
            <a:pPr algn="l" indent="0" marL="0">
              <a:lnSpc>
                <a:spcPct val="115244"/>
              </a:lnSpc>
              <a:buNone/>
            </a:pPr>
            <a:r>
              <a:rPr lang="en-US" sz="1575" dirty="0">
                <a:solidFill>
                  <a:srgbClr val="4FD1A6"/>
                </a:solidFill>
                <a:latin typeface="IBM Plex Sans" pitchFamily="34" charset="0"/>
                <a:ea typeface="IBM Plex Sans" pitchFamily="34" charset="-122"/>
                <a:cs typeface="IBM Plex Sans" pitchFamily="34" charset="-120"/>
              </a:rPr>
              <a:t>PASS </a:t>
            </a:r>
            <a:pPr algn="l" indent="0" marL="0">
              <a:lnSpc>
                <a:spcPct val="115244"/>
              </a:lnSpc>
              <a:buNone/>
            </a:pPr>
            <a:r>
              <a:rPr lang="en-US" sz="1575" dirty="0">
                <a:solidFill>
                  <a:srgbClr val="0E1C30">
                    <a:alpha val="68000"/>
                  </a:srgbClr>
                </a:solidFill>
                <a:latin typeface="IBM Plex Sans" pitchFamily="34" charset="0"/>
                <a:ea typeface="IBM Plex Sans" pitchFamily="34" charset="-122"/>
                <a:cs typeface="IBM Plex Sans" pitchFamily="34" charset="-120"/>
              </a:rPr>
              <a:t>/ </a:t>
            </a:r>
            <a:pPr algn="l" indent="0" marL="0">
              <a:lnSpc>
                <a:spcPct val="115244"/>
              </a:lnSpc>
              <a:buNone/>
            </a:pPr>
            <a:r>
              <a:rPr lang="en-US" sz="1575" dirty="0">
                <a:solidFill>
                  <a:srgbClr val="F4C233"/>
                </a:solidFill>
                <a:latin typeface="IBM Plex Sans" pitchFamily="34" charset="0"/>
                <a:ea typeface="IBM Plex Sans" pitchFamily="34" charset="-122"/>
                <a:cs typeface="IBM Plex Sans" pitchFamily="34" charset="-120"/>
              </a:rPr>
              <a:t>CONCERNS </a:t>
            </a:r>
            <a:pPr algn="l" indent="0" marL="0">
              <a:lnSpc>
                <a:spcPct val="115244"/>
              </a:lnSpc>
              <a:buNone/>
            </a:pPr>
            <a:r>
              <a:rPr lang="en-US" sz="1575" dirty="0">
                <a:solidFill>
                  <a:srgbClr val="0E1C30">
                    <a:alpha val="68000"/>
                  </a:srgbClr>
                </a:solidFill>
                <a:latin typeface="IBM Plex Sans" pitchFamily="34" charset="0"/>
                <a:ea typeface="IBM Plex Sans" pitchFamily="34" charset="-122"/>
                <a:cs typeface="IBM Plex Sans" pitchFamily="34" charset="-120"/>
              </a:rPr>
              <a:t>/ </a:t>
            </a:r>
            <a:pPr algn="l" indent="0" marL="0">
              <a:lnSpc>
                <a:spcPct val="115244"/>
              </a:lnSpc>
              <a:buNone/>
            </a:pPr>
            <a:r>
              <a:rPr lang="en-US" sz="1575" dirty="0">
                <a:solidFill>
                  <a:srgbClr val="F58B6E"/>
                </a:solidFill>
                <a:latin typeface="IBM Plex Sans" pitchFamily="34" charset="0"/>
                <a:ea typeface="IBM Plex Sans" pitchFamily="34" charset="-122"/>
                <a:cs typeface="IBM Plex Sans" pitchFamily="34" charset="-120"/>
              </a:rPr>
              <a:t>FAIL </a:t>
            </a:r>
            <a:pPr algn="l" indent="0" marL="0">
              <a:lnSpc>
                <a:spcPct val="115244"/>
              </a:lnSpc>
              <a:buNone/>
            </a:pPr>
            <a:r>
              <a:rPr lang="en-US" sz="1575" dirty="0">
                <a:solidFill>
                  <a:srgbClr val="0E1C30">
                    <a:alpha val="68000"/>
                  </a:srgbClr>
                </a:solidFill>
                <a:latin typeface="IBM Plex Sans" pitchFamily="34" charset="0"/>
                <a:ea typeface="IBM Plex Sans" pitchFamily="34" charset="-122"/>
                <a:cs typeface="IBM Plex Sans" pitchFamily="34" charset="-120"/>
              </a:rPr>
              <a:t>/ WAIVED with evidence — audit-trail ready.</a:t>
            </a:r>
            <a:endParaRPr lang="en-US" sz="1575" dirty="0"/>
          </a:p>
        </p:txBody>
      </p:sp>
      <p:sp>
        <p:nvSpPr>
          <p:cNvPr id="30" name="Text 28"/>
          <p:cNvSpPr/>
          <p:nvPr/>
        </p:nvSpPr>
        <p:spPr>
          <a:xfrm>
            <a:off x="1143000" y="6920547"/>
            <a:ext cx="17602200" cy="311150"/>
          </a:xfrm>
          <a:prstGeom prst="rect">
            <a:avLst/>
          </a:prstGeom>
          <a:noFill/>
          <a:ln/>
        </p:spPr>
        <p:txBody>
          <a:bodyPr wrap="square" lIns="25400" tIns="25400" rIns="25400" bIns="25400" rtlCol="0" anchor="t">
            <a:normAutofit/>
          </a:bodyPr>
          <a:lstStyle/>
          <a:p>
            <a:pPr algn="l" indent="0" marL="0">
              <a:buNone/>
            </a:pPr>
            <a:r>
              <a:rPr lang="en-US" sz="1650" dirty="0">
                <a:solidFill>
                  <a:srgbClr val="0E1C30">
                    <a:alpha val="55000"/>
                  </a:srgbClr>
                </a:solidFill>
                <a:latin typeface="IBM Plex Mono" pitchFamily="34" charset="0"/>
                <a:ea typeface="IBM Plex Mono" pitchFamily="34" charset="-122"/>
                <a:cs typeface="IBM Plex Mono" pitchFamily="34" charset="-120"/>
              </a:rPr>
              <a:t>bmad-tea → framework → test-design → automate — zero to a risk-planned suite in ~30 min</a:t>
            </a:r>
            <a:endParaRPr lang="en-US" sz="1650" dirty="0"/>
          </a:p>
        </p:txBody>
      </p:sp>
      <p:sp>
        <p:nvSpPr>
          <p:cNvPr id="31" name="Text 29"/>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32" name="Text 30"/>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33 / 45</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162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0B1626">
                  <a:alpha val="50000"/>
                </a:srgbClr>
              </a:gs>
              <a:gs pos="34000">
                <a:srgbClr val="0B1626">
                  <a:alpha val="18000"/>
                </a:srgbClr>
              </a:gs>
              <a:gs pos="64000">
                <a:srgbClr val="0B1626">
                  <a:alpha val="50000"/>
                </a:srgbClr>
              </a:gs>
              <a:gs pos="100000">
                <a:srgbClr val="0B1626">
                  <a:alpha val="92000"/>
                </a:srgbClr>
              </a:gs>
            </a:gsLst>
            <a:lin ang="5400000" scaled="0"/>
          </a:gradFill>
          <a:ln/>
        </p:spPr>
      </p:sp>
      <p:sp>
        <p:nvSpPr>
          <p:cNvPr id="4" name="Shape 1"/>
          <p:cNvSpPr/>
          <p:nvPr/>
        </p:nvSpPr>
        <p:spPr>
          <a:xfrm>
            <a:off x="1143000" y="6995160"/>
            <a:ext cx="95250" cy="95250"/>
          </a:xfrm>
          <a:prstGeom prst="rect">
            <a:avLst/>
          </a:prstGeom>
          <a:solidFill>
            <a:srgbClr val="F4C233"/>
          </a:solidFill>
          <a:ln/>
        </p:spPr>
      </p:sp>
      <p:sp>
        <p:nvSpPr>
          <p:cNvPr id="5" name="Text 2"/>
          <p:cNvSpPr/>
          <p:nvPr/>
        </p:nvSpPr>
        <p:spPr>
          <a:xfrm>
            <a:off x="1371600" y="6941185"/>
            <a:ext cx="862965" cy="241300"/>
          </a:xfrm>
          <a:prstGeom prst="rect">
            <a:avLst/>
          </a:prstGeom>
          <a:noFill/>
          <a:ln/>
        </p:spPr>
        <p:txBody>
          <a:bodyPr wrap="square" lIns="0" tIns="0" rIns="0" bIns="0" rtlCol="0" anchor="t">
            <a:normAutofit/>
          </a:bodyPr>
          <a:lstStyle/>
          <a:p>
            <a:pPr algn="l" indent="0" marL="0">
              <a:buNone/>
            </a:pPr>
            <a:r>
              <a:rPr lang="en-US" sz="1200" spc="312" kern="0" dirty="0">
                <a:solidFill>
                  <a:srgbClr val="F4C233"/>
                </a:solidFill>
                <a:latin typeface="IBM Plex Mono" pitchFamily="34" charset="0"/>
                <a:ea typeface="IBM Plex Mono" pitchFamily="34" charset="-122"/>
                <a:cs typeface="IBM Plex Mono" pitchFamily="34" charset="-120"/>
              </a:rPr>
              <a:t>ACT VI</a:t>
            </a:r>
            <a:endParaRPr lang="en-US" sz="1200" dirty="0"/>
          </a:p>
        </p:txBody>
      </p:sp>
      <p:sp>
        <p:nvSpPr>
          <p:cNvPr id="6" name="Text 3"/>
          <p:cNvSpPr/>
          <p:nvPr/>
        </p:nvSpPr>
        <p:spPr>
          <a:xfrm>
            <a:off x="1143000" y="7315835"/>
            <a:ext cx="14668500" cy="834707"/>
          </a:xfrm>
          <a:prstGeom prst="rect">
            <a:avLst/>
          </a:prstGeom>
          <a:noFill/>
          <a:ln/>
          <a:effectLst>
            <a:outerShdw sx="100000" sy="100000" kx="0" ky="0" algn="bl" rotWithShape="0" blurRad="323850" dist="19050" dir="5400000">
              <a:srgbClr val="000000">
                <a:alpha val="60000"/>
              </a:srgbClr>
            </a:outerShdw>
          </a:effectLst>
        </p:spPr>
        <p:txBody>
          <a:bodyPr wrap="square" lIns="25400" tIns="25400" rIns="25400" bIns="25400" rtlCol="0" anchor="t">
            <a:normAutofit/>
          </a:bodyPr>
          <a:lstStyle/>
          <a:p>
            <a:pPr algn="l" indent="0" marL="0">
              <a:lnSpc>
                <a:spcPct val="79904"/>
              </a:lnSpc>
              <a:buNone/>
            </a:pPr>
            <a:r>
              <a:rPr lang="en-US" sz="6150" b="1" spc="-154" kern="0" dirty="0">
                <a:solidFill>
                  <a:srgbClr val="F6F4EE"/>
                </a:solidFill>
                <a:latin typeface="Space Grotesk" pitchFamily="34" charset="0"/>
                <a:ea typeface="Space Grotesk" pitchFamily="34" charset="-122"/>
                <a:cs typeface="Space Grotesk" pitchFamily="34" charset="-120"/>
              </a:rPr>
              <a:t>Scale, governance &amp; ecosystem</a:t>
            </a:r>
            <a:endParaRPr lang="en-US" sz="6150" dirty="0"/>
          </a:p>
        </p:txBody>
      </p:sp>
      <p:sp>
        <p:nvSpPr>
          <p:cNvPr id="7" name="Text 4"/>
          <p:cNvSpPr/>
          <p:nvPr/>
        </p:nvSpPr>
        <p:spPr>
          <a:xfrm>
            <a:off x="1143000" y="8283893"/>
            <a:ext cx="10988040" cy="783908"/>
          </a:xfrm>
          <a:prstGeom prst="rect">
            <a:avLst/>
          </a:prstGeom>
          <a:noFill/>
          <a:ln/>
          <a:effectLst>
            <a:outerShdw sx="100000" sy="100000" kx="0" ky="0" algn="bl" rotWithShape="0" blurRad="209550" dist="19050" dir="5400000">
              <a:srgbClr val="000000">
                <a:alpha val="70000"/>
              </a:srgbClr>
            </a:outerShdw>
          </a:effectLst>
        </p:spPr>
        <p:txBody>
          <a:bodyPr wrap="square" lIns="25400" tIns="25400" rIns="25400" bIns="25400" rtlCol="0" anchor="t">
            <a:normAutofit/>
          </a:bodyPr>
          <a:lstStyle/>
          <a:p>
            <a:pPr algn="l" indent="0" marL="0">
              <a:lnSpc>
                <a:spcPct val="110802"/>
              </a:lnSpc>
              <a:buNone/>
            </a:pPr>
            <a:r>
              <a:rPr lang="en-US" sz="2025" dirty="0">
                <a:solidFill>
                  <a:srgbClr val="F6F4EE">
                    <a:alpha val="90000"/>
                  </a:srgbClr>
                </a:solidFill>
                <a:latin typeface="IBM Plex Sans" pitchFamily="34" charset="0"/>
                <a:ea typeface="IBM Plex Sans" pitchFamily="34" charset="-122"/>
                <a:cs typeface="IBM Plex Sans" pitchFamily="34" charset="-120"/>
              </a:rPr>
              <a:t>The wider ecosystem — testing, game dev, creative intelligence, and your own custom agents.</a:t>
            </a:r>
            <a:endParaRPr lang="en-US" sz="2025" dirty="0"/>
          </a:p>
        </p:txBody>
      </p:sp>
      <p:sp>
        <p:nvSpPr>
          <p:cNvPr id="8" name="Text 5"/>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F6F4EE">
                    <a:alpha val="6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9" name="Text 6"/>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F6F4EE">
                    <a:alpha val="60000"/>
                  </a:srgbClr>
                </a:solidFill>
                <a:latin typeface="IBM Plex Mono" pitchFamily="34" charset="0"/>
                <a:ea typeface="IBM Plex Mono" pitchFamily="34" charset="-122"/>
                <a:cs typeface="IBM Plex Mono" pitchFamily="34" charset="-120"/>
              </a:rPr>
              <a:t>34 / 45</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1867535"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SCALE-ADAPTIVE</a:t>
            </a:r>
            <a:endParaRPr lang="en-US" sz="1200" dirty="0"/>
          </a:p>
        </p:txBody>
      </p:sp>
      <p:sp>
        <p:nvSpPr>
          <p:cNvPr id="4" name="Text 2"/>
          <p:cNvSpPr/>
          <p:nvPr/>
        </p:nvSpPr>
        <p:spPr>
          <a:xfrm>
            <a:off x="1143000" y="1384300"/>
            <a:ext cx="17602200" cy="672147"/>
          </a:xfrm>
          <a:prstGeom prst="rect">
            <a:avLst/>
          </a:prstGeom>
          <a:noFill/>
          <a:ln/>
        </p:spPr>
        <p:txBody>
          <a:bodyPr wrap="square" lIns="25400" tIns="25400" rIns="25400" bIns="25400" rtlCol="0" anchor="t">
            <a:normAutofit/>
          </a:bodyPr>
          <a:lstStyle/>
          <a:p>
            <a:pPr algn="l" indent="0" marL="0">
              <a:lnSpc>
                <a:spcPct val="81844"/>
              </a:lnSpc>
              <a:buNone/>
            </a:pPr>
            <a:r>
              <a:rPr lang="en-US" sz="4800" b="1" spc="-96" kern="0" dirty="0">
                <a:solidFill>
                  <a:srgbClr val="0E1C30"/>
                </a:solidFill>
                <a:latin typeface="Space Grotesk" pitchFamily="34" charset="0"/>
                <a:ea typeface="Space Grotesk" pitchFamily="34" charset="-122"/>
                <a:cs typeface="Space Grotesk" pitchFamily="34" charset="-120"/>
              </a:rPr>
              <a:t>Three tracks, sized to the work</a:t>
            </a:r>
            <a:endParaRPr lang="en-US" sz="4800" dirty="0"/>
          </a:p>
        </p:txBody>
      </p:sp>
      <p:sp>
        <p:nvSpPr>
          <p:cNvPr id="5" name="Shape 3"/>
          <p:cNvSpPr/>
          <p:nvPr/>
        </p:nvSpPr>
        <p:spPr>
          <a:xfrm>
            <a:off x="1143000" y="2888297"/>
            <a:ext cx="16002000" cy="9525"/>
          </a:xfrm>
          <a:prstGeom prst="rect">
            <a:avLst/>
          </a:prstGeom>
          <a:solidFill>
            <a:srgbClr val="0E1C30">
              <a:alpha val="16000"/>
            </a:srgbClr>
          </a:solidFill>
          <a:ln/>
        </p:spPr>
      </p:sp>
      <p:sp>
        <p:nvSpPr>
          <p:cNvPr id="6" name="Text 4"/>
          <p:cNvSpPr/>
          <p:nvPr/>
        </p:nvSpPr>
        <p:spPr>
          <a:xfrm>
            <a:off x="1143000" y="2513647"/>
            <a:ext cx="4114864" cy="222250"/>
          </a:xfrm>
          <a:prstGeom prst="rect">
            <a:avLst/>
          </a:prstGeom>
          <a:noFill/>
          <a:ln/>
        </p:spPr>
        <p:txBody>
          <a:bodyPr wrap="square" lIns="25400" tIns="25400" rIns="25400" bIns="25400" rtlCol="0" anchor="t">
            <a:normAutofit/>
          </a:bodyPr>
          <a:lstStyle/>
          <a:p>
            <a:pPr algn="l" indent="0" marL="0">
              <a:buNone/>
            </a:pPr>
            <a:r>
              <a:rPr lang="en-US" sz="1125" spc="158" kern="0" dirty="0">
                <a:solidFill>
                  <a:srgbClr val="0E1C30">
                    <a:alpha val="50000"/>
                  </a:srgbClr>
                </a:solidFill>
                <a:latin typeface="IBM Plex Mono" pitchFamily="34" charset="0"/>
                <a:ea typeface="IBM Plex Mono" pitchFamily="34" charset="-122"/>
                <a:cs typeface="IBM Plex Mono" pitchFamily="34" charset="-120"/>
              </a:rPr>
              <a:t>TRACK</a:t>
            </a:r>
            <a:endParaRPr lang="en-US" sz="1125" dirty="0"/>
          </a:p>
        </p:txBody>
      </p:sp>
      <p:sp>
        <p:nvSpPr>
          <p:cNvPr id="7" name="Text 5"/>
          <p:cNvSpPr/>
          <p:nvPr/>
        </p:nvSpPr>
        <p:spPr>
          <a:xfrm>
            <a:off x="5169535" y="2513647"/>
            <a:ext cx="6686566" cy="222250"/>
          </a:xfrm>
          <a:prstGeom prst="rect">
            <a:avLst/>
          </a:prstGeom>
          <a:noFill/>
          <a:ln/>
        </p:spPr>
        <p:txBody>
          <a:bodyPr wrap="square" lIns="25400" tIns="25400" rIns="25400" bIns="25400" rtlCol="0" anchor="t">
            <a:normAutofit/>
          </a:bodyPr>
          <a:lstStyle/>
          <a:p>
            <a:pPr algn="l" indent="0" marL="0">
              <a:buNone/>
            </a:pPr>
            <a:r>
              <a:rPr lang="en-US" sz="1125" spc="158" kern="0" dirty="0">
                <a:solidFill>
                  <a:srgbClr val="0E1C30">
                    <a:alpha val="50000"/>
                  </a:srgbClr>
                </a:solidFill>
                <a:latin typeface="IBM Plex Mono" pitchFamily="34" charset="0"/>
                <a:ea typeface="IBM Plex Mono" pitchFamily="34" charset="-122"/>
                <a:cs typeface="IBM Plex Mono" pitchFamily="34" charset="-120"/>
              </a:rPr>
              <a:t>BEST FOR</a:t>
            </a:r>
            <a:endParaRPr lang="en-US" sz="1125" dirty="0"/>
          </a:p>
        </p:txBody>
      </p:sp>
      <p:sp>
        <p:nvSpPr>
          <p:cNvPr id="8" name="Text 6"/>
          <p:cNvSpPr/>
          <p:nvPr/>
        </p:nvSpPr>
        <p:spPr>
          <a:xfrm>
            <a:off x="11533981" y="2513647"/>
            <a:ext cx="6172120" cy="222250"/>
          </a:xfrm>
          <a:prstGeom prst="rect">
            <a:avLst/>
          </a:prstGeom>
          <a:noFill/>
          <a:ln/>
        </p:spPr>
        <p:txBody>
          <a:bodyPr wrap="square" lIns="25400" tIns="25400" rIns="25400" bIns="25400" rtlCol="0" anchor="t">
            <a:normAutofit/>
          </a:bodyPr>
          <a:lstStyle/>
          <a:p>
            <a:pPr algn="l" indent="0" marL="0">
              <a:buNone/>
            </a:pPr>
            <a:r>
              <a:rPr lang="en-US" sz="1125" spc="158" kern="0" dirty="0">
                <a:solidFill>
                  <a:srgbClr val="0E1C30">
                    <a:alpha val="50000"/>
                  </a:srgbClr>
                </a:solidFill>
                <a:latin typeface="IBM Plex Mono" pitchFamily="34" charset="0"/>
                <a:ea typeface="IBM Plex Mono" pitchFamily="34" charset="-122"/>
                <a:cs typeface="IBM Plex Mono" pitchFamily="34" charset="-120"/>
              </a:rPr>
              <a:t>DOCUMENTS CREATED</a:t>
            </a:r>
            <a:endParaRPr lang="en-US" sz="1125" dirty="0"/>
          </a:p>
        </p:txBody>
      </p:sp>
      <p:sp>
        <p:nvSpPr>
          <p:cNvPr id="9" name="Shape 7"/>
          <p:cNvSpPr/>
          <p:nvPr/>
        </p:nvSpPr>
        <p:spPr>
          <a:xfrm>
            <a:off x="1143000" y="3847147"/>
            <a:ext cx="16002000" cy="9525"/>
          </a:xfrm>
          <a:prstGeom prst="rect">
            <a:avLst/>
          </a:prstGeom>
          <a:solidFill>
            <a:srgbClr val="0E1C30">
              <a:alpha val="10000"/>
            </a:srgbClr>
          </a:solidFill>
          <a:ln/>
        </p:spPr>
      </p:sp>
      <p:sp>
        <p:nvSpPr>
          <p:cNvPr id="10" name="Text 8"/>
          <p:cNvSpPr/>
          <p:nvPr/>
        </p:nvSpPr>
        <p:spPr>
          <a:xfrm>
            <a:off x="1143000" y="3180397"/>
            <a:ext cx="4114864" cy="419100"/>
          </a:xfrm>
          <a:prstGeom prst="rect">
            <a:avLst/>
          </a:prstGeom>
          <a:noFill/>
          <a:ln/>
        </p:spPr>
        <p:txBody>
          <a:bodyPr wrap="square" lIns="25400" tIns="25400" rIns="25400" bIns="25400" rtlCol="0" anchor="t">
            <a:normAutofit/>
          </a:bodyPr>
          <a:lstStyle/>
          <a:p>
            <a:pPr algn="l" indent="0" marL="0">
              <a:buNone/>
            </a:pPr>
            <a:r>
              <a:rPr lang="en-US" sz="2325" b="1" dirty="0">
                <a:solidFill>
                  <a:srgbClr val="0E1C30"/>
                </a:solidFill>
                <a:latin typeface="Space Grotesk" pitchFamily="34" charset="0"/>
                <a:ea typeface="Space Grotesk" pitchFamily="34" charset="-122"/>
                <a:cs typeface="Space Grotesk" pitchFamily="34" charset="-120"/>
              </a:rPr>
              <a:t>Quick Flow</a:t>
            </a:r>
            <a:endParaRPr lang="en-US" sz="2325" dirty="0"/>
          </a:p>
        </p:txBody>
      </p:sp>
      <p:sp>
        <p:nvSpPr>
          <p:cNvPr id="11" name="Text 9"/>
          <p:cNvSpPr/>
          <p:nvPr/>
        </p:nvSpPr>
        <p:spPr>
          <a:xfrm>
            <a:off x="5169535" y="3237547"/>
            <a:ext cx="6686566" cy="336550"/>
          </a:xfrm>
          <a:prstGeom prst="rect">
            <a:avLst/>
          </a:prstGeom>
          <a:noFill/>
          <a:ln/>
        </p:spPr>
        <p:txBody>
          <a:bodyPr wrap="square" lIns="25400" tIns="25400" rIns="25400" bIns="25400" rtlCol="0" anchor="t">
            <a:normAutofit/>
          </a:bodyPr>
          <a:lstStyle/>
          <a:p>
            <a:pPr algn="l" indent="0" marL="0">
              <a:buNone/>
            </a:pPr>
            <a:r>
              <a:rPr lang="en-US" sz="1800" dirty="0">
                <a:solidFill>
                  <a:srgbClr val="0E1C30">
                    <a:alpha val="72000"/>
                  </a:srgbClr>
                </a:solidFill>
                <a:latin typeface="IBM Plex Sans" pitchFamily="34" charset="0"/>
                <a:ea typeface="IBM Plex Sans" pitchFamily="34" charset="-122"/>
                <a:cs typeface="IBM Plex Sans" pitchFamily="34" charset="-120"/>
              </a:rPr>
              <a:t>Bug fixes, clear scope </a:t>
            </a:r>
            <a:pPr algn="l" indent="0" marL="0">
              <a:buNone/>
            </a:pPr>
            <a:r>
              <a:rPr lang="en-US" sz="1800" dirty="0">
                <a:solidFill>
                  <a:srgbClr val="0E1C30">
                    <a:alpha val="45000"/>
                  </a:srgbClr>
                </a:solidFill>
                <a:latin typeface="IBM Plex Sans" pitchFamily="34" charset="0"/>
                <a:ea typeface="IBM Plex Sans" pitchFamily="34" charset="-122"/>
                <a:cs typeface="IBM Plex Sans" pitchFamily="34" charset="-120"/>
              </a:rPr>
              <a:t>· 1–15 stories</a:t>
            </a:r>
            <a:endParaRPr lang="en-US" sz="1800" dirty="0"/>
          </a:p>
        </p:txBody>
      </p:sp>
      <p:sp>
        <p:nvSpPr>
          <p:cNvPr id="12" name="Text 10"/>
          <p:cNvSpPr/>
          <p:nvPr/>
        </p:nvSpPr>
        <p:spPr>
          <a:xfrm>
            <a:off x="11533981" y="3247072"/>
            <a:ext cx="6172120" cy="323850"/>
          </a:xfrm>
          <a:prstGeom prst="rect">
            <a:avLst/>
          </a:prstGeom>
          <a:noFill/>
          <a:ln/>
        </p:spPr>
        <p:txBody>
          <a:bodyPr wrap="square" lIns="25400" tIns="25400" rIns="25400" bIns="25400" rtlCol="0" anchor="t">
            <a:normAutofit/>
          </a:bodyPr>
          <a:lstStyle/>
          <a:p>
            <a:pPr algn="l" indent="0" marL="0">
              <a:buNone/>
            </a:pPr>
            <a:r>
              <a:rPr lang="en-US" sz="1725" dirty="0">
                <a:solidFill>
                  <a:srgbClr val="0E1C30">
                    <a:alpha val="82000"/>
                  </a:srgbClr>
                </a:solidFill>
                <a:latin typeface="IBM Plex Sans" pitchFamily="34" charset="0"/>
                <a:ea typeface="IBM Plex Sans" pitchFamily="34" charset="-122"/>
                <a:cs typeface="IBM Plex Sans" pitchFamily="34" charset="-120"/>
              </a:rPr>
              <a:t>Tech-spec only</a:t>
            </a:r>
            <a:endParaRPr lang="en-US" sz="1725" dirty="0"/>
          </a:p>
        </p:txBody>
      </p:sp>
      <p:sp>
        <p:nvSpPr>
          <p:cNvPr id="13" name="Shape 11"/>
          <p:cNvSpPr/>
          <p:nvPr/>
        </p:nvSpPr>
        <p:spPr>
          <a:xfrm>
            <a:off x="1143000" y="4805997"/>
            <a:ext cx="16002000" cy="9525"/>
          </a:xfrm>
          <a:prstGeom prst="rect">
            <a:avLst/>
          </a:prstGeom>
          <a:solidFill>
            <a:srgbClr val="0E1C30">
              <a:alpha val="10000"/>
            </a:srgbClr>
          </a:solidFill>
          <a:ln/>
        </p:spPr>
      </p:sp>
      <p:sp>
        <p:nvSpPr>
          <p:cNvPr id="14" name="Text 12"/>
          <p:cNvSpPr/>
          <p:nvPr/>
        </p:nvSpPr>
        <p:spPr>
          <a:xfrm>
            <a:off x="1143000" y="4139247"/>
            <a:ext cx="4114864" cy="419100"/>
          </a:xfrm>
          <a:prstGeom prst="rect">
            <a:avLst/>
          </a:prstGeom>
          <a:noFill/>
          <a:ln/>
        </p:spPr>
        <p:txBody>
          <a:bodyPr wrap="square" lIns="25400" tIns="25400" rIns="25400" bIns="25400" rtlCol="0" anchor="t">
            <a:normAutofit/>
          </a:bodyPr>
          <a:lstStyle/>
          <a:p>
            <a:pPr algn="l" indent="0" marL="0">
              <a:buNone/>
            </a:pPr>
            <a:r>
              <a:rPr lang="en-US" sz="2325" b="1" dirty="0">
                <a:solidFill>
                  <a:srgbClr val="0E1C30"/>
                </a:solidFill>
                <a:latin typeface="Space Grotesk" pitchFamily="34" charset="0"/>
                <a:ea typeface="Space Grotesk" pitchFamily="34" charset="-122"/>
                <a:cs typeface="Space Grotesk" pitchFamily="34" charset="-120"/>
              </a:rPr>
              <a:t>BMad Method</a:t>
            </a:r>
            <a:endParaRPr lang="en-US" sz="2325" dirty="0"/>
          </a:p>
        </p:txBody>
      </p:sp>
      <p:sp>
        <p:nvSpPr>
          <p:cNvPr id="15" name="Text 13"/>
          <p:cNvSpPr/>
          <p:nvPr/>
        </p:nvSpPr>
        <p:spPr>
          <a:xfrm>
            <a:off x="5169535" y="4196397"/>
            <a:ext cx="6686566" cy="336550"/>
          </a:xfrm>
          <a:prstGeom prst="rect">
            <a:avLst/>
          </a:prstGeom>
          <a:noFill/>
          <a:ln/>
        </p:spPr>
        <p:txBody>
          <a:bodyPr wrap="square" lIns="25400" tIns="25400" rIns="25400" bIns="25400" rtlCol="0" anchor="t">
            <a:normAutofit/>
          </a:bodyPr>
          <a:lstStyle/>
          <a:p>
            <a:pPr algn="l" indent="0" marL="0">
              <a:buNone/>
            </a:pPr>
            <a:r>
              <a:rPr lang="en-US" sz="1800" dirty="0">
                <a:solidFill>
                  <a:srgbClr val="0E1C30">
                    <a:alpha val="72000"/>
                  </a:srgbClr>
                </a:solidFill>
                <a:latin typeface="IBM Plex Sans" pitchFamily="34" charset="0"/>
                <a:ea typeface="IBM Plex Sans" pitchFamily="34" charset="-122"/>
                <a:cs typeface="IBM Plex Sans" pitchFamily="34" charset="-120"/>
              </a:rPr>
              <a:t>Products &amp; platforms </a:t>
            </a:r>
            <a:pPr algn="l" indent="0" marL="0">
              <a:buNone/>
            </a:pPr>
            <a:r>
              <a:rPr lang="en-US" sz="1800" dirty="0">
                <a:solidFill>
                  <a:srgbClr val="0E1C30">
                    <a:alpha val="45000"/>
                  </a:srgbClr>
                </a:solidFill>
                <a:latin typeface="IBM Plex Sans" pitchFamily="34" charset="0"/>
                <a:ea typeface="IBM Plex Sans" pitchFamily="34" charset="-122"/>
                <a:cs typeface="IBM Plex Sans" pitchFamily="34" charset="-120"/>
              </a:rPr>
              <a:t>· 10–50+ stories</a:t>
            </a:r>
            <a:endParaRPr lang="en-US" sz="1800" dirty="0"/>
          </a:p>
        </p:txBody>
      </p:sp>
      <p:sp>
        <p:nvSpPr>
          <p:cNvPr id="16" name="Text 14"/>
          <p:cNvSpPr/>
          <p:nvPr/>
        </p:nvSpPr>
        <p:spPr>
          <a:xfrm>
            <a:off x="11533981" y="4205922"/>
            <a:ext cx="6172120" cy="323850"/>
          </a:xfrm>
          <a:prstGeom prst="rect">
            <a:avLst/>
          </a:prstGeom>
          <a:noFill/>
          <a:ln/>
        </p:spPr>
        <p:txBody>
          <a:bodyPr wrap="square" lIns="25400" tIns="25400" rIns="25400" bIns="25400" rtlCol="0" anchor="t">
            <a:normAutofit/>
          </a:bodyPr>
          <a:lstStyle/>
          <a:p>
            <a:pPr algn="l" indent="0" marL="0">
              <a:buNone/>
            </a:pPr>
            <a:r>
              <a:rPr lang="en-US" sz="1725" dirty="0">
                <a:solidFill>
                  <a:srgbClr val="0E1C30">
                    <a:alpha val="82000"/>
                  </a:srgbClr>
                </a:solidFill>
                <a:latin typeface="IBM Plex Sans" pitchFamily="34" charset="0"/>
                <a:ea typeface="IBM Plex Sans" pitchFamily="34" charset="-122"/>
                <a:cs typeface="IBM Plex Sans" pitchFamily="34" charset="-120"/>
              </a:rPr>
              <a:t>PRD + Architecture + UX</a:t>
            </a:r>
            <a:endParaRPr lang="en-US" sz="1725" dirty="0"/>
          </a:p>
        </p:txBody>
      </p:sp>
      <p:sp>
        <p:nvSpPr>
          <p:cNvPr id="17" name="Text 15"/>
          <p:cNvSpPr/>
          <p:nvPr/>
        </p:nvSpPr>
        <p:spPr>
          <a:xfrm>
            <a:off x="1143000" y="5098098"/>
            <a:ext cx="4114864" cy="419100"/>
          </a:xfrm>
          <a:prstGeom prst="rect">
            <a:avLst/>
          </a:prstGeom>
          <a:noFill/>
          <a:ln/>
        </p:spPr>
        <p:txBody>
          <a:bodyPr wrap="square" lIns="25400" tIns="25400" rIns="25400" bIns="25400" rtlCol="0" anchor="t">
            <a:normAutofit/>
          </a:bodyPr>
          <a:lstStyle/>
          <a:p>
            <a:pPr algn="l" indent="0" marL="0">
              <a:buNone/>
            </a:pPr>
            <a:r>
              <a:rPr lang="en-US" sz="2325" b="1" dirty="0">
                <a:solidFill>
                  <a:srgbClr val="0E1C30"/>
                </a:solidFill>
                <a:latin typeface="Space Grotesk" pitchFamily="34" charset="0"/>
                <a:ea typeface="Space Grotesk" pitchFamily="34" charset="-122"/>
                <a:cs typeface="Space Grotesk" pitchFamily="34" charset="-120"/>
              </a:rPr>
              <a:t>Enterprise</a:t>
            </a:r>
            <a:endParaRPr lang="en-US" sz="2325" dirty="0"/>
          </a:p>
        </p:txBody>
      </p:sp>
      <p:sp>
        <p:nvSpPr>
          <p:cNvPr id="18" name="Text 16"/>
          <p:cNvSpPr/>
          <p:nvPr/>
        </p:nvSpPr>
        <p:spPr>
          <a:xfrm>
            <a:off x="5169535" y="5155248"/>
            <a:ext cx="6686566" cy="336550"/>
          </a:xfrm>
          <a:prstGeom prst="rect">
            <a:avLst/>
          </a:prstGeom>
          <a:noFill/>
          <a:ln/>
        </p:spPr>
        <p:txBody>
          <a:bodyPr wrap="square" lIns="25400" tIns="25400" rIns="25400" bIns="25400" rtlCol="0" anchor="t">
            <a:normAutofit/>
          </a:bodyPr>
          <a:lstStyle/>
          <a:p>
            <a:pPr algn="l" indent="0" marL="0">
              <a:buNone/>
            </a:pPr>
            <a:r>
              <a:rPr lang="en-US" sz="1800" dirty="0">
                <a:solidFill>
                  <a:srgbClr val="0E1C30">
                    <a:alpha val="72000"/>
                  </a:srgbClr>
                </a:solidFill>
                <a:latin typeface="IBM Plex Sans" pitchFamily="34" charset="0"/>
                <a:ea typeface="IBM Plex Sans" pitchFamily="34" charset="-122"/>
                <a:cs typeface="IBM Plex Sans" pitchFamily="34" charset="-120"/>
              </a:rPr>
              <a:t>Compliance, multi-tenant </a:t>
            </a:r>
            <a:pPr algn="l" indent="0" marL="0">
              <a:buNone/>
            </a:pPr>
            <a:r>
              <a:rPr lang="en-US" sz="1800" dirty="0">
                <a:solidFill>
                  <a:srgbClr val="0E1C30">
                    <a:alpha val="45000"/>
                  </a:srgbClr>
                </a:solidFill>
                <a:latin typeface="IBM Plex Sans" pitchFamily="34" charset="0"/>
                <a:ea typeface="IBM Plex Sans" pitchFamily="34" charset="-122"/>
                <a:cs typeface="IBM Plex Sans" pitchFamily="34" charset="-120"/>
              </a:rPr>
              <a:t>· 30+ stories</a:t>
            </a:r>
            <a:endParaRPr lang="en-US" sz="1800" dirty="0"/>
          </a:p>
        </p:txBody>
      </p:sp>
      <p:sp>
        <p:nvSpPr>
          <p:cNvPr id="19" name="Text 17"/>
          <p:cNvSpPr/>
          <p:nvPr/>
        </p:nvSpPr>
        <p:spPr>
          <a:xfrm>
            <a:off x="11533981" y="5164773"/>
            <a:ext cx="6172120" cy="323850"/>
          </a:xfrm>
          <a:prstGeom prst="rect">
            <a:avLst/>
          </a:prstGeom>
          <a:noFill/>
          <a:ln/>
        </p:spPr>
        <p:txBody>
          <a:bodyPr wrap="square" lIns="25400" tIns="25400" rIns="25400" bIns="25400" rtlCol="0" anchor="t">
            <a:normAutofit/>
          </a:bodyPr>
          <a:lstStyle/>
          <a:p>
            <a:pPr algn="l" indent="0" marL="0">
              <a:buNone/>
            </a:pPr>
            <a:r>
              <a:rPr lang="en-US" sz="1725" dirty="0">
                <a:solidFill>
                  <a:srgbClr val="0E1C30">
                    <a:alpha val="82000"/>
                  </a:srgbClr>
                </a:solidFill>
                <a:latin typeface="IBM Plex Sans" pitchFamily="34" charset="0"/>
                <a:ea typeface="IBM Plex Sans" pitchFamily="34" charset="-122"/>
                <a:cs typeface="IBM Plex Sans" pitchFamily="34" charset="-120"/>
              </a:rPr>
              <a:t>+ Security + DevOps</a:t>
            </a:r>
            <a:endParaRPr lang="en-US" sz="1725" dirty="0"/>
          </a:p>
        </p:txBody>
      </p:sp>
      <p:sp>
        <p:nvSpPr>
          <p:cNvPr id="20" name="Text 18"/>
          <p:cNvSpPr/>
          <p:nvPr/>
        </p:nvSpPr>
        <p:spPr>
          <a:xfrm>
            <a:off x="1143000" y="6088698"/>
            <a:ext cx="13620750" cy="323850"/>
          </a:xfrm>
          <a:prstGeom prst="rect">
            <a:avLst/>
          </a:prstGeom>
          <a:noFill/>
          <a:ln/>
        </p:spPr>
        <p:txBody>
          <a:bodyPr wrap="square" lIns="25400" tIns="25400" rIns="25400" bIns="25400" rtlCol="0" anchor="t">
            <a:normAutofit/>
          </a:bodyPr>
          <a:lstStyle/>
          <a:p>
            <a:pPr algn="l" indent="0" marL="0">
              <a:lnSpc>
                <a:spcPct val="115385"/>
              </a:lnSpc>
              <a:buNone/>
            </a:pPr>
            <a:r>
              <a:rPr lang="en-US" sz="1500" dirty="0">
                <a:solidFill>
                  <a:srgbClr val="0E1C30">
                    <a:alpha val="50000"/>
                  </a:srgbClr>
                </a:solidFill>
                <a:latin typeface="IBM Plex Sans" pitchFamily="34" charset="0"/>
                <a:ea typeface="IBM Plex Sans" pitchFamily="34" charset="-122"/>
                <a:cs typeface="IBM Plex Sans" pitchFamily="34" charset="-120"/>
              </a:rPr>
              <a:t>Story counts are guidance, not rules — pick the track by how much planning the work needs. </a:t>
            </a:r>
            <a:pPr algn="l" indent="0" marL="0">
              <a:lnSpc>
                <a:spcPct val="115385"/>
              </a:lnSpc>
              <a:buNone/>
            </a:pPr>
            <a:r>
              <a:rPr lang="en-US" sz="1500" dirty="0">
                <a:solidFill>
                  <a:srgbClr val="0E1C30">
                    <a:alpha val="78000"/>
                  </a:srgbClr>
                </a:solidFill>
                <a:latin typeface="IBM Plex Mono" pitchFamily="34" charset="0"/>
                <a:ea typeface="IBM Plex Mono" pitchFamily="34" charset="-122"/>
                <a:cs typeface="IBM Plex Mono" pitchFamily="34" charset="-120"/>
              </a:rPr>
              <a:t>bmad-help </a:t>
            </a:r>
            <a:pPr algn="l" indent="0" marL="0">
              <a:lnSpc>
                <a:spcPct val="115385"/>
              </a:lnSpc>
              <a:buNone/>
            </a:pPr>
            <a:r>
              <a:rPr lang="en-US" sz="1500" dirty="0">
                <a:solidFill>
                  <a:srgbClr val="0E1C30">
                    <a:alpha val="50000"/>
                  </a:srgbClr>
                </a:solidFill>
                <a:latin typeface="IBM Plex Sans" pitchFamily="34" charset="0"/>
                <a:ea typeface="IBM Plex Sans" pitchFamily="34" charset="-122"/>
                <a:cs typeface="IBM Plex Sans" pitchFamily="34" charset="-120"/>
              </a:rPr>
              <a:t>recommends one if you’re unsure.</a:t>
            </a:r>
            <a:endParaRPr lang="en-US" sz="1500" dirty="0"/>
          </a:p>
        </p:txBody>
      </p:sp>
      <p:sp>
        <p:nvSpPr>
          <p:cNvPr id="21" name="Text 19"/>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22" name="Text 20"/>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35 / 45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1867535"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PARALLEL TRACK</a:t>
            </a:r>
            <a:endParaRPr lang="en-US" sz="1200" dirty="0"/>
          </a:p>
        </p:txBody>
      </p:sp>
      <p:sp>
        <p:nvSpPr>
          <p:cNvPr id="4" name="Text 2"/>
          <p:cNvSpPr/>
          <p:nvPr/>
        </p:nvSpPr>
        <p:spPr>
          <a:xfrm>
            <a:off x="1143000" y="1384300"/>
            <a:ext cx="12753975" cy="1306195"/>
          </a:xfrm>
          <a:prstGeom prst="rect">
            <a:avLst/>
          </a:prstGeom>
          <a:noFill/>
          <a:ln/>
        </p:spPr>
        <p:txBody>
          <a:bodyPr wrap="square" lIns="25400" tIns="25400" rIns="25400" bIns="25400" rtlCol="0" anchor="t">
            <a:normAutofit/>
          </a:bodyPr>
          <a:lstStyle/>
          <a:p>
            <a:pPr algn="l" indent="0" marL="0">
              <a:lnSpc>
                <a:spcPct val="81844"/>
              </a:lnSpc>
              <a:buNone/>
            </a:pPr>
            <a:r>
              <a:rPr lang="en-US" sz="4800" b="1" spc="-96" kern="0" dirty="0">
                <a:solidFill>
                  <a:srgbClr val="0E1C30"/>
                </a:solidFill>
                <a:latin typeface="Space Grotesk" pitchFamily="34" charset="0"/>
                <a:ea typeface="Space Grotesk" pitchFamily="34" charset="-122"/>
                <a:cs typeface="Space Grotesk" pitchFamily="34" charset="-120"/>
              </a:rPr>
              <a:t>Small, well-understood work skips the ceremony</a:t>
            </a:r>
            <a:endParaRPr lang="en-US" sz="4800" dirty="0"/>
          </a:p>
        </p:txBody>
      </p:sp>
      <p:sp>
        <p:nvSpPr>
          <p:cNvPr id="5" name="Shape 3"/>
          <p:cNvSpPr/>
          <p:nvPr/>
        </p:nvSpPr>
        <p:spPr>
          <a:xfrm>
            <a:off x="1143000" y="3223895"/>
            <a:ext cx="7839075" cy="2390775"/>
          </a:xfrm>
          <a:prstGeom prst="rect">
            <a:avLst/>
          </a:prstGeom>
          <a:solidFill>
            <a:srgbClr val="FFFFFF"/>
          </a:solidFill>
          <a:ln/>
        </p:spPr>
      </p:sp>
      <p:sp>
        <p:nvSpPr>
          <p:cNvPr id="6" name="Shape 4"/>
          <p:cNvSpPr/>
          <p:nvPr/>
        </p:nvSpPr>
        <p:spPr>
          <a:xfrm>
            <a:off x="1143000" y="5608320"/>
            <a:ext cx="7839075" cy="9525"/>
          </a:xfrm>
          <a:prstGeom prst="rect">
            <a:avLst/>
          </a:prstGeom>
          <a:solidFill>
            <a:srgbClr val="0E1C30">
              <a:alpha val="12000"/>
            </a:srgbClr>
          </a:solidFill>
          <a:ln/>
        </p:spPr>
      </p:sp>
      <p:sp>
        <p:nvSpPr>
          <p:cNvPr id="7" name="Shape 5"/>
          <p:cNvSpPr/>
          <p:nvPr/>
        </p:nvSpPr>
        <p:spPr>
          <a:xfrm>
            <a:off x="1143000" y="3223895"/>
            <a:ext cx="7839075" cy="38100"/>
          </a:xfrm>
          <a:prstGeom prst="rect">
            <a:avLst/>
          </a:prstGeom>
          <a:solidFill>
            <a:srgbClr val="1E7FD6"/>
          </a:solidFill>
          <a:ln/>
        </p:spPr>
      </p:sp>
      <p:sp>
        <p:nvSpPr>
          <p:cNvPr id="8" name="Shape 6"/>
          <p:cNvSpPr/>
          <p:nvPr/>
        </p:nvSpPr>
        <p:spPr>
          <a:xfrm>
            <a:off x="1143000" y="3223895"/>
            <a:ext cx="9525" cy="2390775"/>
          </a:xfrm>
          <a:prstGeom prst="rect">
            <a:avLst/>
          </a:prstGeom>
          <a:solidFill>
            <a:srgbClr val="0E1C30">
              <a:alpha val="12000"/>
            </a:srgbClr>
          </a:solidFill>
          <a:ln/>
        </p:spPr>
      </p:sp>
      <p:sp>
        <p:nvSpPr>
          <p:cNvPr id="9" name="Shape 7"/>
          <p:cNvSpPr/>
          <p:nvPr/>
        </p:nvSpPr>
        <p:spPr>
          <a:xfrm>
            <a:off x="8975725" y="3223895"/>
            <a:ext cx="9525" cy="2390775"/>
          </a:xfrm>
          <a:prstGeom prst="rect">
            <a:avLst/>
          </a:prstGeom>
          <a:solidFill>
            <a:srgbClr val="0E1C30">
              <a:alpha val="12000"/>
            </a:srgbClr>
          </a:solidFill>
          <a:ln/>
        </p:spPr>
      </p:sp>
      <p:sp>
        <p:nvSpPr>
          <p:cNvPr id="10" name="Text 8"/>
          <p:cNvSpPr/>
          <p:nvPr/>
        </p:nvSpPr>
        <p:spPr>
          <a:xfrm>
            <a:off x="1549400" y="3642995"/>
            <a:ext cx="7728902" cy="222250"/>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1E7FD6"/>
                </a:solidFill>
                <a:latin typeface="IBM Plex Mono" pitchFamily="34" charset="0"/>
                <a:ea typeface="IBM Plex Mono" pitchFamily="34" charset="-122"/>
                <a:cs typeface="IBM Plex Mono" pitchFamily="34" charset="-120"/>
              </a:rPr>
              <a:t>bmad-quick-dev</a:t>
            </a:r>
            <a:endParaRPr lang="en-US" sz="1125" dirty="0"/>
          </a:p>
        </p:txBody>
      </p:sp>
      <p:sp>
        <p:nvSpPr>
          <p:cNvPr id="11" name="Text 9"/>
          <p:cNvSpPr/>
          <p:nvPr/>
        </p:nvSpPr>
        <p:spPr>
          <a:xfrm>
            <a:off x="1549400" y="3979545"/>
            <a:ext cx="7728902" cy="476250"/>
          </a:xfrm>
          <a:prstGeom prst="rect">
            <a:avLst/>
          </a:prstGeom>
          <a:noFill/>
          <a:ln/>
        </p:spPr>
        <p:txBody>
          <a:bodyPr wrap="square" lIns="25400" tIns="25400" rIns="25400" bIns="25400" rtlCol="0" anchor="t">
            <a:normAutofit/>
          </a:bodyPr>
          <a:lstStyle/>
          <a:p>
            <a:pPr algn="l" indent="0" marL="0">
              <a:buNone/>
            </a:pPr>
            <a:r>
              <a:rPr lang="en-US" sz="2700" b="1" dirty="0">
                <a:solidFill>
                  <a:srgbClr val="0E1C30"/>
                </a:solidFill>
                <a:latin typeface="Space Grotesk" pitchFamily="34" charset="0"/>
                <a:ea typeface="Space Grotesk" pitchFamily="34" charset="-122"/>
                <a:cs typeface="Space Grotesk" pitchFamily="34" charset="-120"/>
              </a:rPr>
              <a:t>Quick Dev</a:t>
            </a:r>
            <a:endParaRPr lang="en-US" sz="2700" dirty="0"/>
          </a:p>
        </p:txBody>
      </p:sp>
      <p:sp>
        <p:nvSpPr>
          <p:cNvPr id="12" name="Text 10"/>
          <p:cNvSpPr/>
          <p:nvPr/>
        </p:nvSpPr>
        <p:spPr>
          <a:xfrm>
            <a:off x="1549400" y="4570095"/>
            <a:ext cx="7237063" cy="695325"/>
          </a:xfrm>
          <a:prstGeom prst="rect">
            <a:avLst/>
          </a:prstGeom>
          <a:noFill/>
          <a:ln/>
        </p:spPr>
        <p:txBody>
          <a:bodyPr wrap="square" lIns="25400" tIns="25400" rIns="25400" bIns="25400" rtlCol="0" anchor="t">
            <a:normAutofit/>
          </a:bodyPr>
          <a:lstStyle/>
          <a:p>
            <a:pPr algn="l" indent="0" marL="0">
              <a:lnSpc>
                <a:spcPct val="115000"/>
              </a:lnSpc>
              <a:buNone/>
            </a:pPr>
            <a:r>
              <a:rPr lang="en-US" sz="1725" dirty="0">
                <a:solidFill>
                  <a:srgbClr val="0E1C30">
                    <a:alpha val="68000"/>
                  </a:srgbClr>
                </a:solidFill>
                <a:latin typeface="IBM Plex Sans" pitchFamily="34" charset="0"/>
                <a:ea typeface="IBM Plex Sans" pitchFamily="34" charset="-122"/>
                <a:cs typeface="IBM Plex Sans" pitchFamily="34" charset="-120"/>
              </a:rPr>
              <a:t>One unified flow: clarify intent, plan, implement, review, and present. Skips phases 1–3.</a:t>
            </a:r>
            <a:endParaRPr lang="en-US" sz="1725" dirty="0"/>
          </a:p>
        </p:txBody>
      </p:sp>
      <p:sp>
        <p:nvSpPr>
          <p:cNvPr id="13" name="Shape 11"/>
          <p:cNvSpPr/>
          <p:nvPr/>
        </p:nvSpPr>
        <p:spPr>
          <a:xfrm>
            <a:off x="9305925" y="3223895"/>
            <a:ext cx="7839075" cy="2390775"/>
          </a:xfrm>
          <a:prstGeom prst="rect">
            <a:avLst/>
          </a:prstGeom>
          <a:solidFill>
            <a:srgbClr val="FFFFFF"/>
          </a:solidFill>
          <a:ln/>
        </p:spPr>
      </p:sp>
      <p:sp>
        <p:nvSpPr>
          <p:cNvPr id="14" name="Shape 12"/>
          <p:cNvSpPr/>
          <p:nvPr/>
        </p:nvSpPr>
        <p:spPr>
          <a:xfrm>
            <a:off x="9305925" y="5608320"/>
            <a:ext cx="7839075" cy="9525"/>
          </a:xfrm>
          <a:prstGeom prst="rect">
            <a:avLst/>
          </a:prstGeom>
          <a:solidFill>
            <a:srgbClr val="0E1C30">
              <a:alpha val="12000"/>
            </a:srgbClr>
          </a:solidFill>
          <a:ln/>
        </p:spPr>
      </p:sp>
      <p:sp>
        <p:nvSpPr>
          <p:cNvPr id="15" name="Shape 13"/>
          <p:cNvSpPr/>
          <p:nvPr/>
        </p:nvSpPr>
        <p:spPr>
          <a:xfrm>
            <a:off x="9305925" y="3223895"/>
            <a:ext cx="7839075" cy="38100"/>
          </a:xfrm>
          <a:prstGeom prst="rect">
            <a:avLst/>
          </a:prstGeom>
          <a:solidFill>
            <a:srgbClr val="1E7FD6"/>
          </a:solidFill>
          <a:ln/>
        </p:spPr>
      </p:sp>
      <p:sp>
        <p:nvSpPr>
          <p:cNvPr id="16" name="Shape 14"/>
          <p:cNvSpPr/>
          <p:nvPr/>
        </p:nvSpPr>
        <p:spPr>
          <a:xfrm>
            <a:off x="9305925" y="3223895"/>
            <a:ext cx="9525" cy="2390775"/>
          </a:xfrm>
          <a:prstGeom prst="rect">
            <a:avLst/>
          </a:prstGeom>
          <a:solidFill>
            <a:srgbClr val="0E1C30">
              <a:alpha val="12000"/>
            </a:srgbClr>
          </a:solidFill>
          <a:ln/>
        </p:spPr>
      </p:sp>
      <p:sp>
        <p:nvSpPr>
          <p:cNvPr id="17" name="Shape 15"/>
          <p:cNvSpPr/>
          <p:nvPr/>
        </p:nvSpPr>
        <p:spPr>
          <a:xfrm>
            <a:off x="17138650" y="3223895"/>
            <a:ext cx="9525" cy="2390775"/>
          </a:xfrm>
          <a:prstGeom prst="rect">
            <a:avLst/>
          </a:prstGeom>
          <a:solidFill>
            <a:srgbClr val="0E1C30">
              <a:alpha val="12000"/>
            </a:srgbClr>
          </a:solidFill>
          <a:ln/>
        </p:spPr>
      </p:sp>
      <p:sp>
        <p:nvSpPr>
          <p:cNvPr id="18" name="Text 16"/>
          <p:cNvSpPr/>
          <p:nvPr/>
        </p:nvSpPr>
        <p:spPr>
          <a:xfrm>
            <a:off x="9712325" y="3642995"/>
            <a:ext cx="7728902" cy="222250"/>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1E7FD6"/>
                </a:solidFill>
                <a:latin typeface="IBM Plex Mono" pitchFamily="34" charset="0"/>
                <a:ea typeface="IBM Plex Mono" pitchFamily="34" charset="-122"/>
                <a:cs typeface="IBM Plex Mono" pitchFamily="34" charset="-120"/>
              </a:rPr>
              <a:t>bmad-dev-auto</a:t>
            </a:r>
            <a:endParaRPr lang="en-US" sz="1125" dirty="0"/>
          </a:p>
        </p:txBody>
      </p:sp>
      <p:sp>
        <p:nvSpPr>
          <p:cNvPr id="19" name="Text 17"/>
          <p:cNvSpPr/>
          <p:nvPr/>
        </p:nvSpPr>
        <p:spPr>
          <a:xfrm>
            <a:off x="9712325" y="3979545"/>
            <a:ext cx="7728902" cy="476250"/>
          </a:xfrm>
          <a:prstGeom prst="rect">
            <a:avLst/>
          </a:prstGeom>
          <a:noFill/>
          <a:ln/>
        </p:spPr>
        <p:txBody>
          <a:bodyPr wrap="square" lIns="25400" tIns="25400" rIns="25400" bIns="25400" rtlCol="0" anchor="t">
            <a:normAutofit/>
          </a:bodyPr>
          <a:lstStyle/>
          <a:p>
            <a:pPr algn="l" indent="0" marL="0">
              <a:buNone/>
            </a:pPr>
            <a:r>
              <a:rPr lang="en-US" sz="2700" b="1" dirty="0">
                <a:solidFill>
                  <a:srgbClr val="0E1C30"/>
                </a:solidFill>
                <a:latin typeface="Space Grotesk" pitchFamily="34" charset="0"/>
                <a:ea typeface="Space Grotesk" pitchFamily="34" charset="-122"/>
                <a:cs typeface="Space Grotesk" pitchFamily="34" charset="-120"/>
              </a:rPr>
              <a:t>Dev Auto</a:t>
            </a:r>
            <a:endParaRPr lang="en-US" sz="2700" dirty="0"/>
          </a:p>
        </p:txBody>
      </p:sp>
      <p:sp>
        <p:nvSpPr>
          <p:cNvPr id="20" name="Text 18"/>
          <p:cNvSpPr/>
          <p:nvPr/>
        </p:nvSpPr>
        <p:spPr>
          <a:xfrm>
            <a:off x="9712325" y="4570095"/>
            <a:ext cx="7728902" cy="366713"/>
          </a:xfrm>
          <a:prstGeom prst="rect">
            <a:avLst/>
          </a:prstGeom>
          <a:noFill/>
          <a:ln/>
        </p:spPr>
        <p:txBody>
          <a:bodyPr wrap="square" lIns="25400" tIns="25400" rIns="25400" bIns="25400" rtlCol="0" anchor="t">
            <a:normAutofit/>
          </a:bodyPr>
          <a:lstStyle/>
          <a:p>
            <a:pPr algn="l" indent="0" marL="0">
              <a:lnSpc>
                <a:spcPct val="115000"/>
              </a:lnSpc>
              <a:buNone/>
            </a:pPr>
            <a:r>
              <a:rPr lang="en-US" sz="1725" dirty="0">
                <a:solidFill>
                  <a:srgbClr val="0E1C30">
                    <a:alpha val="68000"/>
                  </a:srgbClr>
                </a:solidFill>
                <a:latin typeface="IBM Plex Sans" pitchFamily="34" charset="0"/>
                <a:ea typeface="IBM Plex Sans" pitchFamily="34" charset="-122"/>
                <a:cs typeface="IBM Plex Sans" pitchFamily="34" charset="-120"/>
              </a:rPr>
              <a:t>One unattended development-loop iteration — small intent in, code out.</a:t>
            </a:r>
            <a:endParaRPr lang="en-US" sz="1725" dirty="0"/>
          </a:p>
        </p:txBody>
      </p:sp>
      <p:sp>
        <p:nvSpPr>
          <p:cNvPr id="21" name="Text 19"/>
          <p:cNvSpPr/>
          <p:nvPr/>
        </p:nvSpPr>
        <p:spPr>
          <a:xfrm>
            <a:off x="1143000" y="6090920"/>
            <a:ext cx="12165330" cy="781050"/>
          </a:xfrm>
          <a:prstGeom prst="rect">
            <a:avLst/>
          </a:prstGeom>
          <a:noFill/>
          <a:ln/>
        </p:spPr>
        <p:txBody>
          <a:bodyPr wrap="square" lIns="25400" tIns="25400" rIns="25400" bIns="25400" rtlCol="0" anchor="t">
            <a:normAutofit/>
          </a:bodyPr>
          <a:lstStyle/>
          <a:p>
            <a:pPr algn="l" indent="0" marL="0">
              <a:lnSpc>
                <a:spcPct val="114706"/>
              </a:lnSpc>
              <a:buNone/>
            </a:pPr>
            <a:r>
              <a:rPr lang="en-US" sz="1950" dirty="0">
                <a:solidFill>
                  <a:srgbClr val="0E1C30">
                    <a:alpha val="62000"/>
                  </a:srgbClr>
                </a:solidFill>
                <a:latin typeface="IBM Plex Sans" pitchFamily="34" charset="0"/>
                <a:ea typeface="IBM Plex Sans" pitchFamily="34" charset="-122"/>
                <a:cs typeface="IBM Plex Sans" pitchFamily="34" charset="-120"/>
              </a:rPr>
              <a:t>Rule of thumb: </a:t>
            </a:r>
            <a:pPr algn="l" indent="0" marL="0">
              <a:lnSpc>
                <a:spcPct val="114706"/>
              </a:lnSpc>
              <a:buNone/>
            </a:pPr>
            <a:r>
              <a:rPr lang="en-US" sz="1950" b="1" dirty="0">
                <a:solidFill>
                  <a:srgbClr val="0E1C30"/>
                </a:solidFill>
                <a:latin typeface="IBM Plex Sans" pitchFamily="34" charset="0"/>
                <a:ea typeface="IBM Plex Sans" pitchFamily="34" charset="-122"/>
                <a:cs typeface="IBM Plex Sans" pitchFamily="34" charset="-120"/>
              </a:rPr>
              <a:t>if multiple epics could be built by different agents, you need the full method. </a:t>
            </a:r>
            <a:pPr algn="l" indent="0" marL="0">
              <a:lnSpc>
                <a:spcPct val="114706"/>
              </a:lnSpc>
              <a:buNone/>
            </a:pPr>
            <a:r>
              <a:rPr lang="en-US" sz="1950" dirty="0">
                <a:solidFill>
                  <a:srgbClr val="0E1C30">
                    <a:alpha val="62000"/>
                  </a:srgbClr>
                </a:solidFill>
                <a:latin typeface="IBM Plex Sans" pitchFamily="34" charset="0"/>
                <a:ea typeface="IBM Plex Sans" pitchFamily="34" charset="-122"/>
                <a:cs typeface="IBM Plex Sans" pitchFamily="34" charset="-120"/>
              </a:rPr>
              <a:t>A single well-scoped change does not.</a:t>
            </a:r>
            <a:endParaRPr lang="en-US" sz="1950" dirty="0"/>
          </a:p>
        </p:txBody>
      </p:sp>
      <p:sp>
        <p:nvSpPr>
          <p:cNvPr id="22" name="Text 20"/>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23" name="Text 21"/>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36 / 45</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3690150"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THE UNIFYING IDEA · AT SCALE</a:t>
            </a:r>
            <a:endParaRPr lang="en-US" sz="1200" dirty="0"/>
          </a:p>
        </p:txBody>
      </p:sp>
      <p:sp>
        <p:nvSpPr>
          <p:cNvPr id="4" name="Text 2"/>
          <p:cNvSpPr/>
          <p:nvPr/>
        </p:nvSpPr>
        <p:spPr>
          <a:xfrm>
            <a:off x="1143000" y="1365250"/>
            <a:ext cx="13735050" cy="1278255"/>
          </a:xfrm>
          <a:prstGeom prst="rect">
            <a:avLst/>
          </a:prstGeom>
          <a:noFill/>
          <a:ln/>
        </p:spPr>
        <p:txBody>
          <a:bodyPr wrap="square" lIns="25400" tIns="25400" rIns="25400" bIns="25400" rtlCol="0" anchor="t">
            <a:normAutofit/>
          </a:bodyPr>
          <a:lstStyle/>
          <a:p>
            <a:pPr algn="l" indent="0" marL="0">
              <a:lnSpc>
                <a:spcPct val="82059"/>
              </a:lnSpc>
              <a:buNone/>
            </a:pPr>
            <a:r>
              <a:rPr lang="en-US" sz="4650" b="1" spc="-93" kern="0" dirty="0">
                <a:solidFill>
                  <a:srgbClr val="0E1C30"/>
                </a:solidFill>
                <a:latin typeface="Space Grotesk" pitchFamily="34" charset="0"/>
                <a:ea typeface="Space Grotesk" pitchFamily="34" charset="-122"/>
                <a:cs typeface="Space Grotesk" pitchFamily="34" charset="-120"/>
              </a:rPr>
              <a:t>The documents are the product’s memory — at scale, a constitution</a:t>
            </a:r>
            <a:endParaRPr lang="en-US" sz="4650" dirty="0"/>
          </a:p>
        </p:txBody>
      </p:sp>
      <p:sp>
        <p:nvSpPr>
          <p:cNvPr id="5" name="Text 3"/>
          <p:cNvSpPr/>
          <p:nvPr/>
        </p:nvSpPr>
        <p:spPr>
          <a:xfrm>
            <a:off x="1143000" y="2814955"/>
            <a:ext cx="12950190" cy="752475"/>
          </a:xfrm>
          <a:prstGeom prst="rect">
            <a:avLst/>
          </a:prstGeom>
          <a:noFill/>
          <a:ln/>
        </p:spPr>
        <p:txBody>
          <a:bodyPr wrap="square" lIns="25400" tIns="25400" rIns="25400" bIns="25400" rtlCol="0" anchor="t">
            <a:normAutofit/>
          </a:bodyPr>
          <a:lstStyle/>
          <a:p>
            <a:pPr algn="l" indent="0" marL="0">
              <a:lnSpc>
                <a:spcPct val="114796"/>
              </a:lnSpc>
              <a:buNone/>
            </a:pPr>
            <a:r>
              <a:rPr lang="en-US" sz="1875" dirty="0">
                <a:solidFill>
                  <a:srgbClr val="0E1C30">
                    <a:alpha val="65000"/>
                  </a:srgbClr>
                </a:solidFill>
                <a:latin typeface="IBM Plex Sans" pitchFamily="34" charset="0"/>
                <a:ea typeface="IBM Plex Sans" pitchFamily="34" charset="-122"/>
                <a:cs typeface="IBM Plex Sans" pitchFamily="34" charset="-120"/>
              </a:rPr>
              <a:t>A </a:t>
            </a:r>
            <a:pPr algn="l" indent="0" marL="0">
              <a:lnSpc>
                <a:spcPct val="114796"/>
              </a:lnSpc>
              <a:buNone/>
            </a:pPr>
            <a:r>
              <a:rPr lang="en-US" sz="1575" dirty="0">
                <a:solidFill>
                  <a:srgbClr val="1E7FD6"/>
                </a:solidFill>
                <a:latin typeface="IBM Plex Mono" pitchFamily="34" charset="0"/>
                <a:ea typeface="IBM Plex Mono" pitchFamily="34" charset="-122"/>
                <a:cs typeface="IBM Plex Mono" pitchFamily="34" charset="-120"/>
              </a:rPr>
              <a:t>project-context.md </a:t>
            </a:r>
            <a:pPr algn="l" indent="0" marL="0">
              <a:lnSpc>
                <a:spcPct val="114796"/>
              </a:lnSpc>
              <a:buNone/>
            </a:pPr>
            <a:r>
              <a:rPr lang="en-US" sz="1875" dirty="0">
                <a:solidFill>
                  <a:srgbClr val="0E1C30">
                    <a:alpha val="65000"/>
                  </a:srgbClr>
                </a:solidFill>
                <a:latin typeface="IBM Plex Sans" pitchFamily="34" charset="0"/>
                <a:ea typeface="IBM Plex Sans" pitchFamily="34" charset="-122"/>
                <a:cs typeface="IBM Plex Sans" pitchFamily="34" charset="-120"/>
              </a:rPr>
              <a:t>makes a dozen separate agent runs feel like one coherent team. At enterprise scale it hardens into a constitution:</a:t>
            </a:r>
            <a:endParaRPr lang="en-US" sz="1875" dirty="0"/>
          </a:p>
        </p:txBody>
      </p:sp>
      <p:sp>
        <p:nvSpPr>
          <p:cNvPr id="6" name="Shape 4"/>
          <p:cNvSpPr/>
          <p:nvPr/>
        </p:nvSpPr>
        <p:spPr>
          <a:xfrm>
            <a:off x="1143000" y="3891280"/>
            <a:ext cx="7886700" cy="1685925"/>
          </a:xfrm>
          <a:prstGeom prst="rect">
            <a:avLst/>
          </a:prstGeom>
          <a:solidFill>
            <a:srgbClr val="FFFFFF"/>
          </a:solidFill>
          <a:ln w="6350">
            <a:solidFill>
              <a:srgbClr val="0E1C30">
                <a:alpha val="12000"/>
              </a:srgbClr>
            </a:solidFill>
            <a:prstDash val="solid"/>
          </a:ln>
        </p:spPr>
      </p:sp>
      <p:sp>
        <p:nvSpPr>
          <p:cNvPr id="7" name="Text 5"/>
          <p:cNvSpPr/>
          <p:nvPr/>
        </p:nvSpPr>
        <p:spPr>
          <a:xfrm>
            <a:off x="1511300" y="4240530"/>
            <a:ext cx="786511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1E7FD6"/>
                </a:solidFill>
                <a:latin typeface="IBM Plex Mono" pitchFamily="34" charset="0"/>
                <a:ea typeface="IBM Plex Mono" pitchFamily="34" charset="-122"/>
                <a:cs typeface="IBM Plex Mono" pitchFamily="34" charset="-120"/>
              </a:rPr>
              <a:t>SINGLE SOURCE OF TRUTH</a:t>
            </a:r>
            <a:endParaRPr lang="en-US" sz="1050" dirty="0"/>
          </a:p>
        </p:txBody>
      </p:sp>
      <p:sp>
        <p:nvSpPr>
          <p:cNvPr id="8" name="Text 6"/>
          <p:cNvSpPr/>
          <p:nvPr/>
        </p:nvSpPr>
        <p:spPr>
          <a:xfrm>
            <a:off x="1511300" y="4570730"/>
            <a:ext cx="7364603" cy="695325"/>
          </a:xfrm>
          <a:prstGeom prst="rect">
            <a:avLst/>
          </a:prstGeom>
          <a:noFill/>
          <a:ln/>
        </p:spPr>
        <p:txBody>
          <a:bodyPr wrap="square" lIns="25400" tIns="25400" rIns="25400" bIns="25400" rtlCol="0" anchor="t">
            <a:normAutofit/>
          </a:bodyPr>
          <a:lstStyle/>
          <a:p>
            <a:pPr algn="l" indent="0" marL="0">
              <a:lnSpc>
                <a:spcPct val="115000"/>
              </a:lnSpc>
              <a:buNone/>
            </a:pPr>
            <a:r>
              <a:rPr lang="en-US" sz="1725" dirty="0">
                <a:solidFill>
                  <a:srgbClr val="0E1C30">
                    <a:alpha val="75000"/>
                  </a:srgbClr>
                </a:solidFill>
                <a:latin typeface="IBM Plex Sans" pitchFamily="34" charset="0"/>
                <a:ea typeface="IBM Plex Sans" pitchFamily="34" charset="-122"/>
                <a:cs typeface="IBM Plex Sans" pitchFamily="34" charset="-120"/>
              </a:rPr>
              <a:t>The constitution supersedes ad-hoc practice. When conventions conflict, it wins — for humans and agents alike.</a:t>
            </a:r>
            <a:endParaRPr lang="en-US" sz="1725" dirty="0"/>
          </a:p>
        </p:txBody>
      </p:sp>
      <p:sp>
        <p:nvSpPr>
          <p:cNvPr id="9" name="Shape 7"/>
          <p:cNvSpPr/>
          <p:nvPr/>
        </p:nvSpPr>
        <p:spPr>
          <a:xfrm>
            <a:off x="9258300" y="3891280"/>
            <a:ext cx="7886700" cy="1685925"/>
          </a:xfrm>
          <a:prstGeom prst="rect">
            <a:avLst/>
          </a:prstGeom>
          <a:solidFill>
            <a:srgbClr val="FFFFFF"/>
          </a:solidFill>
          <a:ln w="6350">
            <a:solidFill>
              <a:srgbClr val="0E1C30">
                <a:alpha val="12000"/>
              </a:srgbClr>
            </a:solidFill>
            <a:prstDash val="solid"/>
          </a:ln>
        </p:spPr>
      </p:sp>
      <p:sp>
        <p:nvSpPr>
          <p:cNvPr id="10" name="Text 8"/>
          <p:cNvSpPr/>
          <p:nvPr/>
        </p:nvSpPr>
        <p:spPr>
          <a:xfrm>
            <a:off x="9626600" y="4240530"/>
            <a:ext cx="786511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1E7FD6"/>
                </a:solidFill>
                <a:latin typeface="IBM Plex Mono" pitchFamily="34" charset="0"/>
                <a:ea typeface="IBM Plex Mono" pitchFamily="34" charset="-122"/>
                <a:cs typeface="IBM Plex Mono" pitchFamily="34" charset="-120"/>
              </a:rPr>
              <a:t>AGENTS ENFORCE IT</a:t>
            </a:r>
            <a:endParaRPr lang="en-US" sz="1050" dirty="0"/>
          </a:p>
        </p:txBody>
      </p:sp>
      <p:sp>
        <p:nvSpPr>
          <p:cNvPr id="11" name="Text 9"/>
          <p:cNvSpPr/>
          <p:nvPr/>
        </p:nvSpPr>
        <p:spPr>
          <a:xfrm>
            <a:off x="9626600" y="4570730"/>
            <a:ext cx="7364603" cy="695325"/>
          </a:xfrm>
          <a:prstGeom prst="rect">
            <a:avLst/>
          </a:prstGeom>
          <a:noFill/>
          <a:ln/>
        </p:spPr>
        <p:txBody>
          <a:bodyPr wrap="square" lIns="25400" tIns="25400" rIns="25400" bIns="25400" rtlCol="0" anchor="t">
            <a:normAutofit/>
          </a:bodyPr>
          <a:lstStyle/>
          <a:p>
            <a:pPr algn="l" indent="0" marL="0">
              <a:lnSpc>
                <a:spcPct val="115000"/>
              </a:lnSpc>
              <a:buNone/>
            </a:pPr>
            <a:r>
              <a:rPr lang="en-US" sz="1725" dirty="0">
                <a:solidFill>
                  <a:srgbClr val="0E1C30">
                    <a:alpha val="75000"/>
                  </a:srgbClr>
                </a:solidFill>
                <a:latin typeface="IBM Plex Sans" pitchFamily="34" charset="0"/>
                <a:ea typeface="IBM Plex Sans" pitchFamily="34" charset="-122"/>
                <a:cs typeface="IBM Plex Sans" pitchFamily="34" charset="-120"/>
              </a:rPr>
              <a:t>Agents audit every PR against the mandates and report failures by citing the specific clause violated.</a:t>
            </a:r>
            <a:endParaRPr lang="en-US" sz="1725" dirty="0"/>
          </a:p>
        </p:txBody>
      </p:sp>
      <p:sp>
        <p:nvSpPr>
          <p:cNvPr id="12" name="Shape 10"/>
          <p:cNvSpPr/>
          <p:nvPr/>
        </p:nvSpPr>
        <p:spPr>
          <a:xfrm>
            <a:off x="1143000" y="5805805"/>
            <a:ext cx="7886700" cy="1685925"/>
          </a:xfrm>
          <a:prstGeom prst="rect">
            <a:avLst/>
          </a:prstGeom>
          <a:solidFill>
            <a:srgbClr val="FFFFFF"/>
          </a:solidFill>
          <a:ln w="6350">
            <a:solidFill>
              <a:srgbClr val="0E1C30">
                <a:alpha val="12000"/>
              </a:srgbClr>
            </a:solidFill>
            <a:prstDash val="solid"/>
          </a:ln>
        </p:spPr>
      </p:sp>
      <p:sp>
        <p:nvSpPr>
          <p:cNvPr id="13" name="Text 11"/>
          <p:cNvSpPr/>
          <p:nvPr/>
        </p:nvSpPr>
        <p:spPr>
          <a:xfrm>
            <a:off x="1511300" y="6155055"/>
            <a:ext cx="786511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1E7FD6"/>
                </a:solidFill>
                <a:latin typeface="IBM Plex Mono" pitchFamily="34" charset="0"/>
                <a:ea typeface="IBM Plex Mono" pitchFamily="34" charset="-122"/>
                <a:cs typeface="IBM Plex Mono" pitchFamily="34" charset="-120"/>
              </a:rPr>
              <a:t>HUMANS AMEND IT</a:t>
            </a:r>
            <a:endParaRPr lang="en-US" sz="1050" dirty="0"/>
          </a:p>
        </p:txBody>
      </p:sp>
      <p:sp>
        <p:nvSpPr>
          <p:cNvPr id="14" name="Text 12"/>
          <p:cNvSpPr/>
          <p:nvPr/>
        </p:nvSpPr>
        <p:spPr>
          <a:xfrm>
            <a:off x="1511300" y="6485255"/>
            <a:ext cx="7364603" cy="695325"/>
          </a:xfrm>
          <a:prstGeom prst="rect">
            <a:avLst/>
          </a:prstGeom>
          <a:noFill/>
          <a:ln/>
        </p:spPr>
        <p:txBody>
          <a:bodyPr wrap="square" lIns="25400" tIns="25400" rIns="25400" bIns="25400" rtlCol="0" anchor="t">
            <a:normAutofit/>
          </a:bodyPr>
          <a:lstStyle/>
          <a:p>
            <a:pPr algn="l" indent="0" marL="0">
              <a:lnSpc>
                <a:spcPct val="115000"/>
              </a:lnSpc>
              <a:buNone/>
            </a:pPr>
            <a:r>
              <a:rPr lang="en-US" sz="1725" dirty="0">
                <a:solidFill>
                  <a:srgbClr val="0E1C30">
                    <a:alpha val="75000"/>
                  </a:srgbClr>
                </a:solidFill>
                <a:latin typeface="IBM Plex Sans" pitchFamily="34" charset="0"/>
                <a:ea typeface="IBM Plex Sans" pitchFamily="34" charset="-122"/>
                <a:cs typeface="IBM Plex Sans" pitchFamily="34" charset="-120"/>
              </a:rPr>
              <a:t>Changes go through ADRs, team consensus, and versioned amendments — a living document, not a frozen one.</a:t>
            </a:r>
            <a:endParaRPr lang="en-US" sz="1725" dirty="0"/>
          </a:p>
        </p:txBody>
      </p:sp>
      <p:sp>
        <p:nvSpPr>
          <p:cNvPr id="15" name="Shape 13"/>
          <p:cNvSpPr/>
          <p:nvPr/>
        </p:nvSpPr>
        <p:spPr>
          <a:xfrm>
            <a:off x="9258300" y="5805805"/>
            <a:ext cx="7886700" cy="1685925"/>
          </a:xfrm>
          <a:prstGeom prst="rect">
            <a:avLst/>
          </a:prstGeom>
          <a:solidFill>
            <a:srgbClr val="FFFFFF"/>
          </a:solidFill>
          <a:ln w="6350">
            <a:solidFill>
              <a:srgbClr val="0E1C30">
                <a:alpha val="12000"/>
              </a:srgbClr>
            </a:solidFill>
            <a:prstDash val="solid"/>
          </a:ln>
        </p:spPr>
      </p:sp>
      <p:sp>
        <p:nvSpPr>
          <p:cNvPr id="16" name="Text 14"/>
          <p:cNvSpPr/>
          <p:nvPr/>
        </p:nvSpPr>
        <p:spPr>
          <a:xfrm>
            <a:off x="9626600" y="6155055"/>
            <a:ext cx="786511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1E7FD6"/>
                </a:solidFill>
                <a:latin typeface="IBM Plex Mono" pitchFamily="34" charset="0"/>
                <a:ea typeface="IBM Plex Mono" pitchFamily="34" charset="-122"/>
                <a:cs typeface="IBM Plex Mono" pitchFamily="34" charset="-120"/>
              </a:rPr>
              <a:t>SIMPLICITY GATE</a:t>
            </a:r>
            <a:endParaRPr lang="en-US" sz="1050" dirty="0"/>
          </a:p>
        </p:txBody>
      </p:sp>
      <p:sp>
        <p:nvSpPr>
          <p:cNvPr id="17" name="Text 15"/>
          <p:cNvSpPr/>
          <p:nvPr/>
        </p:nvSpPr>
        <p:spPr>
          <a:xfrm>
            <a:off x="9626600" y="6485255"/>
            <a:ext cx="7364603" cy="695325"/>
          </a:xfrm>
          <a:prstGeom prst="rect">
            <a:avLst/>
          </a:prstGeom>
          <a:noFill/>
          <a:ln/>
        </p:spPr>
        <p:txBody>
          <a:bodyPr wrap="square" lIns="25400" tIns="25400" rIns="25400" bIns="25400" rtlCol="0" anchor="t">
            <a:normAutofit/>
          </a:bodyPr>
          <a:lstStyle/>
          <a:p>
            <a:pPr algn="l" indent="0" marL="0">
              <a:lnSpc>
                <a:spcPct val="115000"/>
              </a:lnSpc>
              <a:buNone/>
            </a:pPr>
            <a:r>
              <a:rPr lang="en-US" sz="1725" dirty="0">
                <a:solidFill>
                  <a:srgbClr val="0E1C30">
                    <a:alpha val="75000"/>
                  </a:srgbClr>
                </a:solidFill>
                <a:latin typeface="IBM Plex Sans" pitchFamily="34" charset="0"/>
                <a:ea typeface="IBM Plex Sans" pitchFamily="34" charset="-122"/>
                <a:cs typeface="IBM Plex Sans" pitchFamily="34" charset="-120"/>
              </a:rPr>
              <a:t>YAGNI is codified: complexity requires documented justification, metrics, and a plan to remove it.</a:t>
            </a:r>
            <a:endParaRPr lang="en-US" sz="1725" dirty="0"/>
          </a:p>
        </p:txBody>
      </p:sp>
      <p:sp>
        <p:nvSpPr>
          <p:cNvPr id="18" name="Text 16"/>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19" name="Text 17"/>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37 / 45</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1739582"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THE FLIP SIDE</a:t>
            </a:r>
            <a:endParaRPr lang="en-US" sz="1200" dirty="0"/>
          </a:p>
        </p:txBody>
      </p:sp>
      <p:sp>
        <p:nvSpPr>
          <p:cNvPr id="4" name="Text 2"/>
          <p:cNvSpPr/>
          <p:nvPr/>
        </p:nvSpPr>
        <p:spPr>
          <a:xfrm>
            <a:off x="1143000" y="1384300"/>
            <a:ext cx="14668500" cy="718185"/>
          </a:xfrm>
          <a:prstGeom prst="rect">
            <a:avLst/>
          </a:prstGeom>
          <a:noFill/>
          <a:ln/>
        </p:spPr>
        <p:txBody>
          <a:bodyPr wrap="square" lIns="25400" tIns="25400" rIns="25400" bIns="25400" rtlCol="0" anchor="t">
            <a:normAutofit/>
          </a:bodyPr>
          <a:lstStyle/>
          <a:p>
            <a:pPr algn="l" indent="0" marL="0">
              <a:lnSpc>
                <a:spcPct val="82385"/>
              </a:lnSpc>
              <a:buNone/>
            </a:pPr>
            <a:r>
              <a:rPr lang="en-US" sz="5100" b="1" spc="-102" kern="0" dirty="0">
                <a:solidFill>
                  <a:srgbClr val="0E1C30"/>
                </a:solidFill>
                <a:latin typeface="Space Grotesk" pitchFamily="34" charset="0"/>
                <a:ea typeface="Space Grotesk" pitchFamily="34" charset="-122"/>
                <a:cs typeface="Space Grotesk" pitchFamily="34" charset="-120"/>
              </a:rPr>
              <a:t>Don’t just build </a:t>
            </a:r>
            <a:pPr algn="l" indent="0" marL="0">
              <a:lnSpc>
                <a:spcPct val="82385"/>
              </a:lnSpc>
              <a:buNone/>
            </a:pPr>
            <a:r>
              <a:rPr lang="en-US" sz="5100" b="1" i="1" spc="-102" kern="0" dirty="0">
                <a:solidFill>
                  <a:srgbClr val="0E1C30"/>
                </a:solidFill>
                <a:latin typeface="Space Grotesk" pitchFamily="34" charset="0"/>
                <a:ea typeface="Space Grotesk" pitchFamily="34" charset="-122"/>
                <a:cs typeface="Space Grotesk" pitchFamily="34" charset="-120"/>
              </a:rPr>
              <a:t>with </a:t>
            </a:r>
            <a:pPr algn="l" indent="0" marL="0">
              <a:lnSpc>
                <a:spcPct val="82385"/>
              </a:lnSpc>
              <a:buNone/>
            </a:pPr>
            <a:r>
              <a:rPr lang="en-US" sz="5100" b="1" spc="-102" kern="0" dirty="0">
                <a:solidFill>
                  <a:srgbClr val="0E1C30"/>
                </a:solidFill>
                <a:latin typeface="Space Grotesk" pitchFamily="34" charset="0"/>
                <a:ea typeface="Space Grotesk" pitchFamily="34" charset="-122"/>
                <a:cs typeface="Space Grotesk" pitchFamily="34" charset="-120"/>
              </a:rPr>
              <a:t>agents. Build </a:t>
            </a:r>
            <a:pPr algn="l" indent="0" marL="0">
              <a:lnSpc>
                <a:spcPct val="82385"/>
              </a:lnSpc>
              <a:buNone/>
            </a:pPr>
            <a:r>
              <a:rPr lang="en-US" sz="5100" b="1" i="1" spc="-102" kern="0" dirty="0">
                <a:solidFill>
                  <a:srgbClr val="0E1C30"/>
                </a:solidFill>
                <a:latin typeface="Space Grotesk" pitchFamily="34" charset="0"/>
                <a:ea typeface="Space Grotesk" pitchFamily="34" charset="-122"/>
                <a:cs typeface="Space Grotesk" pitchFamily="34" charset="-120"/>
              </a:rPr>
              <a:t>for </a:t>
            </a:r>
            <a:pPr algn="l" indent="0" marL="0">
              <a:lnSpc>
                <a:spcPct val="82385"/>
              </a:lnSpc>
              <a:buNone/>
            </a:pPr>
            <a:r>
              <a:rPr lang="en-US" sz="5100" b="1" spc="-102" kern="0" dirty="0">
                <a:solidFill>
                  <a:srgbClr val="0E1C30"/>
                </a:solidFill>
                <a:latin typeface="Space Grotesk" pitchFamily="34" charset="0"/>
                <a:ea typeface="Space Grotesk" pitchFamily="34" charset="-122"/>
                <a:cs typeface="Space Grotesk" pitchFamily="34" charset="-120"/>
              </a:rPr>
              <a:t>them.</a:t>
            </a:r>
            <a:endParaRPr lang="en-US" sz="5100" dirty="0"/>
          </a:p>
        </p:txBody>
      </p:sp>
      <p:sp>
        <p:nvSpPr>
          <p:cNvPr id="5" name="Shape 3"/>
          <p:cNvSpPr/>
          <p:nvPr/>
        </p:nvSpPr>
        <p:spPr>
          <a:xfrm>
            <a:off x="1143000" y="2693035"/>
            <a:ext cx="5168900" cy="2474912"/>
          </a:xfrm>
          <a:prstGeom prst="rect">
            <a:avLst/>
          </a:prstGeom>
          <a:solidFill>
            <a:srgbClr val="FFFFFF"/>
          </a:solidFill>
          <a:ln/>
        </p:spPr>
      </p:sp>
      <p:sp>
        <p:nvSpPr>
          <p:cNvPr id="6" name="Shape 4"/>
          <p:cNvSpPr/>
          <p:nvPr/>
        </p:nvSpPr>
        <p:spPr>
          <a:xfrm>
            <a:off x="1143000" y="5161597"/>
            <a:ext cx="5168900" cy="9525"/>
          </a:xfrm>
          <a:prstGeom prst="rect">
            <a:avLst/>
          </a:prstGeom>
          <a:solidFill>
            <a:srgbClr val="0E1C30">
              <a:alpha val="16000"/>
            </a:srgbClr>
          </a:solidFill>
          <a:ln/>
        </p:spPr>
      </p:sp>
      <p:sp>
        <p:nvSpPr>
          <p:cNvPr id="7" name="Shape 5"/>
          <p:cNvSpPr/>
          <p:nvPr/>
        </p:nvSpPr>
        <p:spPr>
          <a:xfrm>
            <a:off x="1143000" y="2693035"/>
            <a:ext cx="5168900" cy="38100"/>
          </a:xfrm>
          <a:prstGeom prst="rect">
            <a:avLst/>
          </a:prstGeom>
          <a:solidFill>
            <a:srgbClr val="5BB3F5"/>
          </a:solidFill>
          <a:ln/>
        </p:spPr>
      </p:sp>
      <p:sp>
        <p:nvSpPr>
          <p:cNvPr id="8" name="Shape 6"/>
          <p:cNvSpPr/>
          <p:nvPr/>
        </p:nvSpPr>
        <p:spPr>
          <a:xfrm>
            <a:off x="1143000" y="2693035"/>
            <a:ext cx="9525" cy="2474912"/>
          </a:xfrm>
          <a:prstGeom prst="rect">
            <a:avLst/>
          </a:prstGeom>
          <a:solidFill>
            <a:srgbClr val="0E1C30">
              <a:alpha val="16000"/>
            </a:srgbClr>
          </a:solidFill>
          <a:ln/>
        </p:spPr>
      </p:sp>
      <p:sp>
        <p:nvSpPr>
          <p:cNvPr id="9" name="Shape 7"/>
          <p:cNvSpPr/>
          <p:nvPr/>
        </p:nvSpPr>
        <p:spPr>
          <a:xfrm>
            <a:off x="6305550" y="2693035"/>
            <a:ext cx="9525" cy="2474912"/>
          </a:xfrm>
          <a:prstGeom prst="rect">
            <a:avLst/>
          </a:prstGeom>
          <a:solidFill>
            <a:srgbClr val="0E1C30">
              <a:alpha val="16000"/>
            </a:srgbClr>
          </a:solidFill>
          <a:ln/>
        </p:spPr>
      </p:sp>
      <p:sp>
        <p:nvSpPr>
          <p:cNvPr id="10" name="Text 8"/>
          <p:cNvSpPr/>
          <p:nvPr/>
        </p:nvSpPr>
        <p:spPr>
          <a:xfrm>
            <a:off x="1473200" y="3074035"/>
            <a:ext cx="495935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1E7FD6"/>
                </a:solidFill>
                <a:latin typeface="IBM Plex Mono" pitchFamily="34" charset="0"/>
                <a:ea typeface="IBM Plex Mono" pitchFamily="34" charset="-122"/>
                <a:cs typeface="IBM Plex Mono" pitchFamily="34" charset="-120"/>
              </a:rPr>
              <a:t>INTERFACES</a:t>
            </a:r>
            <a:endParaRPr lang="en-US" sz="1050" dirty="0"/>
          </a:p>
        </p:txBody>
      </p:sp>
      <p:sp>
        <p:nvSpPr>
          <p:cNvPr id="11" name="Text 9"/>
          <p:cNvSpPr/>
          <p:nvPr/>
        </p:nvSpPr>
        <p:spPr>
          <a:xfrm>
            <a:off x="1473200" y="3404235"/>
            <a:ext cx="4959350"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0E1C30"/>
                </a:solidFill>
                <a:latin typeface="Space Grotesk" pitchFamily="34" charset="0"/>
                <a:ea typeface="Space Grotesk" pitchFamily="34" charset="-122"/>
                <a:cs typeface="Space Grotesk" pitchFamily="34" charset="-120"/>
              </a:rPr>
              <a:t>Semantic structure</a:t>
            </a:r>
            <a:endParaRPr lang="en-US" sz="2250" dirty="0"/>
          </a:p>
        </p:txBody>
      </p:sp>
      <p:sp>
        <p:nvSpPr>
          <p:cNvPr id="12" name="Text 10"/>
          <p:cNvSpPr/>
          <p:nvPr/>
        </p:nvSpPr>
        <p:spPr>
          <a:xfrm>
            <a:off x="1473200" y="3918585"/>
            <a:ext cx="4643755" cy="638175"/>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70000"/>
                  </a:srgbClr>
                </a:solidFill>
                <a:latin typeface="IBM Plex Sans" pitchFamily="34" charset="0"/>
                <a:ea typeface="IBM Plex Sans" pitchFamily="34" charset="-122"/>
                <a:cs typeface="IBM Plex Sans" pitchFamily="34" charset="-120"/>
              </a:rPr>
              <a:t>Clean DOM hierarchies, ARIA, deterministic layouts agents can navigate. No vibe UI.</a:t>
            </a:r>
            <a:endParaRPr lang="en-US" sz="1575" dirty="0"/>
          </a:p>
        </p:txBody>
      </p:sp>
      <p:sp>
        <p:nvSpPr>
          <p:cNvPr id="13" name="Shape 11"/>
          <p:cNvSpPr/>
          <p:nvPr/>
        </p:nvSpPr>
        <p:spPr>
          <a:xfrm>
            <a:off x="6559550" y="2693035"/>
            <a:ext cx="5168900" cy="2474912"/>
          </a:xfrm>
          <a:prstGeom prst="rect">
            <a:avLst/>
          </a:prstGeom>
          <a:solidFill>
            <a:srgbClr val="FFFFFF"/>
          </a:solidFill>
          <a:ln/>
        </p:spPr>
      </p:sp>
      <p:sp>
        <p:nvSpPr>
          <p:cNvPr id="14" name="Shape 12"/>
          <p:cNvSpPr/>
          <p:nvPr/>
        </p:nvSpPr>
        <p:spPr>
          <a:xfrm>
            <a:off x="6559550" y="5161597"/>
            <a:ext cx="5168900" cy="9525"/>
          </a:xfrm>
          <a:prstGeom prst="rect">
            <a:avLst/>
          </a:prstGeom>
          <a:solidFill>
            <a:srgbClr val="0E1C30">
              <a:alpha val="16000"/>
            </a:srgbClr>
          </a:solidFill>
          <a:ln/>
        </p:spPr>
      </p:sp>
      <p:sp>
        <p:nvSpPr>
          <p:cNvPr id="15" name="Shape 13"/>
          <p:cNvSpPr/>
          <p:nvPr/>
        </p:nvSpPr>
        <p:spPr>
          <a:xfrm>
            <a:off x="6559550" y="2693035"/>
            <a:ext cx="5168900" cy="38100"/>
          </a:xfrm>
          <a:prstGeom prst="rect">
            <a:avLst/>
          </a:prstGeom>
          <a:solidFill>
            <a:srgbClr val="5BB3F5"/>
          </a:solidFill>
          <a:ln/>
        </p:spPr>
      </p:sp>
      <p:sp>
        <p:nvSpPr>
          <p:cNvPr id="16" name="Shape 14"/>
          <p:cNvSpPr/>
          <p:nvPr/>
        </p:nvSpPr>
        <p:spPr>
          <a:xfrm>
            <a:off x="6559550" y="2693035"/>
            <a:ext cx="9525" cy="2474912"/>
          </a:xfrm>
          <a:prstGeom prst="rect">
            <a:avLst/>
          </a:prstGeom>
          <a:solidFill>
            <a:srgbClr val="0E1C30">
              <a:alpha val="16000"/>
            </a:srgbClr>
          </a:solidFill>
          <a:ln/>
        </p:spPr>
      </p:sp>
      <p:sp>
        <p:nvSpPr>
          <p:cNvPr id="17" name="Shape 15"/>
          <p:cNvSpPr/>
          <p:nvPr/>
        </p:nvSpPr>
        <p:spPr>
          <a:xfrm>
            <a:off x="11722100" y="2693035"/>
            <a:ext cx="9525" cy="2474912"/>
          </a:xfrm>
          <a:prstGeom prst="rect">
            <a:avLst/>
          </a:prstGeom>
          <a:solidFill>
            <a:srgbClr val="0E1C30">
              <a:alpha val="16000"/>
            </a:srgbClr>
          </a:solidFill>
          <a:ln/>
        </p:spPr>
      </p:sp>
      <p:sp>
        <p:nvSpPr>
          <p:cNvPr id="18" name="Text 16"/>
          <p:cNvSpPr/>
          <p:nvPr/>
        </p:nvSpPr>
        <p:spPr>
          <a:xfrm>
            <a:off x="6889750" y="3074035"/>
            <a:ext cx="495935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1E7FD6"/>
                </a:solidFill>
                <a:latin typeface="IBM Plex Mono" pitchFamily="34" charset="0"/>
                <a:ea typeface="IBM Plex Mono" pitchFamily="34" charset="-122"/>
                <a:cs typeface="IBM Plex Mono" pitchFamily="34" charset="-120"/>
              </a:rPr>
              <a:t>APIS</a:t>
            </a:r>
            <a:endParaRPr lang="en-US" sz="1050" dirty="0"/>
          </a:p>
        </p:txBody>
      </p:sp>
      <p:sp>
        <p:nvSpPr>
          <p:cNvPr id="19" name="Text 17"/>
          <p:cNvSpPr/>
          <p:nvPr/>
        </p:nvSpPr>
        <p:spPr>
          <a:xfrm>
            <a:off x="6889750" y="3404235"/>
            <a:ext cx="4959350"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0E1C30"/>
                </a:solidFill>
                <a:latin typeface="Space Grotesk" pitchFamily="34" charset="0"/>
                <a:ea typeface="Space Grotesk" pitchFamily="34" charset="-122"/>
                <a:cs typeface="Space Grotesk" pitchFamily="34" charset="-120"/>
              </a:rPr>
              <a:t>Idempotent &amp; self-documenting</a:t>
            </a:r>
            <a:endParaRPr lang="en-US" sz="2250" dirty="0"/>
          </a:p>
        </p:txBody>
      </p:sp>
      <p:sp>
        <p:nvSpPr>
          <p:cNvPr id="20" name="Text 18"/>
          <p:cNvSpPr/>
          <p:nvPr/>
        </p:nvSpPr>
        <p:spPr>
          <a:xfrm>
            <a:off x="6889750" y="3918585"/>
            <a:ext cx="4643755" cy="938213"/>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70000"/>
                  </a:srgbClr>
                </a:solidFill>
                <a:latin typeface="IBM Plex Sans" pitchFamily="34" charset="0"/>
                <a:ea typeface="IBM Plex Sans" pitchFamily="34" charset="-122"/>
                <a:cs typeface="IBM Plex Sans" pitchFamily="34" charset="-120"/>
              </a:rPr>
              <a:t>Strict OpenAPI schemas, retry-safe mutations, and errors actionable enough for an agent to self-correct mid-flight.</a:t>
            </a:r>
            <a:endParaRPr lang="en-US" sz="1575" dirty="0"/>
          </a:p>
        </p:txBody>
      </p:sp>
      <p:sp>
        <p:nvSpPr>
          <p:cNvPr id="21" name="Shape 19"/>
          <p:cNvSpPr/>
          <p:nvPr/>
        </p:nvSpPr>
        <p:spPr>
          <a:xfrm>
            <a:off x="11976100" y="2693035"/>
            <a:ext cx="5168900" cy="2474912"/>
          </a:xfrm>
          <a:prstGeom prst="rect">
            <a:avLst/>
          </a:prstGeom>
          <a:solidFill>
            <a:srgbClr val="FFFFFF"/>
          </a:solidFill>
          <a:ln/>
        </p:spPr>
      </p:sp>
      <p:sp>
        <p:nvSpPr>
          <p:cNvPr id="22" name="Shape 20"/>
          <p:cNvSpPr/>
          <p:nvPr/>
        </p:nvSpPr>
        <p:spPr>
          <a:xfrm>
            <a:off x="11976100" y="5161597"/>
            <a:ext cx="5168900" cy="9525"/>
          </a:xfrm>
          <a:prstGeom prst="rect">
            <a:avLst/>
          </a:prstGeom>
          <a:solidFill>
            <a:srgbClr val="0E1C30">
              <a:alpha val="16000"/>
            </a:srgbClr>
          </a:solidFill>
          <a:ln/>
        </p:spPr>
      </p:sp>
      <p:sp>
        <p:nvSpPr>
          <p:cNvPr id="23" name="Shape 21"/>
          <p:cNvSpPr/>
          <p:nvPr/>
        </p:nvSpPr>
        <p:spPr>
          <a:xfrm>
            <a:off x="11976100" y="2693035"/>
            <a:ext cx="5168900" cy="38100"/>
          </a:xfrm>
          <a:prstGeom prst="rect">
            <a:avLst/>
          </a:prstGeom>
          <a:solidFill>
            <a:srgbClr val="5BB3F5"/>
          </a:solidFill>
          <a:ln/>
        </p:spPr>
      </p:sp>
      <p:sp>
        <p:nvSpPr>
          <p:cNvPr id="24" name="Shape 22"/>
          <p:cNvSpPr/>
          <p:nvPr/>
        </p:nvSpPr>
        <p:spPr>
          <a:xfrm>
            <a:off x="11976100" y="2693035"/>
            <a:ext cx="9525" cy="2474912"/>
          </a:xfrm>
          <a:prstGeom prst="rect">
            <a:avLst/>
          </a:prstGeom>
          <a:solidFill>
            <a:srgbClr val="0E1C30">
              <a:alpha val="16000"/>
            </a:srgbClr>
          </a:solidFill>
          <a:ln/>
        </p:spPr>
      </p:sp>
      <p:sp>
        <p:nvSpPr>
          <p:cNvPr id="25" name="Shape 23"/>
          <p:cNvSpPr/>
          <p:nvPr/>
        </p:nvSpPr>
        <p:spPr>
          <a:xfrm>
            <a:off x="17138651" y="2693035"/>
            <a:ext cx="9525" cy="2474912"/>
          </a:xfrm>
          <a:prstGeom prst="rect">
            <a:avLst/>
          </a:prstGeom>
          <a:solidFill>
            <a:srgbClr val="0E1C30">
              <a:alpha val="16000"/>
            </a:srgbClr>
          </a:solidFill>
          <a:ln/>
        </p:spPr>
      </p:sp>
      <p:sp>
        <p:nvSpPr>
          <p:cNvPr id="26" name="Text 24"/>
          <p:cNvSpPr/>
          <p:nvPr/>
        </p:nvSpPr>
        <p:spPr>
          <a:xfrm>
            <a:off x="12306300" y="3074035"/>
            <a:ext cx="495935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1E7FD6"/>
                </a:solidFill>
                <a:latin typeface="IBM Plex Mono" pitchFamily="34" charset="0"/>
                <a:ea typeface="IBM Plex Mono" pitchFamily="34" charset="-122"/>
                <a:cs typeface="IBM Plex Mono" pitchFamily="34" charset="-120"/>
              </a:rPr>
              <a:t>THE HARNESS</a:t>
            </a:r>
            <a:endParaRPr lang="en-US" sz="1050" dirty="0"/>
          </a:p>
        </p:txBody>
      </p:sp>
      <p:sp>
        <p:nvSpPr>
          <p:cNvPr id="27" name="Text 25"/>
          <p:cNvSpPr/>
          <p:nvPr/>
        </p:nvSpPr>
        <p:spPr>
          <a:xfrm>
            <a:off x="12306300" y="3404235"/>
            <a:ext cx="4959350"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0E1C30"/>
                </a:solidFill>
                <a:latin typeface="Space Grotesk" pitchFamily="34" charset="0"/>
                <a:ea typeface="Space Grotesk" pitchFamily="34" charset="-122"/>
                <a:cs typeface="Space Grotesk" pitchFamily="34" charset="-120"/>
              </a:rPr>
              <a:t>Guardrails &amp; traces</a:t>
            </a:r>
            <a:endParaRPr lang="en-US" sz="2250" dirty="0"/>
          </a:p>
        </p:txBody>
      </p:sp>
      <p:sp>
        <p:nvSpPr>
          <p:cNvPr id="28" name="Text 26"/>
          <p:cNvSpPr/>
          <p:nvPr/>
        </p:nvSpPr>
        <p:spPr>
          <a:xfrm>
            <a:off x="12306300" y="3918585"/>
            <a:ext cx="4643755" cy="938213"/>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70000"/>
                  </a:srgbClr>
                </a:solidFill>
                <a:latin typeface="IBM Plex Sans" pitchFamily="34" charset="0"/>
                <a:ea typeface="IBM Plex Sans" pitchFamily="34" charset="-122"/>
                <a:cs typeface="IBM Plex Sans" pitchFamily="34" charset="-120"/>
              </a:rPr>
              <a:t>Tools explicitly exposed for LLM calling, schema validation on behavior, exhaustive run-trace logs for context.</a:t>
            </a:r>
            <a:endParaRPr lang="en-US" sz="1575" dirty="0"/>
          </a:p>
        </p:txBody>
      </p:sp>
      <p:sp>
        <p:nvSpPr>
          <p:cNvPr id="29" name="Text 27"/>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30" name="Text 28"/>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38 / 45</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892175"/>
            <a:ext cx="95250" cy="95250"/>
          </a:xfrm>
          <a:prstGeom prst="rect">
            <a:avLst/>
          </a:prstGeom>
          <a:solidFill>
            <a:srgbClr val="F4C233"/>
          </a:solidFill>
          <a:ln/>
        </p:spPr>
      </p:sp>
      <p:sp>
        <p:nvSpPr>
          <p:cNvPr id="3" name="Text 1"/>
          <p:cNvSpPr/>
          <p:nvPr/>
        </p:nvSpPr>
        <p:spPr>
          <a:xfrm>
            <a:off x="1371600" y="838200"/>
            <a:ext cx="3294777"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THE MODULE ECOSYSTEM · V6</a:t>
            </a:r>
            <a:endParaRPr lang="en-US" sz="1200" dirty="0"/>
          </a:p>
        </p:txBody>
      </p:sp>
      <p:sp>
        <p:nvSpPr>
          <p:cNvPr id="4" name="Text 2"/>
          <p:cNvSpPr/>
          <p:nvPr/>
        </p:nvSpPr>
        <p:spPr>
          <a:xfrm>
            <a:off x="1143000" y="1270000"/>
            <a:ext cx="14668500" cy="632460"/>
          </a:xfrm>
          <a:prstGeom prst="rect">
            <a:avLst/>
          </a:prstGeom>
          <a:noFill/>
          <a:ln/>
        </p:spPr>
        <p:txBody>
          <a:bodyPr wrap="square" lIns="25400" tIns="25400" rIns="25400" bIns="25400" rtlCol="0" anchor="t">
            <a:normAutofit/>
          </a:bodyPr>
          <a:lstStyle/>
          <a:p>
            <a:pPr algn="l" indent="0" marL="0">
              <a:lnSpc>
                <a:spcPct val="81391"/>
              </a:lnSpc>
              <a:buNone/>
            </a:pPr>
            <a:r>
              <a:rPr lang="en-US" sz="4500" b="1" spc="-90" kern="0" dirty="0">
                <a:solidFill>
                  <a:srgbClr val="0E1C30"/>
                </a:solidFill>
                <a:latin typeface="Space Grotesk" pitchFamily="34" charset="0"/>
                <a:ea typeface="Space Grotesk" pitchFamily="34" charset="-122"/>
                <a:cs typeface="Space Grotesk" pitchFamily="34" charset="-120"/>
              </a:rPr>
              <a:t>One core, a growing family of modules</a:t>
            </a:r>
            <a:endParaRPr lang="en-US" sz="4500" dirty="0"/>
          </a:p>
        </p:txBody>
      </p:sp>
      <p:sp>
        <p:nvSpPr>
          <p:cNvPr id="5" name="Shape 3"/>
          <p:cNvSpPr/>
          <p:nvPr/>
        </p:nvSpPr>
        <p:spPr>
          <a:xfrm>
            <a:off x="1143000" y="2283460"/>
            <a:ext cx="6279674" cy="3123883"/>
          </a:xfrm>
          <a:prstGeom prst="rect">
            <a:avLst/>
          </a:prstGeom>
          <a:solidFill>
            <a:srgbClr val="F4C233">
              <a:alpha val="10000"/>
            </a:srgbClr>
          </a:solidFill>
          <a:ln w="6350">
            <a:solidFill>
              <a:srgbClr val="F4C233">
                <a:alpha val="40000"/>
              </a:srgbClr>
            </a:solidFill>
            <a:prstDash val="solid"/>
          </a:ln>
        </p:spPr>
      </p:sp>
      <p:sp>
        <p:nvSpPr>
          <p:cNvPr id="6" name="Text 4"/>
          <p:cNvSpPr/>
          <p:nvPr/>
        </p:nvSpPr>
        <p:spPr>
          <a:xfrm>
            <a:off x="1473200" y="2594610"/>
            <a:ext cx="6181201"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F4C233"/>
                </a:solidFill>
                <a:latin typeface="IBM Plex Mono" pitchFamily="34" charset="0"/>
                <a:ea typeface="IBM Plex Mono" pitchFamily="34" charset="-122"/>
                <a:cs typeface="IBM Plex Mono" pitchFamily="34" charset="-120"/>
              </a:rPr>
              <a:t>CORE · BMM</a:t>
            </a:r>
            <a:endParaRPr lang="en-US" sz="1050" dirty="0"/>
          </a:p>
        </p:txBody>
      </p:sp>
      <p:sp>
        <p:nvSpPr>
          <p:cNvPr id="7" name="Text 5"/>
          <p:cNvSpPr/>
          <p:nvPr/>
        </p:nvSpPr>
        <p:spPr>
          <a:xfrm>
            <a:off x="1473200" y="2905760"/>
            <a:ext cx="6181201" cy="450850"/>
          </a:xfrm>
          <a:prstGeom prst="rect">
            <a:avLst/>
          </a:prstGeom>
          <a:noFill/>
          <a:ln/>
        </p:spPr>
        <p:txBody>
          <a:bodyPr wrap="square" lIns="25400" tIns="25400" rIns="25400" bIns="25400" rtlCol="0" anchor="t">
            <a:normAutofit/>
          </a:bodyPr>
          <a:lstStyle/>
          <a:p>
            <a:pPr algn="l" indent="0" marL="0">
              <a:buNone/>
            </a:pPr>
            <a:r>
              <a:rPr lang="en-US" sz="2550" b="1" dirty="0">
                <a:solidFill>
                  <a:srgbClr val="0E1C30"/>
                </a:solidFill>
                <a:latin typeface="Space Grotesk" pitchFamily="34" charset="0"/>
                <a:ea typeface="Space Grotesk" pitchFamily="34" charset="-122"/>
                <a:cs typeface="Space Grotesk" pitchFamily="34" charset="-120"/>
              </a:rPr>
              <a:t>BMad Method</a:t>
            </a:r>
            <a:endParaRPr lang="en-US" sz="2550" dirty="0"/>
          </a:p>
        </p:txBody>
      </p:sp>
      <p:sp>
        <p:nvSpPr>
          <p:cNvPr id="8" name="Text 6"/>
          <p:cNvSpPr/>
          <p:nvPr/>
        </p:nvSpPr>
        <p:spPr>
          <a:xfrm>
            <a:off x="1473200" y="3451860"/>
            <a:ext cx="5787852" cy="938213"/>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72000"/>
                  </a:srgbClr>
                </a:solidFill>
                <a:latin typeface="IBM Plex Sans" pitchFamily="34" charset="0"/>
                <a:ea typeface="IBM Plex Sans" pitchFamily="34" charset="-122"/>
                <a:cs typeface="IBM Plex Sans" pitchFamily="34" charset="-120"/>
              </a:rPr>
              <a:t>The 34+ workflow framework this deck walks through — analysis, planning, architecture, implementation. Everything else builds on it.</a:t>
            </a:r>
            <a:endParaRPr lang="en-US" sz="1575" dirty="0"/>
          </a:p>
        </p:txBody>
      </p:sp>
      <p:sp>
        <p:nvSpPr>
          <p:cNvPr id="9" name="Text 7"/>
          <p:cNvSpPr/>
          <p:nvPr/>
        </p:nvSpPr>
        <p:spPr>
          <a:xfrm>
            <a:off x="1473200" y="4892993"/>
            <a:ext cx="5787852" cy="241300"/>
          </a:xfrm>
          <a:prstGeom prst="rect">
            <a:avLst/>
          </a:prstGeom>
          <a:noFill/>
          <a:ln/>
        </p:spPr>
        <p:txBody>
          <a:bodyPr wrap="square" lIns="25400" tIns="25400" rIns="25400" bIns="25400" rtlCol="0" anchor="t">
            <a:normAutofit/>
          </a:bodyPr>
          <a:lstStyle/>
          <a:p>
            <a:pPr algn="l" indent="0" marL="0">
              <a:buNone/>
            </a:pPr>
            <a:r>
              <a:rPr lang="en-US" sz="1200" dirty="0">
                <a:solidFill>
                  <a:srgbClr val="0E1C30">
                    <a:alpha val="50000"/>
                  </a:srgbClr>
                </a:solidFill>
                <a:latin typeface="IBM Plex Mono" pitchFamily="34" charset="0"/>
                <a:ea typeface="IBM Plex Mono" pitchFamily="34" charset="-122"/>
                <a:cs typeface="IBM Plex Mono" pitchFamily="34" charset="-120"/>
              </a:rPr>
              <a:t>npx bmad-method install</a:t>
            </a:r>
            <a:endParaRPr lang="en-US" sz="1200" dirty="0"/>
          </a:p>
        </p:txBody>
      </p:sp>
      <p:sp>
        <p:nvSpPr>
          <p:cNvPr id="10" name="Shape 8"/>
          <p:cNvSpPr/>
          <p:nvPr/>
        </p:nvSpPr>
        <p:spPr>
          <a:xfrm>
            <a:off x="7632224" y="2283460"/>
            <a:ext cx="4651534" cy="1457166"/>
          </a:xfrm>
          <a:prstGeom prst="rect">
            <a:avLst/>
          </a:prstGeom>
          <a:solidFill>
            <a:srgbClr val="FFFFFF"/>
          </a:solidFill>
          <a:ln w="6350">
            <a:solidFill>
              <a:srgbClr val="0E1C30">
                <a:alpha val="14000"/>
              </a:srgbClr>
            </a:solidFill>
            <a:prstDash val="solid"/>
          </a:ln>
        </p:spPr>
      </p:sp>
      <p:sp>
        <p:nvSpPr>
          <p:cNvPr id="11" name="Text 9"/>
          <p:cNvSpPr/>
          <p:nvPr/>
        </p:nvSpPr>
        <p:spPr>
          <a:xfrm>
            <a:off x="7924324" y="2556510"/>
            <a:ext cx="4474067" cy="196850"/>
          </a:xfrm>
          <a:prstGeom prst="rect">
            <a:avLst/>
          </a:prstGeom>
          <a:noFill/>
          <a:ln/>
        </p:spPr>
        <p:txBody>
          <a:bodyPr wrap="square" lIns="25400" tIns="25400" rIns="25400" bIns="25400" rtlCol="0" anchor="t">
            <a:normAutofit/>
          </a:bodyPr>
          <a:lstStyle/>
          <a:p>
            <a:pPr algn="l" indent="0" marL="0">
              <a:buNone/>
            </a:pPr>
            <a:r>
              <a:rPr lang="en-US" sz="975" spc="127" kern="0" dirty="0">
                <a:solidFill>
                  <a:srgbClr val="1E7FD6"/>
                </a:solidFill>
                <a:latin typeface="IBM Plex Mono" pitchFamily="34" charset="0"/>
                <a:ea typeface="IBM Plex Mono" pitchFamily="34" charset="-122"/>
                <a:cs typeface="IBM Plex Mono" pitchFamily="34" charset="-120"/>
              </a:rPr>
              <a:t>BMB</a:t>
            </a:r>
            <a:endParaRPr lang="en-US" sz="975" dirty="0"/>
          </a:p>
        </p:txBody>
      </p:sp>
      <p:sp>
        <p:nvSpPr>
          <p:cNvPr id="12" name="Text 10"/>
          <p:cNvSpPr/>
          <p:nvPr/>
        </p:nvSpPr>
        <p:spPr>
          <a:xfrm>
            <a:off x="7924324" y="2810510"/>
            <a:ext cx="4474067" cy="342900"/>
          </a:xfrm>
          <a:prstGeom prst="rect">
            <a:avLst/>
          </a:prstGeom>
          <a:noFill/>
          <a:ln/>
        </p:spPr>
        <p:txBody>
          <a:bodyPr wrap="square" lIns="25400" tIns="25400" rIns="25400" bIns="25400" rtlCol="0" anchor="t">
            <a:normAutofit/>
          </a:bodyPr>
          <a:lstStyle/>
          <a:p>
            <a:pPr algn="l" indent="0" marL="0">
              <a:buNone/>
            </a:pPr>
            <a:r>
              <a:rPr lang="en-US" sz="1875" b="1" dirty="0">
                <a:solidFill>
                  <a:srgbClr val="0E1C30"/>
                </a:solidFill>
                <a:latin typeface="Space Grotesk" pitchFamily="34" charset="0"/>
                <a:ea typeface="Space Grotesk" pitchFamily="34" charset="-122"/>
                <a:cs typeface="Space Grotesk" pitchFamily="34" charset="-120"/>
              </a:rPr>
              <a:t>BMad Builder</a:t>
            </a:r>
            <a:endParaRPr lang="en-US" sz="1875" dirty="0"/>
          </a:p>
        </p:txBody>
      </p:sp>
      <p:sp>
        <p:nvSpPr>
          <p:cNvPr id="13" name="Text 11"/>
          <p:cNvSpPr/>
          <p:nvPr/>
        </p:nvSpPr>
        <p:spPr>
          <a:xfrm>
            <a:off x="7924324" y="3210560"/>
            <a:ext cx="4474067" cy="295116"/>
          </a:xfrm>
          <a:prstGeom prst="rect">
            <a:avLst/>
          </a:prstGeom>
          <a:noFill/>
          <a:ln/>
        </p:spPr>
        <p:txBody>
          <a:bodyPr wrap="square" lIns="25400" tIns="25400" rIns="25400" bIns="25400" rtlCol="0" anchor="t">
            <a:normAutofit/>
          </a:bodyPr>
          <a:lstStyle/>
          <a:p>
            <a:pPr algn="l" indent="0" marL="0">
              <a:lnSpc>
                <a:spcPct val="109392"/>
              </a:lnSpc>
              <a:buNone/>
            </a:pPr>
            <a:r>
              <a:rPr lang="en-US" sz="1425" dirty="0">
                <a:solidFill>
                  <a:srgbClr val="0E1C30">
                    <a:alpha val="65000"/>
                  </a:srgbClr>
                </a:solidFill>
                <a:latin typeface="IBM Plex Sans" pitchFamily="34" charset="0"/>
                <a:ea typeface="IBM Plex Sans" pitchFamily="34" charset="-122"/>
                <a:cs typeface="IBM Plex Sans" pitchFamily="34" charset="-120"/>
              </a:rPr>
              <a:t>Create your own agents &amp; workflows.</a:t>
            </a:r>
            <a:endParaRPr lang="en-US" sz="1425" dirty="0"/>
          </a:p>
        </p:txBody>
      </p:sp>
      <p:sp>
        <p:nvSpPr>
          <p:cNvPr id="14" name="Shape 12"/>
          <p:cNvSpPr/>
          <p:nvPr/>
        </p:nvSpPr>
        <p:spPr>
          <a:xfrm>
            <a:off x="12493307" y="2283460"/>
            <a:ext cx="4651534" cy="1457166"/>
          </a:xfrm>
          <a:prstGeom prst="rect">
            <a:avLst/>
          </a:prstGeom>
          <a:solidFill>
            <a:srgbClr val="FFFFFF"/>
          </a:solidFill>
          <a:ln w="6350">
            <a:solidFill>
              <a:srgbClr val="0E1C30">
                <a:alpha val="14000"/>
              </a:srgbClr>
            </a:solidFill>
            <a:prstDash val="solid"/>
          </a:ln>
        </p:spPr>
      </p:sp>
      <p:sp>
        <p:nvSpPr>
          <p:cNvPr id="15" name="Text 13"/>
          <p:cNvSpPr/>
          <p:nvPr/>
        </p:nvSpPr>
        <p:spPr>
          <a:xfrm>
            <a:off x="12785408" y="2556510"/>
            <a:ext cx="4474067" cy="196850"/>
          </a:xfrm>
          <a:prstGeom prst="rect">
            <a:avLst/>
          </a:prstGeom>
          <a:noFill/>
          <a:ln/>
        </p:spPr>
        <p:txBody>
          <a:bodyPr wrap="square" lIns="25400" tIns="25400" rIns="25400" bIns="25400" rtlCol="0" anchor="t">
            <a:normAutofit/>
          </a:bodyPr>
          <a:lstStyle/>
          <a:p>
            <a:pPr algn="l" indent="0" marL="0">
              <a:buNone/>
            </a:pPr>
            <a:r>
              <a:rPr lang="en-US" sz="975" spc="127" kern="0" dirty="0">
                <a:solidFill>
                  <a:srgbClr val="F58B6E"/>
                </a:solidFill>
                <a:latin typeface="IBM Plex Mono" pitchFamily="34" charset="0"/>
                <a:ea typeface="IBM Plex Mono" pitchFamily="34" charset="-122"/>
                <a:cs typeface="IBM Plex Mono" pitchFamily="34" charset="-120"/>
              </a:rPr>
              <a:t>TEA</a:t>
            </a:r>
            <a:endParaRPr lang="en-US" sz="975" dirty="0"/>
          </a:p>
        </p:txBody>
      </p:sp>
      <p:sp>
        <p:nvSpPr>
          <p:cNvPr id="16" name="Text 14"/>
          <p:cNvSpPr/>
          <p:nvPr/>
        </p:nvSpPr>
        <p:spPr>
          <a:xfrm>
            <a:off x="12785408" y="2810510"/>
            <a:ext cx="4474067" cy="342900"/>
          </a:xfrm>
          <a:prstGeom prst="rect">
            <a:avLst/>
          </a:prstGeom>
          <a:noFill/>
          <a:ln/>
        </p:spPr>
        <p:txBody>
          <a:bodyPr wrap="square" lIns="25400" tIns="25400" rIns="25400" bIns="25400" rtlCol="0" anchor="t">
            <a:normAutofit/>
          </a:bodyPr>
          <a:lstStyle/>
          <a:p>
            <a:pPr algn="l" indent="0" marL="0">
              <a:buNone/>
            </a:pPr>
            <a:r>
              <a:rPr lang="en-US" sz="1875" b="1" dirty="0">
                <a:solidFill>
                  <a:srgbClr val="0E1C30"/>
                </a:solidFill>
                <a:latin typeface="Space Grotesk" pitchFamily="34" charset="0"/>
                <a:ea typeface="Space Grotesk" pitchFamily="34" charset="-122"/>
                <a:cs typeface="Space Grotesk" pitchFamily="34" charset="-120"/>
              </a:rPr>
              <a:t>Test Architect</a:t>
            </a:r>
            <a:endParaRPr lang="en-US" sz="1875" dirty="0"/>
          </a:p>
        </p:txBody>
      </p:sp>
      <p:sp>
        <p:nvSpPr>
          <p:cNvPr id="17" name="Text 15"/>
          <p:cNvSpPr/>
          <p:nvPr/>
        </p:nvSpPr>
        <p:spPr>
          <a:xfrm>
            <a:off x="12785408" y="3210560"/>
            <a:ext cx="4474067" cy="295116"/>
          </a:xfrm>
          <a:prstGeom prst="rect">
            <a:avLst/>
          </a:prstGeom>
          <a:noFill/>
          <a:ln/>
        </p:spPr>
        <p:txBody>
          <a:bodyPr wrap="square" lIns="25400" tIns="25400" rIns="25400" bIns="25400" rtlCol="0" anchor="t">
            <a:normAutofit/>
          </a:bodyPr>
          <a:lstStyle/>
          <a:p>
            <a:pPr algn="l" indent="0" marL="0">
              <a:lnSpc>
                <a:spcPct val="109392"/>
              </a:lnSpc>
              <a:buNone/>
            </a:pPr>
            <a:r>
              <a:rPr lang="en-US" sz="1425" dirty="0">
                <a:solidFill>
                  <a:srgbClr val="0E1C30">
                    <a:alpha val="65000"/>
                  </a:srgbClr>
                </a:solidFill>
                <a:latin typeface="IBM Plex Sans" pitchFamily="34" charset="0"/>
                <a:ea typeface="IBM Plex Sans" pitchFamily="34" charset="-122"/>
                <a:cs typeface="IBM Plex Sans" pitchFamily="34" charset="-120"/>
              </a:rPr>
              <a:t>Risk-based test strategy &amp; automation.</a:t>
            </a:r>
            <a:endParaRPr lang="en-US" sz="1425" dirty="0"/>
          </a:p>
        </p:txBody>
      </p:sp>
      <p:sp>
        <p:nvSpPr>
          <p:cNvPr id="18" name="Shape 16"/>
          <p:cNvSpPr/>
          <p:nvPr/>
        </p:nvSpPr>
        <p:spPr>
          <a:xfrm>
            <a:off x="7632224" y="3950176"/>
            <a:ext cx="4651534" cy="1457166"/>
          </a:xfrm>
          <a:prstGeom prst="rect">
            <a:avLst/>
          </a:prstGeom>
          <a:solidFill>
            <a:srgbClr val="FFFFFF"/>
          </a:solidFill>
          <a:ln w="6350">
            <a:solidFill>
              <a:srgbClr val="0E1C30">
                <a:alpha val="14000"/>
              </a:srgbClr>
            </a:solidFill>
            <a:prstDash val="solid"/>
          </a:ln>
        </p:spPr>
      </p:sp>
      <p:sp>
        <p:nvSpPr>
          <p:cNvPr id="19" name="Text 17"/>
          <p:cNvSpPr/>
          <p:nvPr/>
        </p:nvSpPr>
        <p:spPr>
          <a:xfrm>
            <a:off x="7924324" y="4223226"/>
            <a:ext cx="4474067" cy="196850"/>
          </a:xfrm>
          <a:prstGeom prst="rect">
            <a:avLst/>
          </a:prstGeom>
          <a:noFill/>
          <a:ln/>
        </p:spPr>
        <p:txBody>
          <a:bodyPr wrap="square" lIns="25400" tIns="25400" rIns="25400" bIns="25400" rtlCol="0" anchor="t">
            <a:normAutofit/>
          </a:bodyPr>
          <a:lstStyle/>
          <a:p>
            <a:pPr algn="l" indent="0" marL="0">
              <a:buNone/>
            </a:pPr>
            <a:r>
              <a:rPr lang="en-US" sz="975" spc="127" kern="0" dirty="0">
                <a:solidFill>
                  <a:srgbClr val="4FD1A6"/>
                </a:solidFill>
                <a:latin typeface="IBM Plex Mono" pitchFamily="34" charset="0"/>
                <a:ea typeface="IBM Plex Mono" pitchFamily="34" charset="-122"/>
                <a:cs typeface="IBM Plex Mono" pitchFamily="34" charset="-120"/>
              </a:rPr>
              <a:t>BMGD</a:t>
            </a:r>
            <a:endParaRPr lang="en-US" sz="975" dirty="0"/>
          </a:p>
        </p:txBody>
      </p:sp>
      <p:sp>
        <p:nvSpPr>
          <p:cNvPr id="20" name="Text 18"/>
          <p:cNvSpPr/>
          <p:nvPr/>
        </p:nvSpPr>
        <p:spPr>
          <a:xfrm>
            <a:off x="7924324" y="4477226"/>
            <a:ext cx="4474067" cy="342900"/>
          </a:xfrm>
          <a:prstGeom prst="rect">
            <a:avLst/>
          </a:prstGeom>
          <a:noFill/>
          <a:ln/>
        </p:spPr>
        <p:txBody>
          <a:bodyPr wrap="square" lIns="25400" tIns="25400" rIns="25400" bIns="25400" rtlCol="0" anchor="t">
            <a:normAutofit/>
          </a:bodyPr>
          <a:lstStyle/>
          <a:p>
            <a:pPr algn="l" indent="0" marL="0">
              <a:buNone/>
            </a:pPr>
            <a:r>
              <a:rPr lang="en-US" sz="1875" b="1" dirty="0">
                <a:solidFill>
                  <a:srgbClr val="0E1C30"/>
                </a:solidFill>
                <a:latin typeface="Space Grotesk" pitchFamily="34" charset="0"/>
                <a:ea typeface="Space Grotesk" pitchFamily="34" charset="-122"/>
                <a:cs typeface="Space Grotesk" pitchFamily="34" charset="-120"/>
              </a:rPr>
              <a:t>Game Dev Studio</a:t>
            </a:r>
            <a:endParaRPr lang="en-US" sz="1875" dirty="0"/>
          </a:p>
        </p:txBody>
      </p:sp>
      <p:sp>
        <p:nvSpPr>
          <p:cNvPr id="21" name="Text 19"/>
          <p:cNvSpPr/>
          <p:nvPr/>
        </p:nvSpPr>
        <p:spPr>
          <a:xfrm>
            <a:off x="7924324" y="4877276"/>
            <a:ext cx="4474067" cy="295116"/>
          </a:xfrm>
          <a:prstGeom prst="rect">
            <a:avLst/>
          </a:prstGeom>
          <a:noFill/>
          <a:ln/>
        </p:spPr>
        <p:txBody>
          <a:bodyPr wrap="square" lIns="25400" tIns="25400" rIns="25400" bIns="25400" rtlCol="0" anchor="t">
            <a:normAutofit/>
          </a:bodyPr>
          <a:lstStyle/>
          <a:p>
            <a:pPr algn="l" indent="0" marL="0">
              <a:lnSpc>
                <a:spcPct val="109392"/>
              </a:lnSpc>
              <a:buNone/>
            </a:pPr>
            <a:r>
              <a:rPr lang="en-US" sz="1425" dirty="0">
                <a:solidFill>
                  <a:srgbClr val="0E1C30">
                    <a:alpha val="65000"/>
                  </a:srgbClr>
                </a:solidFill>
                <a:latin typeface="IBM Plex Sans" pitchFamily="34" charset="0"/>
                <a:ea typeface="IBM Plex Sans" pitchFamily="34" charset="-122"/>
                <a:cs typeface="IBM Plex Sans" pitchFamily="34" charset="-120"/>
              </a:rPr>
              <a:t>Unity, Unreal &amp; Godot workflows.</a:t>
            </a:r>
            <a:endParaRPr lang="en-US" sz="1425" dirty="0"/>
          </a:p>
        </p:txBody>
      </p:sp>
      <p:sp>
        <p:nvSpPr>
          <p:cNvPr id="22" name="Shape 20"/>
          <p:cNvSpPr/>
          <p:nvPr/>
        </p:nvSpPr>
        <p:spPr>
          <a:xfrm>
            <a:off x="12493307" y="3950176"/>
            <a:ext cx="4651534" cy="1457166"/>
          </a:xfrm>
          <a:prstGeom prst="rect">
            <a:avLst/>
          </a:prstGeom>
          <a:solidFill>
            <a:srgbClr val="FFFFFF"/>
          </a:solidFill>
          <a:ln w="6350">
            <a:solidFill>
              <a:srgbClr val="0E1C30">
                <a:alpha val="14000"/>
              </a:srgbClr>
            </a:solidFill>
            <a:prstDash val="solid"/>
          </a:ln>
        </p:spPr>
      </p:sp>
      <p:sp>
        <p:nvSpPr>
          <p:cNvPr id="23" name="Text 21"/>
          <p:cNvSpPr/>
          <p:nvPr/>
        </p:nvSpPr>
        <p:spPr>
          <a:xfrm>
            <a:off x="12785408" y="4223226"/>
            <a:ext cx="4474067" cy="196850"/>
          </a:xfrm>
          <a:prstGeom prst="rect">
            <a:avLst/>
          </a:prstGeom>
          <a:noFill/>
          <a:ln/>
        </p:spPr>
        <p:txBody>
          <a:bodyPr wrap="square" lIns="25400" tIns="25400" rIns="25400" bIns="25400" rtlCol="0" anchor="t">
            <a:normAutofit/>
          </a:bodyPr>
          <a:lstStyle/>
          <a:p>
            <a:pPr algn="l" indent="0" marL="0">
              <a:buNone/>
            </a:pPr>
            <a:r>
              <a:rPr lang="en-US" sz="975" spc="127" kern="0" dirty="0">
                <a:solidFill>
                  <a:srgbClr val="C79BF0"/>
                </a:solidFill>
                <a:latin typeface="IBM Plex Mono" pitchFamily="34" charset="0"/>
                <a:ea typeface="IBM Plex Mono" pitchFamily="34" charset="-122"/>
                <a:cs typeface="IBM Plex Mono" pitchFamily="34" charset="-120"/>
              </a:rPr>
              <a:t>CIS</a:t>
            </a:r>
            <a:endParaRPr lang="en-US" sz="975" dirty="0"/>
          </a:p>
        </p:txBody>
      </p:sp>
      <p:sp>
        <p:nvSpPr>
          <p:cNvPr id="24" name="Text 22"/>
          <p:cNvSpPr/>
          <p:nvPr/>
        </p:nvSpPr>
        <p:spPr>
          <a:xfrm>
            <a:off x="12785408" y="4477226"/>
            <a:ext cx="4474067" cy="342900"/>
          </a:xfrm>
          <a:prstGeom prst="rect">
            <a:avLst/>
          </a:prstGeom>
          <a:noFill/>
          <a:ln/>
        </p:spPr>
        <p:txBody>
          <a:bodyPr wrap="square" lIns="25400" tIns="25400" rIns="25400" bIns="25400" rtlCol="0" anchor="t">
            <a:normAutofit/>
          </a:bodyPr>
          <a:lstStyle/>
          <a:p>
            <a:pPr algn="l" indent="0" marL="0">
              <a:buNone/>
            </a:pPr>
            <a:r>
              <a:rPr lang="en-US" sz="1875" b="1" dirty="0">
                <a:solidFill>
                  <a:srgbClr val="0E1C30"/>
                </a:solidFill>
                <a:latin typeface="Space Grotesk" pitchFamily="34" charset="0"/>
                <a:ea typeface="Space Grotesk" pitchFamily="34" charset="-122"/>
                <a:cs typeface="Space Grotesk" pitchFamily="34" charset="-120"/>
              </a:rPr>
              <a:t>Creative Intelligence</a:t>
            </a:r>
            <a:endParaRPr lang="en-US" sz="1875" dirty="0"/>
          </a:p>
        </p:txBody>
      </p:sp>
      <p:sp>
        <p:nvSpPr>
          <p:cNvPr id="25" name="Text 23"/>
          <p:cNvSpPr/>
          <p:nvPr/>
        </p:nvSpPr>
        <p:spPr>
          <a:xfrm>
            <a:off x="12785408" y="4877276"/>
            <a:ext cx="4474067" cy="295116"/>
          </a:xfrm>
          <a:prstGeom prst="rect">
            <a:avLst/>
          </a:prstGeom>
          <a:noFill/>
          <a:ln/>
        </p:spPr>
        <p:txBody>
          <a:bodyPr wrap="square" lIns="25400" tIns="25400" rIns="25400" bIns="25400" rtlCol="0" anchor="t">
            <a:normAutofit/>
          </a:bodyPr>
          <a:lstStyle/>
          <a:p>
            <a:pPr algn="l" indent="0" marL="0">
              <a:lnSpc>
                <a:spcPct val="109392"/>
              </a:lnSpc>
              <a:buNone/>
            </a:pPr>
            <a:r>
              <a:rPr lang="en-US" sz="1425" dirty="0">
                <a:solidFill>
                  <a:srgbClr val="0E1C30">
                    <a:alpha val="65000"/>
                  </a:srgbClr>
                </a:solidFill>
                <a:latin typeface="IBM Plex Sans" pitchFamily="34" charset="0"/>
                <a:ea typeface="IBM Plex Sans" pitchFamily="34" charset="-122"/>
                <a:cs typeface="IBM Plex Sans" pitchFamily="34" charset="-120"/>
              </a:rPr>
              <a:t>Brainstorming, innovation, design thinking.</a:t>
            </a:r>
            <a:endParaRPr lang="en-US" sz="1425" dirty="0"/>
          </a:p>
        </p:txBody>
      </p:sp>
      <p:sp>
        <p:nvSpPr>
          <p:cNvPr id="26" name="Text 24"/>
          <p:cNvSpPr/>
          <p:nvPr/>
        </p:nvSpPr>
        <p:spPr>
          <a:xfrm>
            <a:off x="1143000" y="5731193"/>
            <a:ext cx="15192375" cy="338138"/>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60000"/>
                  </a:srgbClr>
                </a:solidFill>
                <a:latin typeface="IBM Plex Sans" pitchFamily="34" charset="0"/>
                <a:ea typeface="IBM Plex Sans" pitchFamily="34" charset="-122"/>
                <a:cs typeface="IBM Plex Sans" pitchFamily="34" charset="-120"/>
              </a:rPr>
              <a:t>All MIT, all installed the same way — during setup or any time after. Stuck between steps? The </a:t>
            </a:r>
            <a:pPr algn="l" indent="0" marL="0">
              <a:lnSpc>
                <a:spcPct val="115244"/>
              </a:lnSpc>
              <a:buNone/>
            </a:pPr>
            <a:r>
              <a:rPr lang="en-US" sz="1575" dirty="0">
                <a:solidFill>
                  <a:srgbClr val="F4C233"/>
                </a:solidFill>
                <a:latin typeface="IBM Plex Mono" pitchFamily="34" charset="0"/>
                <a:ea typeface="IBM Plex Mono" pitchFamily="34" charset="-122"/>
                <a:cs typeface="IBM Plex Mono" pitchFamily="34" charset="-120"/>
              </a:rPr>
              <a:t>bmad-help </a:t>
            </a:r>
            <a:pPr algn="l" indent="0" marL="0">
              <a:lnSpc>
                <a:spcPct val="115244"/>
              </a:lnSpc>
              <a:buNone/>
            </a:pPr>
            <a:r>
              <a:rPr lang="en-US" sz="1575" dirty="0">
                <a:solidFill>
                  <a:srgbClr val="0E1C30">
                    <a:alpha val="60000"/>
                  </a:srgbClr>
                </a:solidFill>
                <a:latin typeface="IBM Plex Sans" pitchFamily="34" charset="0"/>
                <a:ea typeface="IBM Plex Sans" pitchFamily="34" charset="-122"/>
                <a:cs typeface="IBM Plex Sans" pitchFamily="34" charset="-120"/>
              </a:rPr>
              <a:t>skill tells you what’s next and what’s optional.</a:t>
            </a:r>
            <a:endParaRPr lang="en-US" sz="1575" dirty="0"/>
          </a:p>
        </p:txBody>
      </p:sp>
      <p:sp>
        <p:nvSpPr>
          <p:cNvPr id="27" name="Text 25"/>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28" name="Text 26"/>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39 / 45</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3162986"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EXTEND IT · BMAD BUILDER</a:t>
            </a:r>
            <a:endParaRPr lang="en-US" sz="1200" dirty="0"/>
          </a:p>
        </p:txBody>
      </p:sp>
      <p:sp>
        <p:nvSpPr>
          <p:cNvPr id="4" name="Text 2"/>
          <p:cNvSpPr/>
          <p:nvPr/>
        </p:nvSpPr>
        <p:spPr>
          <a:xfrm>
            <a:off x="1143000" y="1384300"/>
            <a:ext cx="13735050" cy="1318260"/>
          </a:xfrm>
          <a:prstGeom prst="rect">
            <a:avLst/>
          </a:prstGeom>
          <a:noFill/>
          <a:ln/>
        </p:spPr>
        <p:txBody>
          <a:bodyPr wrap="square" lIns="25400" tIns="25400" rIns="25400" bIns="25400" rtlCol="0" anchor="t">
            <a:normAutofit/>
          </a:bodyPr>
          <a:lstStyle/>
          <a:p>
            <a:pPr algn="l" indent="0" marL="0">
              <a:lnSpc>
                <a:spcPct val="82623"/>
              </a:lnSpc>
              <a:buNone/>
            </a:pPr>
            <a:r>
              <a:rPr lang="en-US" sz="4800" b="1" spc="-96" kern="0" dirty="0">
                <a:solidFill>
                  <a:srgbClr val="0E1C30"/>
                </a:solidFill>
                <a:latin typeface="Space Grotesk" pitchFamily="34" charset="0"/>
                <a:ea typeface="Space Grotesk" pitchFamily="34" charset="-122"/>
                <a:cs typeface="Space Grotesk" pitchFamily="34" charset="-120"/>
              </a:rPr>
              <a:t>When the roster doesn’t cover your domain, build your own agent</a:t>
            </a:r>
            <a:endParaRPr lang="en-US" sz="4800" dirty="0"/>
          </a:p>
        </p:txBody>
      </p:sp>
      <p:sp>
        <p:nvSpPr>
          <p:cNvPr id="5" name="Text 3"/>
          <p:cNvSpPr/>
          <p:nvPr/>
        </p:nvSpPr>
        <p:spPr>
          <a:xfrm>
            <a:off x="1143000" y="2893060"/>
            <a:ext cx="13244513" cy="723900"/>
          </a:xfrm>
          <a:prstGeom prst="rect">
            <a:avLst/>
          </a:prstGeom>
          <a:noFill/>
          <a:ln/>
        </p:spPr>
        <p:txBody>
          <a:bodyPr wrap="square" lIns="25400" tIns="25400" rIns="25400" bIns="25400" rtlCol="0" anchor="t">
            <a:normAutofit/>
          </a:bodyPr>
          <a:lstStyle/>
          <a:p>
            <a:pPr algn="l" indent="0" marL="0">
              <a:lnSpc>
                <a:spcPct val="114894"/>
              </a:lnSpc>
              <a:buNone/>
            </a:pPr>
            <a:r>
              <a:rPr lang="en-US" sz="1800" dirty="0">
                <a:solidFill>
                  <a:srgbClr val="0E1C30">
                    <a:alpha val="65000"/>
                  </a:srgbClr>
                </a:solidFill>
                <a:latin typeface="IBM Plex Sans" pitchFamily="34" charset="0"/>
                <a:ea typeface="IBM Plex Sans" pitchFamily="34" charset="-122"/>
                <a:cs typeface="IBM Plex Sans" pitchFamily="34" charset="-120"/>
              </a:rPr>
              <a:t>Everything is a </a:t>
            </a:r>
            <a:pPr algn="l" indent="0" marL="0">
              <a:lnSpc>
                <a:spcPct val="114894"/>
              </a:lnSpc>
              <a:buNone/>
            </a:pPr>
            <a:r>
              <a:rPr lang="en-US" sz="1800" b="1" dirty="0">
                <a:solidFill>
                  <a:srgbClr val="0E1C30"/>
                </a:solidFill>
                <a:latin typeface="IBM Plex Sans" pitchFamily="34" charset="0"/>
                <a:ea typeface="IBM Plex Sans" pitchFamily="34" charset="-122"/>
                <a:cs typeface="IBM Plex Sans" pitchFamily="34" charset="-120"/>
              </a:rPr>
              <a:t>skill </a:t>
            </a:r>
            <a:pPr algn="l" indent="0" marL="0">
              <a:lnSpc>
                <a:spcPct val="114894"/>
              </a:lnSpc>
              <a:buNone/>
            </a:pPr>
            <a:r>
              <a:rPr lang="en-US" sz="1800" dirty="0">
                <a:solidFill>
                  <a:srgbClr val="0E1C30">
                    <a:alpha val="65000"/>
                  </a:srgbClr>
                </a:solidFill>
                <a:latin typeface="IBM Plex Sans" pitchFamily="34" charset="0"/>
                <a:ea typeface="IBM Plex Sans" pitchFamily="34" charset="-122"/>
                <a:cs typeface="IBM Plex Sans" pitchFamily="34" charset="-120"/>
              </a:rPr>
              <a:t>— a folder with a </a:t>
            </a:r>
            <a:pPr algn="l" indent="0" marL="0">
              <a:lnSpc>
                <a:spcPct val="114894"/>
              </a:lnSpc>
              <a:buNone/>
            </a:pPr>
            <a:r>
              <a:rPr lang="en-US" sz="1575" dirty="0">
                <a:solidFill>
                  <a:srgbClr val="1E7FD6"/>
                </a:solidFill>
                <a:latin typeface="IBM Plex Mono" pitchFamily="34" charset="0"/>
                <a:ea typeface="IBM Plex Mono" pitchFamily="34" charset="-122"/>
                <a:cs typeface="IBM Plex Mono" pitchFamily="34" charset="-120"/>
              </a:rPr>
              <a:t>SKILL.md </a:t>
            </a:r>
            <a:pPr algn="l" indent="0" marL="0">
              <a:lnSpc>
                <a:spcPct val="114894"/>
              </a:lnSpc>
              <a:buNone/>
            </a:pPr>
            <a:r>
              <a:rPr lang="en-US" sz="1800" dirty="0">
                <a:solidFill>
                  <a:srgbClr val="0E1C30">
                    <a:alpha val="65000"/>
                  </a:srgbClr>
                </a:solidFill>
                <a:latin typeface="IBM Plex Sans" pitchFamily="34" charset="0"/>
                <a:ea typeface="IBM Plex Sans" pitchFamily="34" charset="-122"/>
                <a:cs typeface="IBM Plex Sans" pitchFamily="34" charset="-120"/>
              </a:rPr>
              <a:t>(open Agent Skills standard). The builder walks you there by conversation, not configuration. Agents come in three types:</a:t>
            </a:r>
            <a:endParaRPr lang="en-US" sz="1800" dirty="0"/>
          </a:p>
        </p:txBody>
      </p:sp>
      <p:sp>
        <p:nvSpPr>
          <p:cNvPr id="6" name="Shape 4"/>
          <p:cNvSpPr/>
          <p:nvPr/>
        </p:nvSpPr>
        <p:spPr>
          <a:xfrm>
            <a:off x="1143000" y="4036060"/>
            <a:ext cx="5168900" cy="2328863"/>
          </a:xfrm>
          <a:prstGeom prst="rect">
            <a:avLst/>
          </a:prstGeom>
          <a:solidFill>
            <a:srgbClr val="FFFFFF"/>
          </a:solidFill>
          <a:ln w="6350">
            <a:solidFill>
              <a:srgbClr val="0E1C30">
                <a:alpha val="12000"/>
              </a:srgbClr>
            </a:solidFill>
            <a:prstDash val="solid"/>
          </a:ln>
        </p:spPr>
      </p:sp>
      <p:sp>
        <p:nvSpPr>
          <p:cNvPr id="7" name="Text 5"/>
          <p:cNvSpPr/>
          <p:nvPr/>
        </p:nvSpPr>
        <p:spPr>
          <a:xfrm>
            <a:off x="1473200" y="4366260"/>
            <a:ext cx="4959350"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50000"/>
                  </a:srgbClr>
                </a:solidFill>
                <a:latin typeface="IBM Plex Mono" pitchFamily="34" charset="0"/>
                <a:ea typeface="IBM Plex Mono" pitchFamily="34" charset="-122"/>
                <a:cs typeface="IBM Plex Mono" pitchFamily="34" charset="-120"/>
              </a:rPr>
              <a:t>STATELESS</a:t>
            </a:r>
            <a:endParaRPr lang="en-US" sz="1050" dirty="0"/>
          </a:p>
        </p:txBody>
      </p:sp>
      <p:sp>
        <p:nvSpPr>
          <p:cNvPr id="8" name="Text 6"/>
          <p:cNvSpPr/>
          <p:nvPr/>
        </p:nvSpPr>
        <p:spPr>
          <a:xfrm>
            <a:off x="1473200" y="4677410"/>
            <a:ext cx="4959350"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0E1C30"/>
                </a:solidFill>
                <a:latin typeface="Space Grotesk" pitchFamily="34" charset="0"/>
                <a:ea typeface="Space Grotesk" pitchFamily="34" charset="-122"/>
                <a:cs typeface="Space Grotesk" pitchFamily="34" charset="-120"/>
              </a:rPr>
              <a:t>Every session fresh</a:t>
            </a:r>
            <a:endParaRPr lang="en-US" sz="2100" dirty="0"/>
          </a:p>
        </p:txBody>
      </p:sp>
      <p:sp>
        <p:nvSpPr>
          <p:cNvPr id="9" name="Text 7"/>
          <p:cNvSpPr/>
          <p:nvPr/>
        </p:nvSpPr>
        <p:spPr>
          <a:xfrm>
            <a:off x="1473200" y="5134610"/>
            <a:ext cx="4643755" cy="938213"/>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62000"/>
                  </a:srgbClr>
                </a:solidFill>
                <a:latin typeface="IBM Plex Sans" pitchFamily="34" charset="0"/>
                <a:ea typeface="IBM Plex Sans" pitchFamily="34" charset="-122"/>
                <a:cs typeface="IBM Plex Sans" pitchFamily="34" charset="-120"/>
              </a:rPr>
              <a:t>A persona and capabilities, no memory. Formatters, diagram generators, focused domain experts.</a:t>
            </a:r>
            <a:endParaRPr lang="en-US" sz="1575" dirty="0"/>
          </a:p>
        </p:txBody>
      </p:sp>
      <p:sp>
        <p:nvSpPr>
          <p:cNvPr id="10" name="Shape 8"/>
          <p:cNvSpPr/>
          <p:nvPr/>
        </p:nvSpPr>
        <p:spPr>
          <a:xfrm>
            <a:off x="6559550" y="4036060"/>
            <a:ext cx="5168900" cy="2328863"/>
          </a:xfrm>
          <a:prstGeom prst="rect">
            <a:avLst/>
          </a:prstGeom>
          <a:solidFill>
            <a:srgbClr val="FFFFFF"/>
          </a:solidFill>
          <a:ln w="6350">
            <a:solidFill>
              <a:srgbClr val="0E1C30">
                <a:alpha val="12000"/>
              </a:srgbClr>
            </a:solidFill>
            <a:prstDash val="solid"/>
          </a:ln>
        </p:spPr>
      </p:sp>
      <p:sp>
        <p:nvSpPr>
          <p:cNvPr id="11" name="Text 9"/>
          <p:cNvSpPr/>
          <p:nvPr/>
        </p:nvSpPr>
        <p:spPr>
          <a:xfrm>
            <a:off x="6889750" y="4366260"/>
            <a:ext cx="4959350"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1E7FD6"/>
                </a:solidFill>
                <a:latin typeface="IBM Plex Mono" pitchFamily="34" charset="0"/>
                <a:ea typeface="IBM Plex Mono" pitchFamily="34" charset="-122"/>
                <a:cs typeface="IBM Plex Mono" pitchFamily="34" charset="-120"/>
              </a:rPr>
              <a:t>MEMORY</a:t>
            </a:r>
            <a:endParaRPr lang="en-US" sz="1050" dirty="0"/>
          </a:p>
        </p:txBody>
      </p:sp>
      <p:sp>
        <p:nvSpPr>
          <p:cNvPr id="12" name="Text 10"/>
          <p:cNvSpPr/>
          <p:nvPr/>
        </p:nvSpPr>
        <p:spPr>
          <a:xfrm>
            <a:off x="6889750" y="4677410"/>
            <a:ext cx="4959350"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0E1C30"/>
                </a:solidFill>
                <a:latin typeface="Space Grotesk" pitchFamily="34" charset="0"/>
                <a:ea typeface="Space Grotesk" pitchFamily="34" charset="-122"/>
                <a:cs typeface="Space Grotesk" pitchFamily="34" charset="-120"/>
              </a:rPr>
              <a:t>Remembers you</a:t>
            </a:r>
            <a:endParaRPr lang="en-US" sz="2100" dirty="0"/>
          </a:p>
        </p:txBody>
      </p:sp>
      <p:sp>
        <p:nvSpPr>
          <p:cNvPr id="13" name="Text 11"/>
          <p:cNvSpPr/>
          <p:nvPr/>
        </p:nvSpPr>
        <p:spPr>
          <a:xfrm>
            <a:off x="6889750" y="5134610"/>
            <a:ext cx="4643755" cy="938213"/>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62000"/>
                  </a:srgbClr>
                </a:solidFill>
                <a:latin typeface="IBM Plex Sans" pitchFamily="34" charset="0"/>
                <a:ea typeface="IBM Plex Sans" pitchFamily="34" charset="-122"/>
                <a:cs typeface="IBM Plex Sans" pitchFamily="34" charset="-120"/>
              </a:rPr>
              <a:t>Keeps a persistent </a:t>
            </a:r>
            <a:pPr algn="l" indent="0" marL="0">
              <a:lnSpc>
                <a:spcPct val="115244"/>
              </a:lnSpc>
              <a:buNone/>
            </a:pPr>
            <a:r>
              <a:rPr lang="en-US" sz="1575" i="1" dirty="0">
                <a:solidFill>
                  <a:srgbClr val="0E1C30">
                    <a:alpha val="62000"/>
                  </a:srgbClr>
                </a:solidFill>
                <a:latin typeface="IBM Plex Sans" pitchFamily="34" charset="0"/>
                <a:ea typeface="IBM Plex Sans" pitchFamily="34" charset="-122"/>
                <a:cs typeface="IBM Plex Sans" pitchFamily="34" charset="-120"/>
              </a:rPr>
              <a:t>sanctum </a:t>
            </a:r>
            <a:pPr algn="l" indent="0" marL="0">
              <a:lnSpc>
                <a:spcPct val="115244"/>
              </a:lnSpc>
              <a:buNone/>
            </a:pPr>
            <a:r>
              <a:rPr lang="en-US" sz="1575" dirty="0">
                <a:solidFill>
                  <a:srgbClr val="0E1C30">
                    <a:alpha val="62000"/>
                  </a:srgbClr>
                </a:solidFill>
                <a:latin typeface="IBM Plex Sans" pitchFamily="34" charset="0"/>
                <a:ea typeface="IBM Plex Sans" pitchFamily="34" charset="-122"/>
                <a:cs typeface="IBM Plex Sans" pitchFamily="34" charset="-120"/>
              </a:rPr>
              <a:t>of identity &amp; knowledge files, re-read each launch. Coaches, writing partners, advisors.</a:t>
            </a:r>
            <a:endParaRPr lang="en-US" sz="1575" dirty="0"/>
          </a:p>
        </p:txBody>
      </p:sp>
      <p:sp>
        <p:nvSpPr>
          <p:cNvPr id="14" name="Shape 12"/>
          <p:cNvSpPr/>
          <p:nvPr/>
        </p:nvSpPr>
        <p:spPr>
          <a:xfrm>
            <a:off x="11976100" y="4036060"/>
            <a:ext cx="5168900" cy="2328863"/>
          </a:xfrm>
          <a:prstGeom prst="rect">
            <a:avLst/>
          </a:prstGeom>
          <a:solidFill>
            <a:srgbClr val="FFFFFF"/>
          </a:solidFill>
          <a:ln w="6350">
            <a:solidFill>
              <a:srgbClr val="0E1C30">
                <a:alpha val="12000"/>
              </a:srgbClr>
            </a:solidFill>
            <a:prstDash val="solid"/>
          </a:ln>
        </p:spPr>
      </p:sp>
      <p:sp>
        <p:nvSpPr>
          <p:cNvPr id="15" name="Text 13"/>
          <p:cNvSpPr/>
          <p:nvPr/>
        </p:nvSpPr>
        <p:spPr>
          <a:xfrm>
            <a:off x="12306300" y="4366260"/>
            <a:ext cx="4959350"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B78A00"/>
                </a:solidFill>
                <a:latin typeface="IBM Plex Mono" pitchFamily="34" charset="0"/>
                <a:ea typeface="IBM Plex Mono" pitchFamily="34" charset="-122"/>
                <a:cs typeface="IBM Plex Mono" pitchFamily="34" charset="-120"/>
              </a:rPr>
              <a:t>AUTONOMOUS</a:t>
            </a:r>
            <a:endParaRPr lang="en-US" sz="1050" dirty="0"/>
          </a:p>
        </p:txBody>
      </p:sp>
      <p:sp>
        <p:nvSpPr>
          <p:cNvPr id="16" name="Text 14"/>
          <p:cNvSpPr/>
          <p:nvPr/>
        </p:nvSpPr>
        <p:spPr>
          <a:xfrm>
            <a:off x="12306300" y="4677410"/>
            <a:ext cx="4959350"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0E1C30"/>
                </a:solidFill>
                <a:latin typeface="Space Grotesk" pitchFamily="34" charset="0"/>
                <a:ea typeface="Space Grotesk" pitchFamily="34" charset="-122"/>
                <a:cs typeface="Space Grotesk" pitchFamily="34" charset="-120"/>
              </a:rPr>
              <a:t>Works unattended</a:t>
            </a:r>
            <a:endParaRPr lang="en-US" sz="2100" dirty="0"/>
          </a:p>
        </p:txBody>
      </p:sp>
      <p:sp>
        <p:nvSpPr>
          <p:cNvPr id="17" name="Text 15"/>
          <p:cNvSpPr/>
          <p:nvPr/>
        </p:nvSpPr>
        <p:spPr>
          <a:xfrm>
            <a:off x="12306300" y="5134610"/>
            <a:ext cx="4643755" cy="938213"/>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62000"/>
                  </a:srgbClr>
                </a:solidFill>
                <a:latin typeface="IBM Plex Sans" pitchFamily="34" charset="0"/>
                <a:ea typeface="IBM Plex Sans" pitchFamily="34" charset="-122"/>
                <a:cs typeface="IBM Plex Sans" pitchFamily="34" charset="-120"/>
              </a:rPr>
              <a:t>Adds a </a:t>
            </a:r>
            <a:pPr algn="l" indent="0" marL="0">
              <a:lnSpc>
                <a:spcPct val="115244"/>
              </a:lnSpc>
              <a:buNone/>
            </a:pPr>
            <a:r>
              <a:rPr lang="en-US" sz="1350" dirty="0">
                <a:solidFill>
                  <a:srgbClr val="0E1C30">
                    <a:alpha val="62000"/>
                  </a:srgbClr>
                </a:solidFill>
                <a:latin typeface="IBM Plex Mono" pitchFamily="34" charset="0"/>
                <a:ea typeface="IBM Plex Mono" pitchFamily="34" charset="-122"/>
                <a:cs typeface="IBM Plex Mono" pitchFamily="34" charset="-120"/>
              </a:rPr>
              <a:t>PULSE </a:t>
            </a:r>
            <a:pPr algn="l" indent="0" marL="0">
              <a:lnSpc>
                <a:spcPct val="115244"/>
              </a:lnSpc>
              <a:buNone/>
            </a:pPr>
            <a:r>
              <a:rPr lang="en-US" sz="1575" dirty="0">
                <a:solidFill>
                  <a:srgbClr val="0E1C30">
                    <a:alpha val="62000"/>
                  </a:srgbClr>
                </a:solidFill>
                <a:latin typeface="IBM Plex Sans" pitchFamily="34" charset="0"/>
                <a:ea typeface="IBM Plex Sans" pitchFamily="34" charset="-122"/>
                <a:cs typeface="IBM Plex Sans" pitchFamily="34" charset="-120"/>
              </a:rPr>
              <a:t>file and wakes on a schedule — monitoring, curation, maintenance between sessions.</a:t>
            </a:r>
            <a:endParaRPr lang="en-US" sz="1575" dirty="0"/>
          </a:p>
        </p:txBody>
      </p:sp>
      <p:sp>
        <p:nvSpPr>
          <p:cNvPr id="18" name="Text 16"/>
          <p:cNvSpPr/>
          <p:nvPr/>
        </p:nvSpPr>
        <p:spPr>
          <a:xfrm>
            <a:off x="1143000" y="6784023"/>
            <a:ext cx="13244513" cy="666750"/>
          </a:xfrm>
          <a:prstGeom prst="rect">
            <a:avLst/>
          </a:prstGeom>
          <a:noFill/>
          <a:ln/>
        </p:spPr>
        <p:txBody>
          <a:bodyPr wrap="square" lIns="25400" tIns="25400" rIns="25400" bIns="25400" rtlCol="0" anchor="t">
            <a:normAutofit/>
          </a:bodyPr>
          <a:lstStyle/>
          <a:p>
            <a:pPr algn="l" indent="0" marL="0">
              <a:lnSpc>
                <a:spcPct val="115116"/>
              </a:lnSpc>
              <a:buNone/>
            </a:pPr>
            <a:r>
              <a:rPr lang="en-US" sz="1650" dirty="0">
                <a:solidFill>
                  <a:srgbClr val="0E1C30">
                    <a:alpha val="60000"/>
                  </a:srgbClr>
                </a:solidFill>
                <a:latin typeface="IBM Plex Sans" pitchFamily="34" charset="0"/>
                <a:ea typeface="IBM Plex Sans" pitchFamily="34" charset="-122"/>
                <a:cs typeface="IBM Plex Sans" pitchFamily="34" charset="-120"/>
              </a:rPr>
              <a:t>Package skills into </a:t>
            </a:r>
            <a:pPr algn="l" indent="0" marL="0">
              <a:lnSpc>
                <a:spcPct val="115116"/>
              </a:lnSpc>
              <a:buNone/>
            </a:pPr>
            <a:r>
              <a:rPr lang="en-US" sz="1650" b="1" dirty="0">
                <a:solidFill>
                  <a:srgbClr val="0E1C30"/>
                </a:solidFill>
                <a:latin typeface="IBM Plex Sans" pitchFamily="34" charset="0"/>
                <a:ea typeface="IBM Plex Sans" pitchFamily="34" charset="-122"/>
                <a:cs typeface="IBM Plex Sans" pitchFamily="34" charset="-120"/>
              </a:rPr>
              <a:t>modules </a:t>
            </a:r>
            <a:pPr algn="l" indent="0" marL="0">
              <a:lnSpc>
                <a:spcPct val="115116"/>
              </a:lnSpc>
              <a:buNone/>
            </a:pPr>
            <a:r>
              <a:rPr lang="en-US" sz="1650" dirty="0">
                <a:solidFill>
                  <a:srgbClr val="0E1C30">
                    <a:alpha val="60000"/>
                  </a:srgbClr>
                </a:solidFill>
                <a:latin typeface="IBM Plex Sans" pitchFamily="34" charset="0"/>
                <a:ea typeface="IBM Plex Sans" pitchFamily="34" charset="-122"/>
                <a:cs typeface="IBM Plex Sans" pitchFamily="34" charset="-120"/>
              </a:rPr>
              <a:t>, validate them, and distribute via GitHub — the same mechanism that ships TEA, Game Dev Studio, and the Creative Intelligence Suite.</a:t>
            </a:r>
            <a:endParaRPr lang="en-US" sz="1650" dirty="0"/>
          </a:p>
        </p:txBody>
      </p:sp>
      <p:sp>
        <p:nvSpPr>
          <p:cNvPr id="19" name="Text 17"/>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20" name="Text 18"/>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40 / 45</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2507298"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THE WIDER ECOSYSTEM</a:t>
            </a:r>
            <a:endParaRPr lang="en-US" sz="1200" dirty="0"/>
          </a:p>
        </p:txBody>
      </p:sp>
      <p:sp>
        <p:nvSpPr>
          <p:cNvPr id="4" name="Text 2"/>
          <p:cNvSpPr/>
          <p:nvPr/>
        </p:nvSpPr>
        <p:spPr>
          <a:xfrm>
            <a:off x="1143000" y="1384300"/>
            <a:ext cx="14144625" cy="678180"/>
          </a:xfrm>
          <a:prstGeom prst="rect">
            <a:avLst/>
          </a:prstGeom>
          <a:noFill/>
          <a:ln/>
        </p:spPr>
        <p:txBody>
          <a:bodyPr wrap="square" lIns="25400" tIns="25400" rIns="25400" bIns="25400" rtlCol="0" anchor="t">
            <a:normAutofit/>
          </a:bodyPr>
          <a:lstStyle/>
          <a:p>
            <a:pPr algn="l" indent="0" marL="0">
              <a:lnSpc>
                <a:spcPct val="82623"/>
              </a:lnSpc>
              <a:buNone/>
            </a:pPr>
            <a:r>
              <a:rPr lang="en-US" sz="4800" b="1" spc="-96" kern="0" dirty="0">
                <a:solidFill>
                  <a:srgbClr val="0E1C30"/>
                </a:solidFill>
                <a:latin typeface="Space Grotesk" pitchFamily="34" charset="0"/>
                <a:ea typeface="Space Grotesk" pitchFamily="34" charset="-122"/>
                <a:cs typeface="Space Grotesk" pitchFamily="34" charset="-120"/>
              </a:rPr>
              <a:t>Planning runs anywhere your LLM does</a:t>
            </a:r>
            <a:endParaRPr lang="en-US" sz="4800" dirty="0"/>
          </a:p>
        </p:txBody>
      </p:sp>
      <p:sp>
        <p:nvSpPr>
          <p:cNvPr id="5" name="Shape 3"/>
          <p:cNvSpPr/>
          <p:nvPr/>
        </p:nvSpPr>
        <p:spPr>
          <a:xfrm>
            <a:off x="1143000" y="2557780"/>
            <a:ext cx="8385969" cy="2831782"/>
          </a:xfrm>
          <a:prstGeom prst="rect">
            <a:avLst/>
          </a:prstGeom>
          <a:solidFill>
            <a:srgbClr val="FFFFFF"/>
          </a:solidFill>
          <a:ln w="6350">
            <a:solidFill>
              <a:srgbClr val="0E1C30">
                <a:alpha val="12000"/>
              </a:srgbClr>
            </a:solidFill>
            <a:prstDash val="solid"/>
          </a:ln>
        </p:spPr>
      </p:sp>
      <p:sp>
        <p:nvSpPr>
          <p:cNvPr id="6" name="Text 4"/>
          <p:cNvSpPr/>
          <p:nvPr/>
        </p:nvSpPr>
        <p:spPr>
          <a:xfrm>
            <a:off x="1530350" y="2926080"/>
            <a:ext cx="8372395"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1E7FD6"/>
                </a:solidFill>
                <a:latin typeface="IBM Plex Mono" pitchFamily="34" charset="0"/>
                <a:ea typeface="IBM Plex Mono" pitchFamily="34" charset="-122"/>
                <a:cs typeface="IBM Plex Mono" pitchFamily="34" charset="-120"/>
              </a:rPr>
              <a:t>WEB BUNDLES · 6 PLANNING COACHES</a:t>
            </a:r>
            <a:endParaRPr lang="en-US" sz="1050" dirty="0"/>
          </a:p>
        </p:txBody>
      </p:sp>
      <p:sp>
        <p:nvSpPr>
          <p:cNvPr id="7" name="Text 5"/>
          <p:cNvSpPr/>
          <p:nvPr/>
        </p:nvSpPr>
        <p:spPr>
          <a:xfrm>
            <a:off x="1530350" y="3275330"/>
            <a:ext cx="7839607" cy="1012508"/>
          </a:xfrm>
          <a:prstGeom prst="rect">
            <a:avLst/>
          </a:prstGeom>
          <a:noFill/>
          <a:ln/>
        </p:spPr>
        <p:txBody>
          <a:bodyPr wrap="square" lIns="25400" tIns="25400" rIns="25400" bIns="25400" rtlCol="0" anchor="t">
            <a:normAutofit/>
          </a:bodyPr>
          <a:lstStyle/>
          <a:p>
            <a:pPr algn="l" indent="0" marL="0">
              <a:lnSpc>
                <a:spcPct val="118953"/>
              </a:lnSpc>
              <a:buNone/>
            </a:pPr>
            <a:r>
              <a:rPr lang="en-US" sz="1650" dirty="0">
                <a:solidFill>
                  <a:srgbClr val="0E1C30">
                    <a:alpha val="75000"/>
                  </a:srgbClr>
                </a:solidFill>
                <a:latin typeface="IBM Plex Sans" pitchFamily="34" charset="0"/>
                <a:ea typeface="IBM Plex Sans" pitchFamily="34" charset="-122"/>
                <a:cs typeface="IBM Plex Sans" pitchFamily="34" charset="-120"/>
              </a:rPr>
              <a:t>Brainstorming · Product Brief · PRFAQ · PRD · UX · Market &amp; Industry Research — installable as </a:t>
            </a:r>
            <a:pPr algn="l" indent="0" marL="0">
              <a:lnSpc>
                <a:spcPct val="118953"/>
              </a:lnSpc>
              <a:buNone/>
            </a:pPr>
            <a:r>
              <a:rPr lang="en-US" sz="1650" b="1" dirty="0">
                <a:solidFill>
                  <a:srgbClr val="0E1C30">
                    <a:alpha val="75000"/>
                  </a:srgbClr>
                </a:solidFill>
                <a:latin typeface="IBM Plex Sans" pitchFamily="34" charset="0"/>
                <a:ea typeface="IBM Plex Sans" pitchFamily="34" charset="-122"/>
                <a:cs typeface="IBM Plex Sans" pitchFamily="34" charset="-120"/>
              </a:rPr>
              <a:t>ChatGPT Custom GPTs</a:t>
            </a:r>
            <a:pPr algn="l" indent="0" marL="0">
              <a:lnSpc>
                <a:spcPct val="118953"/>
              </a:lnSpc>
              <a:buNone/>
            </a:pPr>
            <a:r>
              <a:rPr lang="en-US" sz="1650" dirty="0">
                <a:solidFill>
                  <a:srgbClr val="0E1C30">
                    <a:alpha val="75000"/>
                  </a:srgbClr>
                </a:solidFill>
                <a:latin typeface="IBM Plex Sans" pitchFamily="34" charset="0"/>
                <a:ea typeface="IBM Plex Sans" pitchFamily="34" charset="-122"/>
                <a:cs typeface="IBM Plex Sans" pitchFamily="34" charset="-120"/>
              </a:rPr>
              <a:t>, </a:t>
            </a:r>
            <a:pPr algn="l" indent="0" marL="0">
              <a:lnSpc>
                <a:spcPct val="118953"/>
              </a:lnSpc>
              <a:buNone/>
            </a:pPr>
            <a:r>
              <a:rPr lang="en-US" sz="1650" b="1" dirty="0">
                <a:solidFill>
                  <a:srgbClr val="0E1C30">
                    <a:alpha val="75000"/>
                  </a:srgbClr>
                </a:solidFill>
                <a:latin typeface="IBM Plex Sans" pitchFamily="34" charset="0"/>
                <a:ea typeface="IBM Plex Sans" pitchFamily="34" charset="-122"/>
                <a:cs typeface="IBM Plex Sans" pitchFamily="34" charset="-120"/>
              </a:rPr>
              <a:t>Gemini Gems</a:t>
            </a:r>
            <a:pPr algn="l" indent="0" marL="0">
              <a:lnSpc>
                <a:spcPct val="118953"/>
              </a:lnSpc>
              <a:buNone/>
            </a:pPr>
            <a:r>
              <a:rPr lang="en-US" sz="1650" dirty="0">
                <a:solidFill>
                  <a:srgbClr val="0E1C30">
                    <a:alpha val="75000"/>
                  </a:srgbClr>
                </a:solidFill>
                <a:latin typeface="IBM Plex Sans" pitchFamily="34" charset="0"/>
                <a:ea typeface="IBM Plex Sans" pitchFamily="34" charset="-122"/>
                <a:cs typeface="IBM Plex Sans" pitchFamily="34" charset="-120"/>
              </a:rPr>
              <a:t>, or </a:t>
            </a:r>
            <a:pPr algn="l" indent="0" marL="0">
              <a:lnSpc>
                <a:spcPct val="118953"/>
              </a:lnSpc>
              <a:buNone/>
            </a:pPr>
            <a:r>
              <a:rPr lang="en-US" sz="1650" b="1" dirty="0">
                <a:solidFill>
                  <a:srgbClr val="0E1C30">
                    <a:alpha val="75000"/>
                  </a:srgbClr>
                </a:solidFill>
                <a:latin typeface="IBM Plex Sans" pitchFamily="34" charset="0"/>
                <a:ea typeface="IBM Plex Sans" pitchFamily="34" charset="-122"/>
                <a:cs typeface="IBM Plex Sans" pitchFamily="34" charset="-120"/>
              </a:rPr>
              <a:t>Microsoft Copilot agents </a:t>
            </a:r>
            <a:pPr algn="l" indent="0" marL="0">
              <a:lnSpc>
                <a:spcPct val="118953"/>
              </a:lnSpc>
              <a:buNone/>
            </a:pPr>
            <a:r>
              <a:rPr lang="en-US" sz="1650" dirty="0">
                <a:solidFill>
                  <a:srgbClr val="0E1C30">
                    <a:alpha val="75000"/>
                  </a:srgbClr>
                </a:solidFill>
                <a:latin typeface="IBM Plex Sans" pitchFamily="34" charset="0"/>
                <a:ea typeface="IBM Plex Sans" pitchFamily="34" charset="-122"/>
                <a:cs typeface="IBM Plex Sans" pitchFamily="34" charset="-120"/>
              </a:rPr>
              <a:t>.</a:t>
            </a:r>
            <a:endParaRPr lang="en-US" sz="1650" dirty="0"/>
          </a:p>
        </p:txBody>
      </p:sp>
      <p:sp>
        <p:nvSpPr>
          <p:cNvPr id="8" name="Text 6"/>
          <p:cNvSpPr/>
          <p:nvPr/>
        </p:nvSpPr>
        <p:spPr>
          <a:xfrm>
            <a:off x="1530350" y="4421188"/>
            <a:ext cx="7839607" cy="638175"/>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55000"/>
                  </a:srgbClr>
                </a:solidFill>
                <a:latin typeface="IBM Plex Sans" pitchFamily="34" charset="0"/>
                <a:ea typeface="IBM Plex Sans" pitchFamily="34" charset="-122"/>
                <a:cs typeface="IBM Plex Sans" pitchFamily="34" charset="-120"/>
              </a:rPr>
              <a:t>Do the heavy planning on a flat-rate subscription; bring polished artifacts into the IDE for implementation.</a:t>
            </a:r>
            <a:endParaRPr lang="en-US" sz="1575" dirty="0"/>
          </a:p>
        </p:txBody>
      </p:sp>
      <p:sp>
        <p:nvSpPr>
          <p:cNvPr id="9" name="Shape 7"/>
          <p:cNvSpPr/>
          <p:nvPr/>
        </p:nvSpPr>
        <p:spPr>
          <a:xfrm>
            <a:off x="9852818" y="2557780"/>
            <a:ext cx="7292181" cy="2831782"/>
          </a:xfrm>
          <a:prstGeom prst="rect">
            <a:avLst/>
          </a:prstGeom>
          <a:solidFill>
            <a:srgbClr val="FFFFFF"/>
          </a:solidFill>
          <a:ln w="6350">
            <a:solidFill>
              <a:srgbClr val="0E1C30">
                <a:alpha val="12000"/>
              </a:srgbClr>
            </a:solidFill>
            <a:prstDash val="solid"/>
          </a:ln>
        </p:spPr>
      </p:sp>
      <p:sp>
        <p:nvSpPr>
          <p:cNvPr id="10" name="Text 8"/>
          <p:cNvSpPr/>
          <p:nvPr/>
        </p:nvSpPr>
        <p:spPr>
          <a:xfrm>
            <a:off x="10240169" y="2926080"/>
            <a:ext cx="7169229"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1E7FD6"/>
                </a:solidFill>
                <a:latin typeface="IBM Plex Mono" pitchFamily="34" charset="0"/>
                <a:ea typeface="IBM Plex Mono" pitchFamily="34" charset="-122"/>
                <a:cs typeface="IBM Plex Mono" pitchFamily="34" charset="-120"/>
              </a:rPr>
              <a:t>MODULES &amp; COMMUNITY</a:t>
            </a:r>
            <a:endParaRPr lang="en-US" sz="1050" dirty="0"/>
          </a:p>
        </p:txBody>
      </p:sp>
      <p:sp>
        <p:nvSpPr>
          <p:cNvPr id="11" name="Text 9"/>
          <p:cNvSpPr/>
          <p:nvPr/>
        </p:nvSpPr>
        <p:spPr>
          <a:xfrm>
            <a:off x="10240169" y="3275330"/>
            <a:ext cx="6713006" cy="687705"/>
          </a:xfrm>
          <a:prstGeom prst="rect">
            <a:avLst/>
          </a:prstGeom>
          <a:noFill/>
          <a:ln/>
        </p:spPr>
        <p:txBody>
          <a:bodyPr wrap="square" lIns="25400" tIns="25400" rIns="25400" bIns="25400" rtlCol="0" anchor="t">
            <a:normAutofit/>
          </a:bodyPr>
          <a:lstStyle/>
          <a:p>
            <a:pPr algn="l" indent="0" marL="0">
              <a:lnSpc>
                <a:spcPct val="118953"/>
              </a:lnSpc>
              <a:buNone/>
            </a:pPr>
            <a:r>
              <a:rPr lang="en-US" sz="1650" dirty="0">
                <a:solidFill>
                  <a:srgbClr val="0E1C30">
                    <a:alpha val="75000"/>
                  </a:srgbClr>
                </a:solidFill>
                <a:latin typeface="IBM Plex Sans" pitchFamily="34" charset="0"/>
                <a:ea typeface="IBM Plex Sans" pitchFamily="34" charset="-122"/>
                <a:cs typeface="IBM Plex Sans" pitchFamily="34" charset="-120"/>
              </a:rPr>
              <a:t>Builder (custom agents) · Test Architect (risk-based testing) · Game Dev Studio · Creative Intelligence Suite.</a:t>
            </a:r>
            <a:endParaRPr lang="en-US" sz="1650" dirty="0"/>
          </a:p>
        </p:txBody>
      </p:sp>
      <p:sp>
        <p:nvSpPr>
          <p:cNvPr id="12" name="Text 10"/>
          <p:cNvSpPr/>
          <p:nvPr/>
        </p:nvSpPr>
        <p:spPr>
          <a:xfrm>
            <a:off x="10240169" y="4096385"/>
            <a:ext cx="6713006" cy="638175"/>
          </a:xfrm>
          <a:prstGeom prst="rect">
            <a:avLst/>
          </a:prstGeom>
          <a:noFill/>
          <a:ln/>
        </p:spPr>
        <p:txBody>
          <a:bodyPr wrap="square" lIns="25400" tIns="25400" rIns="25400" bIns="25400" rtlCol="0" anchor="t">
            <a:normAutofit/>
          </a:bodyPr>
          <a:lstStyle/>
          <a:p>
            <a:pPr algn="l" indent="0" marL="0">
              <a:lnSpc>
                <a:spcPct val="115244"/>
              </a:lnSpc>
              <a:buNone/>
            </a:pPr>
            <a:r>
              <a:rPr lang="en-US" sz="1575" dirty="0">
                <a:solidFill>
                  <a:srgbClr val="0E1C30">
                    <a:alpha val="55000"/>
                  </a:srgbClr>
                </a:solidFill>
                <a:latin typeface="IBM Plex Sans" pitchFamily="34" charset="0"/>
                <a:ea typeface="IBM Plex Sans" pitchFamily="34" charset="-122"/>
                <a:cs typeface="IBM Plex Sans" pitchFamily="34" charset="-120"/>
              </a:rPr>
              <a:t>Community: VS Code dashboard, GitHub Projects sync, n8n automation personas, and a growing skill marketplace.</a:t>
            </a:r>
            <a:endParaRPr lang="en-US" sz="1575" dirty="0"/>
          </a:p>
        </p:txBody>
      </p:sp>
      <p:sp>
        <p:nvSpPr>
          <p:cNvPr id="13" name="Text 11"/>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14" name="Text 12"/>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41 / 45</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1143000" y="892175"/>
            <a:ext cx="95250" cy="95250"/>
          </a:xfrm>
          <a:prstGeom prst="rect">
            <a:avLst/>
          </a:prstGeom>
          <a:solidFill>
            <a:srgbClr val="F4C233"/>
          </a:solidFill>
          <a:ln/>
        </p:spPr>
      </p:sp>
      <p:sp>
        <p:nvSpPr>
          <p:cNvPr id="3" name="Text 1"/>
          <p:cNvSpPr/>
          <p:nvPr/>
        </p:nvSpPr>
        <p:spPr>
          <a:xfrm>
            <a:off x="1371600" y="838200"/>
            <a:ext cx="2123440" cy="241300"/>
          </a:xfrm>
          <a:prstGeom prst="rect">
            <a:avLst/>
          </a:prstGeom>
          <a:noFill/>
          <a:ln/>
        </p:spPr>
        <p:txBody>
          <a:bodyPr wrap="square" lIns="0" tIns="0" rIns="0" bIns="0" rtlCol="0" anchor="t">
            <a:normAutofit/>
          </a:bodyPr>
          <a:lstStyle/>
          <a:p>
            <a:pPr algn="l" indent="0" marL="0">
              <a:buNone/>
            </a:pPr>
            <a:r>
              <a:rPr lang="en-US" sz="1200" spc="288" kern="0" dirty="0">
                <a:solidFill>
                  <a:srgbClr val="1E7FD6"/>
                </a:solidFill>
                <a:latin typeface="IBM Plex Mono" pitchFamily="34" charset="0"/>
                <a:ea typeface="IBM Plex Mono" pitchFamily="34" charset="-122"/>
                <a:cs typeface="IBM Plex Mono" pitchFamily="34" charset="-120"/>
              </a:rPr>
              <a:t>SEE IT IN ACTION</a:t>
            </a:r>
            <a:endParaRPr lang="en-US" sz="1200" dirty="0"/>
          </a:p>
        </p:txBody>
      </p:sp>
      <p:sp>
        <p:nvSpPr>
          <p:cNvPr id="4" name="Text 2"/>
          <p:cNvSpPr/>
          <p:nvPr/>
        </p:nvSpPr>
        <p:spPr>
          <a:xfrm>
            <a:off x="1143000" y="1250950"/>
            <a:ext cx="13735050" cy="1187132"/>
          </a:xfrm>
          <a:prstGeom prst="rect">
            <a:avLst/>
          </a:prstGeom>
          <a:noFill/>
          <a:ln/>
        </p:spPr>
        <p:txBody>
          <a:bodyPr wrap="square" lIns="25400" tIns="25400" rIns="25400" bIns="25400" rtlCol="0" anchor="t">
            <a:normAutofit/>
          </a:bodyPr>
          <a:lstStyle/>
          <a:p>
            <a:pPr algn="l" indent="0" marL="0">
              <a:lnSpc>
                <a:spcPct val="81509"/>
              </a:lnSpc>
              <a:buNone/>
            </a:pPr>
            <a:r>
              <a:rPr lang="en-US" sz="4350" b="1" spc="-87" kern="0" dirty="0">
                <a:solidFill>
                  <a:srgbClr val="0E1C30"/>
                </a:solidFill>
                <a:latin typeface="Space Grotesk" pitchFamily="34" charset="0"/>
                <a:ea typeface="Space Grotesk" pitchFamily="34" charset="-122"/>
                <a:cs typeface="Space Grotesk" pitchFamily="34" charset="-120"/>
              </a:rPr>
              <a:t>From install to artifacts — the method in the terminal</a:t>
            </a:r>
            <a:endParaRPr lang="en-US" sz="4350" dirty="0"/>
          </a:p>
        </p:txBody>
      </p:sp>
      <p:sp>
        <p:nvSpPr>
          <p:cNvPr id="5" name="Shape 3"/>
          <p:cNvSpPr/>
          <p:nvPr/>
        </p:nvSpPr>
        <p:spPr>
          <a:xfrm>
            <a:off x="1143000" y="2895283"/>
            <a:ext cx="5118100" cy="3198813"/>
          </a:xfrm>
          <a:prstGeom prst="rect">
            <a:avLst/>
          </a:prstGeom>
          <a:solidFill>
            <a:srgbClr val="0B1626"/>
          </a:solidFill>
          <a:ln w="6350">
            <a:solidFill>
              <a:srgbClr val="0E1C30">
                <a:alpha val="16000"/>
              </a:srgbClr>
            </a:solidFill>
            <a:prstDash val="solid"/>
          </a:ln>
        </p:spPr>
      </p:sp>
      <p:sp>
        <p:nvSpPr>
          <p:cNvPr id="6" name="Shape 4"/>
          <p:cNvSpPr/>
          <p:nvPr/>
        </p:nvSpPr>
        <p:spPr>
          <a:xfrm>
            <a:off x="1149350" y="3335972"/>
            <a:ext cx="5105400" cy="9525"/>
          </a:xfrm>
          <a:prstGeom prst="rect">
            <a:avLst/>
          </a:prstGeom>
          <a:solidFill>
            <a:srgbClr val="F6F4EE">
              <a:alpha val="10000"/>
            </a:srgbClr>
          </a:solidFill>
          <a:ln/>
        </p:spPr>
      </p:sp>
      <p:sp>
        <p:nvSpPr>
          <p:cNvPr id="7" name="Shape 5"/>
          <p:cNvSpPr/>
          <p:nvPr/>
        </p:nvSpPr>
        <p:spPr>
          <a:xfrm>
            <a:off x="1320800" y="3071178"/>
            <a:ext cx="95250" cy="95250"/>
          </a:xfrm>
          <a:prstGeom prst="ellipse">
            <a:avLst/>
          </a:prstGeom>
          <a:solidFill>
            <a:srgbClr val="F6F4EE">
              <a:alpha val="22000"/>
            </a:srgbClr>
          </a:solidFill>
          <a:ln/>
        </p:spPr>
      </p:sp>
      <p:sp>
        <p:nvSpPr>
          <p:cNvPr id="8" name="Shape 6"/>
          <p:cNvSpPr/>
          <p:nvPr/>
        </p:nvSpPr>
        <p:spPr>
          <a:xfrm>
            <a:off x="1482725" y="3071178"/>
            <a:ext cx="95250" cy="95250"/>
          </a:xfrm>
          <a:prstGeom prst="ellipse">
            <a:avLst/>
          </a:prstGeom>
          <a:solidFill>
            <a:srgbClr val="F6F4EE">
              <a:alpha val="22000"/>
            </a:srgbClr>
          </a:solidFill>
          <a:ln/>
        </p:spPr>
      </p:sp>
      <p:sp>
        <p:nvSpPr>
          <p:cNvPr id="9" name="Shape 7"/>
          <p:cNvSpPr/>
          <p:nvPr/>
        </p:nvSpPr>
        <p:spPr>
          <a:xfrm>
            <a:off x="1644650" y="3071178"/>
            <a:ext cx="95250" cy="95250"/>
          </a:xfrm>
          <a:prstGeom prst="ellipse">
            <a:avLst/>
          </a:prstGeom>
          <a:solidFill>
            <a:srgbClr val="F6F4EE">
              <a:alpha val="22000"/>
            </a:srgbClr>
          </a:solidFill>
          <a:ln/>
        </p:spPr>
      </p:sp>
      <p:sp>
        <p:nvSpPr>
          <p:cNvPr id="10" name="Text 8"/>
          <p:cNvSpPr/>
          <p:nvPr/>
        </p:nvSpPr>
        <p:spPr>
          <a:xfrm>
            <a:off x="1882775" y="3015932"/>
            <a:ext cx="1516380" cy="243840"/>
          </a:xfrm>
          <a:prstGeom prst="rect">
            <a:avLst/>
          </a:prstGeom>
          <a:noFill/>
          <a:ln/>
        </p:spPr>
        <p:txBody>
          <a:bodyPr wrap="square" lIns="25400" tIns="25400" rIns="25400" bIns="25400" rtlCol="0" anchor="t">
            <a:normAutofit/>
          </a:bodyPr>
          <a:lstStyle/>
          <a:p>
            <a:pPr algn="l" indent="0" marL="0">
              <a:lnSpc>
                <a:spcPct val="140870"/>
              </a:lnSpc>
              <a:buNone/>
            </a:pPr>
            <a:r>
              <a:rPr lang="en-US" sz="900" spc="90" kern="0" dirty="0">
                <a:solidFill>
                  <a:srgbClr val="F6F4EE">
                    <a:alpha val="40000"/>
                  </a:srgbClr>
                </a:solidFill>
                <a:latin typeface="IBM Plex Mono" pitchFamily="34" charset="0"/>
                <a:ea typeface="IBM Plex Mono" pitchFamily="34" charset="-122"/>
                <a:cs typeface="IBM Plex Mono" pitchFamily="34" charset="-120"/>
              </a:rPr>
              <a:t>zsh — your-project</a:t>
            </a:r>
            <a:endParaRPr lang="en-US" sz="900" dirty="0"/>
          </a:p>
        </p:txBody>
      </p:sp>
      <p:sp>
        <p:nvSpPr>
          <p:cNvPr id="11" name="Text 9"/>
          <p:cNvSpPr/>
          <p:nvPr/>
        </p:nvSpPr>
        <p:spPr>
          <a:xfrm>
            <a:off x="1358900" y="3513772"/>
            <a:ext cx="4826889" cy="295275"/>
          </a:xfrm>
          <a:prstGeom prst="rect">
            <a:avLst/>
          </a:prstGeom>
          <a:noFill/>
          <a:ln/>
        </p:spPr>
        <p:txBody>
          <a:bodyPr wrap="square" lIns="25400" tIns="25400" rIns="25400" bIns="25400" rtlCol="0" anchor="t">
            <a:normAutofit/>
          </a:bodyPr>
          <a:lstStyle/>
          <a:p>
            <a:pPr algn="l" indent="0" marL="0">
              <a:lnSpc>
                <a:spcPct val="139655"/>
              </a:lnSpc>
              <a:buNone/>
            </a:pPr>
            <a:r>
              <a:rPr lang="en-US" sz="1125" dirty="0">
                <a:solidFill>
                  <a:srgbClr val="4FD1A6"/>
                </a:solidFill>
                <a:latin typeface="IBM Plex Mono" pitchFamily="34" charset="0"/>
                <a:ea typeface="IBM Plex Mono" pitchFamily="34" charset="-122"/>
                <a:cs typeface="IBM Plex Mono" pitchFamily="34" charset="-120"/>
              </a:rPr>
              <a:t>$ </a:t>
            </a:r>
            <a:pPr algn="l" indent="0" marL="0">
              <a:lnSpc>
                <a:spcPct val="139655"/>
              </a:lnSpc>
              <a:buNone/>
            </a:pPr>
            <a:r>
              <a:rPr lang="en-US" sz="1125" dirty="0">
                <a:solidFill>
                  <a:srgbClr val="F6F4EE">
                    <a:alpha val="85000"/>
                  </a:srgbClr>
                </a:solidFill>
                <a:latin typeface="IBM Plex Mono" pitchFamily="34" charset="0"/>
                <a:ea typeface="IBM Plex Mono" pitchFamily="34" charset="-122"/>
                <a:cs typeface="IBM Plex Mono" pitchFamily="34" charset="-120"/>
              </a:rPr>
              <a:t>npx bmad-method install</a:t>
            </a:r>
            <a:endParaRPr lang="en-US" sz="1125" dirty="0"/>
          </a:p>
        </p:txBody>
      </p:sp>
      <p:sp>
        <p:nvSpPr>
          <p:cNvPr id="12" name="Text 10"/>
          <p:cNvSpPr/>
          <p:nvPr/>
        </p:nvSpPr>
        <p:spPr>
          <a:xfrm>
            <a:off x="1358900" y="3770947"/>
            <a:ext cx="4826889" cy="295275"/>
          </a:xfrm>
          <a:prstGeom prst="rect">
            <a:avLst/>
          </a:prstGeom>
          <a:noFill/>
          <a:ln/>
        </p:spPr>
        <p:txBody>
          <a:bodyPr wrap="square" lIns="25400" tIns="25400" rIns="25400" bIns="25400" rtlCol="0" anchor="t">
            <a:normAutofit/>
          </a:bodyPr>
          <a:lstStyle/>
          <a:p>
            <a:pPr algn="l" indent="0" marL="0">
              <a:lnSpc>
                <a:spcPct val="139655"/>
              </a:lnSpc>
              <a:buNone/>
            </a:pPr>
            <a:r>
              <a:rPr lang="en-US" sz="1125" dirty="0">
                <a:solidFill>
                  <a:srgbClr val="F6F4EE">
                    <a:alpha val="60000"/>
                  </a:srgbClr>
                </a:solidFill>
                <a:latin typeface="IBM Plex Mono" pitchFamily="34" charset="0"/>
                <a:ea typeface="IBM Plex Mono" pitchFamily="34" charset="-122"/>
                <a:cs typeface="IBM Plex Mono" pitchFamily="34" charset="-120"/>
              </a:rPr>
              <a:t>? Select modules › </a:t>
            </a:r>
            <a:pPr algn="l" indent="0" marL="0">
              <a:lnSpc>
                <a:spcPct val="139655"/>
              </a:lnSpc>
              <a:buNone/>
            </a:pPr>
            <a:r>
              <a:rPr lang="en-US" sz="1125" dirty="0">
                <a:solidFill>
                  <a:srgbClr val="F4C233"/>
                </a:solidFill>
                <a:latin typeface="IBM Plex Mono" pitchFamily="34" charset="0"/>
                <a:ea typeface="IBM Plex Mono" pitchFamily="34" charset="-122"/>
                <a:cs typeface="IBM Plex Mono" pitchFamily="34" charset="-120"/>
              </a:rPr>
              <a:t>◉ BMM </a:t>
            </a:r>
            <a:pPr algn="l" indent="0" marL="0">
              <a:lnSpc>
                <a:spcPct val="139655"/>
              </a:lnSpc>
              <a:buNone/>
            </a:pPr>
            <a:r>
              <a:rPr lang="en-US" sz="1125" dirty="0">
                <a:solidFill>
                  <a:srgbClr val="F6F4EE">
                    <a:alpha val="60000"/>
                  </a:srgbClr>
                </a:solidFill>
                <a:latin typeface="IBM Plex Mono" pitchFamily="34" charset="0"/>
                <a:ea typeface="IBM Plex Mono" pitchFamily="34" charset="-122"/>
                <a:cs typeface="IBM Plex Mono" pitchFamily="34" charset="-120"/>
              </a:rPr>
              <a:t>◉ CIS ○ TEA</a:t>
            </a:r>
            <a:endParaRPr lang="en-US" sz="1125" dirty="0"/>
          </a:p>
        </p:txBody>
      </p:sp>
      <p:sp>
        <p:nvSpPr>
          <p:cNvPr id="13" name="Text 11"/>
          <p:cNvSpPr/>
          <p:nvPr/>
        </p:nvSpPr>
        <p:spPr>
          <a:xfrm>
            <a:off x="1358900" y="4028122"/>
            <a:ext cx="4826889" cy="295275"/>
          </a:xfrm>
          <a:prstGeom prst="rect">
            <a:avLst/>
          </a:prstGeom>
          <a:noFill/>
          <a:ln/>
        </p:spPr>
        <p:txBody>
          <a:bodyPr wrap="square" lIns="25400" tIns="25400" rIns="25400" bIns="25400" rtlCol="0" anchor="t">
            <a:normAutofit/>
          </a:bodyPr>
          <a:lstStyle/>
          <a:p>
            <a:pPr algn="l" indent="0" marL="0">
              <a:lnSpc>
                <a:spcPct val="139655"/>
              </a:lnSpc>
              <a:buNone/>
            </a:pPr>
            <a:r>
              <a:rPr lang="en-US" sz="1125" dirty="0">
                <a:solidFill>
                  <a:srgbClr val="4FD1A6"/>
                </a:solidFill>
                <a:latin typeface="IBM Plex Mono" pitchFamily="34" charset="0"/>
                <a:ea typeface="IBM Plex Mono" pitchFamily="34" charset="-122"/>
                <a:cs typeface="IBM Plex Mono" pitchFamily="34" charset="-120"/>
              </a:rPr>
              <a:t>✓ </a:t>
            </a:r>
            <a:pPr algn="l" indent="0" marL="0">
              <a:lnSpc>
                <a:spcPct val="139655"/>
              </a:lnSpc>
              <a:buNone/>
            </a:pPr>
            <a:r>
              <a:rPr lang="en-US" sz="1125" dirty="0">
                <a:solidFill>
                  <a:srgbClr val="F6F4EE">
                    <a:alpha val="85000"/>
                  </a:srgbClr>
                </a:solidFill>
                <a:latin typeface="IBM Plex Mono" pitchFamily="34" charset="0"/>
                <a:ea typeface="IBM Plex Mono" pitchFamily="34" charset="-122"/>
                <a:cs typeface="IBM Plex Mono" pitchFamily="34" charset="-120"/>
              </a:rPr>
              <a:t>_bmad/ — core · agents · workflows</a:t>
            </a:r>
            <a:endParaRPr lang="en-US" sz="1125" dirty="0"/>
          </a:p>
        </p:txBody>
      </p:sp>
      <p:sp>
        <p:nvSpPr>
          <p:cNvPr id="14" name="Text 12"/>
          <p:cNvSpPr/>
          <p:nvPr/>
        </p:nvSpPr>
        <p:spPr>
          <a:xfrm>
            <a:off x="1358900" y="4285297"/>
            <a:ext cx="4826889" cy="295275"/>
          </a:xfrm>
          <a:prstGeom prst="rect">
            <a:avLst/>
          </a:prstGeom>
          <a:noFill/>
          <a:ln/>
        </p:spPr>
        <p:txBody>
          <a:bodyPr wrap="square" lIns="25400" tIns="25400" rIns="25400" bIns="25400" rtlCol="0" anchor="t">
            <a:normAutofit/>
          </a:bodyPr>
          <a:lstStyle/>
          <a:p>
            <a:pPr algn="l" indent="0" marL="0">
              <a:lnSpc>
                <a:spcPct val="139655"/>
              </a:lnSpc>
              <a:buNone/>
            </a:pPr>
            <a:r>
              <a:rPr lang="en-US" sz="1125" dirty="0">
                <a:solidFill>
                  <a:srgbClr val="4FD1A6"/>
                </a:solidFill>
                <a:latin typeface="IBM Plex Mono" pitchFamily="34" charset="0"/>
                <a:ea typeface="IBM Plex Mono" pitchFamily="34" charset="-122"/>
                <a:cs typeface="IBM Plex Mono" pitchFamily="34" charset="-120"/>
              </a:rPr>
              <a:t>✓ </a:t>
            </a:r>
            <a:pPr algn="l" indent="0" marL="0">
              <a:lnSpc>
                <a:spcPct val="139655"/>
              </a:lnSpc>
              <a:buNone/>
            </a:pPr>
            <a:r>
              <a:rPr lang="en-US" sz="1125" dirty="0">
                <a:solidFill>
                  <a:srgbClr val="F6F4EE">
                    <a:alpha val="85000"/>
                  </a:srgbClr>
                </a:solidFill>
                <a:latin typeface="IBM Plex Mono" pitchFamily="34" charset="0"/>
                <a:ea typeface="IBM Plex Mono" pitchFamily="34" charset="-122"/>
                <a:cs typeface="IBM Plex Mono" pitchFamily="34" charset="-120"/>
              </a:rPr>
              <a:t>Claude Code integration configured</a:t>
            </a:r>
            <a:endParaRPr lang="en-US" sz="1125" dirty="0"/>
          </a:p>
        </p:txBody>
      </p:sp>
      <p:sp>
        <p:nvSpPr>
          <p:cNvPr id="15" name="Text 13"/>
          <p:cNvSpPr/>
          <p:nvPr/>
        </p:nvSpPr>
        <p:spPr>
          <a:xfrm>
            <a:off x="1358900" y="4542472"/>
            <a:ext cx="4826889" cy="295275"/>
          </a:xfrm>
          <a:prstGeom prst="rect">
            <a:avLst/>
          </a:prstGeom>
          <a:noFill/>
          <a:ln/>
        </p:spPr>
        <p:txBody>
          <a:bodyPr wrap="square" lIns="25400" tIns="25400" rIns="25400" bIns="25400" rtlCol="0" anchor="t">
            <a:normAutofit/>
          </a:bodyPr>
          <a:lstStyle/>
          <a:p>
            <a:pPr algn="l" indent="0" marL="0">
              <a:lnSpc>
                <a:spcPct val="139655"/>
              </a:lnSpc>
              <a:buNone/>
            </a:pPr>
            <a:r>
              <a:rPr lang="en-US" sz="1125" dirty="0">
                <a:solidFill>
                  <a:srgbClr val="4FD1A6"/>
                </a:solidFill>
                <a:latin typeface="IBM Plex Mono" pitchFamily="34" charset="0"/>
                <a:ea typeface="IBM Plex Mono" pitchFamily="34" charset="-122"/>
                <a:cs typeface="IBM Plex Mono" pitchFamily="34" charset="-120"/>
              </a:rPr>
              <a:t>$ </a:t>
            </a:r>
            <a:pPr algn="l" indent="0" marL="0">
              <a:lnSpc>
                <a:spcPct val="139655"/>
              </a:lnSpc>
              <a:buNone/>
            </a:pPr>
            <a:r>
              <a:rPr lang="en-US" sz="1125" dirty="0">
                <a:solidFill>
                  <a:srgbClr val="F6F4EE">
                    <a:alpha val="85000"/>
                  </a:srgbClr>
                </a:solidFill>
                <a:latin typeface="IBM Plex Mono" pitchFamily="34" charset="0"/>
                <a:ea typeface="IBM Plex Mono" pitchFamily="34" charset="-122"/>
                <a:cs typeface="IBM Plex Mono" pitchFamily="34" charset="-120"/>
              </a:rPr>
              <a:t>claude</a:t>
            </a:r>
            <a:endParaRPr lang="en-US" sz="1125" dirty="0"/>
          </a:p>
        </p:txBody>
      </p:sp>
      <p:sp>
        <p:nvSpPr>
          <p:cNvPr id="16" name="Text 14"/>
          <p:cNvSpPr/>
          <p:nvPr/>
        </p:nvSpPr>
        <p:spPr>
          <a:xfrm>
            <a:off x="1358900" y="4799647"/>
            <a:ext cx="4826889" cy="295275"/>
          </a:xfrm>
          <a:prstGeom prst="rect">
            <a:avLst/>
          </a:prstGeom>
          <a:noFill/>
          <a:ln/>
        </p:spPr>
        <p:txBody>
          <a:bodyPr wrap="square" lIns="25400" tIns="25400" rIns="25400" bIns="25400" rtlCol="0" anchor="t">
            <a:normAutofit/>
          </a:bodyPr>
          <a:lstStyle/>
          <a:p>
            <a:pPr algn="l" indent="0" marL="0">
              <a:lnSpc>
                <a:spcPct val="139655"/>
              </a:lnSpc>
              <a:buNone/>
            </a:pPr>
            <a:r>
              <a:rPr lang="en-US" sz="1125" dirty="0">
                <a:solidFill>
                  <a:srgbClr val="5BB3F5"/>
                </a:solidFill>
                <a:latin typeface="IBM Plex Mono" pitchFamily="34" charset="0"/>
                <a:ea typeface="IBM Plex Mono" pitchFamily="34" charset="-122"/>
                <a:cs typeface="IBM Plex Mono" pitchFamily="34" charset="-120"/>
              </a:rPr>
              <a:t>&gt; </a:t>
            </a:r>
            <a:pPr algn="l" indent="0" marL="0">
              <a:lnSpc>
                <a:spcPct val="139655"/>
              </a:lnSpc>
              <a:buNone/>
            </a:pPr>
            <a:r>
              <a:rPr lang="en-US" sz="1125" dirty="0">
                <a:solidFill>
                  <a:srgbClr val="F6F4EE">
                    <a:alpha val="85000"/>
                  </a:srgbClr>
                </a:solidFill>
                <a:latin typeface="IBM Plex Mono" pitchFamily="34" charset="0"/>
                <a:ea typeface="IBM Plex Mono" pitchFamily="34" charset="-122"/>
                <a:cs typeface="IBM Plex Mono" pitchFamily="34" charset="-120"/>
              </a:rPr>
              <a:t>Hey Mary, let’s brainstorm</a:t>
            </a:r>
            <a:endParaRPr lang="en-US" sz="1125" dirty="0"/>
          </a:p>
        </p:txBody>
      </p:sp>
      <p:sp>
        <p:nvSpPr>
          <p:cNvPr id="17" name="Text 15"/>
          <p:cNvSpPr/>
          <p:nvPr/>
        </p:nvSpPr>
        <p:spPr>
          <a:xfrm>
            <a:off x="1143000" y="6246495"/>
            <a:ext cx="5629910" cy="330200"/>
          </a:xfrm>
          <a:prstGeom prst="rect">
            <a:avLst/>
          </a:prstGeom>
          <a:noFill/>
          <a:ln/>
        </p:spPr>
        <p:txBody>
          <a:bodyPr wrap="square" lIns="25400" tIns="25400" rIns="25400" bIns="25400" rtlCol="0" anchor="t">
            <a:normAutofit/>
          </a:bodyPr>
          <a:lstStyle/>
          <a:p>
            <a:pPr algn="l" indent="0" marL="0">
              <a:buNone/>
            </a:pPr>
            <a:r>
              <a:rPr lang="en-US" sz="1800" b="1" dirty="0">
                <a:solidFill>
                  <a:srgbClr val="0E1C30"/>
                </a:solidFill>
                <a:latin typeface="Space Grotesk" pitchFamily="34" charset="0"/>
                <a:ea typeface="Space Grotesk" pitchFamily="34" charset="-122"/>
                <a:cs typeface="Space Grotesk" pitchFamily="34" charset="-120"/>
              </a:rPr>
              <a:t>Install &amp; kickoff</a:t>
            </a:r>
            <a:endParaRPr lang="en-US" sz="1800" dirty="0"/>
          </a:p>
        </p:txBody>
      </p:sp>
      <p:sp>
        <p:nvSpPr>
          <p:cNvPr id="18" name="Text 16"/>
          <p:cNvSpPr/>
          <p:nvPr/>
        </p:nvSpPr>
        <p:spPr>
          <a:xfrm>
            <a:off x="1143000" y="6576695"/>
            <a:ext cx="5629910" cy="291465"/>
          </a:xfrm>
          <a:prstGeom prst="rect">
            <a:avLst/>
          </a:prstGeom>
          <a:noFill/>
          <a:ln/>
        </p:spPr>
        <p:txBody>
          <a:bodyPr wrap="square" lIns="25400" tIns="25400" rIns="25400" bIns="25400" rtlCol="0" anchor="t">
            <a:normAutofit/>
          </a:bodyPr>
          <a:lstStyle/>
          <a:p>
            <a:pPr algn="l" indent="0" marL="0">
              <a:lnSpc>
                <a:spcPct val="107838"/>
              </a:lnSpc>
              <a:buNone/>
            </a:pPr>
            <a:r>
              <a:rPr lang="en-US" sz="1425" dirty="0">
                <a:solidFill>
                  <a:srgbClr val="0E1C30">
                    <a:alpha val="55000"/>
                  </a:srgbClr>
                </a:solidFill>
                <a:latin typeface="IBM Plex Sans" pitchFamily="34" charset="0"/>
                <a:ea typeface="IBM Plex Sans" pitchFamily="34" charset="-122"/>
                <a:cs typeface="IBM Plex Sans" pitchFamily="34" charset="-120"/>
              </a:rPr>
              <a:t>npx bmad-method install, then your first workflow prompt</a:t>
            </a:r>
            <a:endParaRPr lang="en-US" sz="1425" dirty="0"/>
          </a:p>
        </p:txBody>
      </p:sp>
      <p:sp>
        <p:nvSpPr>
          <p:cNvPr id="19" name="Shape 17"/>
          <p:cNvSpPr/>
          <p:nvPr/>
        </p:nvSpPr>
        <p:spPr>
          <a:xfrm>
            <a:off x="6584950" y="2895283"/>
            <a:ext cx="5118100" cy="3198813"/>
          </a:xfrm>
          <a:prstGeom prst="rect">
            <a:avLst/>
          </a:prstGeom>
          <a:solidFill>
            <a:srgbClr val="0B1626"/>
          </a:solidFill>
          <a:ln w="6350">
            <a:solidFill>
              <a:srgbClr val="0E1C30">
                <a:alpha val="16000"/>
              </a:srgbClr>
            </a:solidFill>
            <a:prstDash val="solid"/>
          </a:ln>
        </p:spPr>
      </p:sp>
      <p:sp>
        <p:nvSpPr>
          <p:cNvPr id="20" name="Shape 18"/>
          <p:cNvSpPr/>
          <p:nvPr/>
        </p:nvSpPr>
        <p:spPr>
          <a:xfrm>
            <a:off x="6591300" y="3335972"/>
            <a:ext cx="5105400" cy="9525"/>
          </a:xfrm>
          <a:prstGeom prst="rect">
            <a:avLst/>
          </a:prstGeom>
          <a:solidFill>
            <a:srgbClr val="F6F4EE">
              <a:alpha val="10000"/>
            </a:srgbClr>
          </a:solidFill>
          <a:ln/>
        </p:spPr>
      </p:sp>
      <p:sp>
        <p:nvSpPr>
          <p:cNvPr id="21" name="Shape 19"/>
          <p:cNvSpPr/>
          <p:nvPr/>
        </p:nvSpPr>
        <p:spPr>
          <a:xfrm>
            <a:off x="6762750" y="3071178"/>
            <a:ext cx="95250" cy="95250"/>
          </a:xfrm>
          <a:prstGeom prst="ellipse">
            <a:avLst/>
          </a:prstGeom>
          <a:solidFill>
            <a:srgbClr val="F6F4EE">
              <a:alpha val="22000"/>
            </a:srgbClr>
          </a:solidFill>
          <a:ln/>
        </p:spPr>
      </p:sp>
      <p:sp>
        <p:nvSpPr>
          <p:cNvPr id="22" name="Shape 20"/>
          <p:cNvSpPr/>
          <p:nvPr/>
        </p:nvSpPr>
        <p:spPr>
          <a:xfrm>
            <a:off x="6924675" y="3071178"/>
            <a:ext cx="95250" cy="95250"/>
          </a:xfrm>
          <a:prstGeom prst="ellipse">
            <a:avLst/>
          </a:prstGeom>
          <a:solidFill>
            <a:srgbClr val="F6F4EE">
              <a:alpha val="22000"/>
            </a:srgbClr>
          </a:solidFill>
          <a:ln/>
        </p:spPr>
      </p:sp>
      <p:sp>
        <p:nvSpPr>
          <p:cNvPr id="23" name="Shape 21"/>
          <p:cNvSpPr/>
          <p:nvPr/>
        </p:nvSpPr>
        <p:spPr>
          <a:xfrm>
            <a:off x="7086600" y="3071178"/>
            <a:ext cx="95250" cy="95250"/>
          </a:xfrm>
          <a:prstGeom prst="ellipse">
            <a:avLst/>
          </a:prstGeom>
          <a:solidFill>
            <a:srgbClr val="F6F4EE">
              <a:alpha val="22000"/>
            </a:srgbClr>
          </a:solidFill>
          <a:ln/>
        </p:spPr>
      </p:sp>
      <p:sp>
        <p:nvSpPr>
          <p:cNvPr id="24" name="Text 22"/>
          <p:cNvSpPr/>
          <p:nvPr/>
        </p:nvSpPr>
        <p:spPr>
          <a:xfrm>
            <a:off x="7324725" y="3015932"/>
            <a:ext cx="1276350" cy="243840"/>
          </a:xfrm>
          <a:prstGeom prst="rect">
            <a:avLst/>
          </a:prstGeom>
          <a:noFill/>
          <a:ln/>
        </p:spPr>
        <p:txBody>
          <a:bodyPr wrap="square" lIns="25400" tIns="25400" rIns="25400" bIns="25400" rtlCol="0" anchor="t">
            <a:normAutofit/>
          </a:bodyPr>
          <a:lstStyle/>
          <a:p>
            <a:pPr algn="l" indent="0" marL="0">
              <a:lnSpc>
                <a:spcPct val="140870"/>
              </a:lnSpc>
              <a:buNone/>
            </a:pPr>
            <a:r>
              <a:rPr lang="en-US" sz="900" spc="90" kern="0" dirty="0">
                <a:solidFill>
                  <a:srgbClr val="F6F4EE">
                    <a:alpha val="40000"/>
                  </a:srgbClr>
                </a:solidFill>
                <a:latin typeface="IBM Plex Mono" pitchFamily="34" charset="0"/>
                <a:ea typeface="IBM Plex Mono" pitchFamily="34" charset="-122"/>
                <a:cs typeface="IBM Plex Mono" pitchFamily="34" charset="-120"/>
              </a:rPr>
              <a:t>John · PM — prd</a:t>
            </a:r>
            <a:endParaRPr lang="en-US" sz="900" dirty="0"/>
          </a:p>
        </p:txBody>
      </p:sp>
      <p:sp>
        <p:nvSpPr>
          <p:cNvPr id="25" name="Text 23"/>
          <p:cNvSpPr/>
          <p:nvPr/>
        </p:nvSpPr>
        <p:spPr>
          <a:xfrm>
            <a:off x="6800850" y="3513772"/>
            <a:ext cx="4826889" cy="295275"/>
          </a:xfrm>
          <a:prstGeom prst="rect">
            <a:avLst/>
          </a:prstGeom>
          <a:noFill/>
          <a:ln/>
        </p:spPr>
        <p:txBody>
          <a:bodyPr wrap="square" lIns="25400" tIns="25400" rIns="25400" bIns="25400" rtlCol="0" anchor="t">
            <a:normAutofit/>
          </a:bodyPr>
          <a:lstStyle/>
          <a:p>
            <a:pPr algn="l" indent="0" marL="0">
              <a:lnSpc>
                <a:spcPct val="139655"/>
              </a:lnSpc>
              <a:buNone/>
            </a:pPr>
            <a:r>
              <a:rPr lang="en-US" sz="1125" dirty="0">
                <a:solidFill>
                  <a:srgbClr val="F4C233"/>
                </a:solidFill>
                <a:latin typeface="IBM Plex Mono" pitchFamily="34" charset="0"/>
                <a:ea typeface="IBM Plex Mono" pitchFamily="34" charset="-122"/>
                <a:cs typeface="IBM Plex Mono" pitchFamily="34" charset="-120"/>
              </a:rPr>
              <a:t>◆ John (PM) · workflow: prd · create</a:t>
            </a:r>
            <a:endParaRPr lang="en-US" sz="1125" dirty="0"/>
          </a:p>
        </p:txBody>
      </p:sp>
      <p:sp>
        <p:nvSpPr>
          <p:cNvPr id="26" name="Text 24"/>
          <p:cNvSpPr/>
          <p:nvPr/>
        </p:nvSpPr>
        <p:spPr>
          <a:xfrm>
            <a:off x="6800850" y="3770947"/>
            <a:ext cx="4826889" cy="295275"/>
          </a:xfrm>
          <a:prstGeom prst="rect">
            <a:avLst/>
          </a:prstGeom>
          <a:noFill/>
          <a:ln/>
        </p:spPr>
        <p:txBody>
          <a:bodyPr wrap="square" lIns="25400" tIns="25400" rIns="25400" bIns="25400" rtlCol="0" anchor="t">
            <a:normAutofit/>
          </a:bodyPr>
          <a:lstStyle/>
          <a:p>
            <a:pPr algn="l" indent="0" marL="0">
              <a:lnSpc>
                <a:spcPct val="139655"/>
              </a:lnSpc>
              <a:buNone/>
            </a:pPr>
            <a:r>
              <a:rPr lang="en-US" sz="1125" dirty="0">
                <a:solidFill>
                  <a:srgbClr val="F6F4EE">
                    <a:alpha val="60000"/>
                  </a:srgbClr>
                </a:solidFill>
                <a:latin typeface="IBM Plex Mono" pitchFamily="34" charset="0"/>
                <a:ea typeface="IBM Plex Mono" pitchFamily="34" charset="-122"/>
                <a:cs typeface="IBM Plex Mono" pitchFamily="34" charset="-120"/>
              </a:rPr>
              <a:t>Q1 · Who is this for, specifically?</a:t>
            </a:r>
            <a:endParaRPr lang="en-US" sz="1125" dirty="0"/>
          </a:p>
        </p:txBody>
      </p:sp>
      <p:sp>
        <p:nvSpPr>
          <p:cNvPr id="27" name="Text 25"/>
          <p:cNvSpPr/>
          <p:nvPr/>
        </p:nvSpPr>
        <p:spPr>
          <a:xfrm>
            <a:off x="6800850" y="4028122"/>
            <a:ext cx="4826889" cy="295275"/>
          </a:xfrm>
          <a:prstGeom prst="rect">
            <a:avLst/>
          </a:prstGeom>
          <a:noFill/>
          <a:ln/>
        </p:spPr>
        <p:txBody>
          <a:bodyPr wrap="square" lIns="25400" tIns="25400" rIns="25400" bIns="25400" rtlCol="0" anchor="t">
            <a:normAutofit/>
          </a:bodyPr>
          <a:lstStyle/>
          <a:p>
            <a:pPr algn="l" indent="0" marL="0">
              <a:lnSpc>
                <a:spcPct val="139655"/>
              </a:lnSpc>
              <a:buNone/>
            </a:pPr>
            <a:r>
              <a:rPr lang="en-US" sz="1125" dirty="0">
                <a:solidFill>
                  <a:srgbClr val="5BB3F5"/>
                </a:solidFill>
                <a:latin typeface="IBM Plex Mono" pitchFamily="34" charset="0"/>
                <a:ea typeface="IBM Plex Mono" pitchFamily="34" charset="-122"/>
                <a:cs typeface="IBM Plex Mono" pitchFamily="34" charset="-120"/>
              </a:rPr>
              <a:t>you: </a:t>
            </a:r>
            <a:pPr algn="l" indent="0" marL="0">
              <a:lnSpc>
                <a:spcPct val="139655"/>
              </a:lnSpc>
              <a:buNone/>
            </a:pPr>
            <a:r>
              <a:rPr lang="en-US" sz="1125" dirty="0">
                <a:solidFill>
                  <a:srgbClr val="F6F4EE">
                    <a:alpha val="85000"/>
                  </a:srgbClr>
                </a:solidFill>
                <a:latin typeface="IBM Plex Mono" pitchFamily="34" charset="0"/>
                <a:ea typeface="IBM Plex Mono" pitchFamily="34" charset="-122"/>
                <a:cs typeface="IBM Plex Mono" pitchFamily="34" charset="-120"/>
              </a:rPr>
              <a:t>solo devs shipping side projects</a:t>
            </a:r>
            <a:endParaRPr lang="en-US" sz="1125" dirty="0"/>
          </a:p>
        </p:txBody>
      </p:sp>
      <p:sp>
        <p:nvSpPr>
          <p:cNvPr id="28" name="Text 26"/>
          <p:cNvSpPr/>
          <p:nvPr/>
        </p:nvSpPr>
        <p:spPr>
          <a:xfrm>
            <a:off x="6800850" y="4285297"/>
            <a:ext cx="4826889" cy="295275"/>
          </a:xfrm>
          <a:prstGeom prst="rect">
            <a:avLst/>
          </a:prstGeom>
          <a:noFill/>
          <a:ln/>
        </p:spPr>
        <p:txBody>
          <a:bodyPr wrap="square" lIns="25400" tIns="25400" rIns="25400" bIns="25400" rtlCol="0" anchor="t">
            <a:normAutofit/>
          </a:bodyPr>
          <a:lstStyle/>
          <a:p>
            <a:pPr algn="l" indent="0" marL="0">
              <a:lnSpc>
                <a:spcPct val="139655"/>
              </a:lnSpc>
              <a:buNone/>
            </a:pPr>
            <a:r>
              <a:rPr lang="en-US" sz="1125" dirty="0">
                <a:solidFill>
                  <a:srgbClr val="F6F4EE">
                    <a:alpha val="60000"/>
                  </a:srgbClr>
                </a:solidFill>
                <a:latin typeface="IBM Plex Mono" pitchFamily="34" charset="0"/>
                <a:ea typeface="IBM Plex Mono" pitchFamily="34" charset="-122"/>
                <a:cs typeface="IBM Plex Mono" pitchFamily="34" charset="-120"/>
              </a:rPr>
              <a:t>Q2 · What must v1 do on day one?</a:t>
            </a:r>
            <a:endParaRPr lang="en-US" sz="1125" dirty="0"/>
          </a:p>
        </p:txBody>
      </p:sp>
      <p:sp>
        <p:nvSpPr>
          <p:cNvPr id="29" name="Text 27"/>
          <p:cNvSpPr/>
          <p:nvPr/>
        </p:nvSpPr>
        <p:spPr>
          <a:xfrm>
            <a:off x="6800850" y="4542472"/>
            <a:ext cx="4826889" cy="295275"/>
          </a:xfrm>
          <a:prstGeom prst="rect">
            <a:avLst/>
          </a:prstGeom>
          <a:noFill/>
          <a:ln/>
        </p:spPr>
        <p:txBody>
          <a:bodyPr wrap="square" lIns="25400" tIns="25400" rIns="25400" bIns="25400" rtlCol="0" anchor="t">
            <a:normAutofit/>
          </a:bodyPr>
          <a:lstStyle/>
          <a:p>
            <a:pPr algn="l" indent="0" marL="0">
              <a:lnSpc>
                <a:spcPct val="139655"/>
              </a:lnSpc>
              <a:buNone/>
            </a:pPr>
            <a:r>
              <a:rPr lang="en-US" sz="1125" dirty="0">
                <a:solidFill>
                  <a:srgbClr val="5BB3F5"/>
                </a:solidFill>
                <a:latin typeface="IBM Plex Mono" pitchFamily="34" charset="0"/>
                <a:ea typeface="IBM Plex Mono" pitchFamily="34" charset="-122"/>
                <a:cs typeface="IBM Plex Mono" pitchFamily="34" charset="-120"/>
              </a:rPr>
              <a:t>you: </a:t>
            </a:r>
            <a:pPr algn="l" indent="0" marL="0">
              <a:lnSpc>
                <a:spcPct val="139655"/>
              </a:lnSpc>
              <a:buNone/>
            </a:pPr>
            <a:r>
              <a:rPr lang="en-US" sz="1125" dirty="0">
                <a:solidFill>
                  <a:srgbClr val="F6F4EE">
                    <a:alpha val="85000"/>
                  </a:srgbClr>
                </a:solidFill>
                <a:latin typeface="IBM Plex Mono" pitchFamily="34" charset="0"/>
                <a:ea typeface="IBM Plex Mono" pitchFamily="34" charset="-122"/>
                <a:cs typeface="IBM Plex Mono" pitchFamily="34" charset="-120"/>
              </a:rPr>
              <a:t>capture → transcribe → search</a:t>
            </a:r>
            <a:endParaRPr lang="en-US" sz="1125" dirty="0"/>
          </a:p>
        </p:txBody>
      </p:sp>
      <p:sp>
        <p:nvSpPr>
          <p:cNvPr id="30" name="Text 28"/>
          <p:cNvSpPr/>
          <p:nvPr/>
        </p:nvSpPr>
        <p:spPr>
          <a:xfrm>
            <a:off x="6800850" y="4799647"/>
            <a:ext cx="4826889" cy="295275"/>
          </a:xfrm>
          <a:prstGeom prst="rect">
            <a:avLst/>
          </a:prstGeom>
          <a:noFill/>
          <a:ln/>
        </p:spPr>
        <p:txBody>
          <a:bodyPr wrap="square" lIns="25400" tIns="25400" rIns="25400" bIns="25400" rtlCol="0" anchor="t">
            <a:normAutofit/>
          </a:bodyPr>
          <a:lstStyle/>
          <a:p>
            <a:pPr algn="l" indent="0" marL="0">
              <a:lnSpc>
                <a:spcPct val="139655"/>
              </a:lnSpc>
              <a:buNone/>
            </a:pPr>
            <a:r>
              <a:rPr lang="en-US" sz="1125" dirty="0">
                <a:solidFill>
                  <a:srgbClr val="4FD1A6"/>
                </a:solidFill>
                <a:latin typeface="IBM Plex Mono" pitchFamily="34" charset="0"/>
                <a:ea typeface="IBM Plex Mono" pitchFamily="34" charset="-122"/>
                <a:cs typeface="IBM Plex Mono" pitchFamily="34" charset="-120"/>
              </a:rPr>
              <a:t>✓ </a:t>
            </a:r>
            <a:pPr algn="l" indent="0" marL="0">
              <a:lnSpc>
                <a:spcPct val="139655"/>
              </a:lnSpc>
              <a:buNone/>
            </a:pPr>
            <a:r>
              <a:rPr lang="en-US" sz="1125" dirty="0">
                <a:solidFill>
                  <a:srgbClr val="F6F4EE">
                    <a:alpha val="85000"/>
                  </a:srgbClr>
                </a:solidFill>
                <a:latin typeface="IBM Plex Mono" pitchFamily="34" charset="0"/>
                <a:ea typeface="IBM Plex Mono" pitchFamily="34" charset="-122"/>
                <a:cs typeface="IBM Plex Mono" pitchFamily="34" charset="-120"/>
              </a:rPr>
              <a:t>drafted → planning-artifacts/PRD.md</a:t>
            </a:r>
            <a:endParaRPr lang="en-US" sz="1125" dirty="0"/>
          </a:p>
        </p:txBody>
      </p:sp>
      <p:sp>
        <p:nvSpPr>
          <p:cNvPr id="31" name="Text 29"/>
          <p:cNvSpPr/>
          <p:nvPr/>
        </p:nvSpPr>
        <p:spPr>
          <a:xfrm>
            <a:off x="6584950" y="6246495"/>
            <a:ext cx="5629910" cy="330200"/>
          </a:xfrm>
          <a:prstGeom prst="rect">
            <a:avLst/>
          </a:prstGeom>
          <a:noFill/>
          <a:ln/>
        </p:spPr>
        <p:txBody>
          <a:bodyPr wrap="square" lIns="25400" tIns="25400" rIns="25400" bIns="25400" rtlCol="0" anchor="t">
            <a:normAutofit/>
          </a:bodyPr>
          <a:lstStyle/>
          <a:p>
            <a:pPr algn="l" indent="0" marL="0">
              <a:buNone/>
            </a:pPr>
            <a:r>
              <a:rPr lang="en-US" sz="1800" b="1" dirty="0">
                <a:solidFill>
                  <a:srgbClr val="0E1C30"/>
                </a:solidFill>
                <a:latin typeface="Space Grotesk" pitchFamily="34" charset="0"/>
                <a:ea typeface="Space Grotesk" pitchFamily="34" charset="-122"/>
                <a:cs typeface="Space Grotesk" pitchFamily="34" charset="-120"/>
              </a:rPr>
              <a:t>A live agent session</a:t>
            </a:r>
            <a:endParaRPr lang="en-US" sz="1800" dirty="0"/>
          </a:p>
        </p:txBody>
      </p:sp>
      <p:sp>
        <p:nvSpPr>
          <p:cNvPr id="32" name="Text 30"/>
          <p:cNvSpPr/>
          <p:nvPr/>
        </p:nvSpPr>
        <p:spPr>
          <a:xfrm>
            <a:off x="6584950" y="6576695"/>
            <a:ext cx="5629910" cy="291465"/>
          </a:xfrm>
          <a:prstGeom prst="rect">
            <a:avLst/>
          </a:prstGeom>
          <a:noFill/>
          <a:ln/>
        </p:spPr>
        <p:txBody>
          <a:bodyPr wrap="square" lIns="25400" tIns="25400" rIns="25400" bIns="25400" rtlCol="0" anchor="t">
            <a:normAutofit/>
          </a:bodyPr>
          <a:lstStyle/>
          <a:p>
            <a:pPr algn="l" indent="0" marL="0">
              <a:lnSpc>
                <a:spcPct val="107838"/>
              </a:lnSpc>
              <a:buNone/>
            </a:pPr>
            <a:r>
              <a:rPr lang="en-US" sz="1425" dirty="0">
                <a:solidFill>
                  <a:srgbClr val="0E1C30">
                    <a:alpha val="55000"/>
                  </a:srgbClr>
                </a:solidFill>
                <a:latin typeface="IBM Plex Sans" pitchFamily="34" charset="0"/>
                <a:ea typeface="IBM Plex Sans" pitchFamily="34" charset="-122"/>
                <a:cs typeface="IBM Plex Sans" pitchFamily="34" charset="-120"/>
              </a:rPr>
              <a:t>Party mode or a phase workflow running in your IDE</a:t>
            </a:r>
            <a:endParaRPr lang="en-US" sz="1425" dirty="0"/>
          </a:p>
        </p:txBody>
      </p:sp>
      <p:sp>
        <p:nvSpPr>
          <p:cNvPr id="33" name="Shape 31"/>
          <p:cNvSpPr/>
          <p:nvPr/>
        </p:nvSpPr>
        <p:spPr>
          <a:xfrm>
            <a:off x="12026900" y="2895283"/>
            <a:ext cx="5118100" cy="3198813"/>
          </a:xfrm>
          <a:prstGeom prst="rect">
            <a:avLst/>
          </a:prstGeom>
          <a:solidFill>
            <a:srgbClr val="0B1626"/>
          </a:solidFill>
          <a:ln w="6350">
            <a:solidFill>
              <a:srgbClr val="0E1C30">
                <a:alpha val="16000"/>
              </a:srgbClr>
            </a:solidFill>
            <a:prstDash val="solid"/>
          </a:ln>
        </p:spPr>
      </p:sp>
      <p:sp>
        <p:nvSpPr>
          <p:cNvPr id="34" name="Shape 32"/>
          <p:cNvSpPr/>
          <p:nvPr/>
        </p:nvSpPr>
        <p:spPr>
          <a:xfrm>
            <a:off x="12033250" y="3335972"/>
            <a:ext cx="5105400" cy="9525"/>
          </a:xfrm>
          <a:prstGeom prst="rect">
            <a:avLst/>
          </a:prstGeom>
          <a:solidFill>
            <a:srgbClr val="F6F4EE">
              <a:alpha val="10000"/>
            </a:srgbClr>
          </a:solidFill>
          <a:ln/>
        </p:spPr>
      </p:sp>
      <p:sp>
        <p:nvSpPr>
          <p:cNvPr id="35" name="Shape 33"/>
          <p:cNvSpPr/>
          <p:nvPr/>
        </p:nvSpPr>
        <p:spPr>
          <a:xfrm>
            <a:off x="12204700" y="3071178"/>
            <a:ext cx="95250" cy="95250"/>
          </a:xfrm>
          <a:prstGeom prst="ellipse">
            <a:avLst/>
          </a:prstGeom>
          <a:solidFill>
            <a:srgbClr val="F6F4EE">
              <a:alpha val="22000"/>
            </a:srgbClr>
          </a:solidFill>
          <a:ln/>
        </p:spPr>
      </p:sp>
      <p:sp>
        <p:nvSpPr>
          <p:cNvPr id="36" name="Shape 34"/>
          <p:cNvSpPr/>
          <p:nvPr/>
        </p:nvSpPr>
        <p:spPr>
          <a:xfrm>
            <a:off x="12366625" y="3071178"/>
            <a:ext cx="95250" cy="95250"/>
          </a:xfrm>
          <a:prstGeom prst="ellipse">
            <a:avLst/>
          </a:prstGeom>
          <a:solidFill>
            <a:srgbClr val="F6F4EE">
              <a:alpha val="22000"/>
            </a:srgbClr>
          </a:solidFill>
          <a:ln/>
        </p:spPr>
      </p:sp>
      <p:sp>
        <p:nvSpPr>
          <p:cNvPr id="37" name="Shape 35"/>
          <p:cNvSpPr/>
          <p:nvPr/>
        </p:nvSpPr>
        <p:spPr>
          <a:xfrm>
            <a:off x="12528550" y="3071178"/>
            <a:ext cx="95250" cy="95250"/>
          </a:xfrm>
          <a:prstGeom prst="ellipse">
            <a:avLst/>
          </a:prstGeom>
          <a:solidFill>
            <a:srgbClr val="F6F4EE">
              <a:alpha val="22000"/>
            </a:srgbClr>
          </a:solidFill>
          <a:ln/>
        </p:spPr>
      </p:sp>
      <p:sp>
        <p:nvSpPr>
          <p:cNvPr id="38" name="Text 36"/>
          <p:cNvSpPr/>
          <p:nvPr/>
        </p:nvSpPr>
        <p:spPr>
          <a:xfrm>
            <a:off x="12766675" y="3015932"/>
            <a:ext cx="796290" cy="243840"/>
          </a:xfrm>
          <a:prstGeom prst="rect">
            <a:avLst/>
          </a:prstGeom>
          <a:noFill/>
          <a:ln/>
        </p:spPr>
        <p:txBody>
          <a:bodyPr wrap="square" lIns="25400" tIns="25400" rIns="25400" bIns="25400" rtlCol="0" anchor="t">
            <a:normAutofit/>
          </a:bodyPr>
          <a:lstStyle/>
          <a:p>
            <a:pPr algn="l" indent="0" marL="0">
              <a:lnSpc>
                <a:spcPct val="140870"/>
              </a:lnSpc>
              <a:buNone/>
            </a:pPr>
            <a:r>
              <a:rPr lang="en-US" sz="900" spc="90" kern="0" dirty="0">
                <a:solidFill>
                  <a:srgbClr val="F6F4EE">
                    <a:alpha val="40000"/>
                  </a:srgbClr>
                </a:solidFill>
                <a:latin typeface="IBM Plex Mono" pitchFamily="34" charset="0"/>
                <a:ea typeface="IBM Plex Mono" pitchFamily="34" charset="-122"/>
                <a:cs typeface="IBM Plex Mono" pitchFamily="34" charset="-120"/>
              </a:rPr>
              <a:t>zsh — git</a:t>
            </a:r>
            <a:endParaRPr lang="en-US" sz="900" dirty="0"/>
          </a:p>
        </p:txBody>
      </p:sp>
      <p:sp>
        <p:nvSpPr>
          <p:cNvPr id="39" name="Text 37"/>
          <p:cNvSpPr/>
          <p:nvPr/>
        </p:nvSpPr>
        <p:spPr>
          <a:xfrm>
            <a:off x="12242800" y="3513772"/>
            <a:ext cx="4826889" cy="295275"/>
          </a:xfrm>
          <a:prstGeom prst="rect">
            <a:avLst/>
          </a:prstGeom>
          <a:noFill/>
          <a:ln/>
        </p:spPr>
        <p:txBody>
          <a:bodyPr wrap="square" lIns="25400" tIns="25400" rIns="25400" bIns="25400" rtlCol="0" anchor="t">
            <a:normAutofit/>
          </a:bodyPr>
          <a:lstStyle/>
          <a:p>
            <a:pPr algn="l" indent="0" marL="0">
              <a:lnSpc>
                <a:spcPct val="139655"/>
              </a:lnSpc>
              <a:buNone/>
            </a:pPr>
            <a:r>
              <a:rPr lang="en-US" sz="1125" dirty="0">
                <a:solidFill>
                  <a:srgbClr val="4FD1A6"/>
                </a:solidFill>
                <a:latin typeface="IBM Plex Mono" pitchFamily="34" charset="0"/>
                <a:ea typeface="IBM Plex Mono" pitchFamily="34" charset="-122"/>
                <a:cs typeface="IBM Plex Mono" pitchFamily="34" charset="-120"/>
              </a:rPr>
              <a:t>$ </a:t>
            </a:r>
            <a:pPr algn="l" indent="0" marL="0">
              <a:lnSpc>
                <a:spcPct val="139655"/>
              </a:lnSpc>
              <a:buNone/>
            </a:pPr>
            <a:r>
              <a:rPr lang="en-US" sz="1125" dirty="0">
                <a:solidFill>
                  <a:srgbClr val="F6F4EE">
                    <a:alpha val="85000"/>
                  </a:srgbClr>
                </a:solidFill>
                <a:latin typeface="IBM Plex Mono" pitchFamily="34" charset="0"/>
                <a:ea typeface="IBM Plex Mono" pitchFamily="34" charset="-122"/>
                <a:cs typeface="IBM Plex Mono" pitchFamily="34" charset="-120"/>
              </a:rPr>
              <a:t>git status --short _bmad-output/</a:t>
            </a:r>
            <a:endParaRPr lang="en-US" sz="1125" dirty="0"/>
          </a:p>
        </p:txBody>
      </p:sp>
      <p:sp>
        <p:nvSpPr>
          <p:cNvPr id="40" name="Text 38"/>
          <p:cNvSpPr/>
          <p:nvPr/>
        </p:nvSpPr>
        <p:spPr>
          <a:xfrm>
            <a:off x="12242800" y="3770947"/>
            <a:ext cx="4826889" cy="295275"/>
          </a:xfrm>
          <a:prstGeom prst="rect">
            <a:avLst/>
          </a:prstGeom>
          <a:noFill/>
          <a:ln/>
        </p:spPr>
        <p:txBody>
          <a:bodyPr wrap="square" lIns="25400" tIns="25400" rIns="25400" bIns="25400" rtlCol="0" anchor="t">
            <a:normAutofit/>
          </a:bodyPr>
          <a:lstStyle/>
          <a:p>
            <a:pPr algn="l" indent="0" marL="0">
              <a:lnSpc>
                <a:spcPct val="139655"/>
              </a:lnSpc>
              <a:buNone/>
            </a:pPr>
            <a:r>
              <a:rPr lang="en-US" sz="1125" dirty="0">
                <a:solidFill>
                  <a:srgbClr val="4FD1A6"/>
                </a:solidFill>
                <a:latin typeface="IBM Plex Mono" pitchFamily="34" charset="0"/>
                <a:ea typeface="IBM Plex Mono" pitchFamily="34" charset="-122"/>
                <a:cs typeface="IBM Plex Mono" pitchFamily="34" charset="-120"/>
              </a:rPr>
              <a:t>A </a:t>
            </a:r>
            <a:pPr algn="l" indent="0" marL="0">
              <a:lnSpc>
                <a:spcPct val="139655"/>
              </a:lnSpc>
              <a:buNone/>
            </a:pPr>
            <a:r>
              <a:rPr lang="en-US" sz="1125" dirty="0">
                <a:solidFill>
                  <a:srgbClr val="F6F4EE">
                    <a:alpha val="85000"/>
                  </a:srgbClr>
                </a:solidFill>
                <a:latin typeface="IBM Plex Mono" pitchFamily="34" charset="0"/>
                <a:ea typeface="IBM Plex Mono" pitchFamily="34" charset="-122"/>
                <a:cs typeface="IBM Plex Mono" pitchFamily="34" charset="-120"/>
              </a:rPr>
              <a:t>planning-artifacts/</a:t>
            </a:r>
            <a:pPr algn="l" indent="0" marL="0">
              <a:lnSpc>
                <a:spcPct val="139655"/>
              </a:lnSpc>
              <a:buNone/>
            </a:pPr>
            <a:r>
              <a:rPr lang="en-US" sz="1125" dirty="0">
                <a:solidFill>
                  <a:srgbClr val="F4C233"/>
                </a:solidFill>
                <a:latin typeface="IBM Plex Mono" pitchFamily="34" charset="0"/>
                <a:ea typeface="IBM Plex Mono" pitchFamily="34" charset="-122"/>
                <a:cs typeface="IBM Plex Mono" pitchFamily="34" charset="-120"/>
              </a:rPr>
              <a:t>PRD.md</a:t>
            </a:r>
            <a:endParaRPr lang="en-US" sz="1125" dirty="0"/>
          </a:p>
        </p:txBody>
      </p:sp>
      <p:sp>
        <p:nvSpPr>
          <p:cNvPr id="41" name="Text 39"/>
          <p:cNvSpPr/>
          <p:nvPr/>
        </p:nvSpPr>
        <p:spPr>
          <a:xfrm>
            <a:off x="12242800" y="4028122"/>
            <a:ext cx="4826889" cy="295275"/>
          </a:xfrm>
          <a:prstGeom prst="rect">
            <a:avLst/>
          </a:prstGeom>
          <a:noFill/>
          <a:ln/>
        </p:spPr>
        <p:txBody>
          <a:bodyPr wrap="square" lIns="25400" tIns="25400" rIns="25400" bIns="25400" rtlCol="0" anchor="t">
            <a:normAutofit/>
          </a:bodyPr>
          <a:lstStyle/>
          <a:p>
            <a:pPr algn="l" indent="0" marL="0">
              <a:lnSpc>
                <a:spcPct val="139655"/>
              </a:lnSpc>
              <a:buNone/>
            </a:pPr>
            <a:r>
              <a:rPr lang="en-US" sz="1125" dirty="0">
                <a:solidFill>
                  <a:srgbClr val="4FD1A6"/>
                </a:solidFill>
                <a:latin typeface="IBM Plex Mono" pitchFamily="34" charset="0"/>
                <a:ea typeface="IBM Plex Mono" pitchFamily="34" charset="-122"/>
                <a:cs typeface="IBM Plex Mono" pitchFamily="34" charset="-120"/>
              </a:rPr>
              <a:t>A </a:t>
            </a:r>
            <a:pPr algn="l" indent="0" marL="0">
              <a:lnSpc>
                <a:spcPct val="139655"/>
              </a:lnSpc>
              <a:buNone/>
            </a:pPr>
            <a:r>
              <a:rPr lang="en-US" sz="1125" dirty="0">
                <a:solidFill>
                  <a:srgbClr val="F6F4EE">
                    <a:alpha val="85000"/>
                  </a:srgbClr>
                </a:solidFill>
                <a:latin typeface="IBM Plex Mono" pitchFamily="34" charset="0"/>
                <a:ea typeface="IBM Plex Mono" pitchFamily="34" charset="-122"/>
                <a:cs typeface="IBM Plex Mono" pitchFamily="34" charset="-120"/>
              </a:rPr>
              <a:t>planning-artifacts/</a:t>
            </a:r>
            <a:pPr algn="l" indent="0" marL="0">
              <a:lnSpc>
                <a:spcPct val="139655"/>
              </a:lnSpc>
              <a:buNone/>
            </a:pPr>
            <a:r>
              <a:rPr lang="en-US" sz="1125" dirty="0">
                <a:solidFill>
                  <a:srgbClr val="F4C233"/>
                </a:solidFill>
                <a:latin typeface="IBM Plex Mono" pitchFamily="34" charset="0"/>
                <a:ea typeface="IBM Plex Mono" pitchFamily="34" charset="-122"/>
                <a:cs typeface="IBM Plex Mono" pitchFamily="34" charset="-120"/>
              </a:rPr>
              <a:t>architecture.md</a:t>
            </a:r>
            <a:endParaRPr lang="en-US" sz="1125" dirty="0"/>
          </a:p>
        </p:txBody>
      </p:sp>
      <p:sp>
        <p:nvSpPr>
          <p:cNvPr id="42" name="Text 40"/>
          <p:cNvSpPr/>
          <p:nvPr/>
        </p:nvSpPr>
        <p:spPr>
          <a:xfrm>
            <a:off x="12242800" y="4285297"/>
            <a:ext cx="4826889" cy="295275"/>
          </a:xfrm>
          <a:prstGeom prst="rect">
            <a:avLst/>
          </a:prstGeom>
          <a:noFill/>
          <a:ln/>
        </p:spPr>
        <p:txBody>
          <a:bodyPr wrap="square" lIns="25400" tIns="25400" rIns="25400" bIns="25400" rtlCol="0" anchor="t">
            <a:normAutofit/>
          </a:bodyPr>
          <a:lstStyle/>
          <a:p>
            <a:pPr algn="l" indent="0" marL="0">
              <a:lnSpc>
                <a:spcPct val="139655"/>
              </a:lnSpc>
              <a:buNone/>
            </a:pPr>
            <a:r>
              <a:rPr lang="en-US" sz="1125" dirty="0">
                <a:solidFill>
                  <a:srgbClr val="4FD1A6"/>
                </a:solidFill>
                <a:latin typeface="IBM Plex Mono" pitchFamily="34" charset="0"/>
                <a:ea typeface="IBM Plex Mono" pitchFamily="34" charset="-122"/>
                <a:cs typeface="IBM Plex Mono" pitchFamily="34" charset="-120"/>
              </a:rPr>
              <a:t>A </a:t>
            </a:r>
            <a:pPr algn="l" indent="0" marL="0">
              <a:lnSpc>
                <a:spcPct val="139655"/>
              </a:lnSpc>
              <a:buNone/>
            </a:pPr>
            <a:r>
              <a:rPr lang="en-US" sz="1125" dirty="0">
                <a:solidFill>
                  <a:srgbClr val="F6F4EE">
                    <a:alpha val="85000"/>
                  </a:srgbClr>
                </a:solidFill>
                <a:latin typeface="IBM Plex Mono" pitchFamily="34" charset="0"/>
                <a:ea typeface="IBM Plex Mono" pitchFamily="34" charset="-122"/>
                <a:cs typeface="IBM Plex Mono" pitchFamily="34" charset="-120"/>
              </a:rPr>
              <a:t>epics/epic-1.md · stories/story-1-1.md</a:t>
            </a:r>
            <a:endParaRPr lang="en-US" sz="1125" dirty="0"/>
          </a:p>
        </p:txBody>
      </p:sp>
      <p:sp>
        <p:nvSpPr>
          <p:cNvPr id="43" name="Text 41"/>
          <p:cNvSpPr/>
          <p:nvPr/>
        </p:nvSpPr>
        <p:spPr>
          <a:xfrm>
            <a:off x="12242800" y="4542472"/>
            <a:ext cx="4826889" cy="295275"/>
          </a:xfrm>
          <a:prstGeom prst="rect">
            <a:avLst/>
          </a:prstGeom>
          <a:noFill/>
          <a:ln/>
        </p:spPr>
        <p:txBody>
          <a:bodyPr wrap="square" lIns="25400" tIns="25400" rIns="25400" bIns="25400" rtlCol="0" anchor="t">
            <a:normAutofit/>
          </a:bodyPr>
          <a:lstStyle/>
          <a:p>
            <a:pPr algn="l" indent="0" marL="0">
              <a:lnSpc>
                <a:spcPct val="139655"/>
              </a:lnSpc>
              <a:buNone/>
            </a:pPr>
            <a:r>
              <a:rPr lang="en-US" sz="1125" dirty="0">
                <a:solidFill>
                  <a:srgbClr val="4FD1A6"/>
                </a:solidFill>
                <a:latin typeface="IBM Plex Mono" pitchFamily="34" charset="0"/>
                <a:ea typeface="IBM Plex Mono" pitchFamily="34" charset="-122"/>
                <a:cs typeface="IBM Plex Mono" pitchFamily="34" charset="-120"/>
              </a:rPr>
              <a:t>A </a:t>
            </a:r>
            <a:pPr algn="l" indent="0" marL="0">
              <a:lnSpc>
                <a:spcPct val="139655"/>
              </a:lnSpc>
              <a:buNone/>
            </a:pPr>
            <a:r>
              <a:rPr lang="en-US" sz="1125" dirty="0">
                <a:solidFill>
                  <a:srgbClr val="F6F4EE">
                    <a:alpha val="85000"/>
                  </a:srgbClr>
                </a:solidFill>
                <a:latin typeface="IBM Plex Mono" pitchFamily="34" charset="0"/>
                <a:ea typeface="IBM Plex Mono" pitchFamily="34" charset="-122"/>
                <a:cs typeface="IBM Plex Mono" pitchFamily="34" charset="-120"/>
              </a:rPr>
              <a:t>implementation-artifacts/sprint-status.yaml</a:t>
            </a:r>
            <a:endParaRPr lang="en-US" sz="1125" dirty="0"/>
          </a:p>
        </p:txBody>
      </p:sp>
      <p:sp>
        <p:nvSpPr>
          <p:cNvPr id="44" name="Text 42"/>
          <p:cNvSpPr/>
          <p:nvPr/>
        </p:nvSpPr>
        <p:spPr>
          <a:xfrm>
            <a:off x="12242800" y="4799647"/>
            <a:ext cx="4826889" cy="295275"/>
          </a:xfrm>
          <a:prstGeom prst="rect">
            <a:avLst/>
          </a:prstGeom>
          <a:noFill/>
          <a:ln/>
        </p:spPr>
        <p:txBody>
          <a:bodyPr wrap="square" lIns="25400" tIns="25400" rIns="25400" bIns="25400" rtlCol="0" anchor="t">
            <a:normAutofit/>
          </a:bodyPr>
          <a:lstStyle/>
          <a:p>
            <a:pPr algn="l" indent="0" marL="0">
              <a:lnSpc>
                <a:spcPct val="139655"/>
              </a:lnSpc>
              <a:buNone/>
            </a:pPr>
            <a:r>
              <a:rPr lang="en-US" sz="1125" dirty="0">
                <a:solidFill>
                  <a:srgbClr val="F6F4EE">
                    <a:alpha val="60000"/>
                  </a:srgbClr>
                </a:solidFill>
                <a:latin typeface="IBM Plex Mono" pitchFamily="34" charset="0"/>
                <a:ea typeface="IBM Plex Mono" pitchFamily="34" charset="-122"/>
                <a:cs typeface="IBM Plex Mono" pitchFamily="34" charset="-120"/>
              </a:rPr>
              <a:t>5 artifacts — the next agent’s context</a:t>
            </a:r>
            <a:endParaRPr lang="en-US" sz="1125" dirty="0"/>
          </a:p>
        </p:txBody>
      </p:sp>
      <p:sp>
        <p:nvSpPr>
          <p:cNvPr id="45" name="Text 43"/>
          <p:cNvSpPr/>
          <p:nvPr/>
        </p:nvSpPr>
        <p:spPr>
          <a:xfrm>
            <a:off x="12026900" y="6246495"/>
            <a:ext cx="5629910" cy="330200"/>
          </a:xfrm>
          <a:prstGeom prst="rect">
            <a:avLst/>
          </a:prstGeom>
          <a:noFill/>
          <a:ln/>
        </p:spPr>
        <p:txBody>
          <a:bodyPr wrap="square" lIns="25400" tIns="25400" rIns="25400" bIns="25400" rtlCol="0" anchor="t">
            <a:normAutofit/>
          </a:bodyPr>
          <a:lstStyle/>
          <a:p>
            <a:pPr algn="l" indent="0" marL="0">
              <a:buNone/>
            </a:pPr>
            <a:r>
              <a:rPr lang="en-US" sz="1800" b="1" dirty="0">
                <a:solidFill>
                  <a:srgbClr val="0E1C30"/>
                </a:solidFill>
                <a:latin typeface="Space Grotesk" pitchFamily="34" charset="0"/>
                <a:ea typeface="Space Grotesk" pitchFamily="34" charset="-122"/>
                <a:cs typeface="Space Grotesk" pitchFamily="34" charset="-120"/>
              </a:rPr>
              <a:t>The generated artifacts</a:t>
            </a:r>
            <a:endParaRPr lang="en-US" sz="1800" dirty="0"/>
          </a:p>
        </p:txBody>
      </p:sp>
      <p:sp>
        <p:nvSpPr>
          <p:cNvPr id="46" name="Text 44"/>
          <p:cNvSpPr/>
          <p:nvPr/>
        </p:nvSpPr>
        <p:spPr>
          <a:xfrm>
            <a:off x="12026900" y="6576695"/>
            <a:ext cx="5629910" cy="291465"/>
          </a:xfrm>
          <a:prstGeom prst="rect">
            <a:avLst/>
          </a:prstGeom>
          <a:noFill/>
          <a:ln/>
        </p:spPr>
        <p:txBody>
          <a:bodyPr wrap="square" lIns="25400" tIns="25400" rIns="25400" bIns="25400" rtlCol="0" anchor="t">
            <a:normAutofit/>
          </a:bodyPr>
          <a:lstStyle/>
          <a:p>
            <a:pPr algn="l" indent="0" marL="0">
              <a:lnSpc>
                <a:spcPct val="107838"/>
              </a:lnSpc>
              <a:buNone/>
            </a:pPr>
            <a:r>
              <a:rPr lang="en-US" sz="1425" dirty="0">
                <a:solidFill>
                  <a:srgbClr val="0E1C30">
                    <a:alpha val="55000"/>
                  </a:srgbClr>
                </a:solidFill>
                <a:latin typeface="IBM Plex Sans" pitchFamily="34" charset="0"/>
                <a:ea typeface="IBM Plex Sans" pitchFamily="34" charset="-122"/>
                <a:cs typeface="IBM Plex Sans" pitchFamily="34" charset="-120"/>
              </a:rPr>
              <a:t>PRD, architecture &amp; stories in _bmad-output/ or the docs site</a:t>
            </a:r>
            <a:endParaRPr lang="en-US" sz="1425" dirty="0"/>
          </a:p>
        </p:txBody>
      </p:sp>
      <p:sp>
        <p:nvSpPr>
          <p:cNvPr id="47" name="Text 45"/>
          <p:cNvSpPr/>
          <p:nvPr/>
        </p:nvSpPr>
        <p:spPr>
          <a:xfrm>
            <a:off x="1143000" y="7249160"/>
            <a:ext cx="17602200" cy="285750"/>
          </a:xfrm>
          <a:prstGeom prst="rect">
            <a:avLst/>
          </a:prstGeom>
          <a:noFill/>
          <a:ln/>
        </p:spPr>
        <p:txBody>
          <a:bodyPr wrap="square" lIns="25400" tIns="25400" rIns="25400" bIns="25400" rtlCol="0" anchor="t">
            <a:normAutofit/>
          </a:bodyPr>
          <a:lstStyle/>
          <a:p>
            <a:pPr algn="l" indent="0" marL="0">
              <a:buNone/>
            </a:pPr>
            <a:r>
              <a:rPr lang="en-US" sz="1500" dirty="0">
                <a:solidFill>
                  <a:srgbClr val="0E1C30">
                    <a:alpha val="50000"/>
                  </a:srgbClr>
                </a:solidFill>
                <a:latin typeface="IBM Plex Sans" pitchFamily="34" charset="0"/>
                <a:ea typeface="IBM Plex Sans" pitchFamily="34" charset="-122"/>
                <a:cs typeface="IBM Plex Sans" pitchFamily="34" charset="-120"/>
              </a:rPr>
              <a:t>Recreated terminal views — swap in live captures from your own runs before presenting for extra credibility.</a:t>
            </a:r>
            <a:endParaRPr lang="en-US" sz="1500" dirty="0"/>
          </a:p>
        </p:txBody>
      </p:sp>
      <p:sp>
        <p:nvSpPr>
          <p:cNvPr id="48" name="Text 46"/>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0E1C30">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49" name="Text 47"/>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0E1C30">
                    <a:alpha val="40000"/>
                  </a:srgbClr>
                </a:solidFill>
                <a:latin typeface="IBM Plex Mono" pitchFamily="34" charset="0"/>
                <a:ea typeface="IBM Plex Mono" pitchFamily="34" charset="-122"/>
                <a:cs typeface="IBM Plex Mono" pitchFamily="34" charset="-120"/>
              </a:rPr>
              <a:t>42 / 45</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B1626"/>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843915" cy="241300"/>
          </a:xfrm>
          <a:prstGeom prst="rect">
            <a:avLst/>
          </a:prstGeom>
          <a:noFill/>
          <a:ln/>
        </p:spPr>
        <p:txBody>
          <a:bodyPr wrap="square" lIns="0" tIns="0" rIns="0" bIns="0" rtlCol="0" anchor="t">
            <a:normAutofit/>
          </a:bodyPr>
          <a:lstStyle/>
          <a:p>
            <a:pPr algn="l" indent="0" marL="0">
              <a:buNone/>
            </a:pPr>
            <a:r>
              <a:rPr lang="en-US" sz="1200" spc="288" kern="0" dirty="0">
                <a:solidFill>
                  <a:srgbClr val="5BB3F5"/>
                </a:solidFill>
                <a:latin typeface="IBM Plex Mono" pitchFamily="34" charset="0"/>
                <a:ea typeface="IBM Plex Mono" pitchFamily="34" charset="-122"/>
                <a:cs typeface="IBM Plex Mono" pitchFamily="34" charset="-120"/>
              </a:rPr>
              <a:t>TRY IT</a:t>
            </a:r>
            <a:endParaRPr lang="en-US" sz="1200" dirty="0"/>
          </a:p>
        </p:txBody>
      </p:sp>
      <p:sp>
        <p:nvSpPr>
          <p:cNvPr id="4" name="Text 2"/>
          <p:cNvSpPr/>
          <p:nvPr/>
        </p:nvSpPr>
        <p:spPr>
          <a:xfrm>
            <a:off x="1143000" y="1384300"/>
            <a:ext cx="17602200" cy="672147"/>
          </a:xfrm>
          <a:prstGeom prst="rect">
            <a:avLst/>
          </a:prstGeom>
          <a:noFill/>
          <a:ln/>
        </p:spPr>
        <p:txBody>
          <a:bodyPr wrap="square" lIns="25400" tIns="25400" rIns="25400" bIns="25400" rtlCol="0" anchor="t">
            <a:normAutofit/>
          </a:bodyPr>
          <a:lstStyle/>
          <a:p>
            <a:pPr algn="l" indent="0" marL="0">
              <a:lnSpc>
                <a:spcPct val="81844"/>
              </a:lnSpc>
              <a:buNone/>
            </a:pPr>
            <a:r>
              <a:rPr lang="en-US" sz="4800" b="1" spc="-96" kern="0" dirty="0">
                <a:solidFill>
                  <a:srgbClr val="F6F4EE"/>
                </a:solidFill>
                <a:latin typeface="Space Grotesk" pitchFamily="34" charset="0"/>
                <a:ea typeface="Space Grotesk" pitchFamily="34" charset="-122"/>
                <a:cs typeface="Space Grotesk" pitchFamily="34" charset="-120"/>
              </a:rPr>
              <a:t>Three steps to your first run</a:t>
            </a:r>
            <a:endParaRPr lang="en-US" sz="4800" dirty="0"/>
          </a:p>
        </p:txBody>
      </p:sp>
      <p:sp>
        <p:nvSpPr>
          <p:cNvPr id="5" name="Shape 3"/>
          <p:cNvSpPr/>
          <p:nvPr/>
        </p:nvSpPr>
        <p:spPr>
          <a:xfrm>
            <a:off x="1143000" y="2570797"/>
            <a:ext cx="16002000" cy="1022350"/>
          </a:xfrm>
          <a:prstGeom prst="rect">
            <a:avLst/>
          </a:prstGeom>
          <a:solidFill>
            <a:srgbClr val="0B1626"/>
          </a:solidFill>
          <a:ln/>
        </p:spPr>
      </p:sp>
      <p:sp>
        <p:nvSpPr>
          <p:cNvPr id="6" name="Text 4"/>
          <p:cNvSpPr/>
          <p:nvPr/>
        </p:nvSpPr>
        <p:spPr>
          <a:xfrm>
            <a:off x="1524000" y="2875597"/>
            <a:ext cx="222568" cy="450850"/>
          </a:xfrm>
          <a:prstGeom prst="rect">
            <a:avLst/>
          </a:prstGeom>
          <a:noFill/>
          <a:ln/>
        </p:spPr>
        <p:txBody>
          <a:bodyPr wrap="square" lIns="25400" tIns="25400" rIns="25400" bIns="25400" rtlCol="0" anchor="t">
            <a:normAutofit/>
          </a:bodyPr>
          <a:lstStyle/>
          <a:p>
            <a:pPr algn="l" indent="0" marL="0">
              <a:buNone/>
            </a:pPr>
            <a:r>
              <a:rPr lang="en-US" sz="2550" b="1" dirty="0">
                <a:solidFill>
                  <a:srgbClr val="F4C233"/>
                </a:solidFill>
                <a:latin typeface="Space Grotesk" pitchFamily="34" charset="0"/>
                <a:ea typeface="Space Grotesk" pitchFamily="34" charset="-122"/>
                <a:cs typeface="Space Grotesk" pitchFamily="34" charset="-120"/>
              </a:rPr>
              <a:t>1</a:t>
            </a:r>
            <a:endParaRPr lang="en-US" sz="2550" dirty="0"/>
          </a:p>
        </p:txBody>
      </p:sp>
      <p:sp>
        <p:nvSpPr>
          <p:cNvPr id="7" name="Text 5"/>
          <p:cNvSpPr/>
          <p:nvPr/>
        </p:nvSpPr>
        <p:spPr>
          <a:xfrm>
            <a:off x="1975168" y="2894647"/>
            <a:ext cx="4714875" cy="412750"/>
          </a:xfrm>
          <a:prstGeom prst="rect">
            <a:avLst/>
          </a:prstGeom>
          <a:noFill/>
          <a:ln/>
        </p:spPr>
        <p:txBody>
          <a:bodyPr wrap="square" lIns="25400" tIns="25400" rIns="25400" bIns="25400" rtlCol="0" anchor="t">
            <a:normAutofit/>
          </a:bodyPr>
          <a:lstStyle/>
          <a:p>
            <a:pPr algn="l" indent="0" marL="0">
              <a:buNone/>
            </a:pPr>
            <a:r>
              <a:rPr lang="en-US" sz="2250" dirty="0">
                <a:solidFill>
                  <a:srgbClr val="5BB3F5"/>
                </a:solidFill>
                <a:latin typeface="IBM Plex Mono" pitchFamily="34" charset="0"/>
                <a:ea typeface="IBM Plex Mono" pitchFamily="34" charset="-122"/>
                <a:cs typeface="IBM Plex Mono" pitchFamily="34" charset="-120"/>
              </a:rPr>
              <a:t>$ </a:t>
            </a:r>
            <a:pPr algn="l" indent="0" marL="0">
              <a:buNone/>
            </a:pPr>
            <a:r>
              <a:rPr lang="en-US" sz="2250" dirty="0">
                <a:solidFill>
                  <a:srgbClr val="F6F4EE"/>
                </a:solidFill>
                <a:latin typeface="IBM Plex Mono" pitchFamily="34" charset="0"/>
                <a:ea typeface="IBM Plex Mono" pitchFamily="34" charset="-122"/>
                <a:cs typeface="IBM Plex Mono" pitchFamily="34" charset="-120"/>
              </a:rPr>
              <a:t>npx bmad-method install</a:t>
            </a:r>
            <a:endParaRPr lang="en-US" sz="2250" dirty="0"/>
          </a:p>
        </p:txBody>
      </p:sp>
      <p:sp>
        <p:nvSpPr>
          <p:cNvPr id="8" name="Shape 6"/>
          <p:cNvSpPr/>
          <p:nvPr/>
        </p:nvSpPr>
        <p:spPr>
          <a:xfrm>
            <a:off x="1143000" y="3802698"/>
            <a:ext cx="16002000" cy="1035050"/>
          </a:xfrm>
          <a:prstGeom prst="rect">
            <a:avLst/>
          </a:prstGeom>
          <a:solidFill>
            <a:srgbClr val="FFFFFF">
              <a:alpha val="3000"/>
            </a:srgbClr>
          </a:solidFill>
          <a:ln w="6350">
            <a:solidFill>
              <a:srgbClr val="F6F4EE">
                <a:alpha val="12000"/>
              </a:srgbClr>
            </a:solidFill>
            <a:prstDash val="solid"/>
          </a:ln>
        </p:spPr>
      </p:sp>
      <p:sp>
        <p:nvSpPr>
          <p:cNvPr id="9" name="Text 7"/>
          <p:cNvSpPr/>
          <p:nvPr/>
        </p:nvSpPr>
        <p:spPr>
          <a:xfrm>
            <a:off x="1530350" y="4113847"/>
            <a:ext cx="268605" cy="450850"/>
          </a:xfrm>
          <a:prstGeom prst="rect">
            <a:avLst/>
          </a:prstGeom>
          <a:noFill/>
          <a:ln/>
        </p:spPr>
        <p:txBody>
          <a:bodyPr wrap="square" lIns="25400" tIns="25400" rIns="25400" bIns="25400" rtlCol="0" anchor="t">
            <a:normAutofit/>
          </a:bodyPr>
          <a:lstStyle/>
          <a:p>
            <a:pPr algn="l" indent="0" marL="0">
              <a:buNone/>
            </a:pPr>
            <a:r>
              <a:rPr lang="en-US" sz="2550" b="1" dirty="0">
                <a:solidFill>
                  <a:srgbClr val="5BB3F5"/>
                </a:solidFill>
                <a:latin typeface="Space Grotesk" pitchFamily="34" charset="0"/>
                <a:ea typeface="Space Grotesk" pitchFamily="34" charset="-122"/>
                <a:cs typeface="Space Grotesk" pitchFamily="34" charset="-120"/>
              </a:rPr>
              <a:t>2</a:t>
            </a:r>
            <a:endParaRPr lang="en-US" sz="2550" dirty="0"/>
          </a:p>
        </p:txBody>
      </p:sp>
      <p:sp>
        <p:nvSpPr>
          <p:cNvPr id="10" name="Text 8"/>
          <p:cNvSpPr/>
          <p:nvPr/>
        </p:nvSpPr>
        <p:spPr>
          <a:xfrm>
            <a:off x="2027555" y="4151947"/>
            <a:ext cx="9221073" cy="374650"/>
          </a:xfrm>
          <a:prstGeom prst="rect">
            <a:avLst/>
          </a:prstGeom>
          <a:noFill/>
          <a:ln/>
        </p:spPr>
        <p:txBody>
          <a:bodyPr wrap="square" lIns="25400" tIns="25400" rIns="25400" bIns="25400" rtlCol="0" anchor="t">
            <a:normAutofit/>
          </a:bodyPr>
          <a:lstStyle/>
          <a:p>
            <a:pPr algn="l" indent="0" marL="0">
              <a:buNone/>
            </a:pPr>
            <a:r>
              <a:rPr lang="en-US" sz="2025" dirty="0">
                <a:solidFill>
                  <a:srgbClr val="F6F4EE">
                    <a:alpha val="82000"/>
                  </a:srgbClr>
                </a:solidFill>
                <a:latin typeface="IBM Plex Sans" pitchFamily="34" charset="0"/>
                <a:ea typeface="IBM Plex Sans" pitchFamily="34" charset="-122"/>
                <a:cs typeface="IBM Plex Sans" pitchFamily="34" charset="-120"/>
              </a:rPr>
              <a:t>Open your AI IDE — </a:t>
            </a:r>
            <a:pPr algn="l" indent="0" marL="0">
              <a:buNone/>
            </a:pPr>
            <a:r>
              <a:rPr lang="en-US" sz="2025" b="1" dirty="0">
                <a:solidFill>
                  <a:srgbClr val="F6F4EE">
                    <a:alpha val="82000"/>
                  </a:srgbClr>
                </a:solidFill>
                <a:latin typeface="IBM Plex Sans" pitchFamily="34" charset="0"/>
                <a:ea typeface="IBM Plex Sans" pitchFamily="34" charset="-122"/>
                <a:cs typeface="IBM Plex Sans" pitchFamily="34" charset="-120"/>
              </a:rPr>
              <a:t>Claude Code</a:t>
            </a:r>
            <a:pPr algn="l" indent="0" marL="0">
              <a:buNone/>
            </a:pPr>
            <a:r>
              <a:rPr lang="en-US" sz="2025" dirty="0">
                <a:solidFill>
                  <a:srgbClr val="F6F4EE">
                    <a:alpha val="82000"/>
                  </a:srgbClr>
                </a:solidFill>
                <a:latin typeface="IBM Plex Sans" pitchFamily="34" charset="0"/>
                <a:ea typeface="IBM Plex Sans" pitchFamily="34" charset="-122"/>
                <a:cs typeface="IBM Plex Sans" pitchFamily="34" charset="-120"/>
              </a:rPr>
              <a:t>, </a:t>
            </a:r>
            <a:pPr algn="l" indent="0" marL="0">
              <a:buNone/>
            </a:pPr>
            <a:r>
              <a:rPr lang="en-US" sz="2025" b="1" dirty="0">
                <a:solidFill>
                  <a:srgbClr val="F6F4EE">
                    <a:alpha val="82000"/>
                  </a:srgbClr>
                </a:solidFill>
                <a:latin typeface="IBM Plex Sans" pitchFamily="34" charset="0"/>
                <a:ea typeface="IBM Plex Sans" pitchFamily="34" charset="-122"/>
                <a:cs typeface="IBM Plex Sans" pitchFamily="34" charset="-120"/>
              </a:rPr>
              <a:t>Cursor</a:t>
            </a:r>
            <a:pPr algn="l" indent="0" marL="0">
              <a:buNone/>
            </a:pPr>
            <a:r>
              <a:rPr lang="en-US" sz="2025" dirty="0">
                <a:solidFill>
                  <a:srgbClr val="F6F4EE">
                    <a:alpha val="82000"/>
                  </a:srgbClr>
                </a:solidFill>
                <a:latin typeface="IBM Plex Sans" pitchFamily="34" charset="0"/>
                <a:ea typeface="IBM Plex Sans" pitchFamily="34" charset="-122"/>
                <a:cs typeface="IBM Plex Sans" pitchFamily="34" charset="-120"/>
              </a:rPr>
              <a:t>, </a:t>
            </a:r>
            <a:pPr algn="l" indent="0" marL="0">
              <a:buNone/>
            </a:pPr>
            <a:r>
              <a:rPr lang="en-US" sz="2025" b="1" dirty="0">
                <a:solidFill>
                  <a:srgbClr val="F6F4EE">
                    <a:alpha val="82000"/>
                  </a:srgbClr>
                </a:solidFill>
                <a:latin typeface="IBM Plex Sans" pitchFamily="34" charset="0"/>
                <a:ea typeface="IBM Plex Sans" pitchFamily="34" charset="-122"/>
                <a:cs typeface="IBM Plex Sans" pitchFamily="34" charset="-120"/>
              </a:rPr>
              <a:t>Codex </a:t>
            </a:r>
            <a:pPr algn="l" indent="0" marL="0">
              <a:buNone/>
            </a:pPr>
            <a:r>
              <a:rPr lang="en-US" sz="2025" dirty="0">
                <a:solidFill>
                  <a:srgbClr val="F6F4EE">
                    <a:alpha val="82000"/>
                  </a:srgbClr>
                </a:solidFill>
                <a:latin typeface="IBM Plex Sans" pitchFamily="34" charset="0"/>
                <a:ea typeface="IBM Plex Sans" pitchFamily="34" charset="-122"/>
                <a:cs typeface="IBM Plex Sans" pitchFamily="34" charset="-120"/>
              </a:rPr>
              <a:t>— in your project folder</a:t>
            </a:r>
            <a:endParaRPr lang="en-US" sz="2025" dirty="0"/>
          </a:p>
        </p:txBody>
      </p:sp>
      <p:sp>
        <p:nvSpPr>
          <p:cNvPr id="11" name="Shape 9"/>
          <p:cNvSpPr/>
          <p:nvPr/>
        </p:nvSpPr>
        <p:spPr>
          <a:xfrm>
            <a:off x="1143000" y="5047298"/>
            <a:ext cx="16002000" cy="1035050"/>
          </a:xfrm>
          <a:prstGeom prst="rect">
            <a:avLst/>
          </a:prstGeom>
          <a:solidFill>
            <a:srgbClr val="FFFFFF">
              <a:alpha val="3000"/>
            </a:srgbClr>
          </a:solidFill>
          <a:ln w="6350">
            <a:solidFill>
              <a:srgbClr val="F6F4EE">
                <a:alpha val="12000"/>
              </a:srgbClr>
            </a:solidFill>
            <a:prstDash val="solid"/>
          </a:ln>
        </p:spPr>
      </p:sp>
      <p:sp>
        <p:nvSpPr>
          <p:cNvPr id="12" name="Text 10"/>
          <p:cNvSpPr/>
          <p:nvPr/>
        </p:nvSpPr>
        <p:spPr>
          <a:xfrm>
            <a:off x="1530350" y="5358447"/>
            <a:ext cx="273050" cy="450850"/>
          </a:xfrm>
          <a:prstGeom prst="rect">
            <a:avLst/>
          </a:prstGeom>
          <a:noFill/>
          <a:ln/>
        </p:spPr>
        <p:txBody>
          <a:bodyPr wrap="square" lIns="25400" tIns="25400" rIns="25400" bIns="25400" rtlCol="0" anchor="t">
            <a:normAutofit/>
          </a:bodyPr>
          <a:lstStyle/>
          <a:p>
            <a:pPr algn="l" indent="0" marL="0">
              <a:buNone/>
            </a:pPr>
            <a:r>
              <a:rPr lang="en-US" sz="2550" b="1" dirty="0">
                <a:solidFill>
                  <a:srgbClr val="5BB3F5"/>
                </a:solidFill>
                <a:latin typeface="Space Grotesk" pitchFamily="34" charset="0"/>
                <a:ea typeface="Space Grotesk" pitchFamily="34" charset="-122"/>
                <a:cs typeface="Space Grotesk" pitchFamily="34" charset="-120"/>
              </a:rPr>
              <a:t>3</a:t>
            </a:r>
            <a:endParaRPr lang="en-US" sz="2550" dirty="0"/>
          </a:p>
        </p:txBody>
      </p:sp>
      <p:sp>
        <p:nvSpPr>
          <p:cNvPr id="13" name="Text 11"/>
          <p:cNvSpPr/>
          <p:nvPr/>
        </p:nvSpPr>
        <p:spPr>
          <a:xfrm>
            <a:off x="2032000" y="5396547"/>
            <a:ext cx="8507206" cy="374650"/>
          </a:xfrm>
          <a:prstGeom prst="rect">
            <a:avLst/>
          </a:prstGeom>
          <a:noFill/>
          <a:ln/>
        </p:spPr>
        <p:txBody>
          <a:bodyPr wrap="square" lIns="25400" tIns="25400" rIns="25400" bIns="25400" rtlCol="0" anchor="t">
            <a:normAutofit/>
          </a:bodyPr>
          <a:lstStyle/>
          <a:p>
            <a:pPr algn="l" indent="0" marL="0">
              <a:buNone/>
            </a:pPr>
            <a:r>
              <a:rPr lang="en-US" sz="2025" dirty="0">
                <a:solidFill>
                  <a:srgbClr val="F6F4EE">
                    <a:alpha val="82000"/>
                  </a:srgbClr>
                </a:solidFill>
                <a:latin typeface="IBM Plex Sans" pitchFamily="34" charset="0"/>
                <a:ea typeface="IBM Plex Sans" pitchFamily="34" charset="-122"/>
                <a:cs typeface="IBM Plex Sans" pitchFamily="34" charset="-120"/>
              </a:rPr>
              <a:t>Unsure what’s next? Ask </a:t>
            </a:r>
            <a:pPr algn="l" indent="0" marL="0">
              <a:buNone/>
            </a:pPr>
            <a:r>
              <a:rPr lang="en-US" sz="1725" dirty="0">
                <a:solidFill>
                  <a:srgbClr val="B78A00"/>
                </a:solidFill>
                <a:latin typeface="IBM Plex Mono" pitchFamily="34" charset="0"/>
                <a:ea typeface="IBM Plex Mono" pitchFamily="34" charset="-122"/>
                <a:cs typeface="IBM Plex Mono" pitchFamily="34" charset="-120"/>
              </a:rPr>
              <a:t>bmad-help </a:t>
            </a:r>
            <a:pPr algn="l" indent="0" marL="0">
              <a:buNone/>
            </a:pPr>
            <a:r>
              <a:rPr lang="en-US" sz="2025" dirty="0">
                <a:solidFill>
                  <a:srgbClr val="F6F4EE">
                    <a:alpha val="82000"/>
                  </a:srgbClr>
                </a:solidFill>
                <a:latin typeface="IBM Plex Sans" pitchFamily="34" charset="0"/>
                <a:ea typeface="IBM Plex Sans" pitchFamily="34" charset="-122"/>
                <a:cs typeface="IBM Plex Sans" pitchFamily="34" charset="-120"/>
              </a:rPr>
              <a:t>— it tells you exactly what to do</a:t>
            </a:r>
            <a:endParaRPr lang="en-US" sz="2025" dirty="0"/>
          </a:p>
        </p:txBody>
      </p:sp>
      <p:sp>
        <p:nvSpPr>
          <p:cNvPr id="14" name="Text 12"/>
          <p:cNvSpPr/>
          <p:nvPr/>
        </p:nvSpPr>
        <p:spPr>
          <a:xfrm>
            <a:off x="1143000" y="6501447"/>
            <a:ext cx="17602200" cy="336550"/>
          </a:xfrm>
          <a:prstGeom prst="rect">
            <a:avLst/>
          </a:prstGeom>
          <a:noFill/>
          <a:ln/>
        </p:spPr>
        <p:txBody>
          <a:bodyPr wrap="square" lIns="25400" tIns="25400" rIns="25400" bIns="25400" rtlCol="0" anchor="t">
            <a:normAutofit/>
          </a:bodyPr>
          <a:lstStyle/>
          <a:p>
            <a:pPr algn="l" indent="0" marL="0">
              <a:buNone/>
            </a:pPr>
            <a:r>
              <a:rPr lang="en-US" sz="1800" dirty="0">
                <a:solidFill>
                  <a:srgbClr val="F6F4EE">
                    <a:alpha val="55000"/>
                  </a:srgbClr>
                </a:solidFill>
                <a:latin typeface="IBM Plex Sans" pitchFamily="34" charset="0"/>
                <a:ea typeface="IBM Plex Sans" pitchFamily="34" charset="-122"/>
                <a:cs typeface="IBM Plex Sans" pitchFamily="34" charset="-120"/>
              </a:rPr>
              <a:t>Prerequisites: Node.js 20.12+, Python 3.10+, uv. 100% free and open source (MIT).</a:t>
            </a:r>
            <a:endParaRPr lang="en-US" sz="1800" dirty="0"/>
          </a:p>
        </p:txBody>
      </p:sp>
      <p:sp>
        <p:nvSpPr>
          <p:cNvPr id="15" name="Text 13"/>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F6F4EE">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16" name="Text 14"/>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F6F4EE">
                    <a:alpha val="40000"/>
                  </a:srgbClr>
                </a:solidFill>
                <a:latin typeface="IBM Plex Mono" pitchFamily="34" charset="0"/>
                <a:ea typeface="IBM Plex Mono" pitchFamily="34" charset="-122"/>
                <a:cs typeface="IBM Plex Mono" pitchFamily="34" charset="-120"/>
              </a:rPr>
              <a:t>43 / 45</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1626"/>
        </a:solidFill>
      </p:bgPr>
    </p:bg>
    <p:spTree>
      <p:nvGrpSpPr>
        <p:cNvPr id="1" name=""/>
        <p:cNvGrpSpPr/>
        <p:nvPr/>
      </p:nvGrpSpPr>
      <p:grpSpPr>
        <a:xfrm>
          <a:off x="0" y="0"/>
          <a:ext cx="0" cy="0"/>
          <a:chOff x="0" y="0"/>
          <a:chExt cx="0" cy="0"/>
        </a:xfrm>
      </p:grpSpPr>
      <p:sp>
        <p:nvSpPr>
          <p:cNvPr id="2" name="Shape 0"/>
          <p:cNvSpPr/>
          <p:nvPr/>
        </p:nvSpPr>
        <p:spPr>
          <a:xfrm>
            <a:off x="1143000" y="968375"/>
            <a:ext cx="95250" cy="95250"/>
          </a:xfrm>
          <a:prstGeom prst="rect">
            <a:avLst/>
          </a:prstGeom>
          <a:solidFill>
            <a:srgbClr val="F4C233"/>
          </a:solidFill>
          <a:ln/>
        </p:spPr>
      </p:sp>
      <p:sp>
        <p:nvSpPr>
          <p:cNvPr id="3" name="Text 1"/>
          <p:cNvSpPr/>
          <p:nvPr/>
        </p:nvSpPr>
        <p:spPr>
          <a:xfrm>
            <a:off x="1371600" y="914400"/>
            <a:ext cx="2123440" cy="241300"/>
          </a:xfrm>
          <a:prstGeom prst="rect">
            <a:avLst/>
          </a:prstGeom>
          <a:noFill/>
          <a:ln/>
        </p:spPr>
        <p:txBody>
          <a:bodyPr wrap="square" lIns="0" tIns="0" rIns="0" bIns="0" rtlCol="0" anchor="t">
            <a:normAutofit/>
          </a:bodyPr>
          <a:lstStyle/>
          <a:p>
            <a:pPr algn="l" indent="0" marL="0">
              <a:buNone/>
            </a:pPr>
            <a:r>
              <a:rPr lang="en-US" sz="1200" spc="288" kern="0" dirty="0">
                <a:solidFill>
                  <a:srgbClr val="5BB3F5"/>
                </a:solidFill>
                <a:latin typeface="IBM Plex Mono" pitchFamily="34" charset="0"/>
                <a:ea typeface="IBM Plex Mono" pitchFamily="34" charset="-122"/>
                <a:cs typeface="IBM Plex Mono" pitchFamily="34" charset="-120"/>
              </a:rPr>
              <a:t>WHAT TO REMEMBER</a:t>
            </a:r>
            <a:endParaRPr lang="en-US" sz="1200" dirty="0"/>
          </a:p>
        </p:txBody>
      </p:sp>
      <p:sp>
        <p:nvSpPr>
          <p:cNvPr id="4" name="Text 2"/>
          <p:cNvSpPr/>
          <p:nvPr/>
        </p:nvSpPr>
        <p:spPr>
          <a:xfrm>
            <a:off x="1143000" y="1384300"/>
            <a:ext cx="17602200" cy="672147"/>
          </a:xfrm>
          <a:prstGeom prst="rect">
            <a:avLst/>
          </a:prstGeom>
          <a:noFill/>
          <a:ln/>
        </p:spPr>
        <p:txBody>
          <a:bodyPr wrap="square" lIns="25400" tIns="25400" rIns="25400" bIns="25400" rtlCol="0" anchor="t">
            <a:normAutofit/>
          </a:bodyPr>
          <a:lstStyle/>
          <a:p>
            <a:pPr algn="l" indent="0" marL="0">
              <a:lnSpc>
                <a:spcPct val="81844"/>
              </a:lnSpc>
              <a:buNone/>
            </a:pPr>
            <a:r>
              <a:rPr lang="en-US" sz="4800" b="1" spc="-96" kern="0" dirty="0">
                <a:solidFill>
                  <a:srgbClr val="F6F4EE"/>
                </a:solidFill>
                <a:latin typeface="Space Grotesk" pitchFamily="34" charset="0"/>
                <a:ea typeface="Space Grotesk" pitchFamily="34" charset="-122"/>
                <a:cs typeface="Space Grotesk" pitchFamily="34" charset="-120"/>
              </a:rPr>
              <a:t>Six principles that transfer to any tool</a:t>
            </a:r>
            <a:endParaRPr lang="en-US" sz="4800" dirty="0"/>
          </a:p>
        </p:txBody>
      </p:sp>
      <p:sp>
        <p:nvSpPr>
          <p:cNvPr id="5" name="Shape 3"/>
          <p:cNvSpPr/>
          <p:nvPr/>
        </p:nvSpPr>
        <p:spPr>
          <a:xfrm>
            <a:off x="1143000" y="3745547"/>
            <a:ext cx="7667625" cy="9525"/>
          </a:xfrm>
          <a:prstGeom prst="rect">
            <a:avLst/>
          </a:prstGeom>
          <a:solidFill>
            <a:srgbClr val="F6F4EE">
              <a:alpha val="12000"/>
            </a:srgbClr>
          </a:solidFill>
          <a:ln/>
        </p:spPr>
      </p:sp>
      <p:sp>
        <p:nvSpPr>
          <p:cNvPr id="6" name="Text 4"/>
          <p:cNvSpPr/>
          <p:nvPr/>
        </p:nvSpPr>
        <p:spPr>
          <a:xfrm>
            <a:off x="1143000" y="2818447"/>
            <a:ext cx="390525" cy="698500"/>
          </a:xfrm>
          <a:prstGeom prst="rect">
            <a:avLst/>
          </a:prstGeom>
          <a:noFill/>
          <a:ln/>
        </p:spPr>
        <p:txBody>
          <a:bodyPr wrap="square" lIns="25400" tIns="25400" rIns="25400" bIns="25400" rtlCol="0" anchor="t">
            <a:normAutofit/>
          </a:bodyPr>
          <a:lstStyle/>
          <a:p>
            <a:pPr algn="l" indent="0" marL="0">
              <a:buNone/>
            </a:pPr>
            <a:r>
              <a:rPr lang="en-US" sz="2250" b="1" dirty="0">
                <a:solidFill>
                  <a:srgbClr val="F4C233"/>
                </a:solidFill>
                <a:latin typeface="Space Grotesk" pitchFamily="34" charset="0"/>
                <a:ea typeface="Space Grotesk" pitchFamily="34" charset="-122"/>
                <a:cs typeface="Space Grotesk" pitchFamily="34" charset="-120"/>
              </a:rPr>
              <a:t>01</a:t>
            </a:r>
            <a:endParaRPr lang="en-US" sz="2250" dirty="0"/>
          </a:p>
        </p:txBody>
      </p:sp>
      <p:sp>
        <p:nvSpPr>
          <p:cNvPr id="7" name="Text 5"/>
          <p:cNvSpPr/>
          <p:nvPr/>
        </p:nvSpPr>
        <p:spPr>
          <a:xfrm>
            <a:off x="1704975" y="2818447"/>
            <a:ext cx="5109877"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F6F4EE"/>
                </a:solidFill>
                <a:latin typeface="Space Grotesk" pitchFamily="34" charset="0"/>
                <a:ea typeface="Space Grotesk" pitchFamily="34" charset="-122"/>
                <a:cs typeface="Space Grotesk" pitchFamily="34" charset="-120"/>
              </a:rPr>
              <a:t>Structure beats prompting</a:t>
            </a:r>
            <a:endParaRPr lang="en-US" sz="2100" dirty="0"/>
          </a:p>
        </p:txBody>
      </p:sp>
      <p:sp>
        <p:nvSpPr>
          <p:cNvPr id="8" name="Text 6"/>
          <p:cNvSpPr/>
          <p:nvPr/>
        </p:nvSpPr>
        <p:spPr>
          <a:xfrm>
            <a:off x="1704975" y="3218497"/>
            <a:ext cx="5109877" cy="298450"/>
          </a:xfrm>
          <a:prstGeom prst="rect">
            <a:avLst/>
          </a:prstGeom>
          <a:noFill/>
          <a:ln/>
        </p:spPr>
        <p:txBody>
          <a:bodyPr wrap="square" lIns="25400" tIns="25400" rIns="25400" bIns="25400" rtlCol="0" anchor="t">
            <a:normAutofit/>
          </a:bodyPr>
          <a:lstStyle/>
          <a:p>
            <a:pPr algn="l" indent="0" marL="0">
              <a:buNone/>
            </a:pPr>
            <a:r>
              <a:rPr lang="en-US" sz="1575" dirty="0">
                <a:solidFill>
                  <a:srgbClr val="F6F4EE">
                    <a:alpha val="60000"/>
                  </a:srgbClr>
                </a:solidFill>
                <a:latin typeface="IBM Plex Sans" pitchFamily="34" charset="0"/>
                <a:ea typeface="IBM Plex Sans" pitchFamily="34" charset="-122"/>
                <a:cs typeface="IBM Plex Sans" pitchFamily="34" charset="-120"/>
              </a:rPr>
              <a:t>A process gets better output than a clever one-liner.</a:t>
            </a:r>
            <a:endParaRPr lang="en-US" sz="1575" dirty="0"/>
          </a:p>
        </p:txBody>
      </p:sp>
      <p:sp>
        <p:nvSpPr>
          <p:cNvPr id="9" name="Shape 7"/>
          <p:cNvSpPr/>
          <p:nvPr/>
        </p:nvSpPr>
        <p:spPr>
          <a:xfrm>
            <a:off x="9477375" y="3745547"/>
            <a:ext cx="7667625" cy="9525"/>
          </a:xfrm>
          <a:prstGeom prst="rect">
            <a:avLst/>
          </a:prstGeom>
          <a:solidFill>
            <a:srgbClr val="F6F4EE">
              <a:alpha val="12000"/>
            </a:srgbClr>
          </a:solidFill>
          <a:ln/>
        </p:spPr>
      </p:sp>
      <p:sp>
        <p:nvSpPr>
          <p:cNvPr id="10" name="Text 8"/>
          <p:cNvSpPr/>
          <p:nvPr/>
        </p:nvSpPr>
        <p:spPr>
          <a:xfrm>
            <a:off x="9477375" y="2818447"/>
            <a:ext cx="431006" cy="698500"/>
          </a:xfrm>
          <a:prstGeom prst="rect">
            <a:avLst/>
          </a:prstGeom>
          <a:noFill/>
          <a:ln/>
        </p:spPr>
        <p:txBody>
          <a:bodyPr wrap="square" lIns="25400" tIns="25400" rIns="25400" bIns="25400" rtlCol="0" anchor="t">
            <a:normAutofit/>
          </a:bodyPr>
          <a:lstStyle/>
          <a:p>
            <a:pPr algn="l" indent="0" marL="0">
              <a:buNone/>
            </a:pPr>
            <a:r>
              <a:rPr lang="en-US" sz="2250" b="1" dirty="0">
                <a:solidFill>
                  <a:srgbClr val="F4C233"/>
                </a:solidFill>
                <a:latin typeface="Space Grotesk" pitchFamily="34" charset="0"/>
                <a:ea typeface="Space Grotesk" pitchFamily="34" charset="-122"/>
                <a:cs typeface="Space Grotesk" pitchFamily="34" charset="-120"/>
              </a:rPr>
              <a:t>02</a:t>
            </a:r>
            <a:endParaRPr lang="en-US" sz="2250" dirty="0"/>
          </a:p>
        </p:txBody>
      </p:sp>
      <p:sp>
        <p:nvSpPr>
          <p:cNvPr id="11" name="Text 9"/>
          <p:cNvSpPr/>
          <p:nvPr/>
        </p:nvSpPr>
        <p:spPr>
          <a:xfrm>
            <a:off x="10079831" y="2818447"/>
            <a:ext cx="4766564"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F6F4EE"/>
                </a:solidFill>
                <a:latin typeface="Space Grotesk" pitchFamily="34" charset="0"/>
                <a:ea typeface="Space Grotesk" pitchFamily="34" charset="-122"/>
                <a:cs typeface="Space Grotesk" pitchFamily="34" charset="-120"/>
              </a:rPr>
              <a:t>Documents are context</a:t>
            </a:r>
            <a:endParaRPr lang="en-US" sz="2100" dirty="0"/>
          </a:p>
        </p:txBody>
      </p:sp>
      <p:sp>
        <p:nvSpPr>
          <p:cNvPr id="12" name="Text 10"/>
          <p:cNvSpPr/>
          <p:nvPr/>
        </p:nvSpPr>
        <p:spPr>
          <a:xfrm>
            <a:off x="10079831" y="3218497"/>
            <a:ext cx="4766564" cy="298450"/>
          </a:xfrm>
          <a:prstGeom prst="rect">
            <a:avLst/>
          </a:prstGeom>
          <a:noFill/>
          <a:ln/>
        </p:spPr>
        <p:txBody>
          <a:bodyPr wrap="square" lIns="25400" tIns="25400" rIns="25400" bIns="25400" rtlCol="0" anchor="t">
            <a:normAutofit/>
          </a:bodyPr>
          <a:lstStyle/>
          <a:p>
            <a:pPr algn="l" indent="0" marL="0">
              <a:buNone/>
            </a:pPr>
            <a:r>
              <a:rPr lang="en-US" sz="1575" dirty="0">
                <a:solidFill>
                  <a:srgbClr val="F6F4EE">
                    <a:alpha val="60000"/>
                  </a:srgbClr>
                </a:solidFill>
                <a:latin typeface="IBM Plex Sans" pitchFamily="34" charset="0"/>
                <a:ea typeface="IBM Plex Sans" pitchFamily="34" charset="-122"/>
                <a:cs typeface="IBM Plex Sans" pitchFamily="34" charset="-120"/>
              </a:rPr>
              <a:t>Each artifact grounds the next agent’s decisions.</a:t>
            </a:r>
            <a:endParaRPr lang="en-US" sz="1575" dirty="0"/>
          </a:p>
        </p:txBody>
      </p:sp>
      <p:sp>
        <p:nvSpPr>
          <p:cNvPr id="13" name="Shape 11"/>
          <p:cNvSpPr/>
          <p:nvPr/>
        </p:nvSpPr>
        <p:spPr>
          <a:xfrm>
            <a:off x="1143000" y="4945697"/>
            <a:ext cx="7667625" cy="9525"/>
          </a:xfrm>
          <a:prstGeom prst="rect">
            <a:avLst/>
          </a:prstGeom>
          <a:solidFill>
            <a:srgbClr val="F6F4EE">
              <a:alpha val="12000"/>
            </a:srgbClr>
          </a:solidFill>
          <a:ln/>
        </p:spPr>
      </p:sp>
      <p:sp>
        <p:nvSpPr>
          <p:cNvPr id="14" name="Text 12"/>
          <p:cNvSpPr/>
          <p:nvPr/>
        </p:nvSpPr>
        <p:spPr>
          <a:xfrm>
            <a:off x="1143000" y="4018597"/>
            <a:ext cx="434975" cy="698500"/>
          </a:xfrm>
          <a:prstGeom prst="rect">
            <a:avLst/>
          </a:prstGeom>
          <a:noFill/>
          <a:ln/>
        </p:spPr>
        <p:txBody>
          <a:bodyPr wrap="square" lIns="25400" tIns="25400" rIns="25400" bIns="25400" rtlCol="0" anchor="t">
            <a:normAutofit/>
          </a:bodyPr>
          <a:lstStyle/>
          <a:p>
            <a:pPr algn="l" indent="0" marL="0">
              <a:buNone/>
            </a:pPr>
            <a:r>
              <a:rPr lang="en-US" sz="2250" b="1" dirty="0">
                <a:solidFill>
                  <a:srgbClr val="F4C233"/>
                </a:solidFill>
                <a:latin typeface="Space Grotesk" pitchFamily="34" charset="0"/>
                <a:ea typeface="Space Grotesk" pitchFamily="34" charset="-122"/>
                <a:cs typeface="Space Grotesk" pitchFamily="34" charset="-120"/>
              </a:rPr>
              <a:t>03</a:t>
            </a:r>
            <a:endParaRPr lang="en-US" sz="2250" dirty="0"/>
          </a:p>
        </p:txBody>
      </p:sp>
      <p:sp>
        <p:nvSpPr>
          <p:cNvPr id="15" name="Text 13"/>
          <p:cNvSpPr/>
          <p:nvPr/>
        </p:nvSpPr>
        <p:spPr>
          <a:xfrm>
            <a:off x="1749425" y="4018597"/>
            <a:ext cx="4447524"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F6F4EE"/>
                </a:solidFill>
                <a:latin typeface="Space Grotesk" pitchFamily="34" charset="0"/>
                <a:ea typeface="Space Grotesk" pitchFamily="34" charset="-122"/>
                <a:cs typeface="Space Grotesk" pitchFamily="34" charset="-120"/>
              </a:rPr>
              <a:t>Decide hard things once</a:t>
            </a:r>
            <a:endParaRPr lang="en-US" sz="2100" dirty="0"/>
          </a:p>
        </p:txBody>
      </p:sp>
      <p:sp>
        <p:nvSpPr>
          <p:cNvPr id="16" name="Text 14"/>
          <p:cNvSpPr/>
          <p:nvPr/>
        </p:nvSpPr>
        <p:spPr>
          <a:xfrm>
            <a:off x="1749425" y="4418647"/>
            <a:ext cx="4447524" cy="298450"/>
          </a:xfrm>
          <a:prstGeom prst="rect">
            <a:avLst/>
          </a:prstGeom>
          <a:noFill/>
          <a:ln/>
        </p:spPr>
        <p:txBody>
          <a:bodyPr wrap="square" lIns="25400" tIns="25400" rIns="25400" bIns="25400" rtlCol="0" anchor="t">
            <a:normAutofit/>
          </a:bodyPr>
          <a:lstStyle/>
          <a:p>
            <a:pPr algn="l" indent="0" marL="0">
              <a:buNone/>
            </a:pPr>
            <a:r>
              <a:rPr lang="en-US" sz="1575" dirty="0">
                <a:solidFill>
                  <a:srgbClr val="F6F4EE">
                    <a:alpha val="60000"/>
                  </a:srgbClr>
                </a:solidFill>
                <a:latin typeface="IBM Plex Sans" pitchFamily="34" charset="0"/>
                <a:ea typeface="IBM Plex Sans" pitchFamily="34" charset="-122"/>
                <a:cs typeface="IBM Plex Sans" pitchFamily="34" charset="-120"/>
              </a:rPr>
              <a:t>Explicit architecture prevents agent conflicts.</a:t>
            </a:r>
            <a:endParaRPr lang="en-US" sz="1575" dirty="0"/>
          </a:p>
        </p:txBody>
      </p:sp>
      <p:sp>
        <p:nvSpPr>
          <p:cNvPr id="17" name="Shape 15"/>
          <p:cNvSpPr/>
          <p:nvPr/>
        </p:nvSpPr>
        <p:spPr>
          <a:xfrm>
            <a:off x="9477375" y="4945697"/>
            <a:ext cx="7667625" cy="9525"/>
          </a:xfrm>
          <a:prstGeom prst="rect">
            <a:avLst/>
          </a:prstGeom>
          <a:solidFill>
            <a:srgbClr val="F6F4EE">
              <a:alpha val="12000"/>
            </a:srgbClr>
          </a:solidFill>
          <a:ln/>
        </p:spPr>
      </p:sp>
      <p:sp>
        <p:nvSpPr>
          <p:cNvPr id="18" name="Text 16"/>
          <p:cNvSpPr/>
          <p:nvPr/>
        </p:nvSpPr>
        <p:spPr>
          <a:xfrm>
            <a:off x="9477375" y="4018597"/>
            <a:ext cx="443071" cy="698500"/>
          </a:xfrm>
          <a:prstGeom prst="rect">
            <a:avLst/>
          </a:prstGeom>
          <a:noFill/>
          <a:ln/>
        </p:spPr>
        <p:txBody>
          <a:bodyPr wrap="square" lIns="25400" tIns="25400" rIns="25400" bIns="25400" rtlCol="0" anchor="t">
            <a:normAutofit/>
          </a:bodyPr>
          <a:lstStyle/>
          <a:p>
            <a:pPr algn="l" indent="0" marL="0">
              <a:buNone/>
            </a:pPr>
            <a:r>
              <a:rPr lang="en-US" sz="2250" b="1" dirty="0">
                <a:solidFill>
                  <a:srgbClr val="F4C233"/>
                </a:solidFill>
                <a:latin typeface="Space Grotesk" pitchFamily="34" charset="0"/>
                <a:ea typeface="Space Grotesk" pitchFamily="34" charset="-122"/>
                <a:cs typeface="Space Grotesk" pitchFamily="34" charset="-120"/>
              </a:rPr>
              <a:t>04</a:t>
            </a:r>
            <a:endParaRPr lang="en-US" sz="2250" dirty="0"/>
          </a:p>
        </p:txBody>
      </p:sp>
      <p:sp>
        <p:nvSpPr>
          <p:cNvPr id="19" name="Text 17"/>
          <p:cNvSpPr/>
          <p:nvPr/>
        </p:nvSpPr>
        <p:spPr>
          <a:xfrm>
            <a:off x="10091896" y="4018597"/>
            <a:ext cx="4478957"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F6F4EE"/>
                </a:solidFill>
                <a:latin typeface="Space Grotesk" pitchFamily="34" charset="0"/>
                <a:ea typeface="Space Grotesk" pitchFamily="34" charset="-122"/>
                <a:cs typeface="Space Grotesk" pitchFamily="34" charset="-120"/>
              </a:rPr>
              <a:t>Match ceremony to scale</a:t>
            </a:r>
            <a:endParaRPr lang="en-US" sz="2100" dirty="0"/>
          </a:p>
        </p:txBody>
      </p:sp>
      <p:sp>
        <p:nvSpPr>
          <p:cNvPr id="20" name="Text 18"/>
          <p:cNvSpPr/>
          <p:nvPr/>
        </p:nvSpPr>
        <p:spPr>
          <a:xfrm>
            <a:off x="10091896" y="4418647"/>
            <a:ext cx="4478957" cy="298450"/>
          </a:xfrm>
          <a:prstGeom prst="rect">
            <a:avLst/>
          </a:prstGeom>
          <a:noFill/>
          <a:ln/>
        </p:spPr>
        <p:txBody>
          <a:bodyPr wrap="square" lIns="25400" tIns="25400" rIns="25400" bIns="25400" rtlCol="0" anchor="t">
            <a:normAutofit/>
          </a:bodyPr>
          <a:lstStyle/>
          <a:p>
            <a:pPr algn="l" indent="0" marL="0">
              <a:buNone/>
            </a:pPr>
            <a:r>
              <a:rPr lang="en-US" sz="1575" dirty="0">
                <a:solidFill>
                  <a:srgbClr val="F6F4EE">
                    <a:alpha val="60000"/>
                  </a:srgbClr>
                </a:solidFill>
                <a:latin typeface="IBM Plex Sans" pitchFamily="34" charset="0"/>
                <a:ea typeface="IBM Plex Sans" pitchFamily="34" charset="-122"/>
                <a:cs typeface="IBM Plex Sans" pitchFamily="34" charset="-120"/>
              </a:rPr>
              <a:t>Quick flow for small; full method for complex.</a:t>
            </a:r>
            <a:endParaRPr lang="en-US" sz="1575" dirty="0"/>
          </a:p>
        </p:txBody>
      </p:sp>
      <p:sp>
        <p:nvSpPr>
          <p:cNvPr id="21" name="Shape 19"/>
          <p:cNvSpPr/>
          <p:nvPr/>
        </p:nvSpPr>
        <p:spPr>
          <a:xfrm>
            <a:off x="1143000" y="6145848"/>
            <a:ext cx="7667625" cy="9525"/>
          </a:xfrm>
          <a:prstGeom prst="rect">
            <a:avLst/>
          </a:prstGeom>
          <a:solidFill>
            <a:srgbClr val="F6F4EE">
              <a:alpha val="12000"/>
            </a:srgbClr>
          </a:solidFill>
          <a:ln/>
        </p:spPr>
      </p:sp>
      <p:sp>
        <p:nvSpPr>
          <p:cNvPr id="22" name="Text 20"/>
          <p:cNvSpPr/>
          <p:nvPr/>
        </p:nvSpPr>
        <p:spPr>
          <a:xfrm>
            <a:off x="1143000" y="5218748"/>
            <a:ext cx="432753" cy="698500"/>
          </a:xfrm>
          <a:prstGeom prst="rect">
            <a:avLst/>
          </a:prstGeom>
          <a:noFill/>
          <a:ln/>
        </p:spPr>
        <p:txBody>
          <a:bodyPr wrap="square" lIns="25400" tIns="25400" rIns="25400" bIns="25400" rtlCol="0" anchor="t">
            <a:normAutofit/>
          </a:bodyPr>
          <a:lstStyle/>
          <a:p>
            <a:pPr algn="l" indent="0" marL="0">
              <a:buNone/>
            </a:pPr>
            <a:r>
              <a:rPr lang="en-US" sz="2250" b="1" dirty="0">
                <a:solidFill>
                  <a:srgbClr val="F4C233"/>
                </a:solidFill>
                <a:latin typeface="Space Grotesk" pitchFamily="34" charset="0"/>
                <a:ea typeface="Space Grotesk" pitchFamily="34" charset="-122"/>
                <a:cs typeface="Space Grotesk" pitchFamily="34" charset="-120"/>
              </a:rPr>
              <a:t>05</a:t>
            </a:r>
            <a:endParaRPr lang="en-US" sz="2250" dirty="0"/>
          </a:p>
        </p:txBody>
      </p:sp>
      <p:sp>
        <p:nvSpPr>
          <p:cNvPr id="23" name="Text 21"/>
          <p:cNvSpPr/>
          <p:nvPr/>
        </p:nvSpPr>
        <p:spPr>
          <a:xfrm>
            <a:off x="1747203" y="5218748"/>
            <a:ext cx="4207939"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F6F4EE"/>
                </a:solidFill>
                <a:latin typeface="Space Grotesk" pitchFamily="34" charset="0"/>
                <a:ea typeface="Space Grotesk" pitchFamily="34" charset="-122"/>
                <a:cs typeface="Space Grotesk" pitchFamily="34" charset="-120"/>
              </a:rPr>
              <a:t>Keep a human in the loop</a:t>
            </a:r>
            <a:endParaRPr lang="en-US" sz="2100" dirty="0"/>
          </a:p>
        </p:txBody>
      </p:sp>
      <p:sp>
        <p:nvSpPr>
          <p:cNvPr id="24" name="Text 22"/>
          <p:cNvSpPr/>
          <p:nvPr/>
        </p:nvSpPr>
        <p:spPr>
          <a:xfrm>
            <a:off x="1747203" y="5618798"/>
            <a:ext cx="4207939" cy="298450"/>
          </a:xfrm>
          <a:prstGeom prst="rect">
            <a:avLst/>
          </a:prstGeom>
          <a:noFill/>
          <a:ln/>
        </p:spPr>
        <p:txBody>
          <a:bodyPr wrap="square" lIns="25400" tIns="25400" rIns="25400" bIns="25400" rtlCol="0" anchor="t">
            <a:normAutofit/>
          </a:bodyPr>
          <a:lstStyle/>
          <a:p>
            <a:pPr algn="l" indent="0" marL="0">
              <a:buNone/>
            </a:pPr>
            <a:r>
              <a:rPr lang="en-US" sz="1575" dirty="0">
                <a:solidFill>
                  <a:srgbClr val="F6F4EE">
                    <a:alpha val="60000"/>
                  </a:srgbClr>
                </a:solidFill>
                <a:latin typeface="IBM Plex Sans" pitchFamily="34" charset="0"/>
                <a:ea typeface="IBM Plex Sans" pitchFamily="34" charset="-122"/>
                <a:cs typeface="IBM Plex Sans" pitchFamily="34" charset="-120"/>
              </a:rPr>
              <a:t>You choose how tight the automation runs.</a:t>
            </a:r>
            <a:endParaRPr lang="en-US" sz="1575" dirty="0"/>
          </a:p>
        </p:txBody>
      </p:sp>
      <p:sp>
        <p:nvSpPr>
          <p:cNvPr id="25" name="Shape 23"/>
          <p:cNvSpPr/>
          <p:nvPr/>
        </p:nvSpPr>
        <p:spPr>
          <a:xfrm>
            <a:off x="9477375" y="6145848"/>
            <a:ext cx="7667625" cy="9525"/>
          </a:xfrm>
          <a:prstGeom prst="rect">
            <a:avLst/>
          </a:prstGeom>
          <a:solidFill>
            <a:srgbClr val="F6F4EE">
              <a:alpha val="12000"/>
            </a:srgbClr>
          </a:solidFill>
          <a:ln/>
        </p:spPr>
      </p:sp>
      <p:sp>
        <p:nvSpPr>
          <p:cNvPr id="26" name="Text 24"/>
          <p:cNvSpPr/>
          <p:nvPr/>
        </p:nvSpPr>
        <p:spPr>
          <a:xfrm>
            <a:off x="9477375" y="5218748"/>
            <a:ext cx="437832" cy="698500"/>
          </a:xfrm>
          <a:prstGeom prst="rect">
            <a:avLst/>
          </a:prstGeom>
          <a:noFill/>
          <a:ln/>
        </p:spPr>
        <p:txBody>
          <a:bodyPr wrap="square" lIns="25400" tIns="25400" rIns="25400" bIns="25400" rtlCol="0" anchor="t">
            <a:normAutofit/>
          </a:bodyPr>
          <a:lstStyle/>
          <a:p>
            <a:pPr algn="l" indent="0" marL="0">
              <a:buNone/>
            </a:pPr>
            <a:r>
              <a:rPr lang="en-US" sz="2250" b="1" dirty="0">
                <a:solidFill>
                  <a:srgbClr val="F4C233"/>
                </a:solidFill>
                <a:latin typeface="Space Grotesk" pitchFamily="34" charset="0"/>
                <a:ea typeface="Space Grotesk" pitchFamily="34" charset="-122"/>
                <a:cs typeface="Space Grotesk" pitchFamily="34" charset="-120"/>
              </a:rPr>
              <a:t>06</a:t>
            </a:r>
            <a:endParaRPr lang="en-US" sz="2250" dirty="0"/>
          </a:p>
        </p:txBody>
      </p:sp>
      <p:sp>
        <p:nvSpPr>
          <p:cNvPr id="27" name="Text 25"/>
          <p:cNvSpPr/>
          <p:nvPr/>
        </p:nvSpPr>
        <p:spPr>
          <a:xfrm>
            <a:off x="10086658" y="5218748"/>
            <a:ext cx="6064377"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F6F4EE"/>
                </a:solidFill>
                <a:latin typeface="Space Grotesk" pitchFamily="34" charset="0"/>
                <a:ea typeface="Space Grotesk" pitchFamily="34" charset="-122"/>
                <a:cs typeface="Space Grotesk" pitchFamily="34" charset="-120"/>
              </a:rPr>
              <a:t>Fix the doc, not the code</a:t>
            </a:r>
            <a:endParaRPr lang="en-US" sz="2100" dirty="0"/>
          </a:p>
        </p:txBody>
      </p:sp>
      <p:sp>
        <p:nvSpPr>
          <p:cNvPr id="28" name="Text 26"/>
          <p:cNvSpPr/>
          <p:nvPr/>
        </p:nvSpPr>
        <p:spPr>
          <a:xfrm>
            <a:off x="10086658" y="5618798"/>
            <a:ext cx="6064377" cy="298450"/>
          </a:xfrm>
          <a:prstGeom prst="rect">
            <a:avLst/>
          </a:prstGeom>
          <a:noFill/>
          <a:ln/>
        </p:spPr>
        <p:txBody>
          <a:bodyPr wrap="square" lIns="25400" tIns="25400" rIns="25400" bIns="25400" rtlCol="0" anchor="t">
            <a:normAutofit/>
          </a:bodyPr>
          <a:lstStyle/>
          <a:p>
            <a:pPr algn="l" indent="0" marL="0">
              <a:buNone/>
            </a:pPr>
            <a:r>
              <a:rPr lang="en-US" sz="1575" dirty="0">
                <a:solidFill>
                  <a:srgbClr val="F6F4EE">
                    <a:alpha val="60000"/>
                  </a:srgbClr>
                </a:solidFill>
                <a:latin typeface="IBM Plex Sans" pitchFamily="34" charset="0"/>
                <a:ea typeface="IBM Plex Sans" pitchFamily="34" charset="-122"/>
                <a:cs typeface="IBM Plex Sans" pitchFamily="34" charset="-120"/>
              </a:rPr>
              <a:t>Wrong output is an upstream spec flaw — correct it and rerun.</a:t>
            </a:r>
            <a:endParaRPr lang="en-US" sz="1575" dirty="0"/>
          </a:p>
        </p:txBody>
      </p:sp>
      <p:sp>
        <p:nvSpPr>
          <p:cNvPr id="29" name="Text 27"/>
          <p:cNvSpPr/>
          <p:nvPr/>
        </p:nvSpPr>
        <p:spPr>
          <a:xfrm>
            <a:off x="1143000" y="9575800"/>
            <a:ext cx="2896680" cy="215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F6F4EE">
                    <a:alpha val="40000"/>
                  </a:srgbClr>
                </a:solidFill>
                <a:latin typeface="IBM Plex Mono" pitchFamily="34" charset="0"/>
                <a:ea typeface="IBM Plex Mono" pitchFamily="34" charset="-122"/>
                <a:cs typeface="IBM Plex Mono" pitchFamily="34" charset="-120"/>
              </a:rPr>
              <a:t>BMAD METHOD · AGENTIC SDLC</a:t>
            </a:r>
            <a:endParaRPr lang="en-US" sz="1050" dirty="0"/>
          </a:p>
        </p:txBody>
      </p:sp>
      <p:sp>
        <p:nvSpPr>
          <p:cNvPr id="30" name="Text 28"/>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F6F4EE">
                    <a:alpha val="40000"/>
                  </a:srgbClr>
                </a:solidFill>
                <a:latin typeface="IBM Plex Mono" pitchFamily="34" charset="0"/>
                <a:ea typeface="IBM Plex Mono" pitchFamily="34" charset="-122"/>
                <a:cs typeface="IBM Plex Mono" pitchFamily="34" charset="-120"/>
              </a:rPr>
              <a:t>44 / 45</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16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E9BEE">
                  <a:alpha val="16000"/>
                </a:srgbClr>
              </a:gs>
              <a:gs pos="60000">
                <a:srgbClr val="2E9BEE">
                  <a:alpha val="0"/>
                </a:srgbClr>
              </a:gs>
            </a:gsLst>
            <a:path path="circle">
              <a:fillToRect l="20000" t="90000" r="80000" b="10000"/>
            </a:path>
          </a:gradFill>
          <a:ln/>
        </p:spPr>
      </p:sp>
      <p:sp>
        <p:nvSpPr>
          <p:cNvPr id="3" name="Shape 1"/>
          <p:cNvSpPr/>
          <p:nvPr/>
        </p:nvSpPr>
        <p:spPr>
          <a:xfrm>
            <a:off x="1143000" y="2994025"/>
            <a:ext cx="114300" cy="114300"/>
          </a:xfrm>
          <a:prstGeom prst="rect">
            <a:avLst/>
          </a:prstGeom>
          <a:solidFill>
            <a:srgbClr val="F4C233"/>
          </a:solidFill>
          <a:ln/>
        </p:spPr>
      </p:sp>
      <p:sp>
        <p:nvSpPr>
          <p:cNvPr id="4" name="Text 2"/>
          <p:cNvSpPr/>
          <p:nvPr/>
        </p:nvSpPr>
        <p:spPr>
          <a:xfrm>
            <a:off x="1409700" y="2940050"/>
            <a:ext cx="1885950" cy="260350"/>
          </a:xfrm>
          <a:prstGeom prst="rect">
            <a:avLst/>
          </a:prstGeom>
          <a:noFill/>
          <a:ln/>
        </p:spPr>
        <p:txBody>
          <a:bodyPr wrap="square" lIns="0" tIns="0" rIns="0" bIns="0" rtlCol="0" anchor="t">
            <a:normAutofit/>
          </a:bodyPr>
          <a:lstStyle/>
          <a:p>
            <a:pPr algn="l" indent="0" marL="0">
              <a:buNone/>
            </a:pPr>
            <a:r>
              <a:rPr lang="en-US" sz="1350" spc="378" kern="0" dirty="0">
                <a:solidFill>
                  <a:srgbClr val="5BB3F5"/>
                </a:solidFill>
                <a:latin typeface="IBM Plex Mono" pitchFamily="34" charset="0"/>
                <a:ea typeface="IBM Plex Mono" pitchFamily="34" charset="-122"/>
                <a:cs typeface="IBM Plex Mono" pitchFamily="34" charset="-120"/>
              </a:rPr>
              <a:t>THE TAKEAWAY</a:t>
            </a:r>
            <a:endParaRPr lang="en-US" sz="1350" dirty="0"/>
          </a:p>
        </p:txBody>
      </p:sp>
      <p:sp>
        <p:nvSpPr>
          <p:cNvPr id="5" name="Text 3"/>
          <p:cNvSpPr/>
          <p:nvPr/>
        </p:nvSpPr>
        <p:spPr>
          <a:xfrm>
            <a:off x="1143000" y="3505200"/>
            <a:ext cx="14716125" cy="1825625"/>
          </a:xfrm>
          <a:prstGeom prst="rect">
            <a:avLst/>
          </a:prstGeom>
          <a:noFill/>
          <a:ln/>
        </p:spPr>
        <p:txBody>
          <a:bodyPr wrap="square" lIns="25400" tIns="25400" rIns="25400" bIns="25400" rtlCol="0" anchor="t">
            <a:normAutofit/>
          </a:bodyPr>
          <a:lstStyle/>
          <a:p>
            <a:pPr algn="l" indent="0" marL="0">
              <a:lnSpc>
                <a:spcPct val="79972"/>
              </a:lnSpc>
              <a:buNone/>
            </a:pPr>
            <a:r>
              <a:rPr lang="en-US" sz="6900" b="1" spc="-172" kern="0" dirty="0">
                <a:solidFill>
                  <a:srgbClr val="F6F4EE"/>
                </a:solidFill>
                <a:latin typeface="Space Grotesk" pitchFamily="34" charset="0"/>
                <a:ea typeface="Space Grotesk" pitchFamily="34" charset="-122"/>
                <a:cs typeface="Space Grotesk" pitchFamily="34" charset="-120"/>
              </a:rPr>
              <a:t>Don’t hand off your judgment. Give it a structure to work in.</a:t>
            </a:r>
            <a:endParaRPr lang="en-US" sz="6900" dirty="0"/>
          </a:p>
        </p:txBody>
      </p:sp>
      <p:sp>
        <p:nvSpPr>
          <p:cNvPr id="6" name="Text 4"/>
          <p:cNvSpPr/>
          <p:nvPr/>
        </p:nvSpPr>
        <p:spPr>
          <a:xfrm>
            <a:off x="1143000" y="5673725"/>
            <a:ext cx="10988040" cy="866775"/>
          </a:xfrm>
          <a:prstGeom prst="rect">
            <a:avLst/>
          </a:prstGeom>
          <a:noFill/>
          <a:ln/>
        </p:spPr>
        <p:txBody>
          <a:bodyPr wrap="square" lIns="25400" tIns="25400" rIns="25400" bIns="25400" rtlCol="0" anchor="t">
            <a:normAutofit/>
          </a:bodyPr>
          <a:lstStyle/>
          <a:p>
            <a:pPr algn="l" indent="0" marL="0">
              <a:lnSpc>
                <a:spcPct val="114474"/>
              </a:lnSpc>
              <a:buNone/>
            </a:pPr>
            <a:r>
              <a:rPr lang="en-US" sz="2175" dirty="0">
                <a:solidFill>
                  <a:srgbClr val="F6F4EE">
                    <a:alpha val="70000"/>
                  </a:srgbClr>
                </a:solidFill>
                <a:latin typeface="IBM Plex Sans" pitchFamily="34" charset="0"/>
                <a:ea typeface="IBM Plex Sans" pitchFamily="34" charset="-122"/>
                <a:cs typeface="IBM Plex Sans" pitchFamily="34" charset="-120"/>
              </a:rPr>
              <a:t>Pick something small this week and run it end to end. The fastest way to understand agentic development is to do one full loop.</a:t>
            </a:r>
            <a:endParaRPr lang="en-US" sz="2175" dirty="0"/>
          </a:p>
        </p:txBody>
      </p:sp>
      <p:sp>
        <p:nvSpPr>
          <p:cNvPr id="7" name="Text 5"/>
          <p:cNvSpPr/>
          <p:nvPr/>
        </p:nvSpPr>
        <p:spPr>
          <a:xfrm>
            <a:off x="1143000" y="7112000"/>
            <a:ext cx="2804827" cy="273050"/>
          </a:xfrm>
          <a:prstGeom prst="rect">
            <a:avLst/>
          </a:prstGeom>
          <a:noFill/>
          <a:ln/>
        </p:spPr>
        <p:txBody>
          <a:bodyPr wrap="square" lIns="25400" tIns="25400" rIns="25400" bIns="25400" rtlCol="0" anchor="t">
            <a:normAutofit/>
          </a:bodyPr>
          <a:lstStyle/>
          <a:p>
            <a:pPr algn="l" indent="0" marL="0">
              <a:buNone/>
            </a:pPr>
            <a:r>
              <a:rPr lang="en-US" sz="1425" spc="57" kern="0" dirty="0">
                <a:solidFill>
                  <a:srgbClr val="F4C233"/>
                </a:solidFill>
                <a:latin typeface="IBM Plex Mono" pitchFamily="34" charset="0"/>
                <a:ea typeface="IBM Plex Mono" pitchFamily="34" charset="-122"/>
                <a:cs typeface="IBM Plex Mono" pitchFamily="34" charset="-120"/>
              </a:rPr>
              <a:t>↳ </a:t>
            </a:r>
            <a:pPr algn="l" indent="0" marL="0">
              <a:buNone/>
            </a:pPr>
            <a:r>
              <a:rPr lang="en-US" sz="1425" spc="57" kern="0" dirty="0">
                <a:solidFill>
                  <a:srgbClr val="F6F4EE">
                    <a:alpha val="65000"/>
                  </a:srgbClr>
                </a:solidFill>
                <a:latin typeface="IBM Plex Mono" pitchFamily="34" charset="0"/>
                <a:ea typeface="IBM Plex Mono" pitchFamily="34" charset="-122"/>
                <a:cs typeface="IBM Plex Mono" pitchFamily="34" charset="-120"/>
              </a:rPr>
              <a:t>docs.bmad-method.org</a:t>
            </a:r>
            <a:endParaRPr lang="en-US" sz="1425" dirty="0"/>
          </a:p>
        </p:txBody>
      </p:sp>
      <p:sp>
        <p:nvSpPr>
          <p:cNvPr id="8" name="Text 6"/>
          <p:cNvSpPr/>
          <p:nvPr/>
        </p:nvSpPr>
        <p:spPr>
          <a:xfrm>
            <a:off x="4226243" y="7112000"/>
            <a:ext cx="4844447" cy="273050"/>
          </a:xfrm>
          <a:prstGeom prst="rect">
            <a:avLst/>
          </a:prstGeom>
          <a:noFill/>
          <a:ln/>
        </p:spPr>
        <p:txBody>
          <a:bodyPr wrap="square" lIns="25400" tIns="25400" rIns="25400" bIns="25400" rtlCol="0" anchor="t">
            <a:normAutofit/>
          </a:bodyPr>
          <a:lstStyle/>
          <a:p>
            <a:pPr algn="l" indent="0" marL="0">
              <a:buNone/>
            </a:pPr>
            <a:r>
              <a:rPr lang="en-US" sz="1425" spc="57" kern="0" dirty="0">
                <a:solidFill>
                  <a:srgbClr val="F4C233"/>
                </a:solidFill>
                <a:latin typeface="IBM Plex Mono" pitchFamily="34" charset="0"/>
                <a:ea typeface="IBM Plex Mono" pitchFamily="34" charset="-122"/>
                <a:cs typeface="IBM Plex Mono" pitchFamily="34" charset="-120"/>
              </a:rPr>
              <a:t>↳ </a:t>
            </a:r>
            <a:pPr algn="l" indent="0" marL="0">
              <a:buNone/>
            </a:pPr>
            <a:r>
              <a:rPr lang="en-US" sz="1425" spc="57" kern="0" dirty="0">
                <a:solidFill>
                  <a:srgbClr val="F6F4EE">
                    <a:alpha val="65000"/>
                  </a:srgbClr>
                </a:solidFill>
                <a:latin typeface="IBM Plex Mono" pitchFamily="34" charset="0"/>
                <a:ea typeface="IBM Plex Mono" pitchFamily="34" charset="-122"/>
                <a:cs typeface="IBM Plex Mono" pitchFamily="34" charset="-120"/>
              </a:rPr>
              <a:t>github.com/bmad-code-org/BMAD-METHOD</a:t>
            </a:r>
            <a:endParaRPr lang="en-US" sz="1425" dirty="0"/>
          </a:p>
        </p:txBody>
      </p:sp>
      <p:sp>
        <p:nvSpPr>
          <p:cNvPr id="9" name="Text 7"/>
          <p:cNvSpPr/>
          <p:nvPr/>
        </p:nvSpPr>
        <p:spPr>
          <a:xfrm>
            <a:off x="9163685" y="7112000"/>
            <a:ext cx="3314732" cy="273050"/>
          </a:xfrm>
          <a:prstGeom prst="rect">
            <a:avLst/>
          </a:prstGeom>
          <a:noFill/>
          <a:ln/>
        </p:spPr>
        <p:txBody>
          <a:bodyPr wrap="square" lIns="25400" tIns="25400" rIns="25400" bIns="25400" rtlCol="0" anchor="t">
            <a:normAutofit/>
          </a:bodyPr>
          <a:lstStyle/>
          <a:p>
            <a:pPr algn="l" indent="0" marL="0">
              <a:buNone/>
            </a:pPr>
            <a:r>
              <a:rPr lang="en-US" sz="1425" spc="57" kern="0" dirty="0">
                <a:solidFill>
                  <a:srgbClr val="F4C233"/>
                </a:solidFill>
                <a:latin typeface="IBM Plex Mono" pitchFamily="34" charset="0"/>
                <a:ea typeface="IBM Plex Mono" pitchFamily="34" charset="-122"/>
                <a:cs typeface="IBM Plex Mono" pitchFamily="34" charset="-120"/>
              </a:rPr>
              <a:t>↳ </a:t>
            </a:r>
            <a:pPr algn="l" indent="0" marL="0">
              <a:buNone/>
            </a:pPr>
            <a:r>
              <a:rPr lang="en-US" sz="1425" spc="57" kern="0" dirty="0">
                <a:solidFill>
                  <a:srgbClr val="F6F4EE">
                    <a:alpha val="65000"/>
                  </a:srgbClr>
                </a:solidFill>
                <a:latin typeface="IBM Plex Mono" pitchFamily="34" charset="0"/>
                <a:ea typeface="IBM Plex Mono" pitchFamily="34" charset="-122"/>
                <a:cs typeface="IBM Plex Mono" pitchFamily="34" charset="-120"/>
              </a:rPr>
              <a:t>bmadcode.com/web-bundles</a:t>
            </a:r>
            <a:endParaRPr lang="en-US" sz="1425" dirty="0"/>
          </a:p>
        </p:txBody>
      </p:sp>
      <p:sp>
        <p:nvSpPr>
          <p:cNvPr id="10" name="Text 8"/>
          <p:cNvSpPr/>
          <p:nvPr/>
        </p:nvSpPr>
        <p:spPr>
          <a:xfrm>
            <a:off x="1143000" y="9486900"/>
            <a:ext cx="1738043" cy="304800"/>
          </a:xfrm>
          <a:prstGeom prst="rect">
            <a:avLst/>
          </a:prstGeom>
          <a:noFill/>
          <a:ln/>
        </p:spPr>
        <p:txBody>
          <a:bodyPr wrap="square" lIns="25400" tIns="25400" rIns="25400" bIns="25400" rtlCol="0" anchor="t">
            <a:normAutofit/>
          </a:bodyPr>
          <a:lstStyle/>
          <a:p>
            <a:pPr algn="l" indent="0" marL="0">
              <a:buNone/>
            </a:pPr>
            <a:r>
              <a:rPr lang="en-US" sz="1650" b="1" spc="66" kern="0" dirty="0">
                <a:solidFill>
                  <a:srgbClr val="F4C233"/>
                </a:solidFill>
                <a:latin typeface="Space Grotesk" pitchFamily="34" charset="0"/>
                <a:ea typeface="Space Grotesk" pitchFamily="34" charset="-122"/>
                <a:cs typeface="Space Grotesk" pitchFamily="34" charset="-120"/>
              </a:rPr>
              <a:t>BMAD METHOD</a:t>
            </a:r>
            <a:endParaRPr lang="en-US" sz="1650" dirty="0"/>
          </a:p>
        </p:txBody>
      </p:sp>
      <p:sp>
        <p:nvSpPr>
          <p:cNvPr id="11" name="Text 9"/>
          <p:cNvSpPr/>
          <p:nvPr/>
        </p:nvSpPr>
        <p:spPr>
          <a:xfrm>
            <a:off x="2875439" y="9550400"/>
            <a:ext cx="3041269"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F6F4EE">
                    <a:alpha val="40000"/>
                  </a:srgbClr>
                </a:solidFill>
                <a:latin typeface="IBM Plex Mono" pitchFamily="34" charset="0"/>
                <a:ea typeface="IBM Plex Mono" pitchFamily="34" charset="-122"/>
                <a:cs typeface="IBM Plex Mono" pitchFamily="34" charset="-120"/>
              </a:rPr>
              <a:t>AGENTIC SDLC · A FIELD GUIDE</a:t>
            </a:r>
            <a:endParaRPr lang="en-US" sz="1050" dirty="0"/>
          </a:p>
        </p:txBody>
      </p:sp>
      <p:sp>
        <p:nvSpPr>
          <p:cNvPr id="12" name="Text 10"/>
          <p:cNvSpPr/>
          <p:nvPr/>
        </p:nvSpPr>
        <p:spPr>
          <a:xfrm>
            <a:off x="16453803" y="9575800"/>
            <a:ext cx="767397" cy="2159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F6F4EE">
                    <a:alpha val="40000"/>
                  </a:srgbClr>
                </a:solidFill>
                <a:latin typeface="IBM Plex Mono" pitchFamily="34" charset="0"/>
                <a:ea typeface="IBM Plex Mono" pitchFamily="34" charset="-122"/>
                <a:cs typeface="IBM Plex Mono" pitchFamily="34" charset="-120"/>
              </a:rPr>
              <a:t>45 / 45</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2026-07-11T13:51:42Z</dcterms:created>
  <dcterms:modified xsi:type="dcterms:W3CDTF">2026-07-11T13:51:42Z</dcterms:modified>
</cp:coreProperties>
</file>